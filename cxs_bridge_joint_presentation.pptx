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7"/>
  </p:notesMasterIdLst>
  <p:sldIdLst>
    <p:sldId id="289" r:id="rId2"/>
    <p:sldId id="302" r:id="rId3"/>
    <p:sldId id="326" r:id="rId4"/>
    <p:sldId id="327" r:id="rId5"/>
    <p:sldId id="328" r:id="rId6"/>
    <p:sldId id="329" r:id="rId7"/>
    <p:sldId id="283" r:id="rId8"/>
    <p:sldId id="330" r:id="rId9"/>
    <p:sldId id="331" r:id="rId10"/>
    <p:sldId id="324" r:id="rId11"/>
    <p:sldId id="305" r:id="rId12"/>
    <p:sldId id="286" r:id="rId13"/>
    <p:sldId id="294" r:id="rId14"/>
    <p:sldId id="306" r:id="rId15"/>
    <p:sldId id="308" r:id="rId16"/>
    <p:sldId id="309" r:id="rId17"/>
    <p:sldId id="311" r:id="rId18"/>
    <p:sldId id="299" r:id="rId19"/>
    <p:sldId id="288" r:id="rId20"/>
    <p:sldId id="312" r:id="rId21"/>
    <p:sldId id="307" r:id="rId22"/>
    <p:sldId id="313" r:id="rId23"/>
    <p:sldId id="314" r:id="rId24"/>
    <p:sldId id="316" r:id="rId25"/>
    <p:sldId id="315" r:id="rId26"/>
    <p:sldId id="317" r:id="rId27"/>
    <p:sldId id="318" r:id="rId28"/>
    <p:sldId id="321" r:id="rId29"/>
    <p:sldId id="320" r:id="rId30"/>
    <p:sldId id="325" r:id="rId31"/>
    <p:sldId id="333" r:id="rId32"/>
    <p:sldId id="334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42" r:id="rId41"/>
    <p:sldId id="343" r:id="rId42"/>
    <p:sldId id="359" r:id="rId43"/>
    <p:sldId id="360" r:id="rId44"/>
    <p:sldId id="344" r:id="rId45"/>
    <p:sldId id="355" r:id="rId46"/>
    <p:sldId id="352" r:id="rId47"/>
    <p:sldId id="353" r:id="rId48"/>
    <p:sldId id="354" r:id="rId49"/>
    <p:sldId id="361" r:id="rId50"/>
    <p:sldId id="345" r:id="rId51"/>
    <p:sldId id="350" r:id="rId52"/>
    <p:sldId id="346" r:id="rId53"/>
    <p:sldId id="347" r:id="rId54"/>
    <p:sldId id="348" r:id="rId55"/>
    <p:sldId id="323" r:id="rId56"/>
  </p:sldIdLst>
  <p:sldSz cx="9144000" cy="5143500" type="screen16x9"/>
  <p:notesSz cx="5143500" cy="9144000"/>
  <p:embeddedFontLst>
    <p:embeddedFont>
      <p:font typeface="Cambria" panose="02040503050406030204" pitchFamily="18" charset="0"/>
      <p:regular r:id="rId58"/>
      <p:bold r:id="rId59"/>
      <p:italic r:id="rId60"/>
      <p:boldItalic r:id="rId61"/>
    </p:embeddedFont>
    <p:embeddedFont>
      <p:font typeface="Raleway" pitchFamily="2" charset="0"/>
      <p:regular r:id="rId62"/>
      <p:bold r:id="rId63"/>
      <p:italic r:id="rId64"/>
      <p:boldItalic r:id="rId65"/>
    </p:embeddedFont>
    <p:embeddedFont>
      <p:font typeface="Roboto" pitchFamily="2" charset="0"/>
      <p:regular r:id="rId6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  <a:srgbClr val="00C2A8"/>
    <a:srgbClr val="FFFAFA"/>
    <a:srgbClr val="043DBC"/>
    <a:srgbClr val="202CA0"/>
    <a:srgbClr val="1733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27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6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5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252C34-1FFA-41E1-8421-B2ECF34FBD7B}" type="doc">
      <dgm:prSet loTypeId="urn:microsoft.com/office/officeart/2009/3/layout/RandomtoResultProcess" loCatId="process" qsTypeId="urn:microsoft.com/office/officeart/2005/8/quickstyle/simple1#4" qsCatId="simple" csTypeId="urn:microsoft.com/office/officeart/2005/8/colors/colorful1#4" csCatId="colorful" phldr="1"/>
      <dgm:spPr/>
      <dgm:t>
        <a:bodyPr/>
        <a:lstStyle/>
        <a:p>
          <a:endParaRPr lang="en-US"/>
        </a:p>
      </dgm:t>
    </dgm:pt>
    <dgm:pt modelId="{600F66A8-801D-4FED-B25C-AEBEB0341812}">
      <dgm:prSet/>
      <dgm:spPr/>
      <dgm:t>
        <a:bodyPr/>
        <a:lstStyle/>
        <a:p>
          <a:r>
            <a:rPr lang="en-US" b="1" dirty="0"/>
            <a:t>Incoming Data</a:t>
          </a:r>
          <a:endParaRPr lang="en-US" dirty="0"/>
        </a:p>
      </dgm:t>
    </dgm:pt>
    <dgm:pt modelId="{F32DB85D-BE85-4C0F-81B2-5923345D25CE}" type="parTrans" cxnId="{2A4D3494-CB9E-4105-ABF9-99AC9E5912D6}">
      <dgm:prSet/>
      <dgm:spPr/>
      <dgm:t>
        <a:bodyPr/>
        <a:lstStyle/>
        <a:p>
          <a:endParaRPr lang="en-US"/>
        </a:p>
      </dgm:t>
    </dgm:pt>
    <dgm:pt modelId="{241C212A-5701-46C8-9E1D-D351669892FD}" type="sibTrans" cxnId="{2A4D3494-CB9E-4105-ABF9-99AC9E5912D6}">
      <dgm:prSet phldrT="1" phldr="0"/>
      <dgm:spPr/>
      <dgm:t>
        <a:bodyPr/>
        <a:lstStyle/>
        <a:p>
          <a:endParaRPr lang="en-US"/>
        </a:p>
      </dgm:t>
    </dgm:pt>
    <dgm:pt modelId="{3E387711-B8FE-4C56-A644-03C8EBB44C41}">
      <dgm:prSet/>
      <dgm:spPr/>
      <dgm:t>
        <a:bodyPr/>
        <a:lstStyle/>
        <a:p>
          <a:r>
            <a:rPr lang="en-US" dirty="0"/>
            <a:t>CXS Interface</a:t>
          </a:r>
        </a:p>
        <a:p>
          <a:r>
            <a:rPr lang="en-US" dirty="0"/>
            <a:t>Receives flit, credit-based flow control</a:t>
          </a:r>
        </a:p>
      </dgm:t>
    </dgm:pt>
    <dgm:pt modelId="{2745A513-9A1F-46C1-9C96-6A10172532A9}" type="parTrans" cxnId="{1EF82831-C1EA-4E36-86C7-69D335A30826}">
      <dgm:prSet/>
      <dgm:spPr/>
      <dgm:t>
        <a:bodyPr/>
        <a:lstStyle/>
        <a:p>
          <a:endParaRPr lang="en-US"/>
        </a:p>
      </dgm:t>
    </dgm:pt>
    <dgm:pt modelId="{84FAA0BD-ED58-496E-A6AD-3310C2CEBCC4}" type="sibTrans" cxnId="{1EF82831-C1EA-4E36-86C7-69D335A30826}">
      <dgm:prSet phldrT="2" phldr="0"/>
      <dgm:spPr/>
      <dgm:t>
        <a:bodyPr/>
        <a:lstStyle/>
        <a:p>
          <a:endParaRPr lang="en-US"/>
        </a:p>
      </dgm:t>
    </dgm:pt>
    <dgm:pt modelId="{948E1B04-1E4C-4447-9F50-37699F3BB4B0}">
      <dgm:prSet/>
      <dgm:spPr/>
      <dgm:t>
        <a:bodyPr/>
        <a:lstStyle/>
        <a:p>
          <a:r>
            <a:rPr lang="en-US" dirty="0"/>
            <a:t>Async FIFO</a:t>
          </a:r>
        </a:p>
        <a:p>
          <a:r>
            <a:rPr lang="en-US" dirty="0"/>
            <a:t>CDC buffer: CXS clk → System clk</a:t>
          </a:r>
        </a:p>
      </dgm:t>
    </dgm:pt>
    <dgm:pt modelId="{89A41376-24AC-4395-BFD6-714DE767B8E1}" type="parTrans" cxnId="{3F978B45-6FC6-4E4C-A601-74532E5CEA81}">
      <dgm:prSet/>
      <dgm:spPr/>
      <dgm:t>
        <a:bodyPr/>
        <a:lstStyle/>
        <a:p>
          <a:endParaRPr lang="en-US"/>
        </a:p>
      </dgm:t>
    </dgm:pt>
    <dgm:pt modelId="{81F30644-0CEA-4F06-9B7C-852962FE6854}" type="sibTrans" cxnId="{3F978B45-6FC6-4E4C-A601-74532E5CEA81}">
      <dgm:prSet phldrT="3" phldr="0"/>
      <dgm:spPr/>
      <dgm:t>
        <a:bodyPr/>
        <a:lstStyle/>
        <a:p>
          <a:endParaRPr lang="en-US"/>
        </a:p>
      </dgm:t>
    </dgm:pt>
    <dgm:pt modelId="{D5C8A19E-34DA-4DAC-B59F-061935B7D848}">
      <dgm:prSet/>
      <dgm:spPr/>
      <dgm:t>
        <a:bodyPr/>
        <a:lstStyle/>
        <a:p>
          <a:r>
            <a:rPr lang="en-US" dirty="0"/>
            <a:t>Flit Decoder</a:t>
          </a:r>
        </a:p>
        <a:p>
          <a:r>
            <a:rPr lang="en-US" dirty="0"/>
            <a:t>Extracts payload, to 16bit internal bath start/end/error flags</a:t>
          </a:r>
        </a:p>
      </dgm:t>
    </dgm:pt>
    <dgm:pt modelId="{F540DA51-C0FD-45CF-8326-B89463200A2C}" type="parTrans" cxnId="{7E6EE846-DE56-4EBB-9761-FB083892330C}">
      <dgm:prSet/>
      <dgm:spPr/>
      <dgm:t>
        <a:bodyPr/>
        <a:lstStyle/>
        <a:p>
          <a:endParaRPr lang="en-US"/>
        </a:p>
      </dgm:t>
    </dgm:pt>
    <dgm:pt modelId="{53006F09-7FB2-42DC-B967-7422F877F952}" type="sibTrans" cxnId="{7E6EE846-DE56-4EBB-9761-FB083892330C}">
      <dgm:prSet phldrT="4" phldr="0"/>
      <dgm:spPr/>
      <dgm:t>
        <a:bodyPr/>
        <a:lstStyle/>
        <a:p>
          <a:endParaRPr lang="en-US"/>
        </a:p>
      </dgm:t>
    </dgm:pt>
    <dgm:pt modelId="{74638CEB-CCEB-47E8-AE36-89016C68555B}">
      <dgm:prSet/>
      <dgm:spPr/>
      <dgm:t>
        <a:bodyPr/>
        <a:lstStyle/>
        <a:p>
          <a:r>
            <a:rPr lang="en-US" dirty="0"/>
            <a:t>Control Unit</a:t>
          </a:r>
        </a:p>
      </dgm:t>
    </dgm:pt>
    <dgm:pt modelId="{B491DFB5-4357-404D-99C5-E150B12700C5}" type="parTrans" cxnId="{28754DC2-C7BA-45A4-8FF7-EDC5B53E6C01}">
      <dgm:prSet/>
      <dgm:spPr/>
      <dgm:t>
        <a:bodyPr/>
        <a:lstStyle/>
        <a:p>
          <a:endParaRPr lang="en-US"/>
        </a:p>
      </dgm:t>
    </dgm:pt>
    <dgm:pt modelId="{2B9B09FB-EA92-4DF7-9B2E-FA85ACF8677A}" type="sibTrans" cxnId="{28754DC2-C7BA-45A4-8FF7-EDC5B53E6C01}">
      <dgm:prSet phldrT="5" phldr="0"/>
      <dgm:spPr/>
      <dgm:t>
        <a:bodyPr/>
        <a:lstStyle/>
        <a:p>
          <a:endParaRPr lang="en-US"/>
        </a:p>
      </dgm:t>
    </dgm:pt>
    <dgm:pt modelId="{1064E059-ED04-48CD-9467-12295B164061}" type="pres">
      <dgm:prSet presAssocID="{27252C34-1FFA-41E1-8421-B2ECF34FBD7B}" presName="Name0" presStyleCnt="0">
        <dgm:presLayoutVars>
          <dgm:dir/>
          <dgm:animOne val="branch"/>
          <dgm:animLvl val="lvl"/>
        </dgm:presLayoutVars>
      </dgm:prSet>
      <dgm:spPr/>
    </dgm:pt>
    <dgm:pt modelId="{396B2D6B-C7F9-4D65-B2D6-F6ABE2788F0C}" type="pres">
      <dgm:prSet presAssocID="{600F66A8-801D-4FED-B25C-AEBEB0341812}" presName="chaos" presStyleCnt="0"/>
      <dgm:spPr/>
    </dgm:pt>
    <dgm:pt modelId="{9D03D075-B81E-4B59-A186-4E09371BAC4B}" type="pres">
      <dgm:prSet presAssocID="{600F66A8-801D-4FED-B25C-AEBEB0341812}" presName="parTx1" presStyleLbl="revTx" presStyleIdx="0" presStyleCnt="4"/>
      <dgm:spPr/>
    </dgm:pt>
    <dgm:pt modelId="{066C68C2-73A1-478B-AF64-52B3596557EC}" type="pres">
      <dgm:prSet presAssocID="{600F66A8-801D-4FED-B25C-AEBEB0341812}" presName="c1" presStyleLbl="node1" presStyleIdx="0" presStyleCnt="19"/>
      <dgm:spPr/>
    </dgm:pt>
    <dgm:pt modelId="{088CB0C2-25A7-41F4-A2F8-AD40E0182692}" type="pres">
      <dgm:prSet presAssocID="{600F66A8-801D-4FED-B25C-AEBEB0341812}" presName="c2" presStyleLbl="node1" presStyleIdx="1" presStyleCnt="19"/>
      <dgm:spPr/>
    </dgm:pt>
    <dgm:pt modelId="{56099179-74BC-41CB-8C4B-6C1D7EADE47F}" type="pres">
      <dgm:prSet presAssocID="{600F66A8-801D-4FED-B25C-AEBEB0341812}" presName="c3" presStyleLbl="node1" presStyleIdx="2" presStyleCnt="19"/>
      <dgm:spPr/>
    </dgm:pt>
    <dgm:pt modelId="{84693B16-AE82-42FB-BC4B-6A3DAE214D2B}" type="pres">
      <dgm:prSet presAssocID="{600F66A8-801D-4FED-B25C-AEBEB0341812}" presName="c4" presStyleLbl="node1" presStyleIdx="3" presStyleCnt="19"/>
      <dgm:spPr/>
    </dgm:pt>
    <dgm:pt modelId="{031A6140-05E9-4F98-9F7A-0B5BF2F57554}" type="pres">
      <dgm:prSet presAssocID="{600F66A8-801D-4FED-B25C-AEBEB0341812}" presName="c5" presStyleLbl="node1" presStyleIdx="4" presStyleCnt="19"/>
      <dgm:spPr/>
    </dgm:pt>
    <dgm:pt modelId="{B6FE86FB-BFBD-4ADE-B86C-796325F2833C}" type="pres">
      <dgm:prSet presAssocID="{600F66A8-801D-4FED-B25C-AEBEB0341812}" presName="c6" presStyleLbl="node1" presStyleIdx="5" presStyleCnt="19"/>
      <dgm:spPr/>
    </dgm:pt>
    <dgm:pt modelId="{41310377-E442-40F3-99A8-5B86A75E257D}" type="pres">
      <dgm:prSet presAssocID="{600F66A8-801D-4FED-B25C-AEBEB0341812}" presName="c7" presStyleLbl="node1" presStyleIdx="6" presStyleCnt="19"/>
      <dgm:spPr/>
    </dgm:pt>
    <dgm:pt modelId="{ADACED0C-96CB-4CA1-95C8-0F152BFC642C}" type="pres">
      <dgm:prSet presAssocID="{600F66A8-801D-4FED-B25C-AEBEB0341812}" presName="c8" presStyleLbl="node1" presStyleIdx="7" presStyleCnt="19"/>
      <dgm:spPr/>
    </dgm:pt>
    <dgm:pt modelId="{D663EEF1-52A9-4049-BCEF-AC424DFF895A}" type="pres">
      <dgm:prSet presAssocID="{600F66A8-801D-4FED-B25C-AEBEB0341812}" presName="c9" presStyleLbl="node1" presStyleIdx="8" presStyleCnt="19"/>
      <dgm:spPr/>
    </dgm:pt>
    <dgm:pt modelId="{250EC5D0-6D43-46D2-9245-D99330136064}" type="pres">
      <dgm:prSet presAssocID="{600F66A8-801D-4FED-B25C-AEBEB0341812}" presName="c10" presStyleLbl="node1" presStyleIdx="9" presStyleCnt="19"/>
      <dgm:spPr/>
    </dgm:pt>
    <dgm:pt modelId="{A1A98304-3CD7-4494-99C7-D1CA16B49053}" type="pres">
      <dgm:prSet presAssocID="{600F66A8-801D-4FED-B25C-AEBEB0341812}" presName="c11" presStyleLbl="node1" presStyleIdx="10" presStyleCnt="19"/>
      <dgm:spPr/>
    </dgm:pt>
    <dgm:pt modelId="{86341ACA-3601-456E-A5D5-89E5E7BBAAA4}" type="pres">
      <dgm:prSet presAssocID="{600F66A8-801D-4FED-B25C-AEBEB0341812}" presName="c12" presStyleLbl="node1" presStyleIdx="11" presStyleCnt="19"/>
      <dgm:spPr/>
    </dgm:pt>
    <dgm:pt modelId="{0DD892F0-6FE3-46E2-8DC9-4E071370BCF7}" type="pres">
      <dgm:prSet presAssocID="{600F66A8-801D-4FED-B25C-AEBEB0341812}" presName="c13" presStyleLbl="node1" presStyleIdx="12" presStyleCnt="19"/>
      <dgm:spPr/>
    </dgm:pt>
    <dgm:pt modelId="{11307AD2-4D80-4015-8CC6-9E43C09F5E7B}" type="pres">
      <dgm:prSet presAssocID="{600F66A8-801D-4FED-B25C-AEBEB0341812}" presName="c14" presStyleLbl="node1" presStyleIdx="13" presStyleCnt="19"/>
      <dgm:spPr/>
    </dgm:pt>
    <dgm:pt modelId="{8BF91FCA-1EFC-4E2B-A118-6912597699A3}" type="pres">
      <dgm:prSet presAssocID="{600F66A8-801D-4FED-B25C-AEBEB0341812}" presName="c15" presStyleLbl="node1" presStyleIdx="14" presStyleCnt="19"/>
      <dgm:spPr/>
    </dgm:pt>
    <dgm:pt modelId="{824B2583-6756-4750-8463-55A6F171DEDF}" type="pres">
      <dgm:prSet presAssocID="{600F66A8-801D-4FED-B25C-AEBEB0341812}" presName="c16" presStyleLbl="node1" presStyleIdx="15" presStyleCnt="19"/>
      <dgm:spPr/>
    </dgm:pt>
    <dgm:pt modelId="{99066DEE-5608-468C-B4ED-CE2C9660B4C6}" type="pres">
      <dgm:prSet presAssocID="{600F66A8-801D-4FED-B25C-AEBEB0341812}" presName="c17" presStyleLbl="node1" presStyleIdx="16" presStyleCnt="19"/>
      <dgm:spPr/>
    </dgm:pt>
    <dgm:pt modelId="{EA243E42-7D8F-4A15-9CA6-E304DA063DF4}" type="pres">
      <dgm:prSet presAssocID="{600F66A8-801D-4FED-B25C-AEBEB0341812}" presName="c18" presStyleLbl="node1" presStyleIdx="17" presStyleCnt="19"/>
      <dgm:spPr/>
    </dgm:pt>
    <dgm:pt modelId="{BA2DA9B5-BDFA-4E12-9F32-EC3A15B53402}" type="pres">
      <dgm:prSet presAssocID="{241C212A-5701-46C8-9E1D-D351669892FD}" presName="chevronComposite1" presStyleCnt="0"/>
      <dgm:spPr/>
    </dgm:pt>
    <dgm:pt modelId="{C549A7C9-3CC2-495D-8692-C808E2BEDD06}" type="pres">
      <dgm:prSet presAssocID="{241C212A-5701-46C8-9E1D-D351669892FD}" presName="chevron1" presStyleLbl="sibTrans2D1" presStyleIdx="0" presStyleCnt="4"/>
      <dgm:spPr/>
    </dgm:pt>
    <dgm:pt modelId="{DC06FB68-BFDF-4514-836F-552FF2FCE2D5}" type="pres">
      <dgm:prSet presAssocID="{241C212A-5701-46C8-9E1D-D351669892FD}" presName="spChevron1" presStyleCnt="0"/>
      <dgm:spPr/>
    </dgm:pt>
    <dgm:pt modelId="{6DDF6FC5-3050-49EC-83B5-0FD89CB95FAB}" type="pres">
      <dgm:prSet presAssocID="{3E387711-B8FE-4C56-A644-03C8EBB44C41}" presName="middle" presStyleCnt="0"/>
      <dgm:spPr/>
    </dgm:pt>
    <dgm:pt modelId="{B5A39F18-7032-4A26-94E0-678370AA7B70}" type="pres">
      <dgm:prSet presAssocID="{3E387711-B8FE-4C56-A644-03C8EBB44C41}" presName="parTxMid" presStyleLbl="revTx" presStyleIdx="1" presStyleCnt="4"/>
      <dgm:spPr/>
    </dgm:pt>
    <dgm:pt modelId="{587B6C3E-58FB-4C81-B9D8-15A8F8FDEE8B}" type="pres">
      <dgm:prSet presAssocID="{3E387711-B8FE-4C56-A644-03C8EBB44C41}" presName="spMid" presStyleCnt="0"/>
      <dgm:spPr/>
    </dgm:pt>
    <dgm:pt modelId="{EC704624-3CC6-454A-B726-6AD8BC8CE062}" type="pres">
      <dgm:prSet presAssocID="{84FAA0BD-ED58-496E-A6AD-3310C2CEBCC4}" presName="chevronComposite1" presStyleCnt="0"/>
      <dgm:spPr/>
    </dgm:pt>
    <dgm:pt modelId="{C06ED2B1-1E49-41E1-96AF-AAF54FBC6D2C}" type="pres">
      <dgm:prSet presAssocID="{84FAA0BD-ED58-496E-A6AD-3310C2CEBCC4}" presName="chevron1" presStyleLbl="sibTrans2D1" presStyleIdx="1" presStyleCnt="4"/>
      <dgm:spPr/>
    </dgm:pt>
    <dgm:pt modelId="{16891D37-1530-4746-9F61-3926748E601B}" type="pres">
      <dgm:prSet presAssocID="{84FAA0BD-ED58-496E-A6AD-3310C2CEBCC4}" presName="spChevron1" presStyleCnt="0"/>
      <dgm:spPr/>
    </dgm:pt>
    <dgm:pt modelId="{2E387C6C-5043-4981-8E96-881D948C580C}" type="pres">
      <dgm:prSet presAssocID="{948E1B04-1E4C-4447-9F50-37699F3BB4B0}" presName="middle" presStyleCnt="0"/>
      <dgm:spPr/>
    </dgm:pt>
    <dgm:pt modelId="{BE703FCD-7422-4A8C-8805-6333F4094639}" type="pres">
      <dgm:prSet presAssocID="{948E1B04-1E4C-4447-9F50-37699F3BB4B0}" presName="parTxMid" presStyleLbl="revTx" presStyleIdx="2" presStyleCnt="4"/>
      <dgm:spPr/>
    </dgm:pt>
    <dgm:pt modelId="{CA92BFD0-A821-4A88-BCFE-E3452EE8E02B}" type="pres">
      <dgm:prSet presAssocID="{948E1B04-1E4C-4447-9F50-37699F3BB4B0}" presName="spMid" presStyleCnt="0"/>
      <dgm:spPr/>
    </dgm:pt>
    <dgm:pt modelId="{948AECEF-FAEF-4936-A911-BC477F458AA5}" type="pres">
      <dgm:prSet presAssocID="{81F30644-0CEA-4F06-9B7C-852962FE6854}" presName="chevronComposite1" presStyleCnt="0"/>
      <dgm:spPr/>
    </dgm:pt>
    <dgm:pt modelId="{67CC8161-BB6A-4445-AC47-CC81C685EC85}" type="pres">
      <dgm:prSet presAssocID="{81F30644-0CEA-4F06-9B7C-852962FE6854}" presName="chevron1" presStyleLbl="sibTrans2D1" presStyleIdx="2" presStyleCnt="4"/>
      <dgm:spPr/>
    </dgm:pt>
    <dgm:pt modelId="{CF267818-47AE-409A-8124-99F33E7F253A}" type="pres">
      <dgm:prSet presAssocID="{81F30644-0CEA-4F06-9B7C-852962FE6854}" presName="spChevron1" presStyleCnt="0"/>
      <dgm:spPr/>
    </dgm:pt>
    <dgm:pt modelId="{0212AC64-D223-4410-B904-D9606393DEB5}" type="pres">
      <dgm:prSet presAssocID="{D5C8A19E-34DA-4DAC-B59F-061935B7D848}" presName="middle" presStyleCnt="0"/>
      <dgm:spPr/>
    </dgm:pt>
    <dgm:pt modelId="{4A0D481C-09E9-49F6-B246-1F797D8518E5}" type="pres">
      <dgm:prSet presAssocID="{D5C8A19E-34DA-4DAC-B59F-061935B7D848}" presName="parTxMid" presStyleLbl="revTx" presStyleIdx="3" presStyleCnt="4"/>
      <dgm:spPr/>
    </dgm:pt>
    <dgm:pt modelId="{F608511C-4F46-4DDE-A51D-194E3C15B965}" type="pres">
      <dgm:prSet presAssocID="{D5C8A19E-34DA-4DAC-B59F-061935B7D848}" presName="spMid" presStyleCnt="0"/>
      <dgm:spPr/>
    </dgm:pt>
    <dgm:pt modelId="{43CF0019-93CE-41B1-8CCD-8A90A8EE190E}" type="pres">
      <dgm:prSet presAssocID="{53006F09-7FB2-42DC-B967-7422F877F952}" presName="chevronComposite1" presStyleCnt="0"/>
      <dgm:spPr/>
    </dgm:pt>
    <dgm:pt modelId="{FE58C54D-ECCD-4013-BFE5-708F6ACE58EE}" type="pres">
      <dgm:prSet presAssocID="{53006F09-7FB2-42DC-B967-7422F877F952}" presName="chevron1" presStyleLbl="sibTrans2D1" presStyleIdx="3" presStyleCnt="4"/>
      <dgm:spPr/>
    </dgm:pt>
    <dgm:pt modelId="{69F679A5-7DF6-4B19-B5CF-A2F332631EC4}" type="pres">
      <dgm:prSet presAssocID="{53006F09-7FB2-42DC-B967-7422F877F952}" presName="spChevron1" presStyleCnt="0"/>
      <dgm:spPr/>
    </dgm:pt>
    <dgm:pt modelId="{00EC81F2-07AF-4D93-87D6-4CB82B7B38F1}" type="pres">
      <dgm:prSet presAssocID="{74638CEB-CCEB-47E8-AE36-89016C68555B}" presName="last" presStyleCnt="0"/>
      <dgm:spPr/>
    </dgm:pt>
    <dgm:pt modelId="{CA22D33A-2DCE-4E88-B73B-770BD077B44C}" type="pres">
      <dgm:prSet presAssocID="{74638CEB-CCEB-47E8-AE36-89016C68555B}" presName="circleTx" presStyleLbl="node1" presStyleIdx="18" presStyleCnt="19"/>
      <dgm:spPr/>
    </dgm:pt>
    <dgm:pt modelId="{5DB5ACC1-5149-4F6A-AB4B-F63BBAFC1F6F}" type="pres">
      <dgm:prSet presAssocID="{74638CEB-CCEB-47E8-AE36-89016C68555B}" presName="spN" presStyleCnt="0"/>
      <dgm:spPr/>
    </dgm:pt>
  </dgm:ptLst>
  <dgm:cxnLst>
    <dgm:cxn modelId="{1EF82831-C1EA-4E36-86C7-69D335A30826}" srcId="{27252C34-1FFA-41E1-8421-B2ECF34FBD7B}" destId="{3E387711-B8FE-4C56-A644-03C8EBB44C41}" srcOrd="1" destOrd="0" parTransId="{2745A513-9A1F-46C1-9C96-6A10172532A9}" sibTransId="{84FAA0BD-ED58-496E-A6AD-3310C2CEBCC4}"/>
    <dgm:cxn modelId="{402A1635-95D2-4408-80B6-22F98784D7EE}" type="presOf" srcId="{600F66A8-801D-4FED-B25C-AEBEB0341812}" destId="{9D03D075-B81E-4B59-A186-4E09371BAC4B}" srcOrd="0" destOrd="0" presId="urn:microsoft.com/office/officeart/2009/3/layout/RandomtoResultProcess"/>
    <dgm:cxn modelId="{3F978B45-6FC6-4E4C-A601-74532E5CEA81}" srcId="{27252C34-1FFA-41E1-8421-B2ECF34FBD7B}" destId="{948E1B04-1E4C-4447-9F50-37699F3BB4B0}" srcOrd="2" destOrd="0" parTransId="{89A41376-24AC-4395-BFD6-714DE767B8E1}" sibTransId="{81F30644-0CEA-4F06-9B7C-852962FE6854}"/>
    <dgm:cxn modelId="{7E6EE846-DE56-4EBB-9761-FB083892330C}" srcId="{27252C34-1FFA-41E1-8421-B2ECF34FBD7B}" destId="{D5C8A19E-34DA-4DAC-B59F-061935B7D848}" srcOrd="3" destOrd="0" parTransId="{F540DA51-C0FD-45CF-8326-B89463200A2C}" sibTransId="{53006F09-7FB2-42DC-B967-7422F877F952}"/>
    <dgm:cxn modelId="{F0EB334D-48B6-4ED5-A854-3E62DF952635}" type="presOf" srcId="{27252C34-1FFA-41E1-8421-B2ECF34FBD7B}" destId="{1064E059-ED04-48CD-9467-12295B164061}" srcOrd="0" destOrd="0" presId="urn:microsoft.com/office/officeart/2009/3/layout/RandomtoResultProcess"/>
    <dgm:cxn modelId="{E3C94951-858A-4C35-A419-5E79C0019A54}" type="presOf" srcId="{948E1B04-1E4C-4447-9F50-37699F3BB4B0}" destId="{BE703FCD-7422-4A8C-8805-6333F4094639}" srcOrd="0" destOrd="0" presId="urn:microsoft.com/office/officeart/2009/3/layout/RandomtoResultProcess"/>
    <dgm:cxn modelId="{49A0AD78-309B-465E-AC7E-DA51BE62062E}" type="presOf" srcId="{D5C8A19E-34DA-4DAC-B59F-061935B7D848}" destId="{4A0D481C-09E9-49F6-B246-1F797D8518E5}" srcOrd="0" destOrd="0" presId="urn:microsoft.com/office/officeart/2009/3/layout/RandomtoResultProcess"/>
    <dgm:cxn modelId="{2A4D3494-CB9E-4105-ABF9-99AC9E5912D6}" srcId="{27252C34-1FFA-41E1-8421-B2ECF34FBD7B}" destId="{600F66A8-801D-4FED-B25C-AEBEB0341812}" srcOrd="0" destOrd="0" parTransId="{F32DB85D-BE85-4C0F-81B2-5923345D25CE}" sibTransId="{241C212A-5701-46C8-9E1D-D351669892FD}"/>
    <dgm:cxn modelId="{98E41496-EB5E-4637-AD90-45F25B5704B1}" type="presOf" srcId="{3E387711-B8FE-4C56-A644-03C8EBB44C41}" destId="{B5A39F18-7032-4A26-94E0-678370AA7B70}" srcOrd="0" destOrd="0" presId="urn:microsoft.com/office/officeart/2009/3/layout/RandomtoResultProcess"/>
    <dgm:cxn modelId="{28754DC2-C7BA-45A4-8FF7-EDC5B53E6C01}" srcId="{27252C34-1FFA-41E1-8421-B2ECF34FBD7B}" destId="{74638CEB-CCEB-47E8-AE36-89016C68555B}" srcOrd="4" destOrd="0" parTransId="{B491DFB5-4357-404D-99C5-E150B12700C5}" sibTransId="{2B9B09FB-EA92-4DF7-9B2E-FA85ACF8677A}"/>
    <dgm:cxn modelId="{7F74AAFB-7B7A-4520-ABCE-D902B22CAFC0}" type="presOf" srcId="{74638CEB-CCEB-47E8-AE36-89016C68555B}" destId="{CA22D33A-2DCE-4E88-B73B-770BD077B44C}" srcOrd="0" destOrd="0" presId="urn:microsoft.com/office/officeart/2009/3/layout/RandomtoResultProcess"/>
    <dgm:cxn modelId="{9D37E707-BAAC-4B22-97F1-3AFE0CA154D3}" type="presParOf" srcId="{1064E059-ED04-48CD-9467-12295B164061}" destId="{396B2D6B-C7F9-4D65-B2D6-F6ABE2788F0C}" srcOrd="0" destOrd="0" presId="urn:microsoft.com/office/officeart/2009/3/layout/RandomtoResultProcess"/>
    <dgm:cxn modelId="{52141BE9-9550-43A8-9A03-34A6505A41D8}" type="presParOf" srcId="{396B2D6B-C7F9-4D65-B2D6-F6ABE2788F0C}" destId="{9D03D075-B81E-4B59-A186-4E09371BAC4B}" srcOrd="0" destOrd="0" presId="urn:microsoft.com/office/officeart/2009/3/layout/RandomtoResultProcess"/>
    <dgm:cxn modelId="{13C45BB7-AAC0-4D5C-B198-CCE3CD061072}" type="presParOf" srcId="{396B2D6B-C7F9-4D65-B2D6-F6ABE2788F0C}" destId="{066C68C2-73A1-478B-AF64-52B3596557EC}" srcOrd="1" destOrd="0" presId="urn:microsoft.com/office/officeart/2009/3/layout/RandomtoResultProcess"/>
    <dgm:cxn modelId="{B812C0A5-D4E1-4E48-A3EA-12D4139CF7A3}" type="presParOf" srcId="{396B2D6B-C7F9-4D65-B2D6-F6ABE2788F0C}" destId="{088CB0C2-25A7-41F4-A2F8-AD40E0182692}" srcOrd="2" destOrd="0" presId="urn:microsoft.com/office/officeart/2009/3/layout/RandomtoResultProcess"/>
    <dgm:cxn modelId="{CB90FF7B-EE1F-4577-9BE1-8F77952AA9D8}" type="presParOf" srcId="{396B2D6B-C7F9-4D65-B2D6-F6ABE2788F0C}" destId="{56099179-74BC-41CB-8C4B-6C1D7EADE47F}" srcOrd="3" destOrd="0" presId="urn:microsoft.com/office/officeart/2009/3/layout/RandomtoResultProcess"/>
    <dgm:cxn modelId="{B1C760FE-D446-4E44-8D6A-CAD961DC8874}" type="presParOf" srcId="{396B2D6B-C7F9-4D65-B2D6-F6ABE2788F0C}" destId="{84693B16-AE82-42FB-BC4B-6A3DAE214D2B}" srcOrd="4" destOrd="0" presId="urn:microsoft.com/office/officeart/2009/3/layout/RandomtoResultProcess"/>
    <dgm:cxn modelId="{30E99B7E-8A72-41A2-B4C1-182EB890A832}" type="presParOf" srcId="{396B2D6B-C7F9-4D65-B2D6-F6ABE2788F0C}" destId="{031A6140-05E9-4F98-9F7A-0B5BF2F57554}" srcOrd="5" destOrd="0" presId="urn:microsoft.com/office/officeart/2009/3/layout/RandomtoResultProcess"/>
    <dgm:cxn modelId="{413422F3-8F11-4217-AD59-675747EBA284}" type="presParOf" srcId="{396B2D6B-C7F9-4D65-B2D6-F6ABE2788F0C}" destId="{B6FE86FB-BFBD-4ADE-B86C-796325F2833C}" srcOrd="6" destOrd="0" presId="urn:microsoft.com/office/officeart/2009/3/layout/RandomtoResultProcess"/>
    <dgm:cxn modelId="{D06DFF44-8649-4046-A581-62EA5617FCB1}" type="presParOf" srcId="{396B2D6B-C7F9-4D65-B2D6-F6ABE2788F0C}" destId="{41310377-E442-40F3-99A8-5B86A75E257D}" srcOrd="7" destOrd="0" presId="urn:microsoft.com/office/officeart/2009/3/layout/RandomtoResultProcess"/>
    <dgm:cxn modelId="{277A610B-5B26-4DCF-9295-52DE44A78F26}" type="presParOf" srcId="{396B2D6B-C7F9-4D65-B2D6-F6ABE2788F0C}" destId="{ADACED0C-96CB-4CA1-95C8-0F152BFC642C}" srcOrd="8" destOrd="0" presId="urn:microsoft.com/office/officeart/2009/3/layout/RandomtoResultProcess"/>
    <dgm:cxn modelId="{13003796-4310-4B9B-9143-EF68BB2D151B}" type="presParOf" srcId="{396B2D6B-C7F9-4D65-B2D6-F6ABE2788F0C}" destId="{D663EEF1-52A9-4049-BCEF-AC424DFF895A}" srcOrd="9" destOrd="0" presId="urn:microsoft.com/office/officeart/2009/3/layout/RandomtoResultProcess"/>
    <dgm:cxn modelId="{DA42DF85-3B2D-459A-AB88-D2F4C022B648}" type="presParOf" srcId="{396B2D6B-C7F9-4D65-B2D6-F6ABE2788F0C}" destId="{250EC5D0-6D43-46D2-9245-D99330136064}" srcOrd="10" destOrd="0" presId="urn:microsoft.com/office/officeart/2009/3/layout/RandomtoResultProcess"/>
    <dgm:cxn modelId="{42EF98D0-FB33-46D3-A30A-1FDABDDDDA9D}" type="presParOf" srcId="{396B2D6B-C7F9-4D65-B2D6-F6ABE2788F0C}" destId="{A1A98304-3CD7-4494-99C7-D1CA16B49053}" srcOrd="11" destOrd="0" presId="urn:microsoft.com/office/officeart/2009/3/layout/RandomtoResultProcess"/>
    <dgm:cxn modelId="{A72FA667-81C0-43CB-8CE5-A7B84A0B1207}" type="presParOf" srcId="{396B2D6B-C7F9-4D65-B2D6-F6ABE2788F0C}" destId="{86341ACA-3601-456E-A5D5-89E5E7BBAAA4}" srcOrd="12" destOrd="0" presId="urn:microsoft.com/office/officeart/2009/3/layout/RandomtoResultProcess"/>
    <dgm:cxn modelId="{07D289AC-EE46-4766-B295-BCD55110AEB7}" type="presParOf" srcId="{396B2D6B-C7F9-4D65-B2D6-F6ABE2788F0C}" destId="{0DD892F0-6FE3-46E2-8DC9-4E071370BCF7}" srcOrd="13" destOrd="0" presId="urn:microsoft.com/office/officeart/2009/3/layout/RandomtoResultProcess"/>
    <dgm:cxn modelId="{D4A4C2EF-0814-4EDB-8DAA-F87C97FED3E6}" type="presParOf" srcId="{396B2D6B-C7F9-4D65-B2D6-F6ABE2788F0C}" destId="{11307AD2-4D80-4015-8CC6-9E43C09F5E7B}" srcOrd="14" destOrd="0" presId="urn:microsoft.com/office/officeart/2009/3/layout/RandomtoResultProcess"/>
    <dgm:cxn modelId="{C1193A73-54C1-402C-A46E-E0007CE15DA6}" type="presParOf" srcId="{396B2D6B-C7F9-4D65-B2D6-F6ABE2788F0C}" destId="{8BF91FCA-1EFC-4E2B-A118-6912597699A3}" srcOrd="15" destOrd="0" presId="urn:microsoft.com/office/officeart/2009/3/layout/RandomtoResultProcess"/>
    <dgm:cxn modelId="{3FE6B6D5-29B2-4503-86EF-AA1FB2A00D10}" type="presParOf" srcId="{396B2D6B-C7F9-4D65-B2D6-F6ABE2788F0C}" destId="{824B2583-6756-4750-8463-55A6F171DEDF}" srcOrd="16" destOrd="0" presId="urn:microsoft.com/office/officeart/2009/3/layout/RandomtoResultProcess"/>
    <dgm:cxn modelId="{34B4C2CE-F20E-4B03-AA9C-810FE7C22746}" type="presParOf" srcId="{396B2D6B-C7F9-4D65-B2D6-F6ABE2788F0C}" destId="{99066DEE-5608-468C-B4ED-CE2C9660B4C6}" srcOrd="17" destOrd="0" presId="urn:microsoft.com/office/officeart/2009/3/layout/RandomtoResultProcess"/>
    <dgm:cxn modelId="{6862DA17-1E04-40E4-90B2-30DAFEA6AC61}" type="presParOf" srcId="{396B2D6B-C7F9-4D65-B2D6-F6ABE2788F0C}" destId="{EA243E42-7D8F-4A15-9CA6-E304DA063DF4}" srcOrd="18" destOrd="0" presId="urn:microsoft.com/office/officeart/2009/3/layout/RandomtoResultProcess"/>
    <dgm:cxn modelId="{2CB48C86-DFAF-4617-B8C9-7DC0EA7A211B}" type="presParOf" srcId="{1064E059-ED04-48CD-9467-12295B164061}" destId="{BA2DA9B5-BDFA-4E12-9F32-EC3A15B53402}" srcOrd="1" destOrd="0" presId="urn:microsoft.com/office/officeart/2009/3/layout/RandomtoResultProcess"/>
    <dgm:cxn modelId="{20FD4431-E6AE-4BE6-A0D5-7783424FDCE9}" type="presParOf" srcId="{BA2DA9B5-BDFA-4E12-9F32-EC3A15B53402}" destId="{C549A7C9-3CC2-495D-8692-C808E2BEDD06}" srcOrd="0" destOrd="0" presId="urn:microsoft.com/office/officeart/2009/3/layout/RandomtoResultProcess"/>
    <dgm:cxn modelId="{FDAA7F4D-C783-459E-9617-0405B3210CC1}" type="presParOf" srcId="{BA2DA9B5-BDFA-4E12-9F32-EC3A15B53402}" destId="{DC06FB68-BFDF-4514-836F-552FF2FCE2D5}" srcOrd="1" destOrd="0" presId="urn:microsoft.com/office/officeart/2009/3/layout/RandomtoResultProcess"/>
    <dgm:cxn modelId="{0BDA270E-3794-46B5-8BE4-C1124643A19B}" type="presParOf" srcId="{1064E059-ED04-48CD-9467-12295B164061}" destId="{6DDF6FC5-3050-49EC-83B5-0FD89CB95FAB}" srcOrd="2" destOrd="0" presId="urn:microsoft.com/office/officeart/2009/3/layout/RandomtoResultProcess"/>
    <dgm:cxn modelId="{27045823-04C5-42E7-AA75-FA7E3D5D0801}" type="presParOf" srcId="{6DDF6FC5-3050-49EC-83B5-0FD89CB95FAB}" destId="{B5A39F18-7032-4A26-94E0-678370AA7B70}" srcOrd="0" destOrd="0" presId="urn:microsoft.com/office/officeart/2009/3/layout/RandomtoResultProcess"/>
    <dgm:cxn modelId="{9B64CB86-FACC-40D0-B0ED-A1978F0AFDFC}" type="presParOf" srcId="{6DDF6FC5-3050-49EC-83B5-0FD89CB95FAB}" destId="{587B6C3E-58FB-4C81-B9D8-15A8F8FDEE8B}" srcOrd="1" destOrd="0" presId="urn:microsoft.com/office/officeart/2009/3/layout/RandomtoResultProcess"/>
    <dgm:cxn modelId="{4F528955-2D04-4561-93F3-A70BE4F2EA48}" type="presParOf" srcId="{1064E059-ED04-48CD-9467-12295B164061}" destId="{EC704624-3CC6-454A-B726-6AD8BC8CE062}" srcOrd="3" destOrd="0" presId="urn:microsoft.com/office/officeart/2009/3/layout/RandomtoResultProcess"/>
    <dgm:cxn modelId="{5A68CD86-6ADC-473F-BB40-D15BDFB5F9A7}" type="presParOf" srcId="{EC704624-3CC6-454A-B726-6AD8BC8CE062}" destId="{C06ED2B1-1E49-41E1-96AF-AAF54FBC6D2C}" srcOrd="0" destOrd="0" presId="urn:microsoft.com/office/officeart/2009/3/layout/RandomtoResultProcess"/>
    <dgm:cxn modelId="{67CD0772-7F40-4F83-8196-0CBCCE1B8B72}" type="presParOf" srcId="{EC704624-3CC6-454A-B726-6AD8BC8CE062}" destId="{16891D37-1530-4746-9F61-3926748E601B}" srcOrd="1" destOrd="0" presId="urn:microsoft.com/office/officeart/2009/3/layout/RandomtoResultProcess"/>
    <dgm:cxn modelId="{0F5A14B0-2170-4723-BD05-2DB3C31FEEF3}" type="presParOf" srcId="{1064E059-ED04-48CD-9467-12295B164061}" destId="{2E387C6C-5043-4981-8E96-881D948C580C}" srcOrd="4" destOrd="0" presId="urn:microsoft.com/office/officeart/2009/3/layout/RandomtoResultProcess"/>
    <dgm:cxn modelId="{C917062D-5711-4FBB-84B0-FFBD5F59E841}" type="presParOf" srcId="{2E387C6C-5043-4981-8E96-881D948C580C}" destId="{BE703FCD-7422-4A8C-8805-6333F4094639}" srcOrd="0" destOrd="0" presId="urn:microsoft.com/office/officeart/2009/3/layout/RandomtoResultProcess"/>
    <dgm:cxn modelId="{281FE59B-6CEE-4E65-948A-E297900302AA}" type="presParOf" srcId="{2E387C6C-5043-4981-8E96-881D948C580C}" destId="{CA92BFD0-A821-4A88-BCFE-E3452EE8E02B}" srcOrd="1" destOrd="0" presId="urn:microsoft.com/office/officeart/2009/3/layout/RandomtoResultProcess"/>
    <dgm:cxn modelId="{B6A1C21F-6A39-4F47-B49A-949BC36FEE74}" type="presParOf" srcId="{1064E059-ED04-48CD-9467-12295B164061}" destId="{948AECEF-FAEF-4936-A911-BC477F458AA5}" srcOrd="5" destOrd="0" presId="urn:microsoft.com/office/officeart/2009/3/layout/RandomtoResultProcess"/>
    <dgm:cxn modelId="{1086835B-F34E-4E63-BD48-FBDD3391D504}" type="presParOf" srcId="{948AECEF-FAEF-4936-A911-BC477F458AA5}" destId="{67CC8161-BB6A-4445-AC47-CC81C685EC85}" srcOrd="0" destOrd="0" presId="urn:microsoft.com/office/officeart/2009/3/layout/RandomtoResultProcess"/>
    <dgm:cxn modelId="{84AD1206-9DF5-4D06-80D1-36112CAB01BB}" type="presParOf" srcId="{948AECEF-FAEF-4936-A911-BC477F458AA5}" destId="{CF267818-47AE-409A-8124-99F33E7F253A}" srcOrd="1" destOrd="0" presId="urn:microsoft.com/office/officeart/2009/3/layout/RandomtoResultProcess"/>
    <dgm:cxn modelId="{3E71AED7-7AA7-43AC-9FD1-32B791C71EB9}" type="presParOf" srcId="{1064E059-ED04-48CD-9467-12295B164061}" destId="{0212AC64-D223-4410-B904-D9606393DEB5}" srcOrd="6" destOrd="0" presId="urn:microsoft.com/office/officeart/2009/3/layout/RandomtoResultProcess"/>
    <dgm:cxn modelId="{EEA43D00-2040-4BC8-8322-1B2F7B81F61C}" type="presParOf" srcId="{0212AC64-D223-4410-B904-D9606393DEB5}" destId="{4A0D481C-09E9-49F6-B246-1F797D8518E5}" srcOrd="0" destOrd="0" presId="urn:microsoft.com/office/officeart/2009/3/layout/RandomtoResultProcess"/>
    <dgm:cxn modelId="{79483A3A-83B6-4473-9503-527430D9CB27}" type="presParOf" srcId="{0212AC64-D223-4410-B904-D9606393DEB5}" destId="{F608511C-4F46-4DDE-A51D-194E3C15B965}" srcOrd="1" destOrd="0" presId="urn:microsoft.com/office/officeart/2009/3/layout/RandomtoResultProcess"/>
    <dgm:cxn modelId="{95C06110-4BF8-4213-90A2-173106DD1A9E}" type="presParOf" srcId="{1064E059-ED04-48CD-9467-12295B164061}" destId="{43CF0019-93CE-41B1-8CCD-8A90A8EE190E}" srcOrd="7" destOrd="0" presId="urn:microsoft.com/office/officeart/2009/3/layout/RandomtoResultProcess"/>
    <dgm:cxn modelId="{80CF2505-80A8-40C2-8699-8FB83E276828}" type="presParOf" srcId="{43CF0019-93CE-41B1-8CCD-8A90A8EE190E}" destId="{FE58C54D-ECCD-4013-BFE5-708F6ACE58EE}" srcOrd="0" destOrd="0" presId="urn:microsoft.com/office/officeart/2009/3/layout/RandomtoResultProcess"/>
    <dgm:cxn modelId="{1180D85F-A990-49BA-B777-0FC6970DF118}" type="presParOf" srcId="{43CF0019-93CE-41B1-8CCD-8A90A8EE190E}" destId="{69F679A5-7DF6-4B19-B5CF-A2F332631EC4}" srcOrd="1" destOrd="0" presId="urn:microsoft.com/office/officeart/2009/3/layout/RandomtoResultProcess"/>
    <dgm:cxn modelId="{1C96DB18-94F8-4DC5-BEAF-131B50C96253}" type="presParOf" srcId="{1064E059-ED04-48CD-9467-12295B164061}" destId="{00EC81F2-07AF-4D93-87D6-4CB82B7B38F1}" srcOrd="8" destOrd="0" presId="urn:microsoft.com/office/officeart/2009/3/layout/RandomtoResultProcess"/>
    <dgm:cxn modelId="{25FCA5EB-0D34-4A50-AE4A-03C53E455358}" type="presParOf" srcId="{00EC81F2-07AF-4D93-87D6-4CB82B7B38F1}" destId="{CA22D33A-2DCE-4E88-B73B-770BD077B44C}" srcOrd="0" destOrd="0" presId="urn:microsoft.com/office/officeart/2009/3/layout/RandomtoResultProcess"/>
    <dgm:cxn modelId="{C8261550-4903-408F-B29E-F4C53810CBC9}" type="presParOf" srcId="{00EC81F2-07AF-4D93-87D6-4CB82B7B38F1}" destId="{5DB5ACC1-5149-4F6A-AB4B-F63BBAFC1F6F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252C34-1FFA-41E1-8421-B2ECF34FBD7B}" type="doc">
      <dgm:prSet loTypeId="urn:microsoft.com/office/officeart/2009/3/layout/RandomtoResultProcess" loCatId="process" qsTypeId="urn:microsoft.com/office/officeart/2005/8/quickstyle/simple1#4" qsCatId="simple" csTypeId="urn:microsoft.com/office/officeart/2005/8/colors/colorful1#5" csCatId="colorful" phldr="1"/>
      <dgm:spPr/>
      <dgm:t>
        <a:bodyPr/>
        <a:lstStyle/>
        <a:p>
          <a:endParaRPr lang="en-US"/>
        </a:p>
      </dgm:t>
    </dgm:pt>
    <dgm:pt modelId="{FC0BADB1-1500-4554-AA39-978AD711A57D}">
      <dgm:prSet/>
      <dgm:spPr/>
      <dgm:t>
        <a:bodyPr/>
        <a:lstStyle/>
        <a:p>
          <a:r>
            <a:rPr lang="en-US" dirty="0"/>
            <a:t>ATU + Encryption + Parity</a:t>
          </a:r>
        </a:p>
        <a:p>
          <a:r>
            <a:rPr lang="en-US" dirty="0"/>
            <a:t>Translates address, encrypts payload, appends parity</a:t>
          </a:r>
        </a:p>
      </dgm:t>
    </dgm:pt>
    <dgm:pt modelId="{75216135-AD73-4876-B5EF-EBE8F791F7F2}" type="sibTrans" cxnId="{25A41EC7-DBA2-4961-B1E7-9F983D626F8B}">
      <dgm:prSet/>
      <dgm:spPr/>
      <dgm:t>
        <a:bodyPr/>
        <a:lstStyle/>
        <a:p>
          <a:endParaRPr lang="en-US"/>
        </a:p>
      </dgm:t>
    </dgm:pt>
    <dgm:pt modelId="{EACD115A-F137-4552-B925-CF9E3A304D92}" type="parTrans" cxnId="{25A41EC7-DBA2-4961-B1E7-9F983D626F8B}">
      <dgm:prSet/>
      <dgm:spPr/>
      <dgm:t>
        <a:bodyPr/>
        <a:lstStyle/>
        <a:p>
          <a:endParaRPr lang="en-US"/>
        </a:p>
      </dgm:t>
    </dgm:pt>
    <dgm:pt modelId="{C8C8CD9B-5818-4DC6-A12E-2A607F4010B2}">
      <dgm:prSet/>
      <dgm:spPr/>
      <dgm:t>
        <a:bodyPr/>
        <a:lstStyle/>
        <a:p>
          <a:r>
            <a:rPr lang="en-US" dirty="0"/>
            <a:t>CDM</a:t>
          </a:r>
        </a:p>
        <a:p>
          <a:r>
            <a:rPr lang="en-US" dirty="0"/>
            <a:t>Stores config (direct write) or processed payload (ATU address)</a:t>
          </a:r>
        </a:p>
      </dgm:t>
    </dgm:pt>
    <dgm:pt modelId="{847EC7C3-5B30-4475-8905-AF811C121792}" type="sibTrans" cxnId="{BD8BE0F6-58E2-4DC8-BFAD-996769F0F949}">
      <dgm:prSet/>
      <dgm:spPr/>
      <dgm:t>
        <a:bodyPr/>
        <a:lstStyle/>
        <a:p>
          <a:endParaRPr lang="en-US"/>
        </a:p>
      </dgm:t>
    </dgm:pt>
    <dgm:pt modelId="{EAFDFC2E-9BF6-4AE0-ACBA-87EED66EEC3A}" type="parTrans" cxnId="{BD8BE0F6-58E2-4DC8-BFAD-996769F0F949}">
      <dgm:prSet/>
      <dgm:spPr/>
      <dgm:t>
        <a:bodyPr/>
        <a:lstStyle/>
        <a:p>
          <a:endParaRPr lang="en-US"/>
        </a:p>
      </dgm:t>
    </dgm:pt>
    <dgm:pt modelId="{152C9E08-AFA2-4611-B58C-ADBBDA5BF8EE}">
      <dgm:prSet/>
      <dgm:spPr/>
      <dgm:t>
        <a:bodyPr/>
        <a:lstStyle/>
        <a:p>
          <a:r>
            <a:rPr lang="en-US" dirty="0"/>
            <a:t>Data Sync + CXS TX</a:t>
          </a:r>
        </a:p>
        <a:p>
          <a:r>
            <a:rPr lang="en-US" dirty="0"/>
            <a:t>CDC buffer: System clk → CXS clk; sends status flit back</a:t>
          </a:r>
        </a:p>
      </dgm:t>
    </dgm:pt>
    <dgm:pt modelId="{7C02B79B-5928-4361-869A-E59EEAB65A15}" type="sibTrans" cxnId="{9BE2B80F-0A52-4EFC-8D1F-0F5357C39691}">
      <dgm:prSet/>
      <dgm:spPr/>
      <dgm:t>
        <a:bodyPr/>
        <a:lstStyle/>
        <a:p>
          <a:endParaRPr lang="en-US"/>
        </a:p>
      </dgm:t>
    </dgm:pt>
    <dgm:pt modelId="{9C393E8F-3552-4A2D-94D6-80EFDEFBD854}" type="parTrans" cxnId="{9BE2B80F-0A52-4EFC-8D1F-0F5357C39691}">
      <dgm:prSet/>
      <dgm:spPr/>
      <dgm:t>
        <a:bodyPr/>
        <a:lstStyle/>
        <a:p>
          <a:endParaRPr lang="en-US"/>
        </a:p>
      </dgm:t>
    </dgm:pt>
    <dgm:pt modelId="{7FE80DC8-A7E3-4705-B55A-B6F4D1881A14}" type="pres">
      <dgm:prSet presAssocID="{27252C34-1FFA-41E1-8421-B2ECF34FBD7B}" presName="Name0" presStyleCnt="0">
        <dgm:presLayoutVars>
          <dgm:dir/>
          <dgm:animOne val="branch"/>
          <dgm:animLvl val="lvl"/>
        </dgm:presLayoutVars>
      </dgm:prSet>
      <dgm:spPr/>
    </dgm:pt>
    <dgm:pt modelId="{D2A74003-75C1-488B-8A06-F5F9DA4B0A43}" type="pres">
      <dgm:prSet presAssocID="{FC0BADB1-1500-4554-AA39-978AD711A57D}" presName="chaos" presStyleCnt="0"/>
      <dgm:spPr/>
    </dgm:pt>
    <dgm:pt modelId="{850D4A26-DF03-44E0-90C0-7FE16DEB00A3}" type="pres">
      <dgm:prSet presAssocID="{FC0BADB1-1500-4554-AA39-978AD711A57D}" presName="parTx1" presStyleLbl="revTx" presStyleIdx="0" presStyleCnt="2"/>
      <dgm:spPr/>
    </dgm:pt>
    <dgm:pt modelId="{56956B0C-A52F-4D18-B3A5-9A044355D7F7}" type="pres">
      <dgm:prSet presAssocID="{FC0BADB1-1500-4554-AA39-978AD711A57D}" presName="c1" presStyleLbl="node1" presStyleIdx="0" presStyleCnt="19"/>
      <dgm:spPr/>
    </dgm:pt>
    <dgm:pt modelId="{24076EF9-67D6-4ACA-B8F9-C06F1D72CEA0}" type="pres">
      <dgm:prSet presAssocID="{FC0BADB1-1500-4554-AA39-978AD711A57D}" presName="c2" presStyleLbl="node1" presStyleIdx="1" presStyleCnt="19"/>
      <dgm:spPr/>
    </dgm:pt>
    <dgm:pt modelId="{264AFA6C-A619-4AE8-BC66-CEEE69D62EA3}" type="pres">
      <dgm:prSet presAssocID="{FC0BADB1-1500-4554-AA39-978AD711A57D}" presName="c3" presStyleLbl="node1" presStyleIdx="2" presStyleCnt="19"/>
      <dgm:spPr/>
    </dgm:pt>
    <dgm:pt modelId="{36B33716-A694-4C07-97B9-5235BA67F503}" type="pres">
      <dgm:prSet presAssocID="{FC0BADB1-1500-4554-AA39-978AD711A57D}" presName="c4" presStyleLbl="node1" presStyleIdx="3" presStyleCnt="19"/>
      <dgm:spPr/>
    </dgm:pt>
    <dgm:pt modelId="{B98699B4-84C6-4C3C-9D67-C1DF3D646DC3}" type="pres">
      <dgm:prSet presAssocID="{FC0BADB1-1500-4554-AA39-978AD711A57D}" presName="c5" presStyleLbl="node1" presStyleIdx="4" presStyleCnt="19"/>
      <dgm:spPr/>
    </dgm:pt>
    <dgm:pt modelId="{D64B248F-FAFD-4467-A204-75A98BE5970C}" type="pres">
      <dgm:prSet presAssocID="{FC0BADB1-1500-4554-AA39-978AD711A57D}" presName="c6" presStyleLbl="node1" presStyleIdx="5" presStyleCnt="19"/>
      <dgm:spPr/>
    </dgm:pt>
    <dgm:pt modelId="{829D6872-0A5D-4928-8BAB-71F1709943FF}" type="pres">
      <dgm:prSet presAssocID="{FC0BADB1-1500-4554-AA39-978AD711A57D}" presName="c7" presStyleLbl="node1" presStyleIdx="6" presStyleCnt="19"/>
      <dgm:spPr/>
    </dgm:pt>
    <dgm:pt modelId="{8E6F582B-F955-4DC2-8917-1D439D9A3AEA}" type="pres">
      <dgm:prSet presAssocID="{FC0BADB1-1500-4554-AA39-978AD711A57D}" presName="c8" presStyleLbl="node1" presStyleIdx="7" presStyleCnt="19"/>
      <dgm:spPr/>
    </dgm:pt>
    <dgm:pt modelId="{2B7C42E7-DDA0-40B6-9E02-38A7A19A7653}" type="pres">
      <dgm:prSet presAssocID="{FC0BADB1-1500-4554-AA39-978AD711A57D}" presName="c9" presStyleLbl="node1" presStyleIdx="8" presStyleCnt="19"/>
      <dgm:spPr/>
    </dgm:pt>
    <dgm:pt modelId="{4DF52567-6319-4AFD-8D96-02F9EFAB9362}" type="pres">
      <dgm:prSet presAssocID="{FC0BADB1-1500-4554-AA39-978AD711A57D}" presName="c10" presStyleLbl="node1" presStyleIdx="9" presStyleCnt="19"/>
      <dgm:spPr/>
    </dgm:pt>
    <dgm:pt modelId="{77BFB5F1-4782-4A27-8DFF-CC6DE6E8A2A7}" type="pres">
      <dgm:prSet presAssocID="{FC0BADB1-1500-4554-AA39-978AD711A57D}" presName="c11" presStyleLbl="node1" presStyleIdx="10" presStyleCnt="19"/>
      <dgm:spPr/>
    </dgm:pt>
    <dgm:pt modelId="{BC5DEC05-2F75-4981-AC14-7249BD13BFC3}" type="pres">
      <dgm:prSet presAssocID="{FC0BADB1-1500-4554-AA39-978AD711A57D}" presName="c12" presStyleLbl="node1" presStyleIdx="11" presStyleCnt="19"/>
      <dgm:spPr/>
    </dgm:pt>
    <dgm:pt modelId="{FA6B692F-FCB3-4477-AEFB-804B1AF63466}" type="pres">
      <dgm:prSet presAssocID="{FC0BADB1-1500-4554-AA39-978AD711A57D}" presName="c13" presStyleLbl="node1" presStyleIdx="12" presStyleCnt="19"/>
      <dgm:spPr/>
    </dgm:pt>
    <dgm:pt modelId="{A6167764-4DC3-46F2-BE44-82DD2CD73ADC}" type="pres">
      <dgm:prSet presAssocID="{FC0BADB1-1500-4554-AA39-978AD711A57D}" presName="c14" presStyleLbl="node1" presStyleIdx="13" presStyleCnt="19"/>
      <dgm:spPr/>
    </dgm:pt>
    <dgm:pt modelId="{76FE7225-B096-42CB-8FFD-EC5BB3ED8B04}" type="pres">
      <dgm:prSet presAssocID="{FC0BADB1-1500-4554-AA39-978AD711A57D}" presName="c15" presStyleLbl="node1" presStyleIdx="14" presStyleCnt="19"/>
      <dgm:spPr/>
    </dgm:pt>
    <dgm:pt modelId="{9C17FDFA-316C-4C36-8094-56A3D0F51284}" type="pres">
      <dgm:prSet presAssocID="{FC0BADB1-1500-4554-AA39-978AD711A57D}" presName="c16" presStyleLbl="node1" presStyleIdx="15" presStyleCnt="19"/>
      <dgm:spPr/>
    </dgm:pt>
    <dgm:pt modelId="{9EC8FD4E-0286-487A-83BD-67045791B957}" type="pres">
      <dgm:prSet presAssocID="{FC0BADB1-1500-4554-AA39-978AD711A57D}" presName="c17" presStyleLbl="node1" presStyleIdx="16" presStyleCnt="19"/>
      <dgm:spPr/>
    </dgm:pt>
    <dgm:pt modelId="{4EA72891-DBA4-4583-842A-D01E5D67C2D4}" type="pres">
      <dgm:prSet presAssocID="{FC0BADB1-1500-4554-AA39-978AD711A57D}" presName="c18" presStyleLbl="node1" presStyleIdx="17" presStyleCnt="19"/>
      <dgm:spPr/>
    </dgm:pt>
    <dgm:pt modelId="{50465067-9D3A-484B-BC0F-0069EE1F7D91}" type="pres">
      <dgm:prSet presAssocID="{75216135-AD73-4876-B5EF-EBE8F791F7F2}" presName="chevronComposite1" presStyleCnt="0"/>
      <dgm:spPr/>
    </dgm:pt>
    <dgm:pt modelId="{ED6FBBAA-8B9D-4A8A-8FB7-04CAB0A37AAE}" type="pres">
      <dgm:prSet presAssocID="{75216135-AD73-4876-B5EF-EBE8F791F7F2}" presName="chevron1" presStyleLbl="sibTrans2D1" presStyleIdx="0" presStyleCnt="2"/>
      <dgm:spPr/>
    </dgm:pt>
    <dgm:pt modelId="{D7D9D7D6-4ABB-4CC6-A22B-CDFB4AA68DA5}" type="pres">
      <dgm:prSet presAssocID="{75216135-AD73-4876-B5EF-EBE8F791F7F2}" presName="spChevron1" presStyleCnt="0"/>
      <dgm:spPr/>
    </dgm:pt>
    <dgm:pt modelId="{E5524B8D-6697-472F-96C0-49DAFE20B06C}" type="pres">
      <dgm:prSet presAssocID="{C8C8CD9B-5818-4DC6-A12E-2A607F4010B2}" presName="middle" presStyleCnt="0"/>
      <dgm:spPr/>
    </dgm:pt>
    <dgm:pt modelId="{B2D5A58E-F798-4436-BB68-0C5B1027AE1A}" type="pres">
      <dgm:prSet presAssocID="{C8C8CD9B-5818-4DC6-A12E-2A607F4010B2}" presName="parTxMid" presStyleLbl="revTx" presStyleIdx="1" presStyleCnt="2"/>
      <dgm:spPr/>
    </dgm:pt>
    <dgm:pt modelId="{02093748-F101-428A-82DB-2D1550985EA9}" type="pres">
      <dgm:prSet presAssocID="{C8C8CD9B-5818-4DC6-A12E-2A607F4010B2}" presName="spMid" presStyleCnt="0"/>
      <dgm:spPr/>
    </dgm:pt>
    <dgm:pt modelId="{6A5652FC-CA44-4BDF-B447-D9EB1ECBE251}" type="pres">
      <dgm:prSet presAssocID="{847EC7C3-5B30-4475-8905-AF811C121792}" presName="chevronComposite1" presStyleCnt="0"/>
      <dgm:spPr/>
    </dgm:pt>
    <dgm:pt modelId="{A507033C-DA96-4FB6-AB57-9FBC53A77E2C}" type="pres">
      <dgm:prSet presAssocID="{847EC7C3-5B30-4475-8905-AF811C121792}" presName="chevron1" presStyleLbl="sibTrans2D1" presStyleIdx="1" presStyleCnt="2"/>
      <dgm:spPr/>
    </dgm:pt>
    <dgm:pt modelId="{B456EACF-4186-474A-A7AB-24B2E6410E9D}" type="pres">
      <dgm:prSet presAssocID="{847EC7C3-5B30-4475-8905-AF811C121792}" presName="spChevron1" presStyleCnt="0"/>
      <dgm:spPr/>
    </dgm:pt>
    <dgm:pt modelId="{0EA9AAE6-1EF3-488F-BDF5-45CBE9452701}" type="pres">
      <dgm:prSet presAssocID="{152C9E08-AFA2-4611-B58C-ADBBDA5BF8EE}" presName="last" presStyleCnt="0"/>
      <dgm:spPr/>
    </dgm:pt>
    <dgm:pt modelId="{429FE0CA-5284-46B2-9270-FEE66F216410}" type="pres">
      <dgm:prSet presAssocID="{152C9E08-AFA2-4611-B58C-ADBBDA5BF8EE}" presName="circleTx" presStyleLbl="node1" presStyleIdx="18" presStyleCnt="19"/>
      <dgm:spPr/>
    </dgm:pt>
    <dgm:pt modelId="{FEE4A1AD-06E3-4B15-A5BC-282F2C4FF321}" type="pres">
      <dgm:prSet presAssocID="{152C9E08-AFA2-4611-B58C-ADBBDA5BF8EE}" presName="spN" presStyleCnt="0"/>
      <dgm:spPr/>
    </dgm:pt>
  </dgm:ptLst>
  <dgm:cxnLst>
    <dgm:cxn modelId="{9BE2B80F-0A52-4EFC-8D1F-0F5357C39691}" srcId="{27252C34-1FFA-41E1-8421-B2ECF34FBD7B}" destId="{152C9E08-AFA2-4611-B58C-ADBBDA5BF8EE}" srcOrd="2" destOrd="0" parTransId="{9C393E8F-3552-4A2D-94D6-80EFDEFBD854}" sibTransId="{7C02B79B-5928-4361-869A-E59EEAB65A15}"/>
    <dgm:cxn modelId="{459F0110-7011-48D9-8FDA-BDC00260DEE7}" type="presOf" srcId="{C8C8CD9B-5818-4DC6-A12E-2A607F4010B2}" destId="{B2D5A58E-F798-4436-BB68-0C5B1027AE1A}" srcOrd="0" destOrd="0" presId="urn:microsoft.com/office/officeart/2009/3/layout/RandomtoResultProcess"/>
    <dgm:cxn modelId="{6AACA43B-123A-4A15-BCCB-2514CD67ED4A}" type="presOf" srcId="{27252C34-1FFA-41E1-8421-B2ECF34FBD7B}" destId="{7FE80DC8-A7E3-4705-B55A-B6F4D1881A14}" srcOrd="0" destOrd="0" presId="urn:microsoft.com/office/officeart/2009/3/layout/RandomtoResultProcess"/>
    <dgm:cxn modelId="{0A457C5A-EC66-45A3-BE75-799A26910F63}" type="presOf" srcId="{152C9E08-AFA2-4611-B58C-ADBBDA5BF8EE}" destId="{429FE0CA-5284-46B2-9270-FEE66F216410}" srcOrd="0" destOrd="0" presId="urn:microsoft.com/office/officeart/2009/3/layout/RandomtoResultProcess"/>
    <dgm:cxn modelId="{9F4412B0-9F35-41F1-9D48-97EDC0951851}" type="presOf" srcId="{FC0BADB1-1500-4554-AA39-978AD711A57D}" destId="{850D4A26-DF03-44E0-90C0-7FE16DEB00A3}" srcOrd="0" destOrd="0" presId="urn:microsoft.com/office/officeart/2009/3/layout/RandomtoResultProcess"/>
    <dgm:cxn modelId="{25A41EC7-DBA2-4961-B1E7-9F983D626F8B}" srcId="{27252C34-1FFA-41E1-8421-B2ECF34FBD7B}" destId="{FC0BADB1-1500-4554-AA39-978AD711A57D}" srcOrd="0" destOrd="0" parTransId="{EACD115A-F137-4552-B925-CF9E3A304D92}" sibTransId="{75216135-AD73-4876-B5EF-EBE8F791F7F2}"/>
    <dgm:cxn modelId="{BD8BE0F6-58E2-4DC8-BFAD-996769F0F949}" srcId="{27252C34-1FFA-41E1-8421-B2ECF34FBD7B}" destId="{C8C8CD9B-5818-4DC6-A12E-2A607F4010B2}" srcOrd="1" destOrd="0" parTransId="{EAFDFC2E-9BF6-4AE0-ACBA-87EED66EEC3A}" sibTransId="{847EC7C3-5B30-4475-8905-AF811C121792}"/>
    <dgm:cxn modelId="{A8F65A5C-5DF4-4DB6-A85F-DEB59A5E2730}" type="presParOf" srcId="{7FE80DC8-A7E3-4705-B55A-B6F4D1881A14}" destId="{D2A74003-75C1-488B-8A06-F5F9DA4B0A43}" srcOrd="0" destOrd="0" presId="urn:microsoft.com/office/officeart/2009/3/layout/RandomtoResultProcess"/>
    <dgm:cxn modelId="{21D1C4A4-87EA-4599-95D0-2A33DE229291}" type="presParOf" srcId="{D2A74003-75C1-488B-8A06-F5F9DA4B0A43}" destId="{850D4A26-DF03-44E0-90C0-7FE16DEB00A3}" srcOrd="0" destOrd="0" presId="urn:microsoft.com/office/officeart/2009/3/layout/RandomtoResultProcess"/>
    <dgm:cxn modelId="{895DFFFF-5D0F-4222-AE62-31C5922D6AF3}" type="presParOf" srcId="{D2A74003-75C1-488B-8A06-F5F9DA4B0A43}" destId="{56956B0C-A52F-4D18-B3A5-9A044355D7F7}" srcOrd="1" destOrd="0" presId="urn:microsoft.com/office/officeart/2009/3/layout/RandomtoResultProcess"/>
    <dgm:cxn modelId="{B4677DFD-C87B-462C-9771-9A7D06F2047D}" type="presParOf" srcId="{D2A74003-75C1-488B-8A06-F5F9DA4B0A43}" destId="{24076EF9-67D6-4ACA-B8F9-C06F1D72CEA0}" srcOrd="2" destOrd="0" presId="urn:microsoft.com/office/officeart/2009/3/layout/RandomtoResultProcess"/>
    <dgm:cxn modelId="{95C9C022-2357-4A87-9F46-3ECA5E98A553}" type="presParOf" srcId="{D2A74003-75C1-488B-8A06-F5F9DA4B0A43}" destId="{264AFA6C-A619-4AE8-BC66-CEEE69D62EA3}" srcOrd="3" destOrd="0" presId="urn:microsoft.com/office/officeart/2009/3/layout/RandomtoResultProcess"/>
    <dgm:cxn modelId="{64549B1F-AE66-4898-9789-3A94D6496E9A}" type="presParOf" srcId="{D2A74003-75C1-488B-8A06-F5F9DA4B0A43}" destId="{36B33716-A694-4C07-97B9-5235BA67F503}" srcOrd="4" destOrd="0" presId="urn:microsoft.com/office/officeart/2009/3/layout/RandomtoResultProcess"/>
    <dgm:cxn modelId="{026F0A45-BE01-4FC9-A27C-98AC93FFF1DB}" type="presParOf" srcId="{D2A74003-75C1-488B-8A06-F5F9DA4B0A43}" destId="{B98699B4-84C6-4C3C-9D67-C1DF3D646DC3}" srcOrd="5" destOrd="0" presId="urn:microsoft.com/office/officeart/2009/3/layout/RandomtoResultProcess"/>
    <dgm:cxn modelId="{3F34FC1E-F86D-4355-A8D4-FBDD5F584B95}" type="presParOf" srcId="{D2A74003-75C1-488B-8A06-F5F9DA4B0A43}" destId="{D64B248F-FAFD-4467-A204-75A98BE5970C}" srcOrd="6" destOrd="0" presId="urn:microsoft.com/office/officeart/2009/3/layout/RandomtoResultProcess"/>
    <dgm:cxn modelId="{B1BC6F88-DB15-4917-8340-AF195F009069}" type="presParOf" srcId="{D2A74003-75C1-488B-8A06-F5F9DA4B0A43}" destId="{829D6872-0A5D-4928-8BAB-71F1709943FF}" srcOrd="7" destOrd="0" presId="urn:microsoft.com/office/officeart/2009/3/layout/RandomtoResultProcess"/>
    <dgm:cxn modelId="{2C68DEB3-B0E9-45F0-92C7-7B42C9E0C962}" type="presParOf" srcId="{D2A74003-75C1-488B-8A06-F5F9DA4B0A43}" destId="{8E6F582B-F955-4DC2-8917-1D439D9A3AEA}" srcOrd="8" destOrd="0" presId="urn:microsoft.com/office/officeart/2009/3/layout/RandomtoResultProcess"/>
    <dgm:cxn modelId="{B3B9DD57-C948-45E7-A01C-FE1C7DFC1711}" type="presParOf" srcId="{D2A74003-75C1-488B-8A06-F5F9DA4B0A43}" destId="{2B7C42E7-DDA0-40B6-9E02-38A7A19A7653}" srcOrd="9" destOrd="0" presId="urn:microsoft.com/office/officeart/2009/3/layout/RandomtoResultProcess"/>
    <dgm:cxn modelId="{3F4A6AD7-E484-4D62-8B5C-98AD585387FF}" type="presParOf" srcId="{D2A74003-75C1-488B-8A06-F5F9DA4B0A43}" destId="{4DF52567-6319-4AFD-8D96-02F9EFAB9362}" srcOrd="10" destOrd="0" presId="urn:microsoft.com/office/officeart/2009/3/layout/RandomtoResultProcess"/>
    <dgm:cxn modelId="{E5CB822B-B205-43B8-A050-0DFFAE9FCF1F}" type="presParOf" srcId="{D2A74003-75C1-488B-8A06-F5F9DA4B0A43}" destId="{77BFB5F1-4782-4A27-8DFF-CC6DE6E8A2A7}" srcOrd="11" destOrd="0" presId="urn:microsoft.com/office/officeart/2009/3/layout/RandomtoResultProcess"/>
    <dgm:cxn modelId="{2510F1B1-693B-4712-95E5-377FC95EDCE6}" type="presParOf" srcId="{D2A74003-75C1-488B-8A06-F5F9DA4B0A43}" destId="{BC5DEC05-2F75-4981-AC14-7249BD13BFC3}" srcOrd="12" destOrd="0" presId="urn:microsoft.com/office/officeart/2009/3/layout/RandomtoResultProcess"/>
    <dgm:cxn modelId="{354F5F2E-93B4-4471-90A4-34252A07812F}" type="presParOf" srcId="{D2A74003-75C1-488B-8A06-F5F9DA4B0A43}" destId="{FA6B692F-FCB3-4477-AEFB-804B1AF63466}" srcOrd="13" destOrd="0" presId="urn:microsoft.com/office/officeart/2009/3/layout/RandomtoResultProcess"/>
    <dgm:cxn modelId="{EA1124FE-C5EF-4A52-A7F0-7F4C449FD41B}" type="presParOf" srcId="{D2A74003-75C1-488B-8A06-F5F9DA4B0A43}" destId="{A6167764-4DC3-46F2-BE44-82DD2CD73ADC}" srcOrd="14" destOrd="0" presId="urn:microsoft.com/office/officeart/2009/3/layout/RandomtoResultProcess"/>
    <dgm:cxn modelId="{7E86D700-0B69-4571-ADD3-9B277A2E6352}" type="presParOf" srcId="{D2A74003-75C1-488B-8A06-F5F9DA4B0A43}" destId="{76FE7225-B096-42CB-8FFD-EC5BB3ED8B04}" srcOrd="15" destOrd="0" presId="urn:microsoft.com/office/officeart/2009/3/layout/RandomtoResultProcess"/>
    <dgm:cxn modelId="{C3CE1BFA-CF5E-4748-A0D9-888553E2D110}" type="presParOf" srcId="{D2A74003-75C1-488B-8A06-F5F9DA4B0A43}" destId="{9C17FDFA-316C-4C36-8094-56A3D0F51284}" srcOrd="16" destOrd="0" presId="urn:microsoft.com/office/officeart/2009/3/layout/RandomtoResultProcess"/>
    <dgm:cxn modelId="{483D549F-4ACA-434A-8173-44706DCEFD2C}" type="presParOf" srcId="{D2A74003-75C1-488B-8A06-F5F9DA4B0A43}" destId="{9EC8FD4E-0286-487A-83BD-67045791B957}" srcOrd="17" destOrd="0" presId="urn:microsoft.com/office/officeart/2009/3/layout/RandomtoResultProcess"/>
    <dgm:cxn modelId="{8F6C2AA3-94E2-426A-B69B-5DBEA14B23B4}" type="presParOf" srcId="{D2A74003-75C1-488B-8A06-F5F9DA4B0A43}" destId="{4EA72891-DBA4-4583-842A-D01E5D67C2D4}" srcOrd="18" destOrd="0" presId="urn:microsoft.com/office/officeart/2009/3/layout/RandomtoResultProcess"/>
    <dgm:cxn modelId="{F97A57C4-00C9-4E1F-BE33-AA292E6F45CB}" type="presParOf" srcId="{7FE80DC8-A7E3-4705-B55A-B6F4D1881A14}" destId="{50465067-9D3A-484B-BC0F-0069EE1F7D91}" srcOrd="1" destOrd="0" presId="urn:microsoft.com/office/officeart/2009/3/layout/RandomtoResultProcess"/>
    <dgm:cxn modelId="{2258567C-2C3E-4A43-9893-5C4EEFDA0B82}" type="presParOf" srcId="{50465067-9D3A-484B-BC0F-0069EE1F7D91}" destId="{ED6FBBAA-8B9D-4A8A-8FB7-04CAB0A37AAE}" srcOrd="0" destOrd="0" presId="urn:microsoft.com/office/officeart/2009/3/layout/RandomtoResultProcess"/>
    <dgm:cxn modelId="{EDECDB7D-D339-4565-AF31-28C4635A665F}" type="presParOf" srcId="{50465067-9D3A-484B-BC0F-0069EE1F7D91}" destId="{D7D9D7D6-4ABB-4CC6-A22B-CDFB4AA68DA5}" srcOrd="1" destOrd="0" presId="urn:microsoft.com/office/officeart/2009/3/layout/RandomtoResultProcess"/>
    <dgm:cxn modelId="{1FB179C5-8669-4D4A-8AD3-BDAC1C2B2D2E}" type="presParOf" srcId="{7FE80DC8-A7E3-4705-B55A-B6F4D1881A14}" destId="{E5524B8D-6697-472F-96C0-49DAFE20B06C}" srcOrd="2" destOrd="0" presId="urn:microsoft.com/office/officeart/2009/3/layout/RandomtoResultProcess"/>
    <dgm:cxn modelId="{77E1EE48-4B67-4268-A084-C6CE10AEC5B9}" type="presParOf" srcId="{E5524B8D-6697-472F-96C0-49DAFE20B06C}" destId="{B2D5A58E-F798-4436-BB68-0C5B1027AE1A}" srcOrd="0" destOrd="0" presId="urn:microsoft.com/office/officeart/2009/3/layout/RandomtoResultProcess"/>
    <dgm:cxn modelId="{09C495BA-276C-4EBA-91FD-EC8228394155}" type="presParOf" srcId="{E5524B8D-6697-472F-96C0-49DAFE20B06C}" destId="{02093748-F101-428A-82DB-2D1550985EA9}" srcOrd="1" destOrd="0" presId="urn:microsoft.com/office/officeart/2009/3/layout/RandomtoResultProcess"/>
    <dgm:cxn modelId="{50017312-9387-4C23-BACA-EA12509CB166}" type="presParOf" srcId="{7FE80DC8-A7E3-4705-B55A-B6F4D1881A14}" destId="{6A5652FC-CA44-4BDF-B447-D9EB1ECBE251}" srcOrd="3" destOrd="0" presId="urn:microsoft.com/office/officeart/2009/3/layout/RandomtoResultProcess"/>
    <dgm:cxn modelId="{A52550E1-E643-44FF-80D9-D00E36C347F7}" type="presParOf" srcId="{6A5652FC-CA44-4BDF-B447-D9EB1ECBE251}" destId="{A507033C-DA96-4FB6-AB57-9FBC53A77E2C}" srcOrd="0" destOrd="0" presId="urn:microsoft.com/office/officeart/2009/3/layout/RandomtoResultProcess"/>
    <dgm:cxn modelId="{CB9E3B1D-A53F-463E-A288-236E1D7AEB59}" type="presParOf" srcId="{6A5652FC-CA44-4BDF-B447-D9EB1ECBE251}" destId="{B456EACF-4186-474A-A7AB-24B2E6410E9D}" srcOrd="1" destOrd="0" presId="urn:microsoft.com/office/officeart/2009/3/layout/RandomtoResultProcess"/>
    <dgm:cxn modelId="{DC4F20D6-BA2B-4FEA-BC99-7077009947A6}" type="presParOf" srcId="{7FE80DC8-A7E3-4705-B55A-B6F4D1881A14}" destId="{0EA9AAE6-1EF3-488F-BDF5-45CBE9452701}" srcOrd="4" destOrd="0" presId="urn:microsoft.com/office/officeart/2009/3/layout/RandomtoResultProcess"/>
    <dgm:cxn modelId="{60ED7D7C-7094-46D4-AE71-4CA73FDD6665}" type="presParOf" srcId="{0EA9AAE6-1EF3-488F-BDF5-45CBE9452701}" destId="{429FE0CA-5284-46B2-9270-FEE66F216410}" srcOrd="0" destOrd="0" presId="urn:microsoft.com/office/officeart/2009/3/layout/RandomtoResultProcess"/>
    <dgm:cxn modelId="{1DF47DCB-AA0C-4EC0-840E-01C1D23837A3}" type="presParOf" srcId="{0EA9AAE6-1EF3-488F-BDF5-45CBE9452701}" destId="{FEE4A1AD-06E3-4B15-A5BC-282F2C4FF321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CB9EA7-8E54-4554-9478-C52E782196AA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7DBFA9-E399-4780-B8C8-5835E44FFDAF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Flit Receiver</a:t>
          </a:r>
        </a:p>
      </dgm:t>
    </dgm:pt>
    <dgm:pt modelId="{FA9B13A3-2E0D-4BEC-BD0C-5056051139F9}" type="parTrans" cxnId="{1D87B82D-E6B4-4D09-B0FF-8B98421B2A20}">
      <dgm:prSet/>
      <dgm:spPr/>
      <dgm:t>
        <a:bodyPr/>
        <a:lstStyle/>
        <a:p>
          <a:endParaRPr lang="en-US"/>
        </a:p>
      </dgm:t>
    </dgm:pt>
    <dgm:pt modelId="{250C3B0D-635A-48A5-A0EC-52D433D293F4}" type="sibTrans" cxnId="{1D87B82D-E6B4-4D09-B0FF-8B98421B2A20}">
      <dgm:prSet/>
      <dgm:spPr/>
      <dgm:t>
        <a:bodyPr/>
        <a:lstStyle/>
        <a:p>
          <a:endParaRPr lang="en-US"/>
        </a:p>
      </dgm:t>
    </dgm:pt>
    <dgm:pt modelId="{78D37829-E7DD-4E2B-9C40-EFC0929B2B82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Samples 32 bit CXSDATA/ 6 bit CXSCNTL on the CXS clock when CXSVALID is asserted; registers the flit</a:t>
          </a:r>
        </a:p>
      </dgm:t>
    </dgm:pt>
    <dgm:pt modelId="{FB5D4021-0DBC-476F-81AB-C06003D5969A}" type="parTrans" cxnId="{D6C0F97C-0EEE-4854-BEE9-B8A31A2E8537}">
      <dgm:prSet/>
      <dgm:spPr/>
      <dgm:t>
        <a:bodyPr/>
        <a:lstStyle/>
        <a:p>
          <a:endParaRPr lang="en-US"/>
        </a:p>
      </dgm:t>
    </dgm:pt>
    <dgm:pt modelId="{6FF33F86-815E-4AC2-9BFE-BE675DE29A47}" type="sibTrans" cxnId="{D6C0F97C-0EEE-4854-BEE9-B8A31A2E8537}">
      <dgm:prSet/>
      <dgm:spPr/>
      <dgm:t>
        <a:bodyPr/>
        <a:lstStyle/>
        <a:p>
          <a:endParaRPr lang="en-US"/>
        </a:p>
      </dgm:t>
    </dgm:pt>
    <dgm:pt modelId="{D60FA8B2-50A5-413C-9408-28591DEAA567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CXSCNTL Decoder</a:t>
          </a:r>
        </a:p>
      </dgm:t>
    </dgm:pt>
    <dgm:pt modelId="{FCC1F11B-22C5-4417-B0A5-C271AC32C65F}" type="parTrans" cxnId="{772557BD-585E-42B9-9F2C-91FB0D9D9B54}">
      <dgm:prSet/>
      <dgm:spPr/>
      <dgm:t>
        <a:bodyPr/>
        <a:lstStyle/>
        <a:p>
          <a:endParaRPr lang="en-US"/>
        </a:p>
      </dgm:t>
    </dgm:pt>
    <dgm:pt modelId="{0E8F797D-5428-4D89-8238-DE4D8976A0E0}" type="sibTrans" cxnId="{772557BD-585E-42B9-9F2C-91FB0D9D9B54}">
      <dgm:prSet/>
      <dgm:spPr/>
      <dgm:t>
        <a:bodyPr/>
        <a:lstStyle/>
        <a:p>
          <a:endParaRPr lang="en-US"/>
        </a:p>
      </dgm:t>
    </dgm:pt>
    <dgm:pt modelId="{AFDE22E2-4165-49A7-86B9-D09F1E76A3F7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Decodes the control field to identify packet start, end, and error boundaries</a:t>
          </a:r>
        </a:p>
      </dgm:t>
    </dgm:pt>
    <dgm:pt modelId="{E1C6C9E4-D8EA-4FC9-993F-11B16BD40349}" type="parTrans" cxnId="{90A11E29-B2C7-4455-B20D-93BB74E82532}">
      <dgm:prSet/>
      <dgm:spPr/>
      <dgm:t>
        <a:bodyPr/>
        <a:lstStyle/>
        <a:p>
          <a:endParaRPr lang="en-US"/>
        </a:p>
      </dgm:t>
    </dgm:pt>
    <dgm:pt modelId="{C22AEB32-68E0-4225-9076-CB056509BC07}" type="sibTrans" cxnId="{90A11E29-B2C7-4455-B20D-93BB74E82532}">
      <dgm:prSet/>
      <dgm:spPr/>
      <dgm:t>
        <a:bodyPr/>
        <a:lstStyle/>
        <a:p>
          <a:endParaRPr lang="en-US"/>
        </a:p>
      </dgm:t>
    </dgm:pt>
    <dgm:pt modelId="{1DA748D1-0299-4A50-B5A4-5D11A6819543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Boundary Extractor </a:t>
          </a:r>
        </a:p>
      </dgm:t>
    </dgm:pt>
    <dgm:pt modelId="{0FD87663-F0FA-4F47-8063-5818DE418996}" type="parTrans" cxnId="{A2CF2858-0AC2-420E-908B-31A9B64E7F98}">
      <dgm:prSet/>
      <dgm:spPr/>
      <dgm:t>
        <a:bodyPr/>
        <a:lstStyle/>
        <a:p>
          <a:endParaRPr lang="en-US"/>
        </a:p>
      </dgm:t>
    </dgm:pt>
    <dgm:pt modelId="{04053A23-5446-4A62-A621-0B91F0E87708}" type="sibTrans" cxnId="{A2CF2858-0AC2-420E-908B-31A9B64E7F98}">
      <dgm:prSet/>
      <dgm:spPr/>
      <dgm:t>
        <a:bodyPr/>
        <a:lstStyle/>
        <a:p>
          <a:endParaRPr lang="en-US"/>
        </a:p>
      </dgm:t>
    </dgm:pt>
    <dgm:pt modelId="{B42D00DA-3A68-4D80-856A-C41F57E525F8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Formats the decoded flit + boundary info for storage into the Async FIFO</a:t>
          </a:r>
        </a:p>
      </dgm:t>
    </dgm:pt>
    <dgm:pt modelId="{194D30A2-7E5B-4B11-9CFE-3C7D2A4DD3B4}" type="parTrans" cxnId="{00083175-4192-4663-8223-CB3EF07BD8B7}">
      <dgm:prSet/>
      <dgm:spPr/>
      <dgm:t>
        <a:bodyPr/>
        <a:lstStyle/>
        <a:p>
          <a:endParaRPr lang="en-US"/>
        </a:p>
      </dgm:t>
    </dgm:pt>
    <dgm:pt modelId="{28B2DA2E-4723-4E7C-904A-F53F92141AF2}" type="sibTrans" cxnId="{00083175-4192-4663-8223-CB3EF07BD8B7}">
      <dgm:prSet/>
      <dgm:spPr/>
      <dgm:t>
        <a:bodyPr/>
        <a:lstStyle/>
        <a:p>
          <a:endParaRPr lang="en-US"/>
        </a:p>
      </dgm:t>
    </dgm:pt>
    <dgm:pt modelId="{C572F834-F33A-4189-A470-B523A86ADA09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Credit Generator</a:t>
          </a:r>
        </a:p>
      </dgm:t>
    </dgm:pt>
    <dgm:pt modelId="{1C85CA04-570D-4CBA-A506-221A2E18C27A}" type="parTrans" cxnId="{5348EF65-A493-4F43-B08F-3E26C8B088CD}">
      <dgm:prSet/>
      <dgm:spPr/>
      <dgm:t>
        <a:bodyPr/>
        <a:lstStyle/>
        <a:p>
          <a:endParaRPr lang="en-US"/>
        </a:p>
      </dgm:t>
    </dgm:pt>
    <dgm:pt modelId="{3DCFEB92-0445-4DDF-A841-30442DED6FB0}" type="sibTrans" cxnId="{5348EF65-A493-4F43-B08F-3E26C8B088CD}">
      <dgm:prSet/>
      <dgm:spPr/>
      <dgm:t>
        <a:bodyPr/>
        <a:lstStyle/>
        <a:p>
          <a:endParaRPr lang="en-US"/>
        </a:p>
      </dgm:t>
    </dgm:pt>
    <dgm:pt modelId="{9D02684A-D1DF-40FC-B238-1330D6A1A71F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Monitors FIFO space; asserts CXSRXCRDGNT when a read frees a buffer slot, </a:t>
          </a:r>
          <a:r>
            <a:rPr lang="en-US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deasserts</a:t>
          </a:r>
          <a:r>
            <a:rPr lang="en-US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when FIFO is full</a:t>
          </a:r>
        </a:p>
      </dgm:t>
    </dgm:pt>
    <dgm:pt modelId="{A00FAED5-6627-45FA-B63B-9DD4DB82A1C1}" type="parTrans" cxnId="{3D6F927A-4D50-406E-852F-DB421710256F}">
      <dgm:prSet/>
      <dgm:spPr/>
      <dgm:t>
        <a:bodyPr/>
        <a:lstStyle/>
        <a:p>
          <a:endParaRPr lang="en-US"/>
        </a:p>
      </dgm:t>
    </dgm:pt>
    <dgm:pt modelId="{327881BB-A4F9-4DDC-8643-16493CAB0380}" type="sibTrans" cxnId="{3D6F927A-4D50-406E-852F-DB421710256F}">
      <dgm:prSet/>
      <dgm:spPr/>
      <dgm:t>
        <a:bodyPr/>
        <a:lstStyle/>
        <a:p>
          <a:endParaRPr lang="en-US"/>
        </a:p>
      </dgm:t>
    </dgm:pt>
    <dgm:pt modelId="{986BE5F8-2982-4850-B7AC-030CA92F7F24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Link Control (RX)</a:t>
          </a:r>
        </a:p>
      </dgm:t>
    </dgm:pt>
    <dgm:pt modelId="{AF86D660-AACA-479F-B3E4-EF351B5BF180}" type="parTrans" cxnId="{F718854C-6727-458B-8B6B-A63620F747BE}">
      <dgm:prSet/>
      <dgm:spPr/>
      <dgm:t>
        <a:bodyPr/>
        <a:lstStyle/>
        <a:p>
          <a:endParaRPr lang="en-US"/>
        </a:p>
      </dgm:t>
    </dgm:pt>
    <dgm:pt modelId="{A30A38CA-BCFD-481A-B1FE-EF5EAD3FA6C6}" type="sibTrans" cxnId="{F718854C-6727-458B-8B6B-A63620F747BE}">
      <dgm:prSet/>
      <dgm:spPr/>
      <dgm:t>
        <a:bodyPr/>
        <a:lstStyle/>
        <a:p>
          <a:endParaRPr lang="en-US"/>
        </a:p>
      </dgm:t>
    </dgm:pt>
    <dgm:pt modelId="{D437EAB9-5470-4B72-A756-CC5FFEFB4274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FSM managing link activation/deactivation handshake (CXSRXACTIVEREQ/ACK)</a:t>
          </a:r>
        </a:p>
      </dgm:t>
    </dgm:pt>
    <dgm:pt modelId="{DAFE08C0-1E11-487D-BB96-2D63E9048243}" type="parTrans" cxnId="{3BF48B08-619A-43F0-AA83-4BCFB2990E23}">
      <dgm:prSet/>
      <dgm:spPr/>
      <dgm:t>
        <a:bodyPr/>
        <a:lstStyle/>
        <a:p>
          <a:endParaRPr lang="en-US"/>
        </a:p>
      </dgm:t>
    </dgm:pt>
    <dgm:pt modelId="{FB56BF77-804A-43C4-A1F9-283F73A33556}" type="sibTrans" cxnId="{3BF48B08-619A-43F0-AA83-4BCFB2990E23}">
      <dgm:prSet/>
      <dgm:spPr/>
      <dgm:t>
        <a:bodyPr/>
        <a:lstStyle/>
        <a:p>
          <a:endParaRPr lang="en-US"/>
        </a:p>
      </dgm:t>
    </dgm:pt>
    <dgm:pt modelId="{1764816E-4097-4A97-BF81-494B01D978A7}" type="pres">
      <dgm:prSet presAssocID="{C0CB9EA7-8E54-4554-9478-C52E782196AA}" presName="Name0" presStyleCnt="0">
        <dgm:presLayoutVars>
          <dgm:dir/>
          <dgm:animLvl val="lvl"/>
          <dgm:resizeHandles/>
        </dgm:presLayoutVars>
      </dgm:prSet>
      <dgm:spPr/>
    </dgm:pt>
    <dgm:pt modelId="{2992D441-577B-491D-8104-339F61ED64CC}" type="pres">
      <dgm:prSet presAssocID="{587DBFA9-E399-4780-B8C8-5835E44FFDAF}" presName="linNode" presStyleCnt="0"/>
      <dgm:spPr/>
    </dgm:pt>
    <dgm:pt modelId="{25F89F97-50D4-4A4E-8E8D-7183F38EC508}" type="pres">
      <dgm:prSet presAssocID="{587DBFA9-E399-4780-B8C8-5835E44FFDAF}" presName="parentShp" presStyleLbl="node1" presStyleIdx="0" presStyleCnt="5">
        <dgm:presLayoutVars>
          <dgm:bulletEnabled val="1"/>
        </dgm:presLayoutVars>
      </dgm:prSet>
      <dgm:spPr/>
    </dgm:pt>
    <dgm:pt modelId="{0BFC3EA6-84C2-461D-B07A-36D241C9725D}" type="pres">
      <dgm:prSet presAssocID="{587DBFA9-E399-4780-B8C8-5835E44FFDAF}" presName="childShp" presStyleLbl="bgAccFollowNode1" presStyleIdx="0" presStyleCnt="5">
        <dgm:presLayoutVars>
          <dgm:bulletEnabled val="1"/>
        </dgm:presLayoutVars>
      </dgm:prSet>
      <dgm:spPr/>
    </dgm:pt>
    <dgm:pt modelId="{8800715A-EA61-43ED-B19B-5849BBE27A49}" type="pres">
      <dgm:prSet presAssocID="{250C3B0D-635A-48A5-A0EC-52D433D293F4}" presName="spacing" presStyleCnt="0"/>
      <dgm:spPr/>
    </dgm:pt>
    <dgm:pt modelId="{D7F9E0D4-11BB-43E1-BB28-319015674D99}" type="pres">
      <dgm:prSet presAssocID="{D60FA8B2-50A5-413C-9408-28591DEAA567}" presName="linNode" presStyleCnt="0"/>
      <dgm:spPr/>
    </dgm:pt>
    <dgm:pt modelId="{DE02EA0E-7599-4846-B043-FD1217C7F6EA}" type="pres">
      <dgm:prSet presAssocID="{D60FA8B2-50A5-413C-9408-28591DEAA567}" presName="parentShp" presStyleLbl="node1" presStyleIdx="1" presStyleCnt="5">
        <dgm:presLayoutVars>
          <dgm:bulletEnabled val="1"/>
        </dgm:presLayoutVars>
      </dgm:prSet>
      <dgm:spPr/>
    </dgm:pt>
    <dgm:pt modelId="{A6588C23-84DC-45FC-B0BE-9C582CDA7B87}" type="pres">
      <dgm:prSet presAssocID="{D60FA8B2-50A5-413C-9408-28591DEAA567}" presName="childShp" presStyleLbl="bgAccFollowNode1" presStyleIdx="1" presStyleCnt="5">
        <dgm:presLayoutVars>
          <dgm:bulletEnabled val="1"/>
        </dgm:presLayoutVars>
      </dgm:prSet>
      <dgm:spPr/>
    </dgm:pt>
    <dgm:pt modelId="{0EC640B7-EF84-42D3-A0FC-7DBF6D1AC73E}" type="pres">
      <dgm:prSet presAssocID="{0E8F797D-5428-4D89-8238-DE4D8976A0E0}" presName="spacing" presStyleCnt="0"/>
      <dgm:spPr/>
    </dgm:pt>
    <dgm:pt modelId="{FE89B3AC-1004-44AA-BFCB-BB2A0A7A4F9C}" type="pres">
      <dgm:prSet presAssocID="{1DA748D1-0299-4A50-B5A4-5D11A6819543}" presName="linNode" presStyleCnt="0"/>
      <dgm:spPr/>
    </dgm:pt>
    <dgm:pt modelId="{5BDA8100-EC44-4978-ACB5-ABFCF6719408}" type="pres">
      <dgm:prSet presAssocID="{1DA748D1-0299-4A50-B5A4-5D11A6819543}" presName="parentShp" presStyleLbl="node1" presStyleIdx="2" presStyleCnt="5">
        <dgm:presLayoutVars>
          <dgm:bulletEnabled val="1"/>
        </dgm:presLayoutVars>
      </dgm:prSet>
      <dgm:spPr/>
    </dgm:pt>
    <dgm:pt modelId="{2C810BC6-397B-47FC-9A17-0B6327A40F78}" type="pres">
      <dgm:prSet presAssocID="{1DA748D1-0299-4A50-B5A4-5D11A6819543}" presName="childShp" presStyleLbl="bgAccFollowNode1" presStyleIdx="2" presStyleCnt="5">
        <dgm:presLayoutVars>
          <dgm:bulletEnabled val="1"/>
        </dgm:presLayoutVars>
      </dgm:prSet>
      <dgm:spPr/>
    </dgm:pt>
    <dgm:pt modelId="{38C465B4-2538-478A-AE6A-EBCF3687A9D6}" type="pres">
      <dgm:prSet presAssocID="{04053A23-5446-4A62-A621-0B91F0E87708}" presName="spacing" presStyleCnt="0"/>
      <dgm:spPr/>
    </dgm:pt>
    <dgm:pt modelId="{1EA1C7D4-E71A-497A-A14B-AED983FA27B8}" type="pres">
      <dgm:prSet presAssocID="{C572F834-F33A-4189-A470-B523A86ADA09}" presName="linNode" presStyleCnt="0"/>
      <dgm:spPr/>
    </dgm:pt>
    <dgm:pt modelId="{3EA53BCA-1223-46E2-81A0-5C1752CFD4A6}" type="pres">
      <dgm:prSet presAssocID="{C572F834-F33A-4189-A470-B523A86ADA09}" presName="parentShp" presStyleLbl="node1" presStyleIdx="3" presStyleCnt="5">
        <dgm:presLayoutVars>
          <dgm:bulletEnabled val="1"/>
        </dgm:presLayoutVars>
      </dgm:prSet>
      <dgm:spPr/>
    </dgm:pt>
    <dgm:pt modelId="{57366C1C-DE19-454D-B5BA-3D8FF24965D7}" type="pres">
      <dgm:prSet presAssocID="{C572F834-F33A-4189-A470-B523A86ADA09}" presName="childShp" presStyleLbl="bgAccFollowNode1" presStyleIdx="3" presStyleCnt="5">
        <dgm:presLayoutVars>
          <dgm:bulletEnabled val="1"/>
        </dgm:presLayoutVars>
      </dgm:prSet>
      <dgm:spPr/>
    </dgm:pt>
    <dgm:pt modelId="{D832BEAF-10C7-406C-9248-58444BAD4223}" type="pres">
      <dgm:prSet presAssocID="{3DCFEB92-0445-4DDF-A841-30442DED6FB0}" presName="spacing" presStyleCnt="0"/>
      <dgm:spPr/>
    </dgm:pt>
    <dgm:pt modelId="{AC7C42B3-41AB-4D62-AA80-FB12D83057E2}" type="pres">
      <dgm:prSet presAssocID="{986BE5F8-2982-4850-B7AC-030CA92F7F24}" presName="linNode" presStyleCnt="0"/>
      <dgm:spPr/>
    </dgm:pt>
    <dgm:pt modelId="{9AC02F42-21BF-4A96-883F-CFAA7ED98EFF}" type="pres">
      <dgm:prSet presAssocID="{986BE5F8-2982-4850-B7AC-030CA92F7F24}" presName="parentShp" presStyleLbl="node1" presStyleIdx="4" presStyleCnt="5">
        <dgm:presLayoutVars>
          <dgm:bulletEnabled val="1"/>
        </dgm:presLayoutVars>
      </dgm:prSet>
      <dgm:spPr/>
    </dgm:pt>
    <dgm:pt modelId="{867EEB12-F024-4429-B5E2-6E68400547F8}" type="pres">
      <dgm:prSet presAssocID="{986BE5F8-2982-4850-B7AC-030CA92F7F24}" presName="childShp" presStyleLbl="bgAccFollowNode1" presStyleIdx="4" presStyleCnt="5" custLinFactNeighborX="0" custLinFactNeighborY="185">
        <dgm:presLayoutVars>
          <dgm:bulletEnabled val="1"/>
        </dgm:presLayoutVars>
      </dgm:prSet>
      <dgm:spPr/>
    </dgm:pt>
  </dgm:ptLst>
  <dgm:cxnLst>
    <dgm:cxn modelId="{10533402-6A6A-4DF3-9632-F1122D90BB80}" type="presOf" srcId="{9D02684A-D1DF-40FC-B238-1330D6A1A71F}" destId="{57366C1C-DE19-454D-B5BA-3D8FF24965D7}" srcOrd="0" destOrd="0" presId="urn:microsoft.com/office/officeart/2005/8/layout/vList6"/>
    <dgm:cxn modelId="{C99FC607-BE0B-4CD8-86EC-3BAA92F5FA05}" type="presOf" srcId="{78D37829-E7DD-4E2B-9C40-EFC0929B2B82}" destId="{0BFC3EA6-84C2-461D-B07A-36D241C9725D}" srcOrd="0" destOrd="0" presId="urn:microsoft.com/office/officeart/2005/8/layout/vList6"/>
    <dgm:cxn modelId="{3BF48B08-619A-43F0-AA83-4BCFB2990E23}" srcId="{986BE5F8-2982-4850-B7AC-030CA92F7F24}" destId="{D437EAB9-5470-4B72-A756-CC5FFEFB4274}" srcOrd="0" destOrd="0" parTransId="{DAFE08C0-1E11-487D-BB96-2D63E9048243}" sibTransId="{FB56BF77-804A-43C4-A1F9-283F73A33556}"/>
    <dgm:cxn modelId="{E1622E0D-958A-414A-A838-5527EB32A4E1}" type="presOf" srcId="{D60FA8B2-50A5-413C-9408-28591DEAA567}" destId="{DE02EA0E-7599-4846-B043-FD1217C7F6EA}" srcOrd="0" destOrd="0" presId="urn:microsoft.com/office/officeart/2005/8/layout/vList6"/>
    <dgm:cxn modelId="{7F400312-ED75-42BA-823A-1525C8FB3A65}" type="presOf" srcId="{B42D00DA-3A68-4D80-856A-C41F57E525F8}" destId="{2C810BC6-397B-47FC-9A17-0B6327A40F78}" srcOrd="0" destOrd="0" presId="urn:microsoft.com/office/officeart/2005/8/layout/vList6"/>
    <dgm:cxn modelId="{74B4121B-AD2B-4746-9126-45D834A0ECBF}" type="presOf" srcId="{D437EAB9-5470-4B72-A756-CC5FFEFB4274}" destId="{867EEB12-F024-4429-B5E2-6E68400547F8}" srcOrd="0" destOrd="0" presId="urn:microsoft.com/office/officeart/2005/8/layout/vList6"/>
    <dgm:cxn modelId="{90A11E29-B2C7-4455-B20D-93BB74E82532}" srcId="{D60FA8B2-50A5-413C-9408-28591DEAA567}" destId="{AFDE22E2-4165-49A7-86B9-D09F1E76A3F7}" srcOrd="0" destOrd="0" parTransId="{E1C6C9E4-D8EA-4FC9-993F-11B16BD40349}" sibTransId="{C22AEB32-68E0-4225-9076-CB056509BC07}"/>
    <dgm:cxn modelId="{1D87B82D-E6B4-4D09-B0FF-8B98421B2A20}" srcId="{C0CB9EA7-8E54-4554-9478-C52E782196AA}" destId="{587DBFA9-E399-4780-B8C8-5835E44FFDAF}" srcOrd="0" destOrd="0" parTransId="{FA9B13A3-2E0D-4BEC-BD0C-5056051139F9}" sibTransId="{250C3B0D-635A-48A5-A0EC-52D433D293F4}"/>
    <dgm:cxn modelId="{5348EF65-A493-4F43-B08F-3E26C8B088CD}" srcId="{C0CB9EA7-8E54-4554-9478-C52E782196AA}" destId="{C572F834-F33A-4189-A470-B523A86ADA09}" srcOrd="3" destOrd="0" parTransId="{1C85CA04-570D-4CBA-A506-221A2E18C27A}" sibTransId="{3DCFEB92-0445-4DDF-A841-30442DED6FB0}"/>
    <dgm:cxn modelId="{F718854C-6727-458B-8B6B-A63620F747BE}" srcId="{C0CB9EA7-8E54-4554-9478-C52E782196AA}" destId="{986BE5F8-2982-4850-B7AC-030CA92F7F24}" srcOrd="4" destOrd="0" parTransId="{AF86D660-AACA-479F-B3E4-EF351B5BF180}" sibTransId="{A30A38CA-BCFD-481A-B1FE-EF5EAD3FA6C6}"/>
    <dgm:cxn modelId="{00083175-4192-4663-8223-CB3EF07BD8B7}" srcId="{1DA748D1-0299-4A50-B5A4-5D11A6819543}" destId="{B42D00DA-3A68-4D80-856A-C41F57E525F8}" srcOrd="0" destOrd="0" parTransId="{194D30A2-7E5B-4B11-9CFE-3C7D2A4DD3B4}" sibTransId="{28B2DA2E-4723-4E7C-904A-F53F92141AF2}"/>
    <dgm:cxn modelId="{A2CF2858-0AC2-420E-908B-31A9B64E7F98}" srcId="{C0CB9EA7-8E54-4554-9478-C52E782196AA}" destId="{1DA748D1-0299-4A50-B5A4-5D11A6819543}" srcOrd="2" destOrd="0" parTransId="{0FD87663-F0FA-4F47-8063-5818DE418996}" sibTransId="{04053A23-5446-4A62-A621-0B91F0E87708}"/>
    <dgm:cxn modelId="{3D6F927A-4D50-406E-852F-DB421710256F}" srcId="{C572F834-F33A-4189-A470-B523A86ADA09}" destId="{9D02684A-D1DF-40FC-B238-1330D6A1A71F}" srcOrd="0" destOrd="0" parTransId="{A00FAED5-6627-45FA-B63B-9DD4DB82A1C1}" sibTransId="{327881BB-A4F9-4DDC-8643-16493CAB0380}"/>
    <dgm:cxn modelId="{D6C0F97C-0EEE-4854-BEE9-B8A31A2E8537}" srcId="{587DBFA9-E399-4780-B8C8-5835E44FFDAF}" destId="{78D37829-E7DD-4E2B-9C40-EFC0929B2B82}" srcOrd="0" destOrd="0" parTransId="{FB5D4021-0DBC-476F-81AB-C06003D5969A}" sibTransId="{6FF33F86-815E-4AC2-9BFE-BE675DE29A47}"/>
    <dgm:cxn modelId="{7F275DB7-89A7-4561-91D2-C35CC29C8076}" type="presOf" srcId="{AFDE22E2-4165-49A7-86B9-D09F1E76A3F7}" destId="{A6588C23-84DC-45FC-B0BE-9C582CDA7B87}" srcOrd="0" destOrd="0" presId="urn:microsoft.com/office/officeart/2005/8/layout/vList6"/>
    <dgm:cxn modelId="{772557BD-585E-42B9-9F2C-91FB0D9D9B54}" srcId="{C0CB9EA7-8E54-4554-9478-C52E782196AA}" destId="{D60FA8B2-50A5-413C-9408-28591DEAA567}" srcOrd="1" destOrd="0" parTransId="{FCC1F11B-22C5-4417-B0A5-C271AC32C65F}" sibTransId="{0E8F797D-5428-4D89-8238-DE4D8976A0E0}"/>
    <dgm:cxn modelId="{B0AC8ECF-3155-4670-A132-9D4718AB168D}" type="presOf" srcId="{587DBFA9-E399-4780-B8C8-5835E44FFDAF}" destId="{25F89F97-50D4-4A4E-8E8D-7183F38EC508}" srcOrd="0" destOrd="0" presId="urn:microsoft.com/office/officeart/2005/8/layout/vList6"/>
    <dgm:cxn modelId="{06E870D0-5EB9-4C59-98E1-748C9E962B4E}" type="presOf" srcId="{C572F834-F33A-4189-A470-B523A86ADA09}" destId="{3EA53BCA-1223-46E2-81A0-5C1752CFD4A6}" srcOrd="0" destOrd="0" presId="urn:microsoft.com/office/officeart/2005/8/layout/vList6"/>
    <dgm:cxn modelId="{F83E92DE-50D7-40F4-A0E0-30CBCA126B42}" type="presOf" srcId="{1DA748D1-0299-4A50-B5A4-5D11A6819543}" destId="{5BDA8100-EC44-4978-ACB5-ABFCF6719408}" srcOrd="0" destOrd="0" presId="urn:microsoft.com/office/officeart/2005/8/layout/vList6"/>
    <dgm:cxn modelId="{4B4E74F6-060E-4DE7-BD21-D104F6F46E8F}" type="presOf" srcId="{986BE5F8-2982-4850-B7AC-030CA92F7F24}" destId="{9AC02F42-21BF-4A96-883F-CFAA7ED98EFF}" srcOrd="0" destOrd="0" presId="urn:microsoft.com/office/officeart/2005/8/layout/vList6"/>
    <dgm:cxn modelId="{7382DDFF-1ABF-468F-B1BD-D58B323CAEF9}" type="presOf" srcId="{C0CB9EA7-8E54-4554-9478-C52E782196AA}" destId="{1764816E-4097-4A97-BF81-494B01D978A7}" srcOrd="0" destOrd="0" presId="urn:microsoft.com/office/officeart/2005/8/layout/vList6"/>
    <dgm:cxn modelId="{6AFA7542-63F8-47D8-BF92-720B7BA62617}" type="presParOf" srcId="{1764816E-4097-4A97-BF81-494B01D978A7}" destId="{2992D441-577B-491D-8104-339F61ED64CC}" srcOrd="0" destOrd="0" presId="urn:microsoft.com/office/officeart/2005/8/layout/vList6"/>
    <dgm:cxn modelId="{BDC86CA3-F567-40AC-96F7-FFA4F9785982}" type="presParOf" srcId="{2992D441-577B-491D-8104-339F61ED64CC}" destId="{25F89F97-50D4-4A4E-8E8D-7183F38EC508}" srcOrd="0" destOrd="0" presId="urn:microsoft.com/office/officeart/2005/8/layout/vList6"/>
    <dgm:cxn modelId="{6AE23DD7-CED1-4124-9AFC-83DF65B5C373}" type="presParOf" srcId="{2992D441-577B-491D-8104-339F61ED64CC}" destId="{0BFC3EA6-84C2-461D-B07A-36D241C9725D}" srcOrd="1" destOrd="0" presId="urn:microsoft.com/office/officeart/2005/8/layout/vList6"/>
    <dgm:cxn modelId="{4E79BC87-4F8D-4584-ACA5-8FA79CE85900}" type="presParOf" srcId="{1764816E-4097-4A97-BF81-494B01D978A7}" destId="{8800715A-EA61-43ED-B19B-5849BBE27A49}" srcOrd="1" destOrd="0" presId="urn:microsoft.com/office/officeart/2005/8/layout/vList6"/>
    <dgm:cxn modelId="{E6336796-DDAE-4B7F-8681-2A275E4E21E2}" type="presParOf" srcId="{1764816E-4097-4A97-BF81-494B01D978A7}" destId="{D7F9E0D4-11BB-43E1-BB28-319015674D99}" srcOrd="2" destOrd="0" presId="urn:microsoft.com/office/officeart/2005/8/layout/vList6"/>
    <dgm:cxn modelId="{EA0885C2-8CF3-4AA3-8FE7-993DD9FC624E}" type="presParOf" srcId="{D7F9E0D4-11BB-43E1-BB28-319015674D99}" destId="{DE02EA0E-7599-4846-B043-FD1217C7F6EA}" srcOrd="0" destOrd="0" presId="urn:microsoft.com/office/officeart/2005/8/layout/vList6"/>
    <dgm:cxn modelId="{D6504E1B-37C9-4432-94E3-2422D8B4F099}" type="presParOf" srcId="{D7F9E0D4-11BB-43E1-BB28-319015674D99}" destId="{A6588C23-84DC-45FC-B0BE-9C582CDA7B87}" srcOrd="1" destOrd="0" presId="urn:microsoft.com/office/officeart/2005/8/layout/vList6"/>
    <dgm:cxn modelId="{298E2153-6F3F-4957-B334-14CE57A3BD38}" type="presParOf" srcId="{1764816E-4097-4A97-BF81-494B01D978A7}" destId="{0EC640B7-EF84-42D3-A0FC-7DBF6D1AC73E}" srcOrd="3" destOrd="0" presId="urn:microsoft.com/office/officeart/2005/8/layout/vList6"/>
    <dgm:cxn modelId="{C7400F1B-270D-4579-808D-19F409A7055B}" type="presParOf" srcId="{1764816E-4097-4A97-BF81-494B01D978A7}" destId="{FE89B3AC-1004-44AA-BFCB-BB2A0A7A4F9C}" srcOrd="4" destOrd="0" presId="urn:microsoft.com/office/officeart/2005/8/layout/vList6"/>
    <dgm:cxn modelId="{11CBAC5A-3A55-4466-80A0-7B3289D8B1C0}" type="presParOf" srcId="{FE89B3AC-1004-44AA-BFCB-BB2A0A7A4F9C}" destId="{5BDA8100-EC44-4978-ACB5-ABFCF6719408}" srcOrd="0" destOrd="0" presId="urn:microsoft.com/office/officeart/2005/8/layout/vList6"/>
    <dgm:cxn modelId="{0D56CDEC-750A-4ACA-80A6-60F17F783664}" type="presParOf" srcId="{FE89B3AC-1004-44AA-BFCB-BB2A0A7A4F9C}" destId="{2C810BC6-397B-47FC-9A17-0B6327A40F78}" srcOrd="1" destOrd="0" presId="urn:microsoft.com/office/officeart/2005/8/layout/vList6"/>
    <dgm:cxn modelId="{B1056107-B93D-4240-8009-C926C3EB9D74}" type="presParOf" srcId="{1764816E-4097-4A97-BF81-494B01D978A7}" destId="{38C465B4-2538-478A-AE6A-EBCF3687A9D6}" srcOrd="5" destOrd="0" presId="urn:microsoft.com/office/officeart/2005/8/layout/vList6"/>
    <dgm:cxn modelId="{7F76A0C9-2B46-4F16-AC5B-62F70715D7A8}" type="presParOf" srcId="{1764816E-4097-4A97-BF81-494B01D978A7}" destId="{1EA1C7D4-E71A-497A-A14B-AED983FA27B8}" srcOrd="6" destOrd="0" presId="urn:microsoft.com/office/officeart/2005/8/layout/vList6"/>
    <dgm:cxn modelId="{3A9D8E7D-283C-4B10-8940-7ED24DB320E5}" type="presParOf" srcId="{1EA1C7D4-E71A-497A-A14B-AED983FA27B8}" destId="{3EA53BCA-1223-46E2-81A0-5C1752CFD4A6}" srcOrd="0" destOrd="0" presId="urn:microsoft.com/office/officeart/2005/8/layout/vList6"/>
    <dgm:cxn modelId="{88687C98-096B-44C6-9A68-2F5B425CE5AA}" type="presParOf" srcId="{1EA1C7D4-E71A-497A-A14B-AED983FA27B8}" destId="{57366C1C-DE19-454D-B5BA-3D8FF24965D7}" srcOrd="1" destOrd="0" presId="urn:microsoft.com/office/officeart/2005/8/layout/vList6"/>
    <dgm:cxn modelId="{8E67EB92-FDE4-46AC-9D2C-9392E89F8DB2}" type="presParOf" srcId="{1764816E-4097-4A97-BF81-494B01D978A7}" destId="{D832BEAF-10C7-406C-9248-58444BAD4223}" srcOrd="7" destOrd="0" presId="urn:microsoft.com/office/officeart/2005/8/layout/vList6"/>
    <dgm:cxn modelId="{481B8D82-DA03-4882-AACA-EE61DE542B14}" type="presParOf" srcId="{1764816E-4097-4A97-BF81-494B01D978A7}" destId="{AC7C42B3-41AB-4D62-AA80-FB12D83057E2}" srcOrd="8" destOrd="0" presId="urn:microsoft.com/office/officeart/2005/8/layout/vList6"/>
    <dgm:cxn modelId="{F26EF0FE-1339-4D7C-A89C-F1CA1DB4AF8C}" type="presParOf" srcId="{AC7C42B3-41AB-4D62-AA80-FB12D83057E2}" destId="{9AC02F42-21BF-4A96-883F-CFAA7ED98EFF}" srcOrd="0" destOrd="0" presId="urn:microsoft.com/office/officeart/2005/8/layout/vList6"/>
    <dgm:cxn modelId="{F6D72882-B890-4817-BD58-E3F2836C48CE}" type="presParOf" srcId="{AC7C42B3-41AB-4D62-AA80-FB12D83057E2}" destId="{867EEB12-F024-4429-B5E2-6E68400547F8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0CB9EA7-8E54-4554-9478-C52E782196AA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7DBFA9-E399-4780-B8C8-5835E44FFDAF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CXS Packet Formatter</a:t>
          </a:r>
        </a:p>
      </dgm:t>
    </dgm:pt>
    <dgm:pt modelId="{FA9B13A3-2E0D-4BEC-BD0C-5056051139F9}" type="parTrans" cxnId="{1D87B82D-E6B4-4D09-B0FF-8B98421B2A20}">
      <dgm:prSet/>
      <dgm:spPr/>
      <dgm:t>
        <a:bodyPr/>
        <a:lstStyle/>
        <a:p>
          <a:endParaRPr lang="en-US"/>
        </a:p>
      </dgm:t>
    </dgm:pt>
    <dgm:pt modelId="{250C3B0D-635A-48A5-A0EC-52D433D293F4}" type="sibTrans" cxnId="{1D87B82D-E6B4-4D09-B0FF-8B98421B2A20}">
      <dgm:prSet/>
      <dgm:spPr/>
      <dgm:t>
        <a:bodyPr/>
        <a:lstStyle/>
        <a:p>
          <a:endParaRPr lang="en-US"/>
        </a:p>
      </dgm:t>
    </dgm:pt>
    <dgm:pt modelId="{78D37829-E7DD-4E2B-9C40-EFC0929B2B82}">
      <dgm:prSet phldrT="[Text]" custT="1"/>
      <dgm:spPr/>
      <dgm:t>
        <a:bodyPr/>
        <a:lstStyle/>
        <a:p>
          <a:pPr>
            <a:buNone/>
          </a:pPr>
          <a:r>
            <a:rPr lang="en-US" sz="9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Converts </a:t>
          </a:r>
          <a:r>
            <a:rPr lang="en-US" sz="9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status_valid</a:t>
          </a:r>
          <a:r>
            <a:rPr lang="en-US" sz="9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/</a:t>
          </a:r>
          <a:r>
            <a:rPr lang="en-US" sz="9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pkt_type</a:t>
          </a:r>
          <a:r>
            <a:rPr lang="en-US" sz="9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/</a:t>
          </a:r>
          <a:r>
            <a:rPr lang="en-US" sz="9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error_type</a:t>
          </a:r>
          <a:r>
            <a:rPr lang="en-US" sz="9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into internal packet format with start/end markers</a:t>
          </a:r>
        </a:p>
      </dgm:t>
    </dgm:pt>
    <dgm:pt modelId="{FB5D4021-0DBC-476F-81AB-C06003D5969A}" type="parTrans" cxnId="{D6C0F97C-0EEE-4854-BEE9-B8A31A2E8537}">
      <dgm:prSet/>
      <dgm:spPr/>
      <dgm:t>
        <a:bodyPr/>
        <a:lstStyle/>
        <a:p>
          <a:endParaRPr lang="en-US"/>
        </a:p>
      </dgm:t>
    </dgm:pt>
    <dgm:pt modelId="{6FF33F86-815E-4AC2-9BFE-BE675DE29A47}" type="sibTrans" cxnId="{D6C0F97C-0EEE-4854-BEE9-B8A31A2E8537}">
      <dgm:prSet/>
      <dgm:spPr/>
      <dgm:t>
        <a:bodyPr/>
        <a:lstStyle/>
        <a:p>
          <a:endParaRPr lang="en-US"/>
        </a:p>
      </dgm:t>
    </dgm:pt>
    <dgm:pt modelId="{D60FA8B2-50A5-413C-9408-28591DEAA567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CXS TX Credit Counter</a:t>
          </a:r>
        </a:p>
      </dgm:t>
    </dgm:pt>
    <dgm:pt modelId="{FCC1F11B-22C5-4417-B0A5-C271AC32C65F}" type="parTrans" cxnId="{772557BD-585E-42B9-9F2C-91FB0D9D9B54}">
      <dgm:prSet/>
      <dgm:spPr/>
      <dgm:t>
        <a:bodyPr/>
        <a:lstStyle/>
        <a:p>
          <a:endParaRPr lang="en-US"/>
        </a:p>
      </dgm:t>
    </dgm:pt>
    <dgm:pt modelId="{0E8F797D-5428-4D89-8238-DE4D8976A0E0}" type="sibTrans" cxnId="{772557BD-585E-42B9-9F2C-91FB0D9D9B54}">
      <dgm:prSet/>
      <dgm:spPr/>
      <dgm:t>
        <a:bodyPr/>
        <a:lstStyle/>
        <a:p>
          <a:endParaRPr lang="en-US"/>
        </a:p>
      </dgm:t>
    </dgm:pt>
    <dgm:pt modelId="{AFDE22E2-4165-49A7-86B9-D09F1E76A3F7}">
      <dgm:prSet phldrT="[Text]" custT="1"/>
      <dgm:spPr/>
      <dgm:t>
        <a:bodyPr/>
        <a:lstStyle/>
        <a:p>
          <a:pPr>
            <a:buNone/>
          </a:pPr>
          <a:r>
            <a:rPr lang="en-US" sz="9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Tracks available transmission credits (CXSTXCRDGNT in, consumed on each flit sent, max 15)</a:t>
          </a:r>
        </a:p>
      </dgm:t>
    </dgm:pt>
    <dgm:pt modelId="{E1C6C9E4-D8EA-4FC9-993F-11B16BD40349}" type="parTrans" cxnId="{90A11E29-B2C7-4455-B20D-93BB74E82532}">
      <dgm:prSet/>
      <dgm:spPr/>
      <dgm:t>
        <a:bodyPr/>
        <a:lstStyle/>
        <a:p>
          <a:endParaRPr lang="en-US"/>
        </a:p>
      </dgm:t>
    </dgm:pt>
    <dgm:pt modelId="{C22AEB32-68E0-4225-9076-CB056509BC07}" type="sibTrans" cxnId="{90A11E29-B2C7-4455-B20D-93BB74E82532}">
      <dgm:prSet/>
      <dgm:spPr/>
      <dgm:t>
        <a:bodyPr/>
        <a:lstStyle/>
        <a:p>
          <a:endParaRPr lang="en-US"/>
        </a:p>
      </dgm:t>
    </dgm:pt>
    <dgm:pt modelId="{1DA748D1-0299-4A50-B5A4-5D11A6819543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CXS Flit Transmitter</a:t>
          </a:r>
        </a:p>
      </dgm:t>
    </dgm:pt>
    <dgm:pt modelId="{0FD87663-F0FA-4F47-8063-5818DE418996}" type="parTrans" cxnId="{A2CF2858-0AC2-420E-908B-31A9B64E7F98}">
      <dgm:prSet/>
      <dgm:spPr/>
      <dgm:t>
        <a:bodyPr/>
        <a:lstStyle/>
        <a:p>
          <a:endParaRPr lang="en-US"/>
        </a:p>
      </dgm:t>
    </dgm:pt>
    <dgm:pt modelId="{04053A23-5446-4A62-A621-0B91F0E87708}" type="sibTrans" cxnId="{A2CF2858-0AC2-420E-908B-31A9B64E7F98}">
      <dgm:prSet/>
      <dgm:spPr/>
      <dgm:t>
        <a:bodyPr/>
        <a:lstStyle/>
        <a:p>
          <a:endParaRPr lang="en-US"/>
        </a:p>
      </dgm:t>
    </dgm:pt>
    <dgm:pt modelId="{B42D00DA-3A68-4D80-856A-C41F57E525F8}">
      <dgm:prSet phldrT="[Text]" custT="1"/>
      <dgm:spPr/>
      <dgm:t>
        <a:bodyPr/>
        <a:lstStyle/>
        <a:p>
          <a:pPr>
            <a:buNone/>
          </a:pPr>
          <a:r>
            <a:rPr lang="en-US" sz="9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Transmits the flit only when packet is available, link permits sending, and credit is available</a:t>
          </a:r>
        </a:p>
      </dgm:t>
    </dgm:pt>
    <dgm:pt modelId="{194D30A2-7E5B-4B11-9CFE-3C7D2A4DD3B4}" type="parTrans" cxnId="{00083175-4192-4663-8223-CB3EF07BD8B7}">
      <dgm:prSet/>
      <dgm:spPr/>
      <dgm:t>
        <a:bodyPr/>
        <a:lstStyle/>
        <a:p>
          <a:endParaRPr lang="en-US"/>
        </a:p>
      </dgm:t>
    </dgm:pt>
    <dgm:pt modelId="{28B2DA2E-4723-4E7C-904A-F53F92141AF2}" type="sibTrans" cxnId="{00083175-4192-4663-8223-CB3EF07BD8B7}">
      <dgm:prSet/>
      <dgm:spPr/>
      <dgm:t>
        <a:bodyPr/>
        <a:lstStyle/>
        <a:p>
          <a:endParaRPr lang="en-US"/>
        </a:p>
      </dgm:t>
    </dgm:pt>
    <dgm:pt modelId="{C572F834-F33A-4189-A470-B523A86ADA09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CXS Control Encoder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cxscntl_encoder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</dgm:t>
    </dgm:pt>
    <dgm:pt modelId="{1C85CA04-570D-4CBA-A506-221A2E18C27A}" type="parTrans" cxnId="{5348EF65-A493-4F43-B08F-3E26C8B088CD}">
      <dgm:prSet/>
      <dgm:spPr/>
      <dgm:t>
        <a:bodyPr/>
        <a:lstStyle/>
        <a:p>
          <a:endParaRPr lang="en-US"/>
        </a:p>
      </dgm:t>
    </dgm:pt>
    <dgm:pt modelId="{3DCFEB92-0445-4DDF-A841-30442DED6FB0}" type="sibTrans" cxnId="{5348EF65-A493-4F43-B08F-3E26C8B088CD}">
      <dgm:prSet/>
      <dgm:spPr/>
      <dgm:t>
        <a:bodyPr/>
        <a:lstStyle/>
        <a:p>
          <a:endParaRPr lang="en-US"/>
        </a:p>
      </dgm:t>
    </dgm:pt>
    <dgm:pt modelId="{9D02684A-D1DF-40FC-B238-1330D6A1A71F}">
      <dgm:prSet phldrT="[Text]" custT="1"/>
      <dgm:spPr/>
      <dgm:t>
        <a:bodyPr/>
        <a:lstStyle/>
        <a:p>
          <a:pPr>
            <a:buNone/>
          </a:pPr>
          <a:r>
            <a:rPr lang="en-US" sz="9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Encodes START/END/ENDERROR into the final CXSTXCNTL field</a:t>
          </a:r>
        </a:p>
      </dgm:t>
    </dgm:pt>
    <dgm:pt modelId="{A00FAED5-6627-45FA-B63B-9DD4DB82A1C1}" type="parTrans" cxnId="{3D6F927A-4D50-406E-852F-DB421710256F}">
      <dgm:prSet/>
      <dgm:spPr/>
      <dgm:t>
        <a:bodyPr/>
        <a:lstStyle/>
        <a:p>
          <a:endParaRPr lang="en-US"/>
        </a:p>
      </dgm:t>
    </dgm:pt>
    <dgm:pt modelId="{327881BB-A4F9-4DDC-8643-16493CAB0380}" type="sibTrans" cxnId="{3D6F927A-4D50-406E-852F-DB421710256F}">
      <dgm:prSet/>
      <dgm:spPr/>
      <dgm:t>
        <a:bodyPr/>
        <a:lstStyle/>
        <a:p>
          <a:endParaRPr lang="en-US"/>
        </a:p>
      </dgm:t>
    </dgm:pt>
    <dgm:pt modelId="{986BE5F8-2982-4850-B7AC-030CA92F7F24}">
      <dgm:prSet phldrT="[Text]" custT="1"/>
      <dgm:spPr/>
      <dgm:t>
        <a:bodyPr/>
        <a:lstStyle/>
        <a:p>
          <a:pPr>
            <a:buNone/>
          </a:pP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Link Control (TX)</a:t>
          </a:r>
        </a:p>
      </dgm:t>
    </dgm:pt>
    <dgm:pt modelId="{AF86D660-AACA-479F-B3E4-EF351B5BF180}" type="parTrans" cxnId="{F718854C-6727-458B-8B6B-A63620F747BE}">
      <dgm:prSet/>
      <dgm:spPr/>
      <dgm:t>
        <a:bodyPr/>
        <a:lstStyle/>
        <a:p>
          <a:endParaRPr lang="en-US"/>
        </a:p>
      </dgm:t>
    </dgm:pt>
    <dgm:pt modelId="{A30A38CA-BCFD-481A-B1FE-EF5EAD3FA6C6}" type="sibTrans" cxnId="{F718854C-6727-458B-8B6B-A63620F747BE}">
      <dgm:prSet/>
      <dgm:spPr/>
      <dgm:t>
        <a:bodyPr/>
        <a:lstStyle/>
        <a:p>
          <a:endParaRPr lang="en-US"/>
        </a:p>
      </dgm:t>
    </dgm:pt>
    <dgm:pt modelId="{D437EAB9-5470-4B72-A756-CC5FFEFB4274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Manages CXSTXACTIVEREQ/ACK handshake and gates transmission permission</a:t>
          </a:r>
        </a:p>
      </dgm:t>
    </dgm:pt>
    <dgm:pt modelId="{DAFE08C0-1E11-487D-BB96-2D63E9048243}" type="parTrans" cxnId="{3BF48B08-619A-43F0-AA83-4BCFB2990E23}">
      <dgm:prSet/>
      <dgm:spPr/>
      <dgm:t>
        <a:bodyPr/>
        <a:lstStyle/>
        <a:p>
          <a:endParaRPr lang="en-US"/>
        </a:p>
      </dgm:t>
    </dgm:pt>
    <dgm:pt modelId="{FB56BF77-804A-43C4-A1F9-283F73A33556}" type="sibTrans" cxnId="{3BF48B08-619A-43F0-AA83-4BCFB2990E23}">
      <dgm:prSet/>
      <dgm:spPr/>
      <dgm:t>
        <a:bodyPr/>
        <a:lstStyle/>
        <a:p>
          <a:endParaRPr lang="en-US"/>
        </a:p>
      </dgm:t>
    </dgm:pt>
    <dgm:pt modelId="{1764816E-4097-4A97-BF81-494B01D978A7}" type="pres">
      <dgm:prSet presAssocID="{C0CB9EA7-8E54-4554-9478-C52E782196AA}" presName="Name0" presStyleCnt="0">
        <dgm:presLayoutVars>
          <dgm:dir/>
          <dgm:animLvl val="lvl"/>
          <dgm:resizeHandles/>
        </dgm:presLayoutVars>
      </dgm:prSet>
      <dgm:spPr/>
    </dgm:pt>
    <dgm:pt modelId="{2992D441-577B-491D-8104-339F61ED64CC}" type="pres">
      <dgm:prSet presAssocID="{587DBFA9-E399-4780-B8C8-5835E44FFDAF}" presName="linNode" presStyleCnt="0"/>
      <dgm:spPr/>
    </dgm:pt>
    <dgm:pt modelId="{25F89F97-50D4-4A4E-8E8D-7183F38EC508}" type="pres">
      <dgm:prSet presAssocID="{587DBFA9-E399-4780-B8C8-5835E44FFDAF}" presName="parentShp" presStyleLbl="node1" presStyleIdx="0" presStyleCnt="5">
        <dgm:presLayoutVars>
          <dgm:bulletEnabled val="1"/>
        </dgm:presLayoutVars>
      </dgm:prSet>
      <dgm:spPr/>
    </dgm:pt>
    <dgm:pt modelId="{0BFC3EA6-84C2-461D-B07A-36D241C9725D}" type="pres">
      <dgm:prSet presAssocID="{587DBFA9-E399-4780-B8C8-5835E44FFDAF}" presName="childShp" presStyleLbl="bgAccFollowNode1" presStyleIdx="0" presStyleCnt="5">
        <dgm:presLayoutVars>
          <dgm:bulletEnabled val="1"/>
        </dgm:presLayoutVars>
      </dgm:prSet>
      <dgm:spPr/>
    </dgm:pt>
    <dgm:pt modelId="{8800715A-EA61-43ED-B19B-5849BBE27A49}" type="pres">
      <dgm:prSet presAssocID="{250C3B0D-635A-48A5-A0EC-52D433D293F4}" presName="spacing" presStyleCnt="0"/>
      <dgm:spPr/>
    </dgm:pt>
    <dgm:pt modelId="{D7F9E0D4-11BB-43E1-BB28-319015674D99}" type="pres">
      <dgm:prSet presAssocID="{D60FA8B2-50A5-413C-9408-28591DEAA567}" presName="linNode" presStyleCnt="0"/>
      <dgm:spPr/>
    </dgm:pt>
    <dgm:pt modelId="{DE02EA0E-7599-4846-B043-FD1217C7F6EA}" type="pres">
      <dgm:prSet presAssocID="{D60FA8B2-50A5-413C-9408-28591DEAA567}" presName="parentShp" presStyleLbl="node1" presStyleIdx="1" presStyleCnt="5">
        <dgm:presLayoutVars>
          <dgm:bulletEnabled val="1"/>
        </dgm:presLayoutVars>
      </dgm:prSet>
      <dgm:spPr/>
    </dgm:pt>
    <dgm:pt modelId="{A6588C23-84DC-45FC-B0BE-9C582CDA7B87}" type="pres">
      <dgm:prSet presAssocID="{D60FA8B2-50A5-413C-9408-28591DEAA567}" presName="childShp" presStyleLbl="bgAccFollowNode1" presStyleIdx="1" presStyleCnt="5">
        <dgm:presLayoutVars>
          <dgm:bulletEnabled val="1"/>
        </dgm:presLayoutVars>
      </dgm:prSet>
      <dgm:spPr/>
    </dgm:pt>
    <dgm:pt modelId="{0EC640B7-EF84-42D3-A0FC-7DBF6D1AC73E}" type="pres">
      <dgm:prSet presAssocID="{0E8F797D-5428-4D89-8238-DE4D8976A0E0}" presName="spacing" presStyleCnt="0"/>
      <dgm:spPr/>
    </dgm:pt>
    <dgm:pt modelId="{FE89B3AC-1004-44AA-BFCB-BB2A0A7A4F9C}" type="pres">
      <dgm:prSet presAssocID="{1DA748D1-0299-4A50-B5A4-5D11A6819543}" presName="linNode" presStyleCnt="0"/>
      <dgm:spPr/>
    </dgm:pt>
    <dgm:pt modelId="{5BDA8100-EC44-4978-ACB5-ABFCF6719408}" type="pres">
      <dgm:prSet presAssocID="{1DA748D1-0299-4A50-B5A4-5D11A6819543}" presName="parentShp" presStyleLbl="node1" presStyleIdx="2" presStyleCnt="5">
        <dgm:presLayoutVars>
          <dgm:bulletEnabled val="1"/>
        </dgm:presLayoutVars>
      </dgm:prSet>
      <dgm:spPr/>
    </dgm:pt>
    <dgm:pt modelId="{2C810BC6-397B-47FC-9A17-0B6327A40F78}" type="pres">
      <dgm:prSet presAssocID="{1DA748D1-0299-4A50-B5A4-5D11A6819543}" presName="childShp" presStyleLbl="bgAccFollowNode1" presStyleIdx="2" presStyleCnt="5">
        <dgm:presLayoutVars>
          <dgm:bulletEnabled val="1"/>
        </dgm:presLayoutVars>
      </dgm:prSet>
      <dgm:spPr/>
    </dgm:pt>
    <dgm:pt modelId="{38C465B4-2538-478A-AE6A-EBCF3687A9D6}" type="pres">
      <dgm:prSet presAssocID="{04053A23-5446-4A62-A621-0B91F0E87708}" presName="spacing" presStyleCnt="0"/>
      <dgm:spPr/>
    </dgm:pt>
    <dgm:pt modelId="{1EA1C7D4-E71A-497A-A14B-AED983FA27B8}" type="pres">
      <dgm:prSet presAssocID="{C572F834-F33A-4189-A470-B523A86ADA09}" presName="linNode" presStyleCnt="0"/>
      <dgm:spPr/>
    </dgm:pt>
    <dgm:pt modelId="{3EA53BCA-1223-46E2-81A0-5C1752CFD4A6}" type="pres">
      <dgm:prSet presAssocID="{C572F834-F33A-4189-A470-B523A86ADA09}" presName="parentShp" presStyleLbl="node1" presStyleIdx="3" presStyleCnt="5">
        <dgm:presLayoutVars>
          <dgm:bulletEnabled val="1"/>
        </dgm:presLayoutVars>
      </dgm:prSet>
      <dgm:spPr/>
    </dgm:pt>
    <dgm:pt modelId="{57366C1C-DE19-454D-B5BA-3D8FF24965D7}" type="pres">
      <dgm:prSet presAssocID="{C572F834-F33A-4189-A470-B523A86ADA09}" presName="childShp" presStyleLbl="bgAccFollowNode1" presStyleIdx="3" presStyleCnt="5">
        <dgm:presLayoutVars>
          <dgm:bulletEnabled val="1"/>
        </dgm:presLayoutVars>
      </dgm:prSet>
      <dgm:spPr/>
    </dgm:pt>
    <dgm:pt modelId="{D832BEAF-10C7-406C-9248-58444BAD4223}" type="pres">
      <dgm:prSet presAssocID="{3DCFEB92-0445-4DDF-A841-30442DED6FB0}" presName="spacing" presStyleCnt="0"/>
      <dgm:spPr/>
    </dgm:pt>
    <dgm:pt modelId="{AC7C42B3-41AB-4D62-AA80-FB12D83057E2}" type="pres">
      <dgm:prSet presAssocID="{986BE5F8-2982-4850-B7AC-030CA92F7F24}" presName="linNode" presStyleCnt="0"/>
      <dgm:spPr/>
    </dgm:pt>
    <dgm:pt modelId="{9AC02F42-21BF-4A96-883F-CFAA7ED98EFF}" type="pres">
      <dgm:prSet presAssocID="{986BE5F8-2982-4850-B7AC-030CA92F7F24}" presName="parentShp" presStyleLbl="node1" presStyleIdx="4" presStyleCnt="5">
        <dgm:presLayoutVars>
          <dgm:bulletEnabled val="1"/>
        </dgm:presLayoutVars>
      </dgm:prSet>
      <dgm:spPr/>
    </dgm:pt>
    <dgm:pt modelId="{867EEB12-F024-4429-B5E2-6E68400547F8}" type="pres">
      <dgm:prSet presAssocID="{986BE5F8-2982-4850-B7AC-030CA92F7F24}" presName="childShp" presStyleLbl="bgAccFollowNode1" presStyleIdx="4" presStyleCnt="5" custLinFactNeighborX="0" custLinFactNeighborY="185">
        <dgm:presLayoutVars>
          <dgm:bulletEnabled val="1"/>
        </dgm:presLayoutVars>
      </dgm:prSet>
      <dgm:spPr/>
    </dgm:pt>
  </dgm:ptLst>
  <dgm:cxnLst>
    <dgm:cxn modelId="{10533402-6A6A-4DF3-9632-F1122D90BB80}" type="presOf" srcId="{9D02684A-D1DF-40FC-B238-1330D6A1A71F}" destId="{57366C1C-DE19-454D-B5BA-3D8FF24965D7}" srcOrd="0" destOrd="0" presId="urn:microsoft.com/office/officeart/2005/8/layout/vList6"/>
    <dgm:cxn modelId="{C99FC607-BE0B-4CD8-86EC-3BAA92F5FA05}" type="presOf" srcId="{78D37829-E7DD-4E2B-9C40-EFC0929B2B82}" destId="{0BFC3EA6-84C2-461D-B07A-36D241C9725D}" srcOrd="0" destOrd="0" presId="urn:microsoft.com/office/officeart/2005/8/layout/vList6"/>
    <dgm:cxn modelId="{3BF48B08-619A-43F0-AA83-4BCFB2990E23}" srcId="{986BE5F8-2982-4850-B7AC-030CA92F7F24}" destId="{D437EAB9-5470-4B72-A756-CC5FFEFB4274}" srcOrd="0" destOrd="0" parTransId="{DAFE08C0-1E11-487D-BB96-2D63E9048243}" sibTransId="{FB56BF77-804A-43C4-A1F9-283F73A33556}"/>
    <dgm:cxn modelId="{E1622E0D-958A-414A-A838-5527EB32A4E1}" type="presOf" srcId="{D60FA8B2-50A5-413C-9408-28591DEAA567}" destId="{DE02EA0E-7599-4846-B043-FD1217C7F6EA}" srcOrd="0" destOrd="0" presId="urn:microsoft.com/office/officeart/2005/8/layout/vList6"/>
    <dgm:cxn modelId="{7F400312-ED75-42BA-823A-1525C8FB3A65}" type="presOf" srcId="{B42D00DA-3A68-4D80-856A-C41F57E525F8}" destId="{2C810BC6-397B-47FC-9A17-0B6327A40F78}" srcOrd="0" destOrd="0" presId="urn:microsoft.com/office/officeart/2005/8/layout/vList6"/>
    <dgm:cxn modelId="{74B4121B-AD2B-4746-9126-45D834A0ECBF}" type="presOf" srcId="{D437EAB9-5470-4B72-A756-CC5FFEFB4274}" destId="{867EEB12-F024-4429-B5E2-6E68400547F8}" srcOrd="0" destOrd="0" presId="urn:microsoft.com/office/officeart/2005/8/layout/vList6"/>
    <dgm:cxn modelId="{90A11E29-B2C7-4455-B20D-93BB74E82532}" srcId="{D60FA8B2-50A5-413C-9408-28591DEAA567}" destId="{AFDE22E2-4165-49A7-86B9-D09F1E76A3F7}" srcOrd="0" destOrd="0" parTransId="{E1C6C9E4-D8EA-4FC9-993F-11B16BD40349}" sibTransId="{C22AEB32-68E0-4225-9076-CB056509BC07}"/>
    <dgm:cxn modelId="{1D87B82D-E6B4-4D09-B0FF-8B98421B2A20}" srcId="{C0CB9EA7-8E54-4554-9478-C52E782196AA}" destId="{587DBFA9-E399-4780-B8C8-5835E44FFDAF}" srcOrd="0" destOrd="0" parTransId="{FA9B13A3-2E0D-4BEC-BD0C-5056051139F9}" sibTransId="{250C3B0D-635A-48A5-A0EC-52D433D293F4}"/>
    <dgm:cxn modelId="{5348EF65-A493-4F43-B08F-3E26C8B088CD}" srcId="{C0CB9EA7-8E54-4554-9478-C52E782196AA}" destId="{C572F834-F33A-4189-A470-B523A86ADA09}" srcOrd="3" destOrd="0" parTransId="{1C85CA04-570D-4CBA-A506-221A2E18C27A}" sibTransId="{3DCFEB92-0445-4DDF-A841-30442DED6FB0}"/>
    <dgm:cxn modelId="{F718854C-6727-458B-8B6B-A63620F747BE}" srcId="{C0CB9EA7-8E54-4554-9478-C52E782196AA}" destId="{986BE5F8-2982-4850-B7AC-030CA92F7F24}" srcOrd="4" destOrd="0" parTransId="{AF86D660-AACA-479F-B3E4-EF351B5BF180}" sibTransId="{A30A38CA-BCFD-481A-B1FE-EF5EAD3FA6C6}"/>
    <dgm:cxn modelId="{00083175-4192-4663-8223-CB3EF07BD8B7}" srcId="{1DA748D1-0299-4A50-B5A4-5D11A6819543}" destId="{B42D00DA-3A68-4D80-856A-C41F57E525F8}" srcOrd="0" destOrd="0" parTransId="{194D30A2-7E5B-4B11-9CFE-3C7D2A4DD3B4}" sibTransId="{28B2DA2E-4723-4E7C-904A-F53F92141AF2}"/>
    <dgm:cxn modelId="{A2CF2858-0AC2-420E-908B-31A9B64E7F98}" srcId="{C0CB9EA7-8E54-4554-9478-C52E782196AA}" destId="{1DA748D1-0299-4A50-B5A4-5D11A6819543}" srcOrd="2" destOrd="0" parTransId="{0FD87663-F0FA-4F47-8063-5818DE418996}" sibTransId="{04053A23-5446-4A62-A621-0B91F0E87708}"/>
    <dgm:cxn modelId="{3D6F927A-4D50-406E-852F-DB421710256F}" srcId="{C572F834-F33A-4189-A470-B523A86ADA09}" destId="{9D02684A-D1DF-40FC-B238-1330D6A1A71F}" srcOrd="0" destOrd="0" parTransId="{A00FAED5-6627-45FA-B63B-9DD4DB82A1C1}" sibTransId="{327881BB-A4F9-4DDC-8643-16493CAB0380}"/>
    <dgm:cxn modelId="{D6C0F97C-0EEE-4854-BEE9-B8A31A2E8537}" srcId="{587DBFA9-E399-4780-B8C8-5835E44FFDAF}" destId="{78D37829-E7DD-4E2B-9C40-EFC0929B2B82}" srcOrd="0" destOrd="0" parTransId="{FB5D4021-0DBC-476F-81AB-C06003D5969A}" sibTransId="{6FF33F86-815E-4AC2-9BFE-BE675DE29A47}"/>
    <dgm:cxn modelId="{7F275DB7-89A7-4561-91D2-C35CC29C8076}" type="presOf" srcId="{AFDE22E2-4165-49A7-86B9-D09F1E76A3F7}" destId="{A6588C23-84DC-45FC-B0BE-9C582CDA7B87}" srcOrd="0" destOrd="0" presId="urn:microsoft.com/office/officeart/2005/8/layout/vList6"/>
    <dgm:cxn modelId="{772557BD-585E-42B9-9F2C-91FB0D9D9B54}" srcId="{C0CB9EA7-8E54-4554-9478-C52E782196AA}" destId="{D60FA8B2-50A5-413C-9408-28591DEAA567}" srcOrd="1" destOrd="0" parTransId="{FCC1F11B-22C5-4417-B0A5-C271AC32C65F}" sibTransId="{0E8F797D-5428-4D89-8238-DE4D8976A0E0}"/>
    <dgm:cxn modelId="{B0AC8ECF-3155-4670-A132-9D4718AB168D}" type="presOf" srcId="{587DBFA9-E399-4780-B8C8-5835E44FFDAF}" destId="{25F89F97-50D4-4A4E-8E8D-7183F38EC508}" srcOrd="0" destOrd="0" presId="urn:microsoft.com/office/officeart/2005/8/layout/vList6"/>
    <dgm:cxn modelId="{06E870D0-5EB9-4C59-98E1-748C9E962B4E}" type="presOf" srcId="{C572F834-F33A-4189-A470-B523A86ADA09}" destId="{3EA53BCA-1223-46E2-81A0-5C1752CFD4A6}" srcOrd="0" destOrd="0" presId="urn:microsoft.com/office/officeart/2005/8/layout/vList6"/>
    <dgm:cxn modelId="{F83E92DE-50D7-40F4-A0E0-30CBCA126B42}" type="presOf" srcId="{1DA748D1-0299-4A50-B5A4-5D11A6819543}" destId="{5BDA8100-EC44-4978-ACB5-ABFCF6719408}" srcOrd="0" destOrd="0" presId="urn:microsoft.com/office/officeart/2005/8/layout/vList6"/>
    <dgm:cxn modelId="{4B4E74F6-060E-4DE7-BD21-D104F6F46E8F}" type="presOf" srcId="{986BE5F8-2982-4850-B7AC-030CA92F7F24}" destId="{9AC02F42-21BF-4A96-883F-CFAA7ED98EFF}" srcOrd="0" destOrd="0" presId="urn:microsoft.com/office/officeart/2005/8/layout/vList6"/>
    <dgm:cxn modelId="{7382DDFF-1ABF-468F-B1BD-D58B323CAEF9}" type="presOf" srcId="{C0CB9EA7-8E54-4554-9478-C52E782196AA}" destId="{1764816E-4097-4A97-BF81-494B01D978A7}" srcOrd="0" destOrd="0" presId="urn:microsoft.com/office/officeart/2005/8/layout/vList6"/>
    <dgm:cxn modelId="{6AFA7542-63F8-47D8-BF92-720B7BA62617}" type="presParOf" srcId="{1764816E-4097-4A97-BF81-494B01D978A7}" destId="{2992D441-577B-491D-8104-339F61ED64CC}" srcOrd="0" destOrd="0" presId="urn:microsoft.com/office/officeart/2005/8/layout/vList6"/>
    <dgm:cxn modelId="{BDC86CA3-F567-40AC-96F7-FFA4F9785982}" type="presParOf" srcId="{2992D441-577B-491D-8104-339F61ED64CC}" destId="{25F89F97-50D4-4A4E-8E8D-7183F38EC508}" srcOrd="0" destOrd="0" presId="urn:microsoft.com/office/officeart/2005/8/layout/vList6"/>
    <dgm:cxn modelId="{6AE23DD7-CED1-4124-9AFC-83DF65B5C373}" type="presParOf" srcId="{2992D441-577B-491D-8104-339F61ED64CC}" destId="{0BFC3EA6-84C2-461D-B07A-36D241C9725D}" srcOrd="1" destOrd="0" presId="urn:microsoft.com/office/officeart/2005/8/layout/vList6"/>
    <dgm:cxn modelId="{4E79BC87-4F8D-4584-ACA5-8FA79CE85900}" type="presParOf" srcId="{1764816E-4097-4A97-BF81-494B01D978A7}" destId="{8800715A-EA61-43ED-B19B-5849BBE27A49}" srcOrd="1" destOrd="0" presId="urn:microsoft.com/office/officeart/2005/8/layout/vList6"/>
    <dgm:cxn modelId="{E6336796-DDAE-4B7F-8681-2A275E4E21E2}" type="presParOf" srcId="{1764816E-4097-4A97-BF81-494B01D978A7}" destId="{D7F9E0D4-11BB-43E1-BB28-319015674D99}" srcOrd="2" destOrd="0" presId="urn:microsoft.com/office/officeart/2005/8/layout/vList6"/>
    <dgm:cxn modelId="{EA0885C2-8CF3-4AA3-8FE7-993DD9FC624E}" type="presParOf" srcId="{D7F9E0D4-11BB-43E1-BB28-319015674D99}" destId="{DE02EA0E-7599-4846-B043-FD1217C7F6EA}" srcOrd="0" destOrd="0" presId="urn:microsoft.com/office/officeart/2005/8/layout/vList6"/>
    <dgm:cxn modelId="{D6504E1B-37C9-4432-94E3-2422D8B4F099}" type="presParOf" srcId="{D7F9E0D4-11BB-43E1-BB28-319015674D99}" destId="{A6588C23-84DC-45FC-B0BE-9C582CDA7B87}" srcOrd="1" destOrd="0" presId="urn:microsoft.com/office/officeart/2005/8/layout/vList6"/>
    <dgm:cxn modelId="{298E2153-6F3F-4957-B334-14CE57A3BD38}" type="presParOf" srcId="{1764816E-4097-4A97-BF81-494B01D978A7}" destId="{0EC640B7-EF84-42D3-A0FC-7DBF6D1AC73E}" srcOrd="3" destOrd="0" presId="urn:microsoft.com/office/officeart/2005/8/layout/vList6"/>
    <dgm:cxn modelId="{C7400F1B-270D-4579-808D-19F409A7055B}" type="presParOf" srcId="{1764816E-4097-4A97-BF81-494B01D978A7}" destId="{FE89B3AC-1004-44AA-BFCB-BB2A0A7A4F9C}" srcOrd="4" destOrd="0" presId="urn:microsoft.com/office/officeart/2005/8/layout/vList6"/>
    <dgm:cxn modelId="{11CBAC5A-3A55-4466-80A0-7B3289D8B1C0}" type="presParOf" srcId="{FE89B3AC-1004-44AA-BFCB-BB2A0A7A4F9C}" destId="{5BDA8100-EC44-4978-ACB5-ABFCF6719408}" srcOrd="0" destOrd="0" presId="urn:microsoft.com/office/officeart/2005/8/layout/vList6"/>
    <dgm:cxn modelId="{0D56CDEC-750A-4ACA-80A6-60F17F783664}" type="presParOf" srcId="{FE89B3AC-1004-44AA-BFCB-BB2A0A7A4F9C}" destId="{2C810BC6-397B-47FC-9A17-0B6327A40F78}" srcOrd="1" destOrd="0" presId="urn:microsoft.com/office/officeart/2005/8/layout/vList6"/>
    <dgm:cxn modelId="{B1056107-B93D-4240-8009-C926C3EB9D74}" type="presParOf" srcId="{1764816E-4097-4A97-BF81-494B01D978A7}" destId="{38C465B4-2538-478A-AE6A-EBCF3687A9D6}" srcOrd="5" destOrd="0" presId="urn:microsoft.com/office/officeart/2005/8/layout/vList6"/>
    <dgm:cxn modelId="{7F76A0C9-2B46-4F16-AC5B-62F70715D7A8}" type="presParOf" srcId="{1764816E-4097-4A97-BF81-494B01D978A7}" destId="{1EA1C7D4-E71A-497A-A14B-AED983FA27B8}" srcOrd="6" destOrd="0" presId="urn:microsoft.com/office/officeart/2005/8/layout/vList6"/>
    <dgm:cxn modelId="{3A9D8E7D-283C-4B10-8940-7ED24DB320E5}" type="presParOf" srcId="{1EA1C7D4-E71A-497A-A14B-AED983FA27B8}" destId="{3EA53BCA-1223-46E2-81A0-5C1752CFD4A6}" srcOrd="0" destOrd="0" presId="urn:microsoft.com/office/officeart/2005/8/layout/vList6"/>
    <dgm:cxn modelId="{88687C98-096B-44C6-9A68-2F5B425CE5AA}" type="presParOf" srcId="{1EA1C7D4-E71A-497A-A14B-AED983FA27B8}" destId="{57366C1C-DE19-454D-B5BA-3D8FF24965D7}" srcOrd="1" destOrd="0" presId="urn:microsoft.com/office/officeart/2005/8/layout/vList6"/>
    <dgm:cxn modelId="{8E67EB92-FDE4-46AC-9D2C-9392E89F8DB2}" type="presParOf" srcId="{1764816E-4097-4A97-BF81-494B01D978A7}" destId="{D832BEAF-10C7-406C-9248-58444BAD4223}" srcOrd="7" destOrd="0" presId="urn:microsoft.com/office/officeart/2005/8/layout/vList6"/>
    <dgm:cxn modelId="{481B8D82-DA03-4882-AACA-EE61DE542B14}" type="presParOf" srcId="{1764816E-4097-4A97-BF81-494B01D978A7}" destId="{AC7C42B3-41AB-4D62-AA80-FB12D83057E2}" srcOrd="8" destOrd="0" presId="urn:microsoft.com/office/officeart/2005/8/layout/vList6"/>
    <dgm:cxn modelId="{F26EF0FE-1339-4D7C-A89C-F1CA1DB4AF8C}" type="presParOf" srcId="{AC7C42B3-41AB-4D62-AA80-FB12D83057E2}" destId="{9AC02F42-21BF-4A96-883F-CFAA7ED98EFF}" srcOrd="0" destOrd="0" presId="urn:microsoft.com/office/officeart/2005/8/layout/vList6"/>
    <dgm:cxn modelId="{F6D72882-B890-4817-BD58-E3F2836C48CE}" type="presParOf" srcId="{AC7C42B3-41AB-4D62-AA80-FB12D83057E2}" destId="{867EEB12-F024-4429-B5E2-6E68400547F8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497AAF4-4166-44F3-B41D-7ADF125095AC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82BC46-E232-481A-9C06-FAFE940F83BB}">
      <dgm:prSet phldrT="[Text]" custT="1"/>
      <dgm:spPr/>
      <dgm:t>
        <a:bodyPr/>
        <a:lstStyle/>
        <a:p>
          <a:pPr>
            <a:buNone/>
          </a:pPr>
          <a:r>
            <a: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IDLE</a:t>
          </a:r>
        </a:p>
      </dgm:t>
    </dgm:pt>
    <dgm:pt modelId="{968288CC-8935-4A0A-BA6E-4B70FA7E8AD6}" type="parTrans" cxnId="{AE211433-B65A-4B7E-84A4-33A3204794B9}">
      <dgm:prSet/>
      <dgm:spPr/>
      <dgm:t>
        <a:bodyPr/>
        <a:lstStyle/>
        <a:p>
          <a:endParaRPr lang="en-US"/>
        </a:p>
      </dgm:t>
    </dgm:pt>
    <dgm:pt modelId="{5604CB5C-22D8-43F3-AA78-52C2BC39FAE4}" type="sibTrans" cxnId="{AE211433-B65A-4B7E-84A4-33A3204794B9}">
      <dgm:prSet/>
      <dgm:spPr/>
      <dgm:t>
        <a:bodyPr/>
        <a:lstStyle/>
        <a:p>
          <a:endParaRPr lang="en-US"/>
        </a:p>
      </dgm:t>
    </dgm:pt>
    <dgm:pt modelId="{76F97C03-08B4-49C4-8B06-12C8E94081CB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Default/reset state; waits while FIFO </a:t>
          </a:r>
          <a:r>
            <a:rPr lang="en-US" sz="120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is empty</a:t>
          </a:r>
          <a:endParaRPr lang="en-US" sz="1200" dirty="0">
            <a:solidFill>
              <a:srgbClr val="1E276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E169D8-B51E-42DF-B77E-D6245AE7CA8A}" type="parTrans" cxnId="{9F9C9E78-0454-4143-91E8-8B2C86A87B6D}">
      <dgm:prSet/>
      <dgm:spPr/>
      <dgm:t>
        <a:bodyPr/>
        <a:lstStyle/>
        <a:p>
          <a:endParaRPr lang="en-US"/>
        </a:p>
      </dgm:t>
    </dgm:pt>
    <dgm:pt modelId="{133AFC37-175C-4F10-94F6-42B0287E34BC}" type="sibTrans" cxnId="{9F9C9E78-0454-4143-91E8-8B2C86A87B6D}">
      <dgm:prSet/>
      <dgm:spPr/>
      <dgm:t>
        <a:bodyPr/>
        <a:lstStyle/>
        <a:p>
          <a:endParaRPr lang="en-US"/>
        </a:p>
      </dgm:t>
    </dgm:pt>
    <dgm:pt modelId="{08BF887D-4E4A-497E-A69B-D5C1B0980EC2}">
      <dgm:prSet phldrT="[Text]" custT="1"/>
      <dgm:spPr/>
      <dgm:t>
        <a:bodyPr/>
        <a:lstStyle/>
        <a:p>
          <a:pPr>
            <a:buNone/>
          </a:pPr>
          <a:r>
            <a:rPr lang="en-US" sz="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CFG</a:t>
          </a:r>
        </a:p>
        <a:p>
          <a:pPr>
            <a:buNone/>
          </a:pPr>
          <a:r>
            <a:rPr lang="en-US" sz="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SCAN</a:t>
          </a:r>
        </a:p>
      </dgm:t>
    </dgm:pt>
    <dgm:pt modelId="{DEE623BC-EC9B-4101-9022-388C1C18DDFC}" type="parTrans" cxnId="{892CE4F3-E71F-4191-9C9F-E4F093E8E666}">
      <dgm:prSet/>
      <dgm:spPr/>
      <dgm:t>
        <a:bodyPr/>
        <a:lstStyle/>
        <a:p>
          <a:endParaRPr lang="en-US"/>
        </a:p>
      </dgm:t>
    </dgm:pt>
    <dgm:pt modelId="{BC7F0093-1191-488E-9211-CFFF45C4B3AC}" type="sibTrans" cxnId="{892CE4F3-E71F-4191-9C9F-E4F093E8E666}">
      <dgm:prSet/>
      <dgm:spPr/>
      <dgm:t>
        <a:bodyPr/>
        <a:lstStyle/>
        <a:p>
          <a:endParaRPr lang="en-US"/>
        </a:p>
      </dgm:t>
    </dgm:pt>
    <dgm:pt modelId="{845ACA10-77CD-455C-A5A0-A46BDA813DCF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Reads first flit, checks if it's a config header</a:t>
          </a:r>
        </a:p>
      </dgm:t>
    </dgm:pt>
    <dgm:pt modelId="{AAA1BCE0-3534-407A-9016-FDCAF9F6637E}" type="parTrans" cxnId="{4C393BC5-74A3-45C9-8487-B451C90E21FF}">
      <dgm:prSet/>
      <dgm:spPr/>
      <dgm:t>
        <a:bodyPr/>
        <a:lstStyle/>
        <a:p>
          <a:endParaRPr lang="en-US"/>
        </a:p>
      </dgm:t>
    </dgm:pt>
    <dgm:pt modelId="{32C215D3-C479-49EC-BC0E-8881E7DDEC48}" type="sibTrans" cxnId="{4C393BC5-74A3-45C9-8487-B451C90E21FF}">
      <dgm:prSet/>
      <dgm:spPr/>
      <dgm:t>
        <a:bodyPr/>
        <a:lstStyle/>
        <a:p>
          <a:endParaRPr lang="en-US"/>
        </a:p>
      </dgm:t>
    </dgm:pt>
    <dgm:pt modelId="{10DB8F95-506B-4B58-ABDE-07B6CE8E6251}">
      <dgm:prSet phldrT="[Text]" custT="1"/>
      <dgm:spPr/>
      <dgm:t>
        <a:bodyPr/>
        <a:lstStyle/>
        <a:p>
          <a:pPr>
            <a:buNone/>
          </a:pPr>
          <a:r>
            <a:rPr lang="en-US" sz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rd_fifo_en</a:t>
          </a: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=1, </a:t>
          </a:r>
          <a:r>
            <a:rPr lang="en-US" sz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addr_counte</a:t>
          </a: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</a:t>
          </a:r>
        </a:p>
      </dgm:t>
    </dgm:pt>
    <dgm:pt modelId="{970D5377-BE29-40B6-B359-45B41A618CCA}" type="parTrans" cxnId="{2F40C074-B3F1-4D1B-985B-87B3B1DA8598}">
      <dgm:prSet/>
      <dgm:spPr/>
      <dgm:t>
        <a:bodyPr/>
        <a:lstStyle/>
        <a:p>
          <a:endParaRPr lang="en-US"/>
        </a:p>
      </dgm:t>
    </dgm:pt>
    <dgm:pt modelId="{5816503D-1A72-4825-9214-ECE1D002201E}" type="sibTrans" cxnId="{2F40C074-B3F1-4D1B-985B-87B3B1DA8598}">
      <dgm:prSet/>
      <dgm:spPr/>
      <dgm:t>
        <a:bodyPr/>
        <a:lstStyle/>
        <a:p>
          <a:endParaRPr lang="en-US"/>
        </a:p>
      </dgm:t>
    </dgm:pt>
    <dgm:pt modelId="{375F7198-1050-4880-B9ED-60FFBFF40057}">
      <dgm:prSet phldrT="[Text]" custT="1"/>
      <dgm:spPr/>
      <dgm:t>
        <a:bodyPr/>
        <a:lstStyle/>
        <a:p>
          <a:pPr>
            <a:buNone/>
          </a:pPr>
          <a:r>
            <a: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CFG_WR</a:t>
          </a:r>
        </a:p>
      </dgm:t>
    </dgm:pt>
    <dgm:pt modelId="{EAD3F313-425F-4728-8142-F19678097E9F}" type="parTrans" cxnId="{F822C9C3-482F-45A2-B1B4-E9C15368DC01}">
      <dgm:prSet/>
      <dgm:spPr/>
      <dgm:t>
        <a:bodyPr/>
        <a:lstStyle/>
        <a:p>
          <a:endParaRPr lang="en-US"/>
        </a:p>
      </dgm:t>
    </dgm:pt>
    <dgm:pt modelId="{406BFB44-E643-4C9A-BCE5-57CDF290F933}" type="sibTrans" cxnId="{F822C9C3-482F-45A2-B1B4-E9C15368DC01}">
      <dgm:prSet/>
      <dgm:spPr/>
      <dgm:t>
        <a:bodyPr/>
        <a:lstStyle/>
        <a:p>
          <a:endParaRPr lang="en-US"/>
        </a:p>
      </dgm:t>
    </dgm:pt>
    <dgm:pt modelId="{04EAA028-CA75-441D-9AC3-0A127377751A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Writes config payload into CDM</a:t>
          </a:r>
        </a:p>
      </dgm:t>
    </dgm:pt>
    <dgm:pt modelId="{8E195479-2187-4686-8CE6-4542CB5B0A75}" type="parTrans" cxnId="{071853F3-207D-4779-A4E4-00F0C6E6CB2C}">
      <dgm:prSet/>
      <dgm:spPr/>
      <dgm:t>
        <a:bodyPr/>
        <a:lstStyle/>
        <a:p>
          <a:endParaRPr lang="en-US"/>
        </a:p>
      </dgm:t>
    </dgm:pt>
    <dgm:pt modelId="{F70BB797-3591-46D5-A26A-9D84484ABD74}" type="sibTrans" cxnId="{071853F3-207D-4779-A4E4-00F0C6E6CB2C}">
      <dgm:prSet/>
      <dgm:spPr/>
      <dgm:t>
        <a:bodyPr/>
        <a:lstStyle/>
        <a:p>
          <a:endParaRPr lang="en-US"/>
        </a:p>
      </dgm:t>
    </dgm:pt>
    <dgm:pt modelId="{0493E1E7-2C11-4F56-929F-3B8CC3C67E5B}">
      <dgm:prSet phldrT="[Text]" custT="1"/>
      <dgm:spPr/>
      <dgm:t>
        <a:bodyPr/>
        <a:lstStyle/>
        <a:p>
          <a:pPr>
            <a:buNone/>
          </a:pPr>
          <a:r>
            <a:rPr lang="en-US" sz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config_we</a:t>
          </a: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</a:t>
          </a:r>
        </a:p>
      </dgm:t>
    </dgm:pt>
    <dgm:pt modelId="{98B225A0-1E5C-4F99-9523-3CCAE892809F}" type="parTrans" cxnId="{3102010D-BD9B-476A-934F-D89FABE5BD58}">
      <dgm:prSet/>
      <dgm:spPr/>
      <dgm:t>
        <a:bodyPr/>
        <a:lstStyle/>
        <a:p>
          <a:endParaRPr lang="en-US"/>
        </a:p>
      </dgm:t>
    </dgm:pt>
    <dgm:pt modelId="{45D0FDDC-BDD0-49F4-888E-A50FEBC067AE}" type="sibTrans" cxnId="{3102010D-BD9B-476A-934F-D89FABE5BD58}">
      <dgm:prSet/>
      <dgm:spPr/>
      <dgm:t>
        <a:bodyPr/>
        <a:lstStyle/>
        <a:p>
          <a:endParaRPr lang="en-US"/>
        </a:p>
      </dgm:t>
    </dgm:pt>
    <dgm:pt modelId="{4418A05F-8845-4971-81B2-555DCEFEC916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At system deactivation </a:t>
          </a:r>
        </a:p>
      </dgm:t>
    </dgm:pt>
    <dgm:pt modelId="{3A45CF0A-9714-4643-89FF-CAE003F6C5CD}" type="parTrans" cxnId="{3A672070-EFDE-45B9-B0A1-126767FF209A}">
      <dgm:prSet/>
      <dgm:spPr/>
      <dgm:t>
        <a:bodyPr/>
        <a:lstStyle/>
        <a:p>
          <a:endParaRPr lang="en-US"/>
        </a:p>
      </dgm:t>
    </dgm:pt>
    <dgm:pt modelId="{E85CBD41-9A1A-4DBE-93C1-EFAB7A4CABE3}" type="sibTrans" cxnId="{3A672070-EFDE-45B9-B0A1-126767FF209A}">
      <dgm:prSet/>
      <dgm:spPr/>
      <dgm:t>
        <a:bodyPr/>
        <a:lstStyle/>
        <a:p>
          <a:endParaRPr lang="en-US"/>
        </a:p>
      </dgm:t>
    </dgm:pt>
    <dgm:pt modelId="{B5F91042-3D4C-40B5-A59D-37D347FAF613}">
      <dgm:prSet phldrT="[Text]" custT="1"/>
      <dgm:spPr/>
      <dgm:t>
        <a:bodyPr/>
        <a:lstStyle/>
        <a:p>
          <a:pPr>
            <a:buNone/>
          </a:pPr>
          <a:r>
            <a: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LINK_SCAN</a:t>
          </a:r>
        </a:p>
      </dgm:t>
    </dgm:pt>
    <dgm:pt modelId="{A0FFC2BB-C4E5-40CA-8AEA-13D296EB04A5}" type="parTrans" cxnId="{5FDAE67A-B868-47DA-A9FF-A2C93D42AA6E}">
      <dgm:prSet/>
      <dgm:spPr/>
      <dgm:t>
        <a:bodyPr/>
        <a:lstStyle/>
        <a:p>
          <a:endParaRPr lang="en-US"/>
        </a:p>
      </dgm:t>
    </dgm:pt>
    <dgm:pt modelId="{3E3E2FD2-6DB9-4811-8965-1ADB43ABDC0D}" type="sibTrans" cxnId="{5FDAE67A-B868-47DA-A9FF-A2C93D42AA6E}">
      <dgm:prSet/>
      <dgm:spPr/>
      <dgm:t>
        <a:bodyPr/>
        <a:lstStyle/>
        <a:p>
          <a:endParaRPr lang="en-US"/>
        </a:p>
      </dgm:t>
    </dgm:pt>
    <dgm:pt modelId="{6BF78014-5564-4F58-8D02-EED6BA78D9D1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Verifies Link-Up packet after config is done</a:t>
          </a:r>
        </a:p>
      </dgm:t>
    </dgm:pt>
    <dgm:pt modelId="{4F8350E0-3D4E-485C-BDC4-45A2576F7E9F}" type="parTrans" cxnId="{1BEBA603-8B7C-43F9-A329-1DC27EF759C2}">
      <dgm:prSet/>
      <dgm:spPr/>
      <dgm:t>
        <a:bodyPr/>
        <a:lstStyle/>
        <a:p>
          <a:endParaRPr lang="en-US"/>
        </a:p>
      </dgm:t>
    </dgm:pt>
    <dgm:pt modelId="{B21914F1-0861-4610-95E2-985746DF7A0C}" type="sibTrans" cxnId="{1BEBA603-8B7C-43F9-A329-1DC27EF759C2}">
      <dgm:prSet/>
      <dgm:spPr/>
      <dgm:t>
        <a:bodyPr/>
        <a:lstStyle/>
        <a:p>
          <a:endParaRPr lang="en-US"/>
        </a:p>
      </dgm:t>
    </dgm:pt>
    <dgm:pt modelId="{65BBF56F-CBDD-427F-9FC5-A6ECD6B999BA}">
      <dgm:prSet phldrT="[Text]" custT="1"/>
      <dgm:spPr/>
      <dgm:t>
        <a:bodyPr/>
        <a:lstStyle/>
        <a:p>
          <a:pPr>
            <a:buNone/>
          </a:pPr>
          <a:r>
            <a:rPr lang="en-US" sz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rd_fifo_en</a:t>
          </a: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</a:t>
          </a:r>
        </a:p>
      </dgm:t>
    </dgm:pt>
    <dgm:pt modelId="{03EB6E6F-0BD6-469A-9633-4FDAE9E522A5}" type="parTrans" cxnId="{67FBF3AA-9A4E-48C1-81F6-08AD2DE76BF7}">
      <dgm:prSet/>
      <dgm:spPr/>
      <dgm:t>
        <a:bodyPr/>
        <a:lstStyle/>
        <a:p>
          <a:endParaRPr lang="en-US"/>
        </a:p>
      </dgm:t>
    </dgm:pt>
    <dgm:pt modelId="{C216FA31-672F-46C4-8BFE-979417FE4617}" type="sibTrans" cxnId="{67FBF3AA-9A4E-48C1-81F6-08AD2DE76BF7}">
      <dgm:prSet/>
      <dgm:spPr/>
      <dgm:t>
        <a:bodyPr/>
        <a:lstStyle/>
        <a:p>
          <a:endParaRPr lang="en-US"/>
        </a:p>
      </dgm:t>
    </dgm:pt>
    <dgm:pt modelId="{81F28A41-3CDE-4062-A507-679A1FB6725B}">
      <dgm:prSet phldrT="[Text]" custT="1"/>
      <dgm:spPr/>
      <dgm:t>
        <a:bodyPr/>
        <a:lstStyle/>
        <a:p>
          <a:pPr>
            <a:buNone/>
          </a:pPr>
          <a:r>
            <a: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LINK</a:t>
          </a:r>
        </a:p>
      </dgm:t>
    </dgm:pt>
    <dgm:pt modelId="{34E8A72B-1FA3-4682-BFDD-E49E171BB337}" type="parTrans" cxnId="{36004170-280A-4163-BB8A-03B33DD00930}">
      <dgm:prSet/>
      <dgm:spPr/>
      <dgm:t>
        <a:bodyPr/>
        <a:lstStyle/>
        <a:p>
          <a:endParaRPr lang="en-US"/>
        </a:p>
      </dgm:t>
    </dgm:pt>
    <dgm:pt modelId="{A6CC9332-D532-4E59-8AC8-C73B2F5376E9}" type="sibTrans" cxnId="{36004170-280A-4163-BB8A-03B33DD00930}">
      <dgm:prSet/>
      <dgm:spPr/>
      <dgm:t>
        <a:bodyPr/>
        <a:lstStyle/>
        <a:p>
          <a:endParaRPr lang="en-US"/>
        </a:p>
      </dgm:t>
    </dgm:pt>
    <dgm:pt modelId="{660A4060-3333-43F6-BC5E-E905E36D7558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Link validated; ready for data transfer</a:t>
          </a:r>
        </a:p>
      </dgm:t>
    </dgm:pt>
    <dgm:pt modelId="{32106AA9-1C2F-4B09-BB03-0B81BCB38834}" type="parTrans" cxnId="{84A7264C-3779-4878-943E-83C84F4E2509}">
      <dgm:prSet/>
      <dgm:spPr/>
      <dgm:t>
        <a:bodyPr/>
        <a:lstStyle/>
        <a:p>
          <a:endParaRPr lang="en-US"/>
        </a:p>
      </dgm:t>
    </dgm:pt>
    <dgm:pt modelId="{D557D483-8912-40FB-9207-BB2B84D796EB}" type="sibTrans" cxnId="{84A7264C-3779-4878-943E-83C84F4E2509}">
      <dgm:prSet/>
      <dgm:spPr/>
      <dgm:t>
        <a:bodyPr/>
        <a:lstStyle/>
        <a:p>
          <a:endParaRPr lang="en-US"/>
        </a:p>
      </dgm:t>
    </dgm:pt>
    <dgm:pt modelId="{9A6B563A-45F3-42DA-A136-5A5DFDD24D8D}">
      <dgm:prSet phldrT="[Text]" custT="1"/>
      <dgm:spPr/>
      <dgm:t>
        <a:bodyPr/>
        <a:lstStyle/>
        <a:p>
          <a:pPr>
            <a:buNone/>
          </a:pPr>
          <a:r>
            <a:rPr lang="en-US" sz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status_valid</a:t>
          </a: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</a:t>
          </a:r>
        </a:p>
      </dgm:t>
    </dgm:pt>
    <dgm:pt modelId="{806609BC-E7DA-4640-9F8D-DAA7BC027258}" type="parTrans" cxnId="{0A28101B-4E6C-4EDA-9F2E-0F1CD442D4F2}">
      <dgm:prSet/>
      <dgm:spPr/>
      <dgm:t>
        <a:bodyPr/>
        <a:lstStyle/>
        <a:p>
          <a:endParaRPr lang="en-US"/>
        </a:p>
      </dgm:t>
    </dgm:pt>
    <dgm:pt modelId="{E4C635E7-ED51-4ADE-A9E7-AEC54C1F6FAC}" type="sibTrans" cxnId="{0A28101B-4E6C-4EDA-9F2E-0F1CD442D4F2}">
      <dgm:prSet/>
      <dgm:spPr/>
      <dgm:t>
        <a:bodyPr/>
        <a:lstStyle/>
        <a:p>
          <a:endParaRPr lang="en-US"/>
        </a:p>
      </dgm:t>
    </dgm:pt>
    <dgm:pt modelId="{9607B169-CB53-47C6-9527-3AA339A238B6}">
      <dgm:prSet phldrT="[Text]" custT="1"/>
      <dgm:spPr/>
      <dgm:t>
        <a:bodyPr/>
        <a:lstStyle/>
        <a:p>
          <a:pPr>
            <a:buNone/>
          </a:pPr>
          <a:r>
            <a: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DATA_SCAN</a:t>
          </a:r>
        </a:p>
      </dgm:t>
    </dgm:pt>
    <dgm:pt modelId="{7EFF9607-26AA-423B-86C6-656AEA27DF27}" type="parTrans" cxnId="{453846DC-F394-4390-A448-125C548A2E76}">
      <dgm:prSet/>
      <dgm:spPr/>
      <dgm:t>
        <a:bodyPr/>
        <a:lstStyle/>
        <a:p>
          <a:endParaRPr lang="en-US"/>
        </a:p>
      </dgm:t>
    </dgm:pt>
    <dgm:pt modelId="{7A4C7762-8EF2-40C3-BA75-4077FE22A019}" type="sibTrans" cxnId="{453846DC-F394-4390-A448-125C548A2E76}">
      <dgm:prSet/>
      <dgm:spPr/>
      <dgm:t>
        <a:bodyPr/>
        <a:lstStyle/>
        <a:p>
          <a:endParaRPr lang="en-US"/>
        </a:p>
      </dgm:t>
    </dgm:pt>
    <dgm:pt modelId="{2EDD85D7-466B-407A-9B53-F65B6C37E343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Detects start of payload packet</a:t>
          </a:r>
        </a:p>
      </dgm:t>
    </dgm:pt>
    <dgm:pt modelId="{0D1BAB44-086D-4918-915D-4DDA64649636}" type="parTrans" cxnId="{50BFE9F2-0C1F-46E3-94F2-37F140E02BF7}">
      <dgm:prSet/>
      <dgm:spPr/>
      <dgm:t>
        <a:bodyPr/>
        <a:lstStyle/>
        <a:p>
          <a:endParaRPr lang="en-US"/>
        </a:p>
      </dgm:t>
    </dgm:pt>
    <dgm:pt modelId="{9DFE767E-D6DE-4C12-B5BC-F6BC7804D36B}" type="sibTrans" cxnId="{50BFE9F2-0C1F-46E3-94F2-37F140E02BF7}">
      <dgm:prSet/>
      <dgm:spPr/>
      <dgm:t>
        <a:bodyPr/>
        <a:lstStyle/>
        <a:p>
          <a:endParaRPr lang="en-US"/>
        </a:p>
      </dgm:t>
    </dgm:pt>
    <dgm:pt modelId="{9A020123-72C0-4A25-B6B0-B26D8E2A3835}">
      <dgm:prSet phldrT="[Text]" custT="1"/>
      <dgm:spPr/>
      <dgm:t>
        <a:bodyPr/>
        <a:lstStyle/>
        <a:p>
          <a:pPr>
            <a:buNone/>
          </a:pPr>
          <a:r>
            <a:rPr lang="en-US" sz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rd_fifo_en</a:t>
          </a: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=1, </a:t>
          </a:r>
          <a:r>
            <a:rPr lang="en-US" sz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rd_configen</a:t>
          </a: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</a:t>
          </a:r>
        </a:p>
      </dgm:t>
    </dgm:pt>
    <dgm:pt modelId="{C844239E-E994-406A-AC04-9DD5E69A7FFF}" type="parTrans" cxnId="{B5C26C9B-3E8E-435C-9781-827A892E01B9}">
      <dgm:prSet/>
      <dgm:spPr/>
      <dgm:t>
        <a:bodyPr/>
        <a:lstStyle/>
        <a:p>
          <a:endParaRPr lang="en-US"/>
        </a:p>
      </dgm:t>
    </dgm:pt>
    <dgm:pt modelId="{16177E7A-147C-454F-B8E3-763E33B2F547}" type="sibTrans" cxnId="{B5C26C9B-3E8E-435C-9781-827A892E01B9}">
      <dgm:prSet/>
      <dgm:spPr/>
      <dgm:t>
        <a:bodyPr/>
        <a:lstStyle/>
        <a:p>
          <a:endParaRPr lang="en-US"/>
        </a:p>
      </dgm:t>
    </dgm:pt>
    <dgm:pt modelId="{B0424092-95C1-4909-AFD3-21BCFC8A6125}">
      <dgm:prSet phldrT="[Text]" custT="1"/>
      <dgm:spPr/>
      <dgm:t>
        <a:bodyPr/>
        <a:lstStyle/>
        <a:p>
          <a:pPr>
            <a:buNone/>
          </a:pPr>
          <a:r>
            <a:rPr lang="en-US" sz="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DATA_BODY</a:t>
          </a:r>
        </a:p>
      </dgm:t>
    </dgm:pt>
    <dgm:pt modelId="{0F1593BA-9C3B-4BDF-A552-F91C021DCA0A}" type="parTrans" cxnId="{E6D95844-169D-4EFD-998B-CD2E6F89467D}">
      <dgm:prSet/>
      <dgm:spPr/>
      <dgm:t>
        <a:bodyPr/>
        <a:lstStyle/>
        <a:p>
          <a:endParaRPr lang="en-US"/>
        </a:p>
      </dgm:t>
    </dgm:pt>
    <dgm:pt modelId="{115B7757-D1CB-4E06-A9DC-9346FC59D52E}" type="sibTrans" cxnId="{E6D95844-169D-4EFD-998B-CD2E6F89467D}">
      <dgm:prSet/>
      <dgm:spPr/>
      <dgm:t>
        <a:bodyPr/>
        <a:lstStyle/>
        <a:p>
          <a:endParaRPr lang="en-US"/>
        </a:p>
      </dgm:t>
    </dgm:pt>
    <dgm:pt modelId="{6CB8935C-ADB4-4FF1-9B69-9A9CB4160AC4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Processes payload data until </a:t>
          </a:r>
          <a:r>
            <a:rPr lang="en-US" sz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pkt_end</a:t>
          </a:r>
          <a:endParaRPr lang="en-US" sz="1200" dirty="0">
            <a:solidFill>
              <a:srgbClr val="1E276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4BDB76-4866-4A09-95F3-69CEC0190F36}" type="parTrans" cxnId="{062D29DB-D19D-4DED-9157-16A6B8668F44}">
      <dgm:prSet/>
      <dgm:spPr/>
      <dgm:t>
        <a:bodyPr/>
        <a:lstStyle/>
        <a:p>
          <a:endParaRPr lang="en-US"/>
        </a:p>
      </dgm:t>
    </dgm:pt>
    <dgm:pt modelId="{BF162937-8350-4F68-BE88-F5F576C754B4}" type="sibTrans" cxnId="{062D29DB-D19D-4DED-9157-16A6B8668F44}">
      <dgm:prSet/>
      <dgm:spPr/>
      <dgm:t>
        <a:bodyPr/>
        <a:lstStyle/>
        <a:p>
          <a:endParaRPr lang="en-US"/>
        </a:p>
      </dgm:t>
    </dgm:pt>
    <dgm:pt modelId="{37876190-2E47-4992-8769-8DFC95DC71C3}">
      <dgm:prSet phldrT="[Text]" custT="1"/>
      <dgm:spPr/>
      <dgm:t>
        <a:bodyPr/>
        <a:lstStyle/>
        <a:p>
          <a:pPr>
            <a:buNone/>
          </a:pPr>
          <a:r>
            <a:rPr lang="en-US" sz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payload_valid</a:t>
          </a: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=1, </a:t>
          </a:r>
          <a:r>
            <a:rPr lang="en-US" sz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rd_config_en</a:t>
          </a: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</a:t>
          </a:r>
        </a:p>
      </dgm:t>
    </dgm:pt>
    <dgm:pt modelId="{85BFB3F3-AB73-4A4D-92CC-CA9C1E9B1428}" type="parTrans" cxnId="{818C270C-F180-4E5B-882C-01AF51A91B44}">
      <dgm:prSet/>
      <dgm:spPr/>
      <dgm:t>
        <a:bodyPr/>
        <a:lstStyle/>
        <a:p>
          <a:endParaRPr lang="en-US"/>
        </a:p>
      </dgm:t>
    </dgm:pt>
    <dgm:pt modelId="{AF4E0022-D71F-4441-A844-2197B400498A}" type="sibTrans" cxnId="{818C270C-F180-4E5B-882C-01AF51A91B44}">
      <dgm:prSet/>
      <dgm:spPr/>
      <dgm:t>
        <a:bodyPr/>
        <a:lstStyle/>
        <a:p>
          <a:endParaRPr lang="en-US"/>
        </a:p>
      </dgm:t>
    </dgm:pt>
    <dgm:pt modelId="{B7E90A1F-D106-4AD8-B113-14D3D092EA5F}">
      <dgm:prSet phldrT="[Text]" custT="1"/>
      <dgm:spPr/>
      <dgm:t>
        <a:bodyPr/>
        <a:lstStyle/>
        <a:p>
          <a:pPr>
            <a:buNone/>
          </a:pPr>
          <a:r>
            <a: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ERROR</a:t>
          </a:r>
        </a:p>
      </dgm:t>
    </dgm:pt>
    <dgm:pt modelId="{DB01BB9E-F6B1-4169-A661-E0F31675B617}" type="parTrans" cxnId="{473A20DD-2ABF-400C-BE2D-00F2A3713056}">
      <dgm:prSet/>
      <dgm:spPr/>
      <dgm:t>
        <a:bodyPr/>
        <a:lstStyle/>
        <a:p>
          <a:endParaRPr lang="en-US"/>
        </a:p>
      </dgm:t>
    </dgm:pt>
    <dgm:pt modelId="{10F99A2C-7E70-4EF1-981C-344D6B46FEF0}" type="sibTrans" cxnId="{473A20DD-2ABF-400C-BE2D-00F2A3713056}">
      <dgm:prSet/>
      <dgm:spPr/>
      <dgm:t>
        <a:bodyPr/>
        <a:lstStyle/>
        <a:p>
          <a:endParaRPr lang="en-US"/>
        </a:p>
      </dgm:t>
    </dgm:pt>
    <dgm:pt modelId="{C7BD7521-4E7B-41E8-833F-3C41348F2702}">
      <dgm:prSet phldrT="[Text]" custT="1"/>
      <dgm:spPr/>
      <dgm:t>
        <a:bodyPr/>
        <a:lstStyle/>
        <a:p>
          <a:pPr>
            <a:buNone/>
          </a:pP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Entered on invalid header/type/protocol violation; holds until reset</a:t>
          </a:r>
        </a:p>
      </dgm:t>
    </dgm:pt>
    <dgm:pt modelId="{8E432EA0-99E0-449F-9CFD-7892B82053D6}" type="parTrans" cxnId="{71E2EA67-A290-4E66-AB78-F6FC43EF6324}">
      <dgm:prSet/>
      <dgm:spPr/>
      <dgm:t>
        <a:bodyPr/>
        <a:lstStyle/>
        <a:p>
          <a:endParaRPr lang="en-US"/>
        </a:p>
      </dgm:t>
    </dgm:pt>
    <dgm:pt modelId="{312AB1F5-8700-4ED2-9044-EC07E952C9EA}" type="sibTrans" cxnId="{71E2EA67-A290-4E66-AB78-F6FC43EF6324}">
      <dgm:prSet/>
      <dgm:spPr/>
      <dgm:t>
        <a:bodyPr/>
        <a:lstStyle/>
        <a:p>
          <a:endParaRPr lang="en-US"/>
        </a:p>
      </dgm:t>
    </dgm:pt>
    <dgm:pt modelId="{AC08DD9C-186B-471F-97D3-22B7938C4FDA}">
      <dgm:prSet phldrT="[Text]" custT="1"/>
      <dgm:spPr/>
      <dgm:t>
        <a:bodyPr/>
        <a:lstStyle/>
        <a:p>
          <a:pPr>
            <a:buNone/>
          </a:pPr>
          <a:r>
            <a:rPr lang="en-US" sz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status_valid</a:t>
          </a: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=1, </a:t>
          </a:r>
          <a:r>
            <a:rPr lang="en-US" sz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rd_fifo_en</a:t>
          </a:r>
          <a:r>
            <a: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</a:t>
          </a:r>
        </a:p>
      </dgm:t>
    </dgm:pt>
    <dgm:pt modelId="{A428354A-B771-42A0-BE73-3054C1767FF2}" type="parTrans" cxnId="{5DD50709-F99E-466E-89D0-21EE18DF1B47}">
      <dgm:prSet/>
      <dgm:spPr/>
      <dgm:t>
        <a:bodyPr/>
        <a:lstStyle/>
        <a:p>
          <a:endParaRPr lang="en-US"/>
        </a:p>
      </dgm:t>
    </dgm:pt>
    <dgm:pt modelId="{1F962EC0-35D0-4A7D-BF25-0CAFBF3D80E5}" type="sibTrans" cxnId="{5DD50709-F99E-466E-89D0-21EE18DF1B47}">
      <dgm:prSet/>
      <dgm:spPr/>
      <dgm:t>
        <a:bodyPr/>
        <a:lstStyle/>
        <a:p>
          <a:endParaRPr lang="en-US"/>
        </a:p>
      </dgm:t>
    </dgm:pt>
    <dgm:pt modelId="{20FCF45B-FD2D-4245-AC5E-28807BE00CBF}" type="pres">
      <dgm:prSet presAssocID="{A497AAF4-4166-44F3-B41D-7ADF125095AC}" presName="linearFlow" presStyleCnt="0">
        <dgm:presLayoutVars>
          <dgm:dir/>
          <dgm:animLvl val="lvl"/>
          <dgm:resizeHandles val="exact"/>
        </dgm:presLayoutVars>
      </dgm:prSet>
      <dgm:spPr/>
    </dgm:pt>
    <dgm:pt modelId="{BDEFE608-7C6C-4FBD-BA4B-D68EA71E3677}" type="pres">
      <dgm:prSet presAssocID="{2582BC46-E232-481A-9C06-FAFE940F83BB}" presName="composite" presStyleCnt="0"/>
      <dgm:spPr/>
    </dgm:pt>
    <dgm:pt modelId="{7EEAEA3C-198E-4428-91F5-5D40AC471D03}" type="pres">
      <dgm:prSet presAssocID="{2582BC46-E232-481A-9C06-FAFE940F83BB}" presName="parentText" presStyleLbl="alignNode1" presStyleIdx="0" presStyleCnt="8">
        <dgm:presLayoutVars>
          <dgm:chMax val="1"/>
          <dgm:bulletEnabled val="1"/>
        </dgm:presLayoutVars>
      </dgm:prSet>
      <dgm:spPr/>
    </dgm:pt>
    <dgm:pt modelId="{F05F49B7-E57A-4430-8446-DFC1C1F638EA}" type="pres">
      <dgm:prSet presAssocID="{2582BC46-E232-481A-9C06-FAFE940F83BB}" presName="descendantText" presStyleLbl="alignAcc1" presStyleIdx="0" presStyleCnt="8">
        <dgm:presLayoutVars>
          <dgm:bulletEnabled val="1"/>
        </dgm:presLayoutVars>
      </dgm:prSet>
      <dgm:spPr/>
    </dgm:pt>
    <dgm:pt modelId="{FDAA26FA-2F38-4C34-8837-5D578CEB621B}" type="pres">
      <dgm:prSet presAssocID="{5604CB5C-22D8-43F3-AA78-52C2BC39FAE4}" presName="sp" presStyleCnt="0"/>
      <dgm:spPr/>
    </dgm:pt>
    <dgm:pt modelId="{BF661CA9-1358-41AA-83EA-EBB25BC901D9}" type="pres">
      <dgm:prSet presAssocID="{08BF887D-4E4A-497E-A69B-D5C1B0980EC2}" presName="composite" presStyleCnt="0"/>
      <dgm:spPr/>
    </dgm:pt>
    <dgm:pt modelId="{1E631251-D50F-4103-BFBF-990C9568DF11}" type="pres">
      <dgm:prSet presAssocID="{08BF887D-4E4A-497E-A69B-D5C1B0980EC2}" presName="parentText" presStyleLbl="alignNode1" presStyleIdx="1" presStyleCnt="8">
        <dgm:presLayoutVars>
          <dgm:chMax val="1"/>
          <dgm:bulletEnabled val="1"/>
        </dgm:presLayoutVars>
      </dgm:prSet>
      <dgm:spPr/>
    </dgm:pt>
    <dgm:pt modelId="{84D39791-37A5-4786-8C16-C3F8789281C3}" type="pres">
      <dgm:prSet presAssocID="{08BF887D-4E4A-497E-A69B-D5C1B0980EC2}" presName="descendantText" presStyleLbl="alignAcc1" presStyleIdx="1" presStyleCnt="8">
        <dgm:presLayoutVars>
          <dgm:bulletEnabled val="1"/>
        </dgm:presLayoutVars>
      </dgm:prSet>
      <dgm:spPr/>
    </dgm:pt>
    <dgm:pt modelId="{D4F0E12F-8F4F-484E-A59C-62B02BC895E1}" type="pres">
      <dgm:prSet presAssocID="{BC7F0093-1191-488E-9211-CFFF45C4B3AC}" presName="sp" presStyleCnt="0"/>
      <dgm:spPr/>
    </dgm:pt>
    <dgm:pt modelId="{26B34F77-E883-4215-897A-87EB0CB9D032}" type="pres">
      <dgm:prSet presAssocID="{375F7198-1050-4880-B9ED-60FFBFF40057}" presName="composite" presStyleCnt="0"/>
      <dgm:spPr/>
    </dgm:pt>
    <dgm:pt modelId="{E7E0AF17-56E0-410F-9CE5-0C1A889F3C58}" type="pres">
      <dgm:prSet presAssocID="{375F7198-1050-4880-B9ED-60FFBFF40057}" presName="parentText" presStyleLbl="alignNode1" presStyleIdx="2" presStyleCnt="8">
        <dgm:presLayoutVars>
          <dgm:chMax val="1"/>
          <dgm:bulletEnabled val="1"/>
        </dgm:presLayoutVars>
      </dgm:prSet>
      <dgm:spPr/>
    </dgm:pt>
    <dgm:pt modelId="{209C89DD-2555-4ACD-B62E-C40608D078AF}" type="pres">
      <dgm:prSet presAssocID="{375F7198-1050-4880-B9ED-60FFBFF40057}" presName="descendantText" presStyleLbl="alignAcc1" presStyleIdx="2" presStyleCnt="8">
        <dgm:presLayoutVars>
          <dgm:bulletEnabled val="1"/>
        </dgm:presLayoutVars>
      </dgm:prSet>
      <dgm:spPr/>
    </dgm:pt>
    <dgm:pt modelId="{4F1E35CF-4133-44FB-9FF6-2D00E3F7D646}" type="pres">
      <dgm:prSet presAssocID="{406BFB44-E643-4C9A-BCE5-57CDF290F933}" presName="sp" presStyleCnt="0"/>
      <dgm:spPr/>
    </dgm:pt>
    <dgm:pt modelId="{37F3C621-476D-4DC1-BEDC-40F6B982196B}" type="pres">
      <dgm:prSet presAssocID="{B5F91042-3D4C-40B5-A59D-37D347FAF613}" presName="composite" presStyleCnt="0"/>
      <dgm:spPr/>
    </dgm:pt>
    <dgm:pt modelId="{9AEABF67-0F5F-4110-AEBC-7EC940420F45}" type="pres">
      <dgm:prSet presAssocID="{B5F91042-3D4C-40B5-A59D-37D347FAF613}" presName="parentText" presStyleLbl="alignNode1" presStyleIdx="3" presStyleCnt="8">
        <dgm:presLayoutVars>
          <dgm:chMax val="1"/>
          <dgm:bulletEnabled val="1"/>
        </dgm:presLayoutVars>
      </dgm:prSet>
      <dgm:spPr/>
    </dgm:pt>
    <dgm:pt modelId="{E638C40D-F786-40C7-81A9-EFB374C2939C}" type="pres">
      <dgm:prSet presAssocID="{B5F91042-3D4C-40B5-A59D-37D347FAF613}" presName="descendantText" presStyleLbl="alignAcc1" presStyleIdx="3" presStyleCnt="8">
        <dgm:presLayoutVars>
          <dgm:bulletEnabled val="1"/>
        </dgm:presLayoutVars>
      </dgm:prSet>
      <dgm:spPr/>
    </dgm:pt>
    <dgm:pt modelId="{624A2994-783A-4726-BA71-6808676B3382}" type="pres">
      <dgm:prSet presAssocID="{3E3E2FD2-6DB9-4811-8965-1ADB43ABDC0D}" presName="sp" presStyleCnt="0"/>
      <dgm:spPr/>
    </dgm:pt>
    <dgm:pt modelId="{CEDBFA2F-9A53-4185-8C68-4FE1003BE6D9}" type="pres">
      <dgm:prSet presAssocID="{81F28A41-3CDE-4062-A507-679A1FB6725B}" presName="composite" presStyleCnt="0"/>
      <dgm:spPr/>
    </dgm:pt>
    <dgm:pt modelId="{16F7BE88-8E8A-4CFD-80F2-89CD3B9C1FAE}" type="pres">
      <dgm:prSet presAssocID="{81F28A41-3CDE-4062-A507-679A1FB6725B}" presName="parentText" presStyleLbl="alignNode1" presStyleIdx="4" presStyleCnt="8">
        <dgm:presLayoutVars>
          <dgm:chMax val="1"/>
          <dgm:bulletEnabled val="1"/>
        </dgm:presLayoutVars>
      </dgm:prSet>
      <dgm:spPr/>
    </dgm:pt>
    <dgm:pt modelId="{25B04A7F-920C-454F-BB75-FD6E48F42E45}" type="pres">
      <dgm:prSet presAssocID="{81F28A41-3CDE-4062-A507-679A1FB6725B}" presName="descendantText" presStyleLbl="alignAcc1" presStyleIdx="4" presStyleCnt="8">
        <dgm:presLayoutVars>
          <dgm:bulletEnabled val="1"/>
        </dgm:presLayoutVars>
      </dgm:prSet>
      <dgm:spPr/>
    </dgm:pt>
    <dgm:pt modelId="{52BD94F4-A76E-4983-80EC-D9D1D35FEEA6}" type="pres">
      <dgm:prSet presAssocID="{A6CC9332-D532-4E59-8AC8-C73B2F5376E9}" presName="sp" presStyleCnt="0"/>
      <dgm:spPr/>
    </dgm:pt>
    <dgm:pt modelId="{2D2B9DC0-9033-4DB1-8746-8FF8389249F2}" type="pres">
      <dgm:prSet presAssocID="{9607B169-CB53-47C6-9527-3AA339A238B6}" presName="composite" presStyleCnt="0"/>
      <dgm:spPr/>
    </dgm:pt>
    <dgm:pt modelId="{9ECE4B3C-795A-44AB-A03E-F317E85195DB}" type="pres">
      <dgm:prSet presAssocID="{9607B169-CB53-47C6-9527-3AA339A238B6}" presName="parentText" presStyleLbl="alignNode1" presStyleIdx="5" presStyleCnt="8">
        <dgm:presLayoutVars>
          <dgm:chMax val="1"/>
          <dgm:bulletEnabled val="1"/>
        </dgm:presLayoutVars>
      </dgm:prSet>
      <dgm:spPr/>
    </dgm:pt>
    <dgm:pt modelId="{A259482F-8C26-4D79-9730-8BFEE3D6A50F}" type="pres">
      <dgm:prSet presAssocID="{9607B169-CB53-47C6-9527-3AA339A238B6}" presName="descendantText" presStyleLbl="alignAcc1" presStyleIdx="5" presStyleCnt="8">
        <dgm:presLayoutVars>
          <dgm:bulletEnabled val="1"/>
        </dgm:presLayoutVars>
      </dgm:prSet>
      <dgm:spPr/>
    </dgm:pt>
    <dgm:pt modelId="{3EDE7057-6840-44B2-9F46-9FEFE84E1AD9}" type="pres">
      <dgm:prSet presAssocID="{7A4C7762-8EF2-40C3-BA75-4077FE22A019}" presName="sp" presStyleCnt="0"/>
      <dgm:spPr/>
    </dgm:pt>
    <dgm:pt modelId="{57A98274-DB50-4D20-9990-6F73BAF18462}" type="pres">
      <dgm:prSet presAssocID="{B0424092-95C1-4909-AFD3-21BCFC8A6125}" presName="composite" presStyleCnt="0"/>
      <dgm:spPr/>
    </dgm:pt>
    <dgm:pt modelId="{78CD9323-2AFA-4CDA-ABF1-290278A751EE}" type="pres">
      <dgm:prSet presAssocID="{B0424092-95C1-4909-AFD3-21BCFC8A6125}" presName="parentText" presStyleLbl="alignNode1" presStyleIdx="6" presStyleCnt="8">
        <dgm:presLayoutVars>
          <dgm:chMax val="1"/>
          <dgm:bulletEnabled val="1"/>
        </dgm:presLayoutVars>
      </dgm:prSet>
      <dgm:spPr/>
    </dgm:pt>
    <dgm:pt modelId="{1E00D41F-ECEC-4617-81C5-61F6D0BFC399}" type="pres">
      <dgm:prSet presAssocID="{B0424092-95C1-4909-AFD3-21BCFC8A6125}" presName="descendantText" presStyleLbl="alignAcc1" presStyleIdx="6" presStyleCnt="8">
        <dgm:presLayoutVars>
          <dgm:bulletEnabled val="1"/>
        </dgm:presLayoutVars>
      </dgm:prSet>
      <dgm:spPr/>
    </dgm:pt>
    <dgm:pt modelId="{9C08E457-82AF-4230-8DFD-D67040D8E7B1}" type="pres">
      <dgm:prSet presAssocID="{115B7757-D1CB-4E06-A9DC-9346FC59D52E}" presName="sp" presStyleCnt="0"/>
      <dgm:spPr/>
    </dgm:pt>
    <dgm:pt modelId="{EB1AA62D-92BF-4B2F-B149-B54E8445D791}" type="pres">
      <dgm:prSet presAssocID="{B7E90A1F-D106-4AD8-B113-14D3D092EA5F}" presName="composite" presStyleCnt="0"/>
      <dgm:spPr/>
    </dgm:pt>
    <dgm:pt modelId="{2482E046-E71E-49D8-8096-12C3DB13CD23}" type="pres">
      <dgm:prSet presAssocID="{B7E90A1F-D106-4AD8-B113-14D3D092EA5F}" presName="parentText" presStyleLbl="alignNode1" presStyleIdx="7" presStyleCnt="8">
        <dgm:presLayoutVars>
          <dgm:chMax val="1"/>
          <dgm:bulletEnabled val="1"/>
        </dgm:presLayoutVars>
      </dgm:prSet>
      <dgm:spPr/>
    </dgm:pt>
    <dgm:pt modelId="{BF1D22C6-0319-47F4-84E2-81E81E1614B8}" type="pres">
      <dgm:prSet presAssocID="{B7E90A1F-D106-4AD8-B113-14D3D092EA5F}" presName="descendantText" presStyleLbl="alignAcc1" presStyleIdx="7" presStyleCnt="8">
        <dgm:presLayoutVars>
          <dgm:bulletEnabled val="1"/>
        </dgm:presLayoutVars>
      </dgm:prSet>
      <dgm:spPr/>
    </dgm:pt>
  </dgm:ptLst>
  <dgm:cxnLst>
    <dgm:cxn modelId="{DCBE6402-18C6-45A5-9734-CE9337B10824}" type="presOf" srcId="{4418A05F-8845-4971-81B2-555DCEFEC916}" destId="{F05F49B7-E57A-4430-8446-DFC1C1F638EA}" srcOrd="0" destOrd="1" presId="urn:microsoft.com/office/officeart/2005/8/layout/chevron2"/>
    <dgm:cxn modelId="{1BEBA603-8B7C-43F9-A329-1DC27EF759C2}" srcId="{B5F91042-3D4C-40B5-A59D-37D347FAF613}" destId="{6BF78014-5564-4F58-8D02-EED6BA78D9D1}" srcOrd="0" destOrd="0" parTransId="{4F8350E0-3D4E-485C-BDC4-45A2576F7E9F}" sibTransId="{B21914F1-0861-4610-95E2-985746DF7A0C}"/>
    <dgm:cxn modelId="{5DD50709-F99E-466E-89D0-21EE18DF1B47}" srcId="{B7E90A1F-D106-4AD8-B113-14D3D092EA5F}" destId="{AC08DD9C-186B-471F-97D3-22B7938C4FDA}" srcOrd="1" destOrd="0" parTransId="{A428354A-B771-42A0-BE73-3054C1767FF2}" sibTransId="{1F962EC0-35D0-4A7D-BF25-0CAFBF3D80E5}"/>
    <dgm:cxn modelId="{13D7F10A-5153-4B84-B2E1-F7A35690A8BF}" type="presOf" srcId="{08BF887D-4E4A-497E-A69B-D5C1B0980EC2}" destId="{1E631251-D50F-4103-BFBF-990C9568DF11}" srcOrd="0" destOrd="0" presId="urn:microsoft.com/office/officeart/2005/8/layout/chevron2"/>
    <dgm:cxn modelId="{818C270C-F180-4E5B-882C-01AF51A91B44}" srcId="{B0424092-95C1-4909-AFD3-21BCFC8A6125}" destId="{37876190-2E47-4992-8769-8DFC95DC71C3}" srcOrd="1" destOrd="0" parTransId="{85BFB3F3-AB73-4A4D-92CC-CA9C1E9B1428}" sibTransId="{AF4E0022-D71F-4441-A844-2197B400498A}"/>
    <dgm:cxn modelId="{3102010D-BD9B-476A-934F-D89FABE5BD58}" srcId="{375F7198-1050-4880-B9ED-60FFBFF40057}" destId="{0493E1E7-2C11-4F56-929F-3B8CC3C67E5B}" srcOrd="1" destOrd="0" parTransId="{98B225A0-1E5C-4F99-9523-3CCAE892809F}" sibTransId="{45D0FDDC-BDD0-49F4-888E-A50FEBC067AE}"/>
    <dgm:cxn modelId="{1C0CE116-F45C-4466-B03D-AF38061AB594}" type="presOf" srcId="{2EDD85D7-466B-407A-9B53-F65B6C37E343}" destId="{A259482F-8C26-4D79-9730-8BFEE3D6A50F}" srcOrd="0" destOrd="0" presId="urn:microsoft.com/office/officeart/2005/8/layout/chevron2"/>
    <dgm:cxn modelId="{0A28101B-4E6C-4EDA-9F2E-0F1CD442D4F2}" srcId="{81F28A41-3CDE-4062-A507-679A1FB6725B}" destId="{9A6B563A-45F3-42DA-A136-5A5DFDD24D8D}" srcOrd="1" destOrd="0" parTransId="{806609BC-E7DA-4640-9F8D-DAA7BC027258}" sibTransId="{E4C635E7-ED51-4ADE-A9E7-AEC54C1F6FAC}"/>
    <dgm:cxn modelId="{B5155124-200D-4935-A0C7-B294E1A8B488}" type="presOf" srcId="{C7BD7521-4E7B-41E8-833F-3C41348F2702}" destId="{BF1D22C6-0319-47F4-84E2-81E81E1614B8}" srcOrd="0" destOrd="0" presId="urn:microsoft.com/office/officeart/2005/8/layout/chevron2"/>
    <dgm:cxn modelId="{872F4726-2B2A-4ED7-B6B3-54E7BF7C8192}" type="presOf" srcId="{0493E1E7-2C11-4F56-929F-3B8CC3C67E5B}" destId="{209C89DD-2555-4ACD-B62E-C40608D078AF}" srcOrd="0" destOrd="1" presId="urn:microsoft.com/office/officeart/2005/8/layout/chevron2"/>
    <dgm:cxn modelId="{E29D7E26-D59B-4B51-8038-D5F6EFFD5DF1}" type="presOf" srcId="{9607B169-CB53-47C6-9527-3AA339A238B6}" destId="{9ECE4B3C-795A-44AB-A03E-F317E85195DB}" srcOrd="0" destOrd="0" presId="urn:microsoft.com/office/officeart/2005/8/layout/chevron2"/>
    <dgm:cxn modelId="{AE211433-B65A-4B7E-84A4-33A3204794B9}" srcId="{A497AAF4-4166-44F3-B41D-7ADF125095AC}" destId="{2582BC46-E232-481A-9C06-FAFE940F83BB}" srcOrd="0" destOrd="0" parTransId="{968288CC-8935-4A0A-BA6E-4B70FA7E8AD6}" sibTransId="{5604CB5C-22D8-43F3-AA78-52C2BC39FAE4}"/>
    <dgm:cxn modelId="{D3930A34-89E9-445D-BC88-4A7BD2BEE1BD}" type="presOf" srcId="{AC08DD9C-186B-471F-97D3-22B7938C4FDA}" destId="{BF1D22C6-0319-47F4-84E2-81E81E1614B8}" srcOrd="0" destOrd="1" presId="urn:microsoft.com/office/officeart/2005/8/layout/chevron2"/>
    <dgm:cxn modelId="{D2D64C36-CA47-4310-8D1C-CF03D55DA9A7}" type="presOf" srcId="{A497AAF4-4166-44F3-B41D-7ADF125095AC}" destId="{20FCF45B-FD2D-4245-AC5E-28807BE00CBF}" srcOrd="0" destOrd="0" presId="urn:microsoft.com/office/officeart/2005/8/layout/chevron2"/>
    <dgm:cxn modelId="{7DE75A3C-CF52-4083-950C-F3302C7675A4}" type="presOf" srcId="{9A020123-72C0-4A25-B6B0-B26D8E2A3835}" destId="{A259482F-8C26-4D79-9730-8BFEE3D6A50F}" srcOrd="0" destOrd="1" presId="urn:microsoft.com/office/officeart/2005/8/layout/chevron2"/>
    <dgm:cxn modelId="{7D94275B-DA36-4465-BB97-5094C25A3497}" type="presOf" srcId="{375F7198-1050-4880-B9ED-60FFBFF40057}" destId="{E7E0AF17-56E0-410F-9CE5-0C1A889F3C58}" srcOrd="0" destOrd="0" presId="urn:microsoft.com/office/officeart/2005/8/layout/chevron2"/>
    <dgm:cxn modelId="{1EBC4B42-BC43-4F22-B97E-9C1856F9340A}" type="presOf" srcId="{B5F91042-3D4C-40B5-A59D-37D347FAF613}" destId="{9AEABF67-0F5F-4110-AEBC-7EC940420F45}" srcOrd="0" destOrd="0" presId="urn:microsoft.com/office/officeart/2005/8/layout/chevron2"/>
    <dgm:cxn modelId="{E6D95844-169D-4EFD-998B-CD2E6F89467D}" srcId="{A497AAF4-4166-44F3-B41D-7ADF125095AC}" destId="{B0424092-95C1-4909-AFD3-21BCFC8A6125}" srcOrd="6" destOrd="0" parTransId="{0F1593BA-9C3B-4BDF-A552-F91C021DCA0A}" sibTransId="{115B7757-D1CB-4E06-A9DC-9346FC59D52E}"/>
    <dgm:cxn modelId="{4D859967-BD2B-46B4-9F29-FB5EFB57F662}" type="presOf" srcId="{6BF78014-5564-4F58-8D02-EED6BA78D9D1}" destId="{E638C40D-F786-40C7-81A9-EFB374C2939C}" srcOrd="0" destOrd="0" presId="urn:microsoft.com/office/officeart/2005/8/layout/chevron2"/>
    <dgm:cxn modelId="{71E2EA67-A290-4E66-AB78-F6FC43EF6324}" srcId="{B7E90A1F-D106-4AD8-B113-14D3D092EA5F}" destId="{C7BD7521-4E7B-41E8-833F-3C41348F2702}" srcOrd="0" destOrd="0" parTransId="{8E432EA0-99E0-449F-9CFD-7892B82053D6}" sibTransId="{312AB1F5-8700-4ED2-9044-EC07E952C9EA}"/>
    <dgm:cxn modelId="{51EFC668-5977-4942-A8CF-FB3F5585773B}" type="presOf" srcId="{76F97C03-08B4-49C4-8B06-12C8E94081CB}" destId="{F05F49B7-E57A-4430-8446-DFC1C1F638EA}" srcOrd="0" destOrd="0" presId="urn:microsoft.com/office/officeart/2005/8/layout/chevron2"/>
    <dgm:cxn modelId="{84A7264C-3779-4878-943E-83C84F4E2509}" srcId="{81F28A41-3CDE-4062-A507-679A1FB6725B}" destId="{660A4060-3333-43F6-BC5E-E905E36D7558}" srcOrd="0" destOrd="0" parTransId="{32106AA9-1C2F-4B09-BB03-0B81BCB38834}" sibTransId="{D557D483-8912-40FB-9207-BB2B84D796EB}"/>
    <dgm:cxn modelId="{3A672070-EFDE-45B9-B0A1-126767FF209A}" srcId="{2582BC46-E232-481A-9C06-FAFE940F83BB}" destId="{4418A05F-8845-4971-81B2-555DCEFEC916}" srcOrd="1" destOrd="0" parTransId="{3A45CF0A-9714-4643-89FF-CAE003F6C5CD}" sibTransId="{E85CBD41-9A1A-4DBE-93C1-EFAB7A4CABE3}"/>
    <dgm:cxn modelId="{36004170-280A-4163-BB8A-03B33DD00930}" srcId="{A497AAF4-4166-44F3-B41D-7ADF125095AC}" destId="{81F28A41-3CDE-4062-A507-679A1FB6725B}" srcOrd="4" destOrd="0" parTransId="{34E8A72B-1FA3-4682-BFDD-E49E171BB337}" sibTransId="{A6CC9332-D532-4E59-8AC8-C73B2F5376E9}"/>
    <dgm:cxn modelId="{2F40C074-B3F1-4D1B-985B-87B3B1DA8598}" srcId="{08BF887D-4E4A-497E-A69B-D5C1B0980EC2}" destId="{10DB8F95-506B-4B58-ABDE-07B6CE8E6251}" srcOrd="1" destOrd="0" parTransId="{970D5377-BE29-40B6-B359-45B41A618CCA}" sibTransId="{5816503D-1A72-4825-9214-ECE1D002201E}"/>
    <dgm:cxn modelId="{9F9C9E78-0454-4143-91E8-8B2C86A87B6D}" srcId="{2582BC46-E232-481A-9C06-FAFE940F83BB}" destId="{76F97C03-08B4-49C4-8B06-12C8E94081CB}" srcOrd="0" destOrd="0" parTransId="{60E169D8-B51E-42DF-B77E-D6245AE7CA8A}" sibTransId="{133AFC37-175C-4F10-94F6-42B0287E34BC}"/>
    <dgm:cxn modelId="{5FDAE67A-B868-47DA-A9FF-A2C93D42AA6E}" srcId="{A497AAF4-4166-44F3-B41D-7ADF125095AC}" destId="{B5F91042-3D4C-40B5-A59D-37D347FAF613}" srcOrd="3" destOrd="0" parTransId="{A0FFC2BB-C4E5-40CA-8AEA-13D296EB04A5}" sibTransId="{3E3E2FD2-6DB9-4811-8965-1ADB43ABDC0D}"/>
    <dgm:cxn modelId="{AB4E1385-1F7F-4981-974E-D516124FE16B}" type="presOf" srcId="{04EAA028-CA75-441D-9AC3-0A127377751A}" destId="{209C89DD-2555-4ACD-B62E-C40608D078AF}" srcOrd="0" destOrd="0" presId="urn:microsoft.com/office/officeart/2005/8/layout/chevron2"/>
    <dgm:cxn modelId="{18BD918A-4127-4684-BF20-97EE62EE19AB}" type="presOf" srcId="{37876190-2E47-4992-8769-8DFC95DC71C3}" destId="{1E00D41F-ECEC-4617-81C5-61F6D0BFC399}" srcOrd="0" destOrd="1" presId="urn:microsoft.com/office/officeart/2005/8/layout/chevron2"/>
    <dgm:cxn modelId="{B83FBE8F-89C4-4D1C-BB78-A99DDEA6F49C}" type="presOf" srcId="{B7E90A1F-D106-4AD8-B113-14D3D092EA5F}" destId="{2482E046-E71E-49D8-8096-12C3DB13CD23}" srcOrd="0" destOrd="0" presId="urn:microsoft.com/office/officeart/2005/8/layout/chevron2"/>
    <dgm:cxn modelId="{638B4294-D295-4F1C-A4C6-7ABD9F09555B}" type="presOf" srcId="{81F28A41-3CDE-4062-A507-679A1FB6725B}" destId="{16F7BE88-8E8A-4CFD-80F2-89CD3B9C1FAE}" srcOrd="0" destOrd="0" presId="urn:microsoft.com/office/officeart/2005/8/layout/chevron2"/>
    <dgm:cxn modelId="{B5C26C9B-3E8E-435C-9781-827A892E01B9}" srcId="{9607B169-CB53-47C6-9527-3AA339A238B6}" destId="{9A020123-72C0-4A25-B6B0-B26D8E2A3835}" srcOrd="1" destOrd="0" parTransId="{C844239E-E994-406A-AC04-9DD5E69A7FFF}" sibTransId="{16177E7A-147C-454F-B8E3-763E33B2F547}"/>
    <dgm:cxn modelId="{0D16009E-7F57-45D8-B703-B132607BE687}" type="presOf" srcId="{10DB8F95-506B-4B58-ABDE-07B6CE8E6251}" destId="{84D39791-37A5-4786-8C16-C3F8789281C3}" srcOrd="0" destOrd="1" presId="urn:microsoft.com/office/officeart/2005/8/layout/chevron2"/>
    <dgm:cxn modelId="{CA791FA1-7E16-4BF3-A9CF-9E5F32F7CBBB}" type="presOf" srcId="{65BBF56F-CBDD-427F-9FC5-A6ECD6B999BA}" destId="{E638C40D-F786-40C7-81A9-EFB374C2939C}" srcOrd="0" destOrd="1" presId="urn:microsoft.com/office/officeart/2005/8/layout/chevron2"/>
    <dgm:cxn modelId="{482783A6-5C81-4F5B-A7A7-12AB7F72EE8C}" type="presOf" srcId="{6CB8935C-ADB4-4FF1-9B69-9A9CB4160AC4}" destId="{1E00D41F-ECEC-4617-81C5-61F6D0BFC399}" srcOrd="0" destOrd="0" presId="urn:microsoft.com/office/officeart/2005/8/layout/chevron2"/>
    <dgm:cxn modelId="{BBD23DA8-3835-4DA3-9CAB-5B28F9518FA1}" type="presOf" srcId="{845ACA10-77CD-455C-A5A0-A46BDA813DCF}" destId="{84D39791-37A5-4786-8C16-C3F8789281C3}" srcOrd="0" destOrd="0" presId="urn:microsoft.com/office/officeart/2005/8/layout/chevron2"/>
    <dgm:cxn modelId="{67FBF3AA-9A4E-48C1-81F6-08AD2DE76BF7}" srcId="{B5F91042-3D4C-40B5-A59D-37D347FAF613}" destId="{65BBF56F-CBDD-427F-9FC5-A6ECD6B999BA}" srcOrd="1" destOrd="0" parTransId="{03EB6E6F-0BD6-469A-9633-4FDAE9E522A5}" sibTransId="{C216FA31-672F-46C4-8BFE-979417FE4617}"/>
    <dgm:cxn modelId="{A8592DBB-9124-4DED-A7B7-A086AB7A7EF3}" type="presOf" srcId="{9A6B563A-45F3-42DA-A136-5A5DFDD24D8D}" destId="{25B04A7F-920C-454F-BB75-FD6E48F42E45}" srcOrd="0" destOrd="1" presId="urn:microsoft.com/office/officeart/2005/8/layout/chevron2"/>
    <dgm:cxn modelId="{F822C9C3-482F-45A2-B1B4-E9C15368DC01}" srcId="{A497AAF4-4166-44F3-B41D-7ADF125095AC}" destId="{375F7198-1050-4880-B9ED-60FFBFF40057}" srcOrd="2" destOrd="0" parTransId="{EAD3F313-425F-4728-8142-F19678097E9F}" sibTransId="{406BFB44-E643-4C9A-BCE5-57CDF290F933}"/>
    <dgm:cxn modelId="{4C393BC5-74A3-45C9-8487-B451C90E21FF}" srcId="{08BF887D-4E4A-497E-A69B-D5C1B0980EC2}" destId="{845ACA10-77CD-455C-A5A0-A46BDA813DCF}" srcOrd="0" destOrd="0" parTransId="{AAA1BCE0-3534-407A-9016-FDCAF9F6637E}" sibTransId="{32C215D3-C479-49EC-BC0E-8881E7DDEC48}"/>
    <dgm:cxn modelId="{F2127DD7-7D26-4F6B-B89C-783F1F385BE0}" type="presOf" srcId="{B0424092-95C1-4909-AFD3-21BCFC8A6125}" destId="{78CD9323-2AFA-4CDA-ABF1-290278A751EE}" srcOrd="0" destOrd="0" presId="urn:microsoft.com/office/officeart/2005/8/layout/chevron2"/>
    <dgm:cxn modelId="{A2E5D9D7-5A33-48C9-A989-D42E74DB0566}" type="presOf" srcId="{660A4060-3333-43F6-BC5E-E905E36D7558}" destId="{25B04A7F-920C-454F-BB75-FD6E48F42E45}" srcOrd="0" destOrd="0" presId="urn:microsoft.com/office/officeart/2005/8/layout/chevron2"/>
    <dgm:cxn modelId="{062D29DB-D19D-4DED-9157-16A6B8668F44}" srcId="{B0424092-95C1-4909-AFD3-21BCFC8A6125}" destId="{6CB8935C-ADB4-4FF1-9B69-9A9CB4160AC4}" srcOrd="0" destOrd="0" parTransId="{4C4BDB76-4866-4A09-95F3-69CEC0190F36}" sibTransId="{BF162937-8350-4F68-BE88-F5F576C754B4}"/>
    <dgm:cxn modelId="{453846DC-F394-4390-A448-125C548A2E76}" srcId="{A497AAF4-4166-44F3-B41D-7ADF125095AC}" destId="{9607B169-CB53-47C6-9527-3AA339A238B6}" srcOrd="5" destOrd="0" parTransId="{7EFF9607-26AA-423B-86C6-656AEA27DF27}" sibTransId="{7A4C7762-8EF2-40C3-BA75-4077FE22A019}"/>
    <dgm:cxn modelId="{473A20DD-2ABF-400C-BE2D-00F2A3713056}" srcId="{A497AAF4-4166-44F3-B41D-7ADF125095AC}" destId="{B7E90A1F-D106-4AD8-B113-14D3D092EA5F}" srcOrd="7" destOrd="0" parTransId="{DB01BB9E-F6B1-4169-A661-E0F31675B617}" sibTransId="{10F99A2C-7E70-4EF1-981C-344D6B46FEF0}"/>
    <dgm:cxn modelId="{50BFE9F2-0C1F-46E3-94F2-37F140E02BF7}" srcId="{9607B169-CB53-47C6-9527-3AA339A238B6}" destId="{2EDD85D7-466B-407A-9B53-F65B6C37E343}" srcOrd="0" destOrd="0" parTransId="{0D1BAB44-086D-4918-915D-4DDA64649636}" sibTransId="{9DFE767E-D6DE-4C12-B5BC-F6BC7804D36B}"/>
    <dgm:cxn modelId="{071853F3-207D-4779-A4E4-00F0C6E6CB2C}" srcId="{375F7198-1050-4880-B9ED-60FFBFF40057}" destId="{04EAA028-CA75-441D-9AC3-0A127377751A}" srcOrd="0" destOrd="0" parTransId="{8E195479-2187-4686-8CE6-4542CB5B0A75}" sibTransId="{F70BB797-3591-46D5-A26A-9D84484ABD74}"/>
    <dgm:cxn modelId="{892CE4F3-E71F-4191-9C9F-E4F093E8E666}" srcId="{A497AAF4-4166-44F3-B41D-7ADF125095AC}" destId="{08BF887D-4E4A-497E-A69B-D5C1B0980EC2}" srcOrd="1" destOrd="0" parTransId="{DEE623BC-EC9B-4101-9022-388C1C18DDFC}" sibTransId="{BC7F0093-1191-488E-9211-CFFF45C4B3AC}"/>
    <dgm:cxn modelId="{FFAF93FB-D50F-41D3-A5BE-170F9F281463}" type="presOf" srcId="{2582BC46-E232-481A-9C06-FAFE940F83BB}" destId="{7EEAEA3C-198E-4428-91F5-5D40AC471D03}" srcOrd="0" destOrd="0" presId="urn:microsoft.com/office/officeart/2005/8/layout/chevron2"/>
    <dgm:cxn modelId="{51D927CC-49BA-47F1-990E-5998F35EEB03}" type="presParOf" srcId="{20FCF45B-FD2D-4245-AC5E-28807BE00CBF}" destId="{BDEFE608-7C6C-4FBD-BA4B-D68EA71E3677}" srcOrd="0" destOrd="0" presId="urn:microsoft.com/office/officeart/2005/8/layout/chevron2"/>
    <dgm:cxn modelId="{12DEA46C-07E1-4372-A837-F5407B304211}" type="presParOf" srcId="{BDEFE608-7C6C-4FBD-BA4B-D68EA71E3677}" destId="{7EEAEA3C-198E-4428-91F5-5D40AC471D03}" srcOrd="0" destOrd="0" presId="urn:microsoft.com/office/officeart/2005/8/layout/chevron2"/>
    <dgm:cxn modelId="{5930B324-D51E-4E9E-83C2-C4FF93874CF4}" type="presParOf" srcId="{BDEFE608-7C6C-4FBD-BA4B-D68EA71E3677}" destId="{F05F49B7-E57A-4430-8446-DFC1C1F638EA}" srcOrd="1" destOrd="0" presId="urn:microsoft.com/office/officeart/2005/8/layout/chevron2"/>
    <dgm:cxn modelId="{C4850FF5-D1FC-4E3E-846C-454BBED76420}" type="presParOf" srcId="{20FCF45B-FD2D-4245-AC5E-28807BE00CBF}" destId="{FDAA26FA-2F38-4C34-8837-5D578CEB621B}" srcOrd="1" destOrd="0" presId="urn:microsoft.com/office/officeart/2005/8/layout/chevron2"/>
    <dgm:cxn modelId="{3E83F4E6-3214-4C86-BCEB-EC63DBD197D3}" type="presParOf" srcId="{20FCF45B-FD2D-4245-AC5E-28807BE00CBF}" destId="{BF661CA9-1358-41AA-83EA-EBB25BC901D9}" srcOrd="2" destOrd="0" presId="urn:microsoft.com/office/officeart/2005/8/layout/chevron2"/>
    <dgm:cxn modelId="{FD49A833-DB57-4EEE-9399-10EAE18FF371}" type="presParOf" srcId="{BF661CA9-1358-41AA-83EA-EBB25BC901D9}" destId="{1E631251-D50F-4103-BFBF-990C9568DF11}" srcOrd="0" destOrd="0" presId="urn:microsoft.com/office/officeart/2005/8/layout/chevron2"/>
    <dgm:cxn modelId="{068F2E9D-62E8-4027-91DB-46CA2597F9C6}" type="presParOf" srcId="{BF661CA9-1358-41AA-83EA-EBB25BC901D9}" destId="{84D39791-37A5-4786-8C16-C3F8789281C3}" srcOrd="1" destOrd="0" presId="urn:microsoft.com/office/officeart/2005/8/layout/chevron2"/>
    <dgm:cxn modelId="{1ED15FD6-A24F-4928-BFC8-0AAF670D808F}" type="presParOf" srcId="{20FCF45B-FD2D-4245-AC5E-28807BE00CBF}" destId="{D4F0E12F-8F4F-484E-A59C-62B02BC895E1}" srcOrd="3" destOrd="0" presId="urn:microsoft.com/office/officeart/2005/8/layout/chevron2"/>
    <dgm:cxn modelId="{66209EA3-7D67-49E1-8822-58FB00611F08}" type="presParOf" srcId="{20FCF45B-FD2D-4245-AC5E-28807BE00CBF}" destId="{26B34F77-E883-4215-897A-87EB0CB9D032}" srcOrd="4" destOrd="0" presId="urn:microsoft.com/office/officeart/2005/8/layout/chevron2"/>
    <dgm:cxn modelId="{04197162-20AD-435C-986B-D5D3625876AC}" type="presParOf" srcId="{26B34F77-E883-4215-897A-87EB0CB9D032}" destId="{E7E0AF17-56E0-410F-9CE5-0C1A889F3C58}" srcOrd="0" destOrd="0" presId="urn:microsoft.com/office/officeart/2005/8/layout/chevron2"/>
    <dgm:cxn modelId="{F1873962-70AA-4619-A484-EAA17B6050C0}" type="presParOf" srcId="{26B34F77-E883-4215-897A-87EB0CB9D032}" destId="{209C89DD-2555-4ACD-B62E-C40608D078AF}" srcOrd="1" destOrd="0" presId="urn:microsoft.com/office/officeart/2005/8/layout/chevron2"/>
    <dgm:cxn modelId="{EF799CC1-0F14-440E-9FF5-A28EFB8F585A}" type="presParOf" srcId="{20FCF45B-FD2D-4245-AC5E-28807BE00CBF}" destId="{4F1E35CF-4133-44FB-9FF6-2D00E3F7D646}" srcOrd="5" destOrd="0" presId="urn:microsoft.com/office/officeart/2005/8/layout/chevron2"/>
    <dgm:cxn modelId="{BF5ABDF4-0E16-4413-AFA5-28CD37946EC2}" type="presParOf" srcId="{20FCF45B-FD2D-4245-AC5E-28807BE00CBF}" destId="{37F3C621-476D-4DC1-BEDC-40F6B982196B}" srcOrd="6" destOrd="0" presId="urn:microsoft.com/office/officeart/2005/8/layout/chevron2"/>
    <dgm:cxn modelId="{998AFD77-5957-42F7-B006-230AB578667D}" type="presParOf" srcId="{37F3C621-476D-4DC1-BEDC-40F6B982196B}" destId="{9AEABF67-0F5F-4110-AEBC-7EC940420F45}" srcOrd="0" destOrd="0" presId="urn:microsoft.com/office/officeart/2005/8/layout/chevron2"/>
    <dgm:cxn modelId="{866FA3FD-543B-4085-9AAB-1FB5687CDED5}" type="presParOf" srcId="{37F3C621-476D-4DC1-BEDC-40F6B982196B}" destId="{E638C40D-F786-40C7-81A9-EFB374C2939C}" srcOrd="1" destOrd="0" presId="urn:microsoft.com/office/officeart/2005/8/layout/chevron2"/>
    <dgm:cxn modelId="{50C8D347-CAA5-4C56-9C2B-A019D93E80A0}" type="presParOf" srcId="{20FCF45B-FD2D-4245-AC5E-28807BE00CBF}" destId="{624A2994-783A-4726-BA71-6808676B3382}" srcOrd="7" destOrd="0" presId="urn:microsoft.com/office/officeart/2005/8/layout/chevron2"/>
    <dgm:cxn modelId="{7C1121EE-2995-4D48-A434-638494349B0C}" type="presParOf" srcId="{20FCF45B-FD2D-4245-AC5E-28807BE00CBF}" destId="{CEDBFA2F-9A53-4185-8C68-4FE1003BE6D9}" srcOrd="8" destOrd="0" presId="urn:microsoft.com/office/officeart/2005/8/layout/chevron2"/>
    <dgm:cxn modelId="{DB389A79-A1ED-4BCB-BB59-87C5BCE0CFBE}" type="presParOf" srcId="{CEDBFA2F-9A53-4185-8C68-4FE1003BE6D9}" destId="{16F7BE88-8E8A-4CFD-80F2-89CD3B9C1FAE}" srcOrd="0" destOrd="0" presId="urn:microsoft.com/office/officeart/2005/8/layout/chevron2"/>
    <dgm:cxn modelId="{62292164-97C8-4476-895F-BD3A7D7836A9}" type="presParOf" srcId="{CEDBFA2F-9A53-4185-8C68-4FE1003BE6D9}" destId="{25B04A7F-920C-454F-BB75-FD6E48F42E45}" srcOrd="1" destOrd="0" presId="urn:microsoft.com/office/officeart/2005/8/layout/chevron2"/>
    <dgm:cxn modelId="{155337C9-F6D6-4714-B0ED-05F05BFBF897}" type="presParOf" srcId="{20FCF45B-FD2D-4245-AC5E-28807BE00CBF}" destId="{52BD94F4-A76E-4983-80EC-D9D1D35FEEA6}" srcOrd="9" destOrd="0" presId="urn:microsoft.com/office/officeart/2005/8/layout/chevron2"/>
    <dgm:cxn modelId="{820A94F6-07FF-4B20-A873-93965A2B4CF6}" type="presParOf" srcId="{20FCF45B-FD2D-4245-AC5E-28807BE00CBF}" destId="{2D2B9DC0-9033-4DB1-8746-8FF8389249F2}" srcOrd="10" destOrd="0" presId="urn:microsoft.com/office/officeart/2005/8/layout/chevron2"/>
    <dgm:cxn modelId="{7A4292D5-27AE-469B-BD5E-77B004AD7F4B}" type="presParOf" srcId="{2D2B9DC0-9033-4DB1-8746-8FF8389249F2}" destId="{9ECE4B3C-795A-44AB-A03E-F317E85195DB}" srcOrd="0" destOrd="0" presId="urn:microsoft.com/office/officeart/2005/8/layout/chevron2"/>
    <dgm:cxn modelId="{B24FE550-9C1E-46B5-8B33-6610A4691700}" type="presParOf" srcId="{2D2B9DC0-9033-4DB1-8746-8FF8389249F2}" destId="{A259482F-8C26-4D79-9730-8BFEE3D6A50F}" srcOrd="1" destOrd="0" presId="urn:microsoft.com/office/officeart/2005/8/layout/chevron2"/>
    <dgm:cxn modelId="{D53B67CB-39DC-4428-A4E8-9B0AF06F4B6A}" type="presParOf" srcId="{20FCF45B-FD2D-4245-AC5E-28807BE00CBF}" destId="{3EDE7057-6840-44B2-9F46-9FEFE84E1AD9}" srcOrd="11" destOrd="0" presId="urn:microsoft.com/office/officeart/2005/8/layout/chevron2"/>
    <dgm:cxn modelId="{9D0A6A71-0EAD-45E2-A46C-A5A994F429E8}" type="presParOf" srcId="{20FCF45B-FD2D-4245-AC5E-28807BE00CBF}" destId="{57A98274-DB50-4D20-9990-6F73BAF18462}" srcOrd="12" destOrd="0" presId="urn:microsoft.com/office/officeart/2005/8/layout/chevron2"/>
    <dgm:cxn modelId="{D13B3EBD-D7C3-4F75-95AC-E536A133FD1C}" type="presParOf" srcId="{57A98274-DB50-4D20-9990-6F73BAF18462}" destId="{78CD9323-2AFA-4CDA-ABF1-290278A751EE}" srcOrd="0" destOrd="0" presId="urn:microsoft.com/office/officeart/2005/8/layout/chevron2"/>
    <dgm:cxn modelId="{196BB19B-26D9-4CEB-AFF6-3B384A0275E7}" type="presParOf" srcId="{57A98274-DB50-4D20-9990-6F73BAF18462}" destId="{1E00D41F-ECEC-4617-81C5-61F6D0BFC399}" srcOrd="1" destOrd="0" presId="urn:microsoft.com/office/officeart/2005/8/layout/chevron2"/>
    <dgm:cxn modelId="{8116710B-8BAC-4603-B585-EEEC89BE520C}" type="presParOf" srcId="{20FCF45B-FD2D-4245-AC5E-28807BE00CBF}" destId="{9C08E457-82AF-4230-8DFD-D67040D8E7B1}" srcOrd="13" destOrd="0" presId="urn:microsoft.com/office/officeart/2005/8/layout/chevron2"/>
    <dgm:cxn modelId="{5F72DF9F-742D-46B6-AD80-16B8ABCEB650}" type="presParOf" srcId="{20FCF45B-FD2D-4245-AC5E-28807BE00CBF}" destId="{EB1AA62D-92BF-4B2F-B149-B54E8445D791}" srcOrd="14" destOrd="0" presId="urn:microsoft.com/office/officeart/2005/8/layout/chevron2"/>
    <dgm:cxn modelId="{1DC6820D-E4EB-4E36-A5FE-37287044D0B9}" type="presParOf" srcId="{EB1AA62D-92BF-4B2F-B149-B54E8445D791}" destId="{2482E046-E71E-49D8-8096-12C3DB13CD23}" srcOrd="0" destOrd="0" presId="urn:microsoft.com/office/officeart/2005/8/layout/chevron2"/>
    <dgm:cxn modelId="{50F38FB3-E32E-4AD7-8A8D-85FF55800EDF}" type="presParOf" srcId="{EB1AA62D-92BF-4B2F-B149-B54E8445D791}" destId="{BF1D22C6-0319-47F4-84E2-81E81E1614B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52100C8-DE46-4AA0-81C6-255B835B5DC9}" type="doc">
      <dgm:prSet loTypeId="urn:microsoft.com/office/officeart/2005/8/layout/process3" loCatId="process" qsTypeId="urn:microsoft.com/office/officeart/2005/8/quickstyle/simple5#5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D76E9974-C6F8-40F5-8DC1-9292E56590B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Asynchronous FIFO</a:t>
          </a:r>
        </a:p>
      </dgm:t>
    </dgm:pt>
    <dgm:pt modelId="{CA0DF663-6B29-432F-A07C-23788B8F895F}" type="parTrans" cxnId="{8723C2CC-92E4-4B68-BF54-AE5FE44EABDD}">
      <dgm:prSet/>
      <dgm:spPr/>
      <dgm:t>
        <a:bodyPr/>
        <a:lstStyle/>
        <a:p>
          <a:endParaRPr lang="en-US"/>
        </a:p>
      </dgm:t>
    </dgm:pt>
    <dgm:pt modelId="{FA208C1A-281A-4345-BC7A-2F9CE7969FB0}" type="sibTrans" cxnId="{8723C2CC-92E4-4B68-BF54-AE5FE44EABDD}">
      <dgm:prSet/>
      <dgm:spPr/>
      <dgm:t>
        <a:bodyPr/>
        <a:lstStyle/>
        <a:p>
          <a:endParaRPr lang="en-US"/>
        </a:p>
      </dgm:t>
    </dgm:pt>
    <dgm:pt modelId="{CF5EAFF3-8806-4657-8B01-6DD15DF7330C}">
      <dgm:prSet custT="1"/>
      <dgm:spPr/>
      <dgm:t>
        <a:bodyPr/>
        <a:lstStyle/>
        <a:p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Safe multi-bit data transfer between </a:t>
          </a:r>
          <a:r>
            <a:rPr lang="en-US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37 MHz CXS domain → 25 MHz System domain</a:t>
          </a: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7C434D0A-C1C6-42FA-8E38-741442CE01B5}" type="parTrans" cxnId="{C8BB076D-9F58-402B-A9B4-5C6323AE3EF3}">
      <dgm:prSet/>
      <dgm:spPr/>
      <dgm:t>
        <a:bodyPr/>
        <a:lstStyle/>
        <a:p>
          <a:endParaRPr lang="en-US"/>
        </a:p>
      </dgm:t>
    </dgm:pt>
    <dgm:pt modelId="{D8E53934-5D54-4FAC-9BF4-E2F15E79EA3B}" type="sibTrans" cxnId="{C8BB076D-9F58-402B-A9B4-5C6323AE3EF3}">
      <dgm:prSet/>
      <dgm:spPr/>
      <dgm:t>
        <a:bodyPr/>
        <a:lstStyle/>
        <a:p>
          <a:endParaRPr lang="en-US"/>
        </a:p>
      </dgm:t>
    </dgm:pt>
    <dgm:pt modelId="{8E5BE796-364C-4E68-9C33-5D4441F7736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 Synchronizer</a:t>
          </a:r>
        </a:p>
      </dgm:t>
    </dgm:pt>
    <dgm:pt modelId="{58AF6691-646C-4BF0-8DFF-A6DA90AB43D9}" type="parTrans" cxnId="{EBCA6866-E28E-4385-B7A5-D976106EFB63}">
      <dgm:prSet/>
      <dgm:spPr/>
      <dgm:t>
        <a:bodyPr/>
        <a:lstStyle/>
        <a:p>
          <a:endParaRPr lang="en-US"/>
        </a:p>
      </dgm:t>
    </dgm:pt>
    <dgm:pt modelId="{2E4D6E7F-982E-461D-9DA4-3803D974B061}" type="sibTrans" cxnId="{EBCA6866-E28E-4385-B7A5-D976106EFB63}">
      <dgm:prSet/>
      <dgm:spPr/>
      <dgm:t>
        <a:bodyPr/>
        <a:lstStyle/>
        <a:p>
          <a:endParaRPr lang="en-US"/>
        </a:p>
      </dgm:t>
    </dgm:pt>
    <dgm:pt modelId="{3D7B6D96-9DAC-4CCF-8286-FF49A63AE6F4}">
      <dgm:prSet custT="1"/>
      <dgm:spPr/>
      <dgm:t>
        <a:bodyPr/>
        <a:lstStyle/>
        <a:p>
          <a:pPr>
            <a:buSzPct val="100000"/>
            <a:buFont typeface="Arial" panose="020B0604020202020204" pitchFamily="34" charset="0"/>
            <a:buChar char="•"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Transfers status information from </a:t>
          </a:r>
          <a:r>
            <a:rPr lang="en-US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System domain → CXS domain</a:t>
          </a: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13274551-4495-43C2-8E13-E720094EC858}" type="parTrans" cxnId="{5FCDF906-BECF-45EB-8162-54CA183C4022}">
      <dgm:prSet/>
      <dgm:spPr/>
      <dgm:t>
        <a:bodyPr/>
        <a:lstStyle/>
        <a:p>
          <a:endParaRPr lang="en-US"/>
        </a:p>
      </dgm:t>
    </dgm:pt>
    <dgm:pt modelId="{478B2097-5ED7-460D-94F1-F06571788A07}" type="sibTrans" cxnId="{5FCDF906-BECF-45EB-8162-54CA183C4022}">
      <dgm:prSet/>
      <dgm:spPr/>
      <dgm:t>
        <a:bodyPr/>
        <a:lstStyle/>
        <a:p>
          <a:endParaRPr lang="en-US"/>
        </a:p>
      </dgm:t>
    </dgm:pt>
    <dgm:pt modelId="{8677E879-343E-4D4F-975F-0C3D080E6C9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Reset Synchronizer</a:t>
          </a:r>
        </a:p>
      </dgm:t>
    </dgm:pt>
    <dgm:pt modelId="{DF6D0A11-4C38-4FB0-BC17-686B837DEDEA}" type="parTrans" cxnId="{ED2F1C0E-AEA3-4BC1-AD39-03FF2F4EB05F}">
      <dgm:prSet/>
      <dgm:spPr/>
      <dgm:t>
        <a:bodyPr/>
        <a:lstStyle/>
        <a:p>
          <a:endParaRPr lang="en-US"/>
        </a:p>
      </dgm:t>
    </dgm:pt>
    <dgm:pt modelId="{4F1BA0F3-38D0-4A29-B33F-6F91DDA76B22}" type="sibTrans" cxnId="{ED2F1C0E-AEA3-4BC1-AD39-03FF2F4EB05F}">
      <dgm:prSet/>
      <dgm:spPr/>
      <dgm:t>
        <a:bodyPr/>
        <a:lstStyle/>
        <a:p>
          <a:endParaRPr lang="en-US"/>
        </a:p>
      </dgm:t>
    </dgm:pt>
    <dgm:pt modelId="{AC7D8412-AE2E-4384-8580-87FE7DF75CF1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Separate reset synchronization for each clock domain.</a:t>
          </a:r>
        </a:p>
      </dgm:t>
    </dgm:pt>
    <dgm:pt modelId="{1349681E-6588-44B9-A75D-20D5889A4B1B}" type="parTrans" cxnId="{F5E57ABA-6504-4FF4-B829-47BB87208846}">
      <dgm:prSet/>
      <dgm:spPr/>
      <dgm:t>
        <a:bodyPr/>
        <a:lstStyle/>
        <a:p>
          <a:endParaRPr lang="en-US"/>
        </a:p>
      </dgm:t>
    </dgm:pt>
    <dgm:pt modelId="{AA79805A-4B44-4047-918C-B206CF2A2C1D}" type="sibTrans" cxnId="{F5E57ABA-6504-4FF4-B829-47BB87208846}">
      <dgm:prSet/>
      <dgm:spPr/>
      <dgm:t>
        <a:bodyPr/>
        <a:lstStyle/>
        <a:p>
          <a:endParaRPr lang="en-US"/>
        </a:p>
      </dgm:t>
    </dgm:pt>
    <dgm:pt modelId="{0BE5F91B-41E3-4FFF-81A3-E39DB4537FDE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Asynchronous reset assertion</a:t>
          </a:r>
        </a:p>
      </dgm:t>
    </dgm:pt>
    <dgm:pt modelId="{5E51E73B-3EFE-4201-B888-5D5FDF4B25E9}" type="parTrans" cxnId="{2540630B-6714-4AD9-8498-97A61BFB6C0C}">
      <dgm:prSet/>
      <dgm:spPr/>
      <dgm:t>
        <a:bodyPr/>
        <a:lstStyle/>
        <a:p>
          <a:endParaRPr lang="en-US"/>
        </a:p>
      </dgm:t>
    </dgm:pt>
    <dgm:pt modelId="{16222925-33BD-4DE7-BBD3-C4614A1AEC46}" type="sibTrans" cxnId="{2540630B-6714-4AD9-8498-97A61BFB6C0C}">
      <dgm:prSet/>
      <dgm:spPr/>
      <dgm:t>
        <a:bodyPr/>
        <a:lstStyle/>
        <a:p>
          <a:endParaRPr lang="en-US"/>
        </a:p>
      </dgm:t>
    </dgm:pt>
    <dgm:pt modelId="{50880755-5091-4AD2-A8D3-64EAB9152FF8}">
      <dgm:prSet custT="1"/>
      <dgm:spPr/>
      <dgm:t>
        <a:bodyPr/>
        <a:lstStyle/>
        <a:p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Rate matching and buffering</a:t>
          </a:r>
        </a:p>
      </dgm:t>
    </dgm:pt>
    <dgm:pt modelId="{23755F8D-E2F3-48D0-B86C-88A94028440B}" type="sibTrans" cxnId="{4C4C19F2-180A-4E90-91F8-A45A2CD2D889}">
      <dgm:prSet/>
      <dgm:spPr/>
      <dgm:t>
        <a:bodyPr/>
        <a:lstStyle/>
        <a:p>
          <a:endParaRPr lang="en-US"/>
        </a:p>
      </dgm:t>
    </dgm:pt>
    <dgm:pt modelId="{CCAFF2C8-3C01-4FFC-B7B8-5646CE37D1B2}" type="parTrans" cxnId="{4C4C19F2-180A-4E90-91F8-A45A2CD2D889}">
      <dgm:prSet/>
      <dgm:spPr/>
      <dgm:t>
        <a:bodyPr/>
        <a:lstStyle/>
        <a:p>
          <a:endParaRPr lang="en-US"/>
        </a:p>
      </dgm:t>
    </dgm:pt>
    <dgm:pt modelId="{3A2A51C6-4610-4C41-99E6-8E617126F043}">
      <dgm:prSet custT="1"/>
      <dgm:spPr/>
      <dgm:t>
        <a:bodyPr/>
        <a:lstStyle/>
        <a:p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Full/Empty status generation</a:t>
          </a:r>
        </a:p>
      </dgm:t>
    </dgm:pt>
    <dgm:pt modelId="{C69837C6-5D59-4F51-BF55-C9168BEC3F02}" type="sibTrans" cxnId="{1A6278E7-EEAE-49AA-85CE-F4A3F1961D4F}">
      <dgm:prSet/>
      <dgm:spPr/>
      <dgm:t>
        <a:bodyPr/>
        <a:lstStyle/>
        <a:p>
          <a:endParaRPr lang="en-US"/>
        </a:p>
      </dgm:t>
    </dgm:pt>
    <dgm:pt modelId="{5478249C-3F98-4411-9716-8B15D0A45A0D}" type="parTrans" cxnId="{1A6278E7-EEAE-49AA-85CE-F4A3F1961D4F}">
      <dgm:prSet/>
      <dgm:spPr/>
      <dgm:t>
        <a:bodyPr/>
        <a:lstStyle/>
        <a:p>
          <a:endParaRPr lang="en-US"/>
        </a:p>
      </dgm:t>
    </dgm:pt>
    <dgm:pt modelId="{8E3C9265-EA39-413D-BDA3-94BF5AB184DE}">
      <dgm:prSet custT="1"/>
      <dgm:spPr/>
      <dgm:t>
        <a:bodyPr/>
        <a:lstStyle/>
        <a:p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Prevention of data loss between different clock rates</a:t>
          </a:r>
        </a:p>
      </dgm:t>
    </dgm:pt>
    <dgm:pt modelId="{89B84D0B-EB47-4F53-BBD7-5A5E8B90D483}" type="sibTrans" cxnId="{A3A04720-6117-4162-A750-D8F594E02719}">
      <dgm:prSet/>
      <dgm:spPr/>
      <dgm:t>
        <a:bodyPr/>
        <a:lstStyle/>
        <a:p>
          <a:endParaRPr lang="en-US"/>
        </a:p>
      </dgm:t>
    </dgm:pt>
    <dgm:pt modelId="{95ED1A9E-A3F6-4DA3-9373-8DC466F279B6}" type="parTrans" cxnId="{A3A04720-6117-4162-A750-D8F594E02719}">
      <dgm:prSet/>
      <dgm:spPr/>
      <dgm:t>
        <a:bodyPr/>
        <a:lstStyle/>
        <a:p>
          <a:endParaRPr lang="en-US"/>
        </a:p>
      </dgm:t>
    </dgm:pt>
    <dgm:pt modelId="{4D80C65D-06EE-44F7-93DC-881436859C6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Uses a configurable multi-stage flip-flop synchronizer.</a:t>
          </a:r>
        </a:p>
      </dgm:t>
    </dgm:pt>
    <dgm:pt modelId="{3DB4B65B-DBA6-4D9D-9BC2-6FB9EB7C06DD}" type="parTrans" cxnId="{8E3809BA-B37C-489B-99FF-59DB3D73B909}">
      <dgm:prSet/>
      <dgm:spPr/>
      <dgm:t>
        <a:bodyPr/>
        <a:lstStyle/>
        <a:p>
          <a:endParaRPr lang="en-US"/>
        </a:p>
      </dgm:t>
    </dgm:pt>
    <dgm:pt modelId="{147E6983-BC71-419C-A7E2-585FCF7DB94E}" type="sibTrans" cxnId="{8E3809BA-B37C-489B-99FF-59DB3D73B909}">
      <dgm:prSet/>
      <dgm:spPr/>
      <dgm:t>
        <a:bodyPr/>
        <a:lstStyle/>
        <a:p>
          <a:endParaRPr lang="en-US"/>
        </a:p>
      </dgm:t>
    </dgm:pt>
    <dgm:pt modelId="{879D7B82-FDDC-4430-B83E-163F6210733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Synchronizes the enable/control signal.</a:t>
          </a:r>
        </a:p>
      </dgm:t>
    </dgm:pt>
    <dgm:pt modelId="{C9AE52EE-2877-49F9-9575-DF33EF87B9DA}" type="parTrans" cxnId="{4C149F5B-F835-46BA-A214-154311BD8B03}">
      <dgm:prSet/>
      <dgm:spPr/>
      <dgm:t>
        <a:bodyPr/>
        <a:lstStyle/>
        <a:p>
          <a:endParaRPr lang="en-US"/>
        </a:p>
      </dgm:t>
    </dgm:pt>
    <dgm:pt modelId="{766004B8-DE32-4533-9C41-58E7030BF68C}" type="sibTrans" cxnId="{4C149F5B-F835-46BA-A214-154311BD8B03}">
      <dgm:prSet/>
      <dgm:spPr/>
      <dgm:t>
        <a:bodyPr/>
        <a:lstStyle/>
        <a:p>
          <a:endParaRPr lang="en-US"/>
        </a:p>
      </dgm:t>
    </dgm:pt>
    <dgm:pt modelId="{3D4D0E94-A4D1-4A2C-94B7-02F400BB78D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248FBC-367C-4079-A23B-D466AE56EE42}" type="parTrans" cxnId="{91986C9B-BF32-4947-BFE0-0C3011E7BA12}">
      <dgm:prSet/>
      <dgm:spPr/>
      <dgm:t>
        <a:bodyPr/>
        <a:lstStyle/>
        <a:p>
          <a:endParaRPr lang="en-US"/>
        </a:p>
      </dgm:t>
    </dgm:pt>
    <dgm:pt modelId="{B8A48EA5-37D7-49D0-B6FD-8916E9CB58BB}" type="sibTrans" cxnId="{91986C9B-BF32-4947-BFE0-0C3011E7BA12}">
      <dgm:prSet/>
      <dgm:spPr/>
      <dgm:t>
        <a:bodyPr/>
        <a:lstStyle/>
        <a:p>
          <a:endParaRPr lang="en-US"/>
        </a:p>
      </dgm:t>
    </dgm:pt>
    <dgm:pt modelId="{B6D38544-448D-47FA-8561-A98FE204DAA9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Synchronous reset </a:t>
          </a:r>
          <a:r>
            <a:rPr lang="en-US" sz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deassertion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DCC399-C92E-4285-A49E-2ACA7E63D351}" type="parTrans" cxnId="{DA0F093D-975F-4B5B-9064-8AAC224DE0C9}">
      <dgm:prSet/>
      <dgm:spPr/>
      <dgm:t>
        <a:bodyPr/>
        <a:lstStyle/>
        <a:p>
          <a:endParaRPr lang="en-US"/>
        </a:p>
      </dgm:t>
    </dgm:pt>
    <dgm:pt modelId="{D5F5C418-FBEB-44E7-8160-CB9F816BB8B8}" type="sibTrans" cxnId="{DA0F093D-975F-4B5B-9064-8AAC224DE0C9}">
      <dgm:prSet/>
      <dgm:spPr/>
      <dgm:t>
        <a:bodyPr/>
        <a:lstStyle/>
        <a:p>
          <a:endParaRPr lang="en-US"/>
        </a:p>
      </dgm:t>
    </dgm:pt>
    <dgm:pt modelId="{54EA4E44-5E00-4520-B01F-801273F1DE65}" type="pres">
      <dgm:prSet presAssocID="{952100C8-DE46-4AA0-81C6-255B835B5DC9}" presName="linearFlow" presStyleCnt="0">
        <dgm:presLayoutVars>
          <dgm:dir/>
          <dgm:animLvl val="lvl"/>
          <dgm:resizeHandles val="exact"/>
        </dgm:presLayoutVars>
      </dgm:prSet>
      <dgm:spPr/>
    </dgm:pt>
    <dgm:pt modelId="{55E72F47-B327-46DB-A974-BEEC9EF00AB2}" type="pres">
      <dgm:prSet presAssocID="{D76E9974-C6F8-40F5-8DC1-9292E56590B2}" presName="composite" presStyleCnt="0"/>
      <dgm:spPr/>
    </dgm:pt>
    <dgm:pt modelId="{1103B58E-3C02-4A60-B1A4-734BF21BAC24}" type="pres">
      <dgm:prSet presAssocID="{D76E9974-C6F8-40F5-8DC1-9292E56590B2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51C8D6F-EFB3-4DC0-BD9B-BBFD2E18D5C6}" type="pres">
      <dgm:prSet presAssocID="{D76E9974-C6F8-40F5-8DC1-9292E56590B2}" presName="parSh" presStyleLbl="node1" presStyleIdx="0" presStyleCnt="3"/>
      <dgm:spPr/>
    </dgm:pt>
    <dgm:pt modelId="{009BC3D3-CC39-45A2-B77B-68ABB4094C99}" type="pres">
      <dgm:prSet presAssocID="{D76E9974-C6F8-40F5-8DC1-9292E56590B2}" presName="desTx" presStyleLbl="fgAcc1" presStyleIdx="0" presStyleCnt="3">
        <dgm:presLayoutVars>
          <dgm:bulletEnabled val="1"/>
        </dgm:presLayoutVars>
      </dgm:prSet>
      <dgm:spPr/>
    </dgm:pt>
    <dgm:pt modelId="{A5C863C1-3E94-47FB-98C6-34B197FA4C7A}" type="pres">
      <dgm:prSet presAssocID="{FA208C1A-281A-4345-BC7A-2F9CE7969FB0}" presName="sibTrans" presStyleLbl="sibTrans2D1" presStyleIdx="0" presStyleCnt="2"/>
      <dgm:spPr/>
    </dgm:pt>
    <dgm:pt modelId="{D5DBA31F-CDD4-4765-9F19-BCE9D3E49259}" type="pres">
      <dgm:prSet presAssocID="{FA208C1A-281A-4345-BC7A-2F9CE7969FB0}" presName="connTx" presStyleLbl="sibTrans2D1" presStyleIdx="0" presStyleCnt="2"/>
      <dgm:spPr/>
    </dgm:pt>
    <dgm:pt modelId="{BF79C3FA-6460-467D-A747-1C033C0DCDD4}" type="pres">
      <dgm:prSet presAssocID="{8E5BE796-364C-4E68-9C33-5D4441F77362}" presName="composite" presStyleCnt="0"/>
      <dgm:spPr/>
    </dgm:pt>
    <dgm:pt modelId="{A89BD499-F8CE-4F5A-9BE3-FC8ADA2EBA4B}" type="pres">
      <dgm:prSet presAssocID="{8E5BE796-364C-4E68-9C33-5D4441F77362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083402C0-C91A-4AB2-BE0D-2DA7FD13F750}" type="pres">
      <dgm:prSet presAssocID="{8E5BE796-364C-4E68-9C33-5D4441F77362}" presName="parSh" presStyleLbl="node1" presStyleIdx="1" presStyleCnt="3"/>
      <dgm:spPr/>
    </dgm:pt>
    <dgm:pt modelId="{42BB05AA-495E-490B-A415-AA34521D721D}" type="pres">
      <dgm:prSet presAssocID="{8E5BE796-364C-4E68-9C33-5D4441F77362}" presName="desTx" presStyleLbl="fgAcc1" presStyleIdx="1" presStyleCnt="3">
        <dgm:presLayoutVars>
          <dgm:bulletEnabled val="1"/>
        </dgm:presLayoutVars>
      </dgm:prSet>
      <dgm:spPr/>
    </dgm:pt>
    <dgm:pt modelId="{42ED7FFA-AA35-4ED7-90B2-CD0562E75404}" type="pres">
      <dgm:prSet presAssocID="{2E4D6E7F-982E-461D-9DA4-3803D974B061}" presName="sibTrans" presStyleLbl="sibTrans2D1" presStyleIdx="1" presStyleCnt="2"/>
      <dgm:spPr/>
    </dgm:pt>
    <dgm:pt modelId="{07BED6A5-F201-4454-AFB6-EAD75CADA513}" type="pres">
      <dgm:prSet presAssocID="{2E4D6E7F-982E-461D-9DA4-3803D974B061}" presName="connTx" presStyleLbl="sibTrans2D1" presStyleIdx="1" presStyleCnt="2"/>
      <dgm:spPr/>
    </dgm:pt>
    <dgm:pt modelId="{6501B85B-9703-458D-9AEE-413B1DE20EE0}" type="pres">
      <dgm:prSet presAssocID="{8677E879-343E-4D4F-975F-0C3D080E6C94}" presName="composite" presStyleCnt="0"/>
      <dgm:spPr/>
    </dgm:pt>
    <dgm:pt modelId="{C0DCEFD8-C425-46DF-8138-AC3D98477B74}" type="pres">
      <dgm:prSet presAssocID="{8677E879-343E-4D4F-975F-0C3D080E6C94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87703A5A-DC03-49DD-A097-746ECB3FE60D}" type="pres">
      <dgm:prSet presAssocID="{8677E879-343E-4D4F-975F-0C3D080E6C94}" presName="parSh" presStyleLbl="node1" presStyleIdx="2" presStyleCnt="3"/>
      <dgm:spPr/>
    </dgm:pt>
    <dgm:pt modelId="{D08BA6F5-4B30-4583-A486-69CD12F029DC}" type="pres">
      <dgm:prSet presAssocID="{8677E879-343E-4D4F-975F-0C3D080E6C94}" presName="desTx" presStyleLbl="fgAcc1" presStyleIdx="2" presStyleCnt="3">
        <dgm:presLayoutVars>
          <dgm:bulletEnabled val="1"/>
        </dgm:presLayoutVars>
      </dgm:prSet>
      <dgm:spPr/>
    </dgm:pt>
  </dgm:ptLst>
  <dgm:cxnLst>
    <dgm:cxn modelId="{8C10A503-6B22-4774-B3F0-6D18B74AF97C}" type="presOf" srcId="{879D7B82-FDDC-4430-B83E-163F6210733A}" destId="{42BB05AA-495E-490B-A415-AA34521D721D}" srcOrd="0" destOrd="2" presId="urn:microsoft.com/office/officeart/2005/8/layout/process3"/>
    <dgm:cxn modelId="{5FCDF906-BECF-45EB-8162-54CA183C4022}" srcId="{8E5BE796-364C-4E68-9C33-5D4441F77362}" destId="{3D7B6D96-9DAC-4CCF-8286-FF49A63AE6F4}" srcOrd="0" destOrd="0" parTransId="{13274551-4495-43C2-8E13-E720094EC858}" sibTransId="{478B2097-5ED7-460D-94F1-F06571788A07}"/>
    <dgm:cxn modelId="{2540630B-6714-4AD9-8498-97A61BFB6C0C}" srcId="{8677E879-343E-4D4F-975F-0C3D080E6C94}" destId="{0BE5F91B-41E3-4FFF-81A3-E39DB4537FDE}" srcOrd="1" destOrd="0" parTransId="{5E51E73B-3EFE-4201-B888-5D5FDF4B25E9}" sibTransId="{16222925-33BD-4DE7-BBD3-C4614A1AEC46}"/>
    <dgm:cxn modelId="{ED2F1C0E-AEA3-4BC1-AD39-03FF2F4EB05F}" srcId="{952100C8-DE46-4AA0-81C6-255B835B5DC9}" destId="{8677E879-343E-4D4F-975F-0C3D080E6C94}" srcOrd="2" destOrd="0" parTransId="{DF6D0A11-4C38-4FB0-BC17-686B837DEDEA}" sibTransId="{4F1BA0F3-38D0-4A29-B33F-6F91DDA76B22}"/>
    <dgm:cxn modelId="{C16D5113-9F02-4BF3-9642-3E0E35CAB526}" type="presOf" srcId="{FA208C1A-281A-4345-BC7A-2F9CE7969FB0}" destId="{A5C863C1-3E94-47FB-98C6-34B197FA4C7A}" srcOrd="0" destOrd="0" presId="urn:microsoft.com/office/officeart/2005/8/layout/process3"/>
    <dgm:cxn modelId="{88877C18-C0BA-48E9-824D-5DBBD8F3369C}" type="presOf" srcId="{FA208C1A-281A-4345-BC7A-2F9CE7969FB0}" destId="{D5DBA31F-CDD4-4765-9F19-BCE9D3E49259}" srcOrd="1" destOrd="0" presId="urn:microsoft.com/office/officeart/2005/8/layout/process3"/>
    <dgm:cxn modelId="{D0C61E1A-6232-40CB-96B8-5F0EA6608568}" type="presOf" srcId="{3A2A51C6-4610-4C41-99E6-8E617126F043}" destId="{009BC3D3-CC39-45A2-B77B-68ABB4094C99}" srcOrd="0" destOrd="2" presId="urn:microsoft.com/office/officeart/2005/8/layout/process3"/>
    <dgm:cxn modelId="{63A21F1D-95BF-4068-AFBA-D9A2EFFAD8CE}" type="presOf" srcId="{952100C8-DE46-4AA0-81C6-255B835B5DC9}" destId="{54EA4E44-5E00-4520-B01F-801273F1DE65}" srcOrd="0" destOrd="0" presId="urn:microsoft.com/office/officeart/2005/8/layout/process3"/>
    <dgm:cxn modelId="{A3A04720-6117-4162-A750-D8F594E02719}" srcId="{D76E9974-C6F8-40F5-8DC1-9292E56590B2}" destId="{8E3C9265-EA39-413D-BDA3-94BF5AB184DE}" srcOrd="3" destOrd="0" parTransId="{95ED1A9E-A3F6-4DA3-9373-8DC466F279B6}" sibTransId="{89B84D0B-EB47-4F53-BBD7-5A5E8B90D483}"/>
    <dgm:cxn modelId="{9C53F728-8DEB-4B6D-BBA5-41CE7CD3B34E}" type="presOf" srcId="{AC7D8412-AE2E-4384-8580-87FE7DF75CF1}" destId="{D08BA6F5-4B30-4583-A486-69CD12F029DC}" srcOrd="0" destOrd="0" presId="urn:microsoft.com/office/officeart/2005/8/layout/process3"/>
    <dgm:cxn modelId="{49333834-E930-4241-8322-8936FB21A92E}" type="presOf" srcId="{2E4D6E7F-982E-461D-9DA4-3803D974B061}" destId="{07BED6A5-F201-4454-AFB6-EAD75CADA513}" srcOrd="1" destOrd="0" presId="urn:microsoft.com/office/officeart/2005/8/layout/process3"/>
    <dgm:cxn modelId="{2B7A3D36-9EC1-4C75-B531-D65EABC18CB7}" type="presOf" srcId="{8E5BE796-364C-4E68-9C33-5D4441F77362}" destId="{A89BD499-F8CE-4F5A-9BE3-FC8ADA2EBA4B}" srcOrd="0" destOrd="0" presId="urn:microsoft.com/office/officeart/2005/8/layout/process3"/>
    <dgm:cxn modelId="{35BA3837-CB85-434A-A357-E3E786E1B0AD}" type="presOf" srcId="{3D4D0E94-A4D1-4A2C-94B7-02F400BB78D9}" destId="{42BB05AA-495E-490B-A415-AA34521D721D}" srcOrd="0" destOrd="3" presId="urn:microsoft.com/office/officeart/2005/8/layout/process3"/>
    <dgm:cxn modelId="{FD39A738-0F0C-4CB2-9BEF-C9AE5F256CDC}" type="presOf" srcId="{D76E9974-C6F8-40F5-8DC1-9292E56590B2}" destId="{E51C8D6F-EFB3-4DC0-BD9B-BBFD2E18D5C6}" srcOrd="1" destOrd="0" presId="urn:microsoft.com/office/officeart/2005/8/layout/process3"/>
    <dgm:cxn modelId="{2291843A-3205-4E34-B638-AAB52580E0F1}" type="presOf" srcId="{8677E879-343E-4D4F-975F-0C3D080E6C94}" destId="{87703A5A-DC03-49DD-A097-746ECB3FE60D}" srcOrd="1" destOrd="0" presId="urn:microsoft.com/office/officeart/2005/8/layout/process3"/>
    <dgm:cxn modelId="{DA0F093D-975F-4B5B-9064-8AAC224DE0C9}" srcId="{8677E879-343E-4D4F-975F-0C3D080E6C94}" destId="{B6D38544-448D-47FA-8561-A98FE204DAA9}" srcOrd="2" destOrd="0" parTransId="{91DCC399-C92E-4285-A49E-2ACA7E63D351}" sibTransId="{D5F5C418-FBEB-44E7-8160-CB9F816BB8B8}"/>
    <dgm:cxn modelId="{4C149F5B-F835-46BA-A214-154311BD8B03}" srcId="{8E5BE796-364C-4E68-9C33-5D4441F77362}" destId="{879D7B82-FDDC-4430-B83E-163F6210733A}" srcOrd="2" destOrd="0" parTransId="{C9AE52EE-2877-49F9-9575-DF33EF87B9DA}" sibTransId="{766004B8-DE32-4533-9C41-58E7030BF68C}"/>
    <dgm:cxn modelId="{5650435C-9B59-4E7B-944F-C78A52E97770}" type="presOf" srcId="{50880755-5091-4AD2-A8D3-64EAB9152FF8}" destId="{009BC3D3-CC39-45A2-B77B-68ABB4094C99}" srcOrd="0" destOrd="1" presId="urn:microsoft.com/office/officeart/2005/8/layout/process3"/>
    <dgm:cxn modelId="{94464B41-1EFF-445F-9E5A-A8BC79F10BFD}" type="presOf" srcId="{CF5EAFF3-8806-4657-8B01-6DD15DF7330C}" destId="{009BC3D3-CC39-45A2-B77B-68ABB4094C99}" srcOrd="0" destOrd="0" presId="urn:microsoft.com/office/officeart/2005/8/layout/process3"/>
    <dgm:cxn modelId="{8AABC063-4E46-4414-9F1A-83C345EDFEDF}" type="presOf" srcId="{2E4D6E7F-982E-461D-9DA4-3803D974B061}" destId="{42ED7FFA-AA35-4ED7-90B2-CD0562E75404}" srcOrd="0" destOrd="0" presId="urn:microsoft.com/office/officeart/2005/8/layout/process3"/>
    <dgm:cxn modelId="{EBCA6866-E28E-4385-B7A5-D976106EFB63}" srcId="{952100C8-DE46-4AA0-81C6-255B835B5DC9}" destId="{8E5BE796-364C-4E68-9C33-5D4441F77362}" srcOrd="1" destOrd="0" parTransId="{58AF6691-646C-4BF0-8DFF-A6DA90AB43D9}" sibTransId="{2E4D6E7F-982E-461D-9DA4-3803D974B061}"/>
    <dgm:cxn modelId="{C8BB076D-9F58-402B-A9B4-5C6323AE3EF3}" srcId="{D76E9974-C6F8-40F5-8DC1-9292E56590B2}" destId="{CF5EAFF3-8806-4657-8B01-6DD15DF7330C}" srcOrd="0" destOrd="0" parTransId="{7C434D0A-C1C6-42FA-8E38-741442CE01B5}" sibTransId="{D8E53934-5D54-4FAC-9BF4-E2F15E79EA3B}"/>
    <dgm:cxn modelId="{494E7A7C-A841-4C5E-A180-DF0A05CE3757}" type="presOf" srcId="{8677E879-343E-4D4F-975F-0C3D080E6C94}" destId="{C0DCEFD8-C425-46DF-8138-AC3D98477B74}" srcOrd="0" destOrd="0" presId="urn:microsoft.com/office/officeart/2005/8/layout/process3"/>
    <dgm:cxn modelId="{42A8977F-4407-4563-954E-6674EC76B1EA}" type="presOf" srcId="{8E5BE796-364C-4E68-9C33-5D4441F77362}" destId="{083402C0-C91A-4AB2-BE0D-2DA7FD13F750}" srcOrd="1" destOrd="0" presId="urn:microsoft.com/office/officeart/2005/8/layout/process3"/>
    <dgm:cxn modelId="{55EC1D82-88AA-4DAE-B3D3-C1DDF075FA7B}" type="presOf" srcId="{8E3C9265-EA39-413D-BDA3-94BF5AB184DE}" destId="{009BC3D3-CC39-45A2-B77B-68ABB4094C99}" srcOrd="0" destOrd="3" presId="urn:microsoft.com/office/officeart/2005/8/layout/process3"/>
    <dgm:cxn modelId="{1289EB8B-37A9-45AB-B849-A8A18C05EC5B}" type="presOf" srcId="{3D7B6D96-9DAC-4CCF-8286-FF49A63AE6F4}" destId="{42BB05AA-495E-490B-A415-AA34521D721D}" srcOrd="0" destOrd="0" presId="urn:microsoft.com/office/officeart/2005/8/layout/process3"/>
    <dgm:cxn modelId="{DD7D6291-D1D1-44D6-8C83-3815DF34B9A1}" type="presOf" srcId="{D76E9974-C6F8-40F5-8DC1-9292E56590B2}" destId="{1103B58E-3C02-4A60-B1A4-734BF21BAC24}" srcOrd="0" destOrd="0" presId="urn:microsoft.com/office/officeart/2005/8/layout/process3"/>
    <dgm:cxn modelId="{91986C9B-BF32-4947-BFE0-0C3011E7BA12}" srcId="{8E5BE796-364C-4E68-9C33-5D4441F77362}" destId="{3D4D0E94-A4D1-4A2C-94B7-02F400BB78D9}" srcOrd="3" destOrd="0" parTransId="{35248FBC-367C-4079-A23B-D466AE56EE42}" sibTransId="{B8A48EA5-37D7-49D0-B6FD-8916E9CB58BB}"/>
    <dgm:cxn modelId="{8E3809BA-B37C-489B-99FF-59DB3D73B909}" srcId="{8E5BE796-364C-4E68-9C33-5D4441F77362}" destId="{4D80C65D-06EE-44F7-93DC-881436859C63}" srcOrd="1" destOrd="0" parTransId="{3DB4B65B-DBA6-4D9D-9BC2-6FB9EB7C06DD}" sibTransId="{147E6983-BC71-419C-A7E2-585FCF7DB94E}"/>
    <dgm:cxn modelId="{F5E57ABA-6504-4FF4-B829-47BB87208846}" srcId="{8677E879-343E-4D4F-975F-0C3D080E6C94}" destId="{AC7D8412-AE2E-4384-8580-87FE7DF75CF1}" srcOrd="0" destOrd="0" parTransId="{1349681E-6588-44B9-A75D-20D5889A4B1B}" sibTransId="{AA79805A-4B44-4047-918C-B206CF2A2C1D}"/>
    <dgm:cxn modelId="{8723C2CC-92E4-4B68-BF54-AE5FE44EABDD}" srcId="{952100C8-DE46-4AA0-81C6-255B835B5DC9}" destId="{D76E9974-C6F8-40F5-8DC1-9292E56590B2}" srcOrd="0" destOrd="0" parTransId="{CA0DF663-6B29-432F-A07C-23788B8F895F}" sibTransId="{FA208C1A-281A-4345-BC7A-2F9CE7969FB0}"/>
    <dgm:cxn modelId="{92CAE0D1-65E5-4EB5-9BA4-391D95E3F87E}" type="presOf" srcId="{B6D38544-448D-47FA-8561-A98FE204DAA9}" destId="{D08BA6F5-4B30-4583-A486-69CD12F029DC}" srcOrd="0" destOrd="2" presId="urn:microsoft.com/office/officeart/2005/8/layout/process3"/>
    <dgm:cxn modelId="{FA985EE4-767F-4DA1-889F-F5098B0B561A}" type="presOf" srcId="{0BE5F91B-41E3-4FFF-81A3-E39DB4537FDE}" destId="{D08BA6F5-4B30-4583-A486-69CD12F029DC}" srcOrd="0" destOrd="1" presId="urn:microsoft.com/office/officeart/2005/8/layout/process3"/>
    <dgm:cxn modelId="{A90256E6-BDE4-4A63-B95F-6CF81F8C2B5B}" type="presOf" srcId="{4D80C65D-06EE-44F7-93DC-881436859C63}" destId="{42BB05AA-495E-490B-A415-AA34521D721D}" srcOrd="0" destOrd="1" presId="urn:microsoft.com/office/officeart/2005/8/layout/process3"/>
    <dgm:cxn modelId="{1A6278E7-EEAE-49AA-85CE-F4A3F1961D4F}" srcId="{D76E9974-C6F8-40F5-8DC1-9292E56590B2}" destId="{3A2A51C6-4610-4C41-99E6-8E617126F043}" srcOrd="2" destOrd="0" parTransId="{5478249C-3F98-4411-9716-8B15D0A45A0D}" sibTransId="{C69837C6-5D59-4F51-BF55-C9168BEC3F02}"/>
    <dgm:cxn modelId="{4C4C19F2-180A-4E90-91F8-A45A2CD2D889}" srcId="{D76E9974-C6F8-40F5-8DC1-9292E56590B2}" destId="{50880755-5091-4AD2-A8D3-64EAB9152FF8}" srcOrd="1" destOrd="0" parTransId="{CCAFF2C8-3C01-4FFC-B7B8-5646CE37D1B2}" sibTransId="{23755F8D-E2F3-48D0-B86C-88A94028440B}"/>
    <dgm:cxn modelId="{9D601E6C-AF9D-4638-9A00-857D17283502}" type="presParOf" srcId="{54EA4E44-5E00-4520-B01F-801273F1DE65}" destId="{55E72F47-B327-46DB-A974-BEEC9EF00AB2}" srcOrd="0" destOrd="0" presId="urn:microsoft.com/office/officeart/2005/8/layout/process3"/>
    <dgm:cxn modelId="{33AF1A85-815C-45DD-9FAD-03A548589E3D}" type="presParOf" srcId="{55E72F47-B327-46DB-A974-BEEC9EF00AB2}" destId="{1103B58E-3C02-4A60-B1A4-734BF21BAC24}" srcOrd="0" destOrd="0" presId="urn:microsoft.com/office/officeart/2005/8/layout/process3"/>
    <dgm:cxn modelId="{915DD44E-725B-4CD9-A320-F50D5C078DA3}" type="presParOf" srcId="{55E72F47-B327-46DB-A974-BEEC9EF00AB2}" destId="{E51C8D6F-EFB3-4DC0-BD9B-BBFD2E18D5C6}" srcOrd="1" destOrd="0" presId="urn:microsoft.com/office/officeart/2005/8/layout/process3"/>
    <dgm:cxn modelId="{245232D7-700C-4F27-9BF6-3824027D1FEC}" type="presParOf" srcId="{55E72F47-B327-46DB-A974-BEEC9EF00AB2}" destId="{009BC3D3-CC39-45A2-B77B-68ABB4094C99}" srcOrd="2" destOrd="0" presId="urn:microsoft.com/office/officeart/2005/8/layout/process3"/>
    <dgm:cxn modelId="{0A75FAE9-9EDA-4759-B720-0FD3C8507D01}" type="presParOf" srcId="{54EA4E44-5E00-4520-B01F-801273F1DE65}" destId="{A5C863C1-3E94-47FB-98C6-34B197FA4C7A}" srcOrd="1" destOrd="0" presId="urn:microsoft.com/office/officeart/2005/8/layout/process3"/>
    <dgm:cxn modelId="{7F80052A-A5F6-4372-A4B4-AFD532CD6899}" type="presParOf" srcId="{A5C863C1-3E94-47FB-98C6-34B197FA4C7A}" destId="{D5DBA31F-CDD4-4765-9F19-BCE9D3E49259}" srcOrd="0" destOrd="0" presId="urn:microsoft.com/office/officeart/2005/8/layout/process3"/>
    <dgm:cxn modelId="{C83EFFAA-94D7-42BB-A51B-D2ECC2F41F5C}" type="presParOf" srcId="{54EA4E44-5E00-4520-B01F-801273F1DE65}" destId="{BF79C3FA-6460-467D-A747-1C033C0DCDD4}" srcOrd="2" destOrd="0" presId="urn:microsoft.com/office/officeart/2005/8/layout/process3"/>
    <dgm:cxn modelId="{9FE8CF35-FA95-4DBC-85E2-0A65353C9CD2}" type="presParOf" srcId="{BF79C3FA-6460-467D-A747-1C033C0DCDD4}" destId="{A89BD499-F8CE-4F5A-9BE3-FC8ADA2EBA4B}" srcOrd="0" destOrd="0" presId="urn:microsoft.com/office/officeart/2005/8/layout/process3"/>
    <dgm:cxn modelId="{B5A8F370-AD84-400D-88DA-592ECC24B9F7}" type="presParOf" srcId="{BF79C3FA-6460-467D-A747-1C033C0DCDD4}" destId="{083402C0-C91A-4AB2-BE0D-2DA7FD13F750}" srcOrd="1" destOrd="0" presId="urn:microsoft.com/office/officeart/2005/8/layout/process3"/>
    <dgm:cxn modelId="{61841CE2-C433-4C12-AE23-A2FF1EE76640}" type="presParOf" srcId="{BF79C3FA-6460-467D-A747-1C033C0DCDD4}" destId="{42BB05AA-495E-490B-A415-AA34521D721D}" srcOrd="2" destOrd="0" presId="urn:microsoft.com/office/officeart/2005/8/layout/process3"/>
    <dgm:cxn modelId="{AC48AB9E-8F85-429D-AA32-595E249E6EF3}" type="presParOf" srcId="{54EA4E44-5E00-4520-B01F-801273F1DE65}" destId="{42ED7FFA-AA35-4ED7-90B2-CD0562E75404}" srcOrd="3" destOrd="0" presId="urn:microsoft.com/office/officeart/2005/8/layout/process3"/>
    <dgm:cxn modelId="{FBAE82EA-CBDC-4604-88BA-200EC2A6D838}" type="presParOf" srcId="{42ED7FFA-AA35-4ED7-90B2-CD0562E75404}" destId="{07BED6A5-F201-4454-AFB6-EAD75CADA513}" srcOrd="0" destOrd="0" presId="urn:microsoft.com/office/officeart/2005/8/layout/process3"/>
    <dgm:cxn modelId="{BDB8979B-A8B5-4BC1-97DC-1AB1D5EDCDD3}" type="presParOf" srcId="{54EA4E44-5E00-4520-B01F-801273F1DE65}" destId="{6501B85B-9703-458D-9AEE-413B1DE20EE0}" srcOrd="4" destOrd="0" presId="urn:microsoft.com/office/officeart/2005/8/layout/process3"/>
    <dgm:cxn modelId="{199E8DE2-50FC-4901-A985-B2B938029687}" type="presParOf" srcId="{6501B85B-9703-458D-9AEE-413B1DE20EE0}" destId="{C0DCEFD8-C425-46DF-8138-AC3D98477B74}" srcOrd="0" destOrd="0" presId="urn:microsoft.com/office/officeart/2005/8/layout/process3"/>
    <dgm:cxn modelId="{D14C9597-F001-4DD4-BFE0-6C6BEAF52328}" type="presParOf" srcId="{6501B85B-9703-458D-9AEE-413B1DE20EE0}" destId="{87703A5A-DC03-49DD-A097-746ECB3FE60D}" srcOrd="1" destOrd="0" presId="urn:microsoft.com/office/officeart/2005/8/layout/process3"/>
    <dgm:cxn modelId="{58CAE820-B497-432A-8D37-C500A97B0A23}" type="presParOf" srcId="{6501B85B-9703-458D-9AEE-413B1DE20EE0}" destId="{D08BA6F5-4B30-4583-A486-69CD12F029DC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A14C725-258B-4030-B292-9300D40AD7AF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D23FE703-604B-4925-AA13-B3CF14EF17D3}">
      <dgm:prSet custT="1"/>
      <dgm:spPr/>
      <dgm:t>
        <a:bodyPr/>
        <a:lstStyle/>
        <a:p>
          <a:pPr>
            <a:buNone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CDC / Asynchronous FIFO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70B5CB-7960-41A7-BEAA-0259AB17196B}" type="parTrans" cxnId="{2BA76263-16BB-4DC9-AA7C-E04A7972B8F2}">
      <dgm:prSet/>
      <dgm:spPr/>
      <dgm:t>
        <a:bodyPr/>
        <a:lstStyle/>
        <a:p>
          <a:endParaRPr lang="en-US"/>
        </a:p>
      </dgm:t>
    </dgm:pt>
    <dgm:pt modelId="{49280FC6-FCA5-44E8-A614-DFA1CB213B72}" type="sibTrans" cxnId="{2BA76263-16BB-4DC9-AA7C-E04A7972B8F2}">
      <dgm:prSet/>
      <dgm:spPr/>
      <dgm:t>
        <a:bodyPr/>
        <a:lstStyle/>
        <a:p>
          <a:endParaRPr lang="en-US"/>
        </a:p>
      </dgm:t>
    </dgm:pt>
    <dgm:pt modelId="{A09A79CA-7A59-4E54-B2E9-3EDACEEC63FD}">
      <dgm:prSet custT="1"/>
      <dgm:spPr/>
      <dgm:t>
        <a:bodyPr/>
        <a:lstStyle/>
        <a:p>
          <a:pPr>
            <a:buNone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Control Unit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3FCF26-B661-4351-B302-44535D8C909B}" type="parTrans" cxnId="{47B58D5C-CECF-422D-930F-74A9ED32AB52}">
      <dgm:prSet/>
      <dgm:spPr/>
      <dgm:t>
        <a:bodyPr/>
        <a:lstStyle/>
        <a:p>
          <a:endParaRPr lang="en-US"/>
        </a:p>
      </dgm:t>
    </dgm:pt>
    <dgm:pt modelId="{6072AA47-03F7-449F-AD5E-9F765E104A8E}" type="sibTrans" cxnId="{47B58D5C-CECF-422D-930F-74A9ED32AB52}">
      <dgm:prSet/>
      <dgm:spPr/>
      <dgm:t>
        <a:bodyPr/>
        <a:lstStyle/>
        <a:p>
          <a:endParaRPr lang="en-US"/>
        </a:p>
      </dgm:t>
    </dgm:pt>
    <dgm:pt modelId="{2BBAA2C4-C8A7-42AB-9FFF-D52D0DA7C97E}">
      <dgm:prSet custT="1"/>
      <dgm:spPr/>
      <dgm:t>
        <a:bodyPr/>
        <a:lstStyle/>
        <a:p>
          <a:pPr>
            <a:buNone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ATU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CF0F31-9E83-4088-A52F-69A717EBCF83}" type="parTrans" cxnId="{F41D06E4-51D7-4916-84CD-B73347BADD02}">
      <dgm:prSet/>
      <dgm:spPr/>
      <dgm:t>
        <a:bodyPr/>
        <a:lstStyle/>
        <a:p>
          <a:endParaRPr lang="en-US"/>
        </a:p>
      </dgm:t>
    </dgm:pt>
    <dgm:pt modelId="{20A86531-7F30-41C1-9808-BCFB71F4E74C}" type="sibTrans" cxnId="{F41D06E4-51D7-4916-84CD-B73347BADD02}">
      <dgm:prSet/>
      <dgm:spPr/>
      <dgm:t>
        <a:bodyPr/>
        <a:lstStyle/>
        <a:p>
          <a:endParaRPr lang="en-US"/>
        </a:p>
      </dgm:t>
    </dgm:pt>
    <dgm:pt modelId="{CEF06755-0B9A-4700-9657-D0AFDA22953B}">
      <dgm:prSet custT="1"/>
      <dgm:spPr/>
      <dgm:t>
        <a:bodyPr/>
        <a:lstStyle/>
        <a:p>
          <a:pPr>
            <a:buNone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CXS RX Interface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C1A8D6-0017-480B-9C3A-719C3FECCBA7}" type="parTrans" cxnId="{F0E3652C-D76A-402F-B624-C52ED22A6B1B}">
      <dgm:prSet/>
      <dgm:spPr/>
      <dgm:t>
        <a:bodyPr/>
        <a:lstStyle/>
        <a:p>
          <a:endParaRPr lang="en-US"/>
        </a:p>
      </dgm:t>
    </dgm:pt>
    <dgm:pt modelId="{80A42439-3F80-4D5B-9161-1A1E21C4627E}" type="sibTrans" cxnId="{F0E3652C-D76A-402F-B624-C52ED22A6B1B}">
      <dgm:prSet/>
      <dgm:spPr/>
      <dgm:t>
        <a:bodyPr/>
        <a:lstStyle/>
        <a:p>
          <a:endParaRPr lang="en-US"/>
        </a:p>
      </dgm:t>
    </dgm:pt>
    <dgm:pt modelId="{21E470E7-09E8-46F1-9FD1-29131FDF5405}">
      <dgm:prSet custT="1"/>
      <dgm:spPr/>
      <dgm:t>
        <a:bodyPr/>
        <a:lstStyle/>
        <a:p>
          <a:pPr>
            <a:buNone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Encryption + Parity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E1DC3D-F1F7-47AE-A825-1296B963A32D}" type="parTrans" cxnId="{426AE2B7-38A6-4C4A-BC0B-E737B3E181B2}">
      <dgm:prSet/>
      <dgm:spPr/>
      <dgm:t>
        <a:bodyPr/>
        <a:lstStyle/>
        <a:p>
          <a:endParaRPr lang="en-US"/>
        </a:p>
      </dgm:t>
    </dgm:pt>
    <dgm:pt modelId="{0ACC0D43-758E-422D-8A03-8DB75666B1A0}" type="sibTrans" cxnId="{426AE2B7-38A6-4C4A-BC0B-E737B3E181B2}">
      <dgm:prSet/>
      <dgm:spPr/>
      <dgm:t>
        <a:bodyPr/>
        <a:lstStyle/>
        <a:p>
          <a:endParaRPr lang="en-US"/>
        </a:p>
      </dgm:t>
    </dgm:pt>
    <dgm:pt modelId="{5A2D20CF-5E7A-4D31-8407-4CF7CCB53DE6}">
      <dgm:prSet custT="1"/>
      <dgm:spPr/>
      <dgm:t>
        <a:bodyPr/>
        <a:lstStyle/>
        <a:p>
          <a:pPr>
            <a:buNone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Central Data Memory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FA05FD-707D-494E-9E26-20F1DEE7D2EF}" type="parTrans" cxnId="{3EF2E8CF-31CF-40D5-9BF7-2068DCE9492A}">
      <dgm:prSet/>
      <dgm:spPr/>
      <dgm:t>
        <a:bodyPr/>
        <a:lstStyle/>
        <a:p>
          <a:endParaRPr lang="en-US"/>
        </a:p>
      </dgm:t>
    </dgm:pt>
    <dgm:pt modelId="{B47522DE-76A3-4F62-A111-4F0D27750897}" type="sibTrans" cxnId="{3EF2E8CF-31CF-40D5-9BF7-2068DCE9492A}">
      <dgm:prSet/>
      <dgm:spPr/>
      <dgm:t>
        <a:bodyPr/>
        <a:lstStyle/>
        <a:p>
          <a:endParaRPr lang="en-US"/>
        </a:p>
      </dgm:t>
    </dgm:pt>
    <dgm:pt modelId="{610ADA6E-B21A-41E2-A0C5-7468C21A2B64}">
      <dgm:prSet custT="1"/>
      <dgm:spPr/>
      <dgm:t>
        <a:bodyPr/>
        <a:lstStyle/>
        <a:p>
          <a:pPr>
            <a:buNone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Application Interface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79C5C3-F99B-4745-8815-D24787966684}" type="parTrans" cxnId="{AE21DF34-2F4A-430D-92FC-26E6902F03A8}">
      <dgm:prSet/>
      <dgm:spPr/>
      <dgm:t>
        <a:bodyPr/>
        <a:lstStyle/>
        <a:p>
          <a:endParaRPr lang="en-US"/>
        </a:p>
      </dgm:t>
    </dgm:pt>
    <dgm:pt modelId="{768F070B-D48E-4B31-BEFE-ACC03F80FB32}" type="sibTrans" cxnId="{AE21DF34-2F4A-430D-92FC-26E6902F03A8}">
      <dgm:prSet/>
      <dgm:spPr/>
      <dgm:t>
        <a:bodyPr/>
        <a:lstStyle/>
        <a:p>
          <a:endParaRPr lang="en-US"/>
        </a:p>
      </dgm:t>
    </dgm:pt>
    <dgm:pt modelId="{0D039CCC-E8F8-4D63-8136-76F645254D9F}">
      <dgm:prSet custT="1"/>
      <dgm:spPr/>
      <dgm:t>
        <a:bodyPr/>
        <a:lstStyle/>
        <a:p>
          <a:pPr>
            <a:buNone/>
          </a:pPr>
          <a:r>
            <a:rPr lang="en-US" sz="1100" b="1" dirty="0">
              <a:latin typeface="Times New Roman" panose="02020603050405020304" pitchFamily="18" charset="0"/>
              <a:cs typeface="Times New Roman" panose="02020603050405020304" pitchFamily="18" charset="0"/>
            </a:rPr>
            <a:t>CXS TX Interface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D20CEF-7AFB-40CE-B68F-DAB71AC963C3}" type="parTrans" cxnId="{7F212122-02F0-43B9-B8D2-EFD42462C12F}">
      <dgm:prSet/>
      <dgm:spPr/>
      <dgm:t>
        <a:bodyPr/>
        <a:lstStyle/>
        <a:p>
          <a:endParaRPr lang="en-US"/>
        </a:p>
      </dgm:t>
    </dgm:pt>
    <dgm:pt modelId="{1DBF64CA-E848-4587-81AF-3B482B23D05F}" type="sibTrans" cxnId="{7F212122-02F0-43B9-B8D2-EFD42462C12F}">
      <dgm:prSet/>
      <dgm:spPr/>
      <dgm:t>
        <a:bodyPr/>
        <a:lstStyle/>
        <a:p>
          <a:endParaRPr lang="en-US"/>
        </a:p>
      </dgm:t>
    </dgm:pt>
    <dgm:pt modelId="{03DBD784-7597-4C99-B96F-E0F0688524B2}" type="pres">
      <dgm:prSet presAssocID="{8A14C725-258B-4030-B292-9300D40AD7AF}" presName="linearFlow" presStyleCnt="0">
        <dgm:presLayoutVars>
          <dgm:resizeHandles val="exact"/>
        </dgm:presLayoutVars>
      </dgm:prSet>
      <dgm:spPr/>
    </dgm:pt>
    <dgm:pt modelId="{DA85CECA-B47B-4AC3-B71F-3270DC00B3C3}" type="pres">
      <dgm:prSet presAssocID="{CEF06755-0B9A-4700-9657-D0AFDA22953B}" presName="node" presStyleLbl="node1" presStyleIdx="0" presStyleCnt="8">
        <dgm:presLayoutVars>
          <dgm:bulletEnabled val="1"/>
        </dgm:presLayoutVars>
      </dgm:prSet>
      <dgm:spPr/>
    </dgm:pt>
    <dgm:pt modelId="{AAE297F5-E414-4C16-8D02-D93561D76E4B}" type="pres">
      <dgm:prSet presAssocID="{80A42439-3F80-4D5B-9161-1A1E21C4627E}" presName="sibTrans" presStyleLbl="sibTrans2D1" presStyleIdx="0" presStyleCnt="7"/>
      <dgm:spPr/>
    </dgm:pt>
    <dgm:pt modelId="{63FECCBE-2077-4AFC-B9E7-B1C68C969FAC}" type="pres">
      <dgm:prSet presAssocID="{80A42439-3F80-4D5B-9161-1A1E21C4627E}" presName="connectorText" presStyleLbl="sibTrans2D1" presStyleIdx="0" presStyleCnt="7"/>
      <dgm:spPr/>
    </dgm:pt>
    <dgm:pt modelId="{22A06CE7-71FD-4A3E-8AA0-B0BF43360726}" type="pres">
      <dgm:prSet presAssocID="{D23FE703-604B-4925-AA13-B3CF14EF17D3}" presName="node" presStyleLbl="node1" presStyleIdx="1" presStyleCnt="8">
        <dgm:presLayoutVars>
          <dgm:bulletEnabled val="1"/>
        </dgm:presLayoutVars>
      </dgm:prSet>
      <dgm:spPr/>
    </dgm:pt>
    <dgm:pt modelId="{9EAE36D1-8898-429B-A077-72F3F6CC1EEF}" type="pres">
      <dgm:prSet presAssocID="{49280FC6-FCA5-44E8-A614-DFA1CB213B72}" presName="sibTrans" presStyleLbl="sibTrans2D1" presStyleIdx="1" presStyleCnt="7"/>
      <dgm:spPr/>
    </dgm:pt>
    <dgm:pt modelId="{41EB3015-48E1-4B94-B5CE-2137210FA193}" type="pres">
      <dgm:prSet presAssocID="{49280FC6-FCA5-44E8-A614-DFA1CB213B72}" presName="connectorText" presStyleLbl="sibTrans2D1" presStyleIdx="1" presStyleCnt="7"/>
      <dgm:spPr/>
    </dgm:pt>
    <dgm:pt modelId="{8AD7772D-ADC1-4804-BA53-EB944761E580}" type="pres">
      <dgm:prSet presAssocID="{A09A79CA-7A59-4E54-B2E9-3EDACEEC63FD}" presName="node" presStyleLbl="node1" presStyleIdx="2" presStyleCnt="8">
        <dgm:presLayoutVars>
          <dgm:bulletEnabled val="1"/>
        </dgm:presLayoutVars>
      </dgm:prSet>
      <dgm:spPr/>
    </dgm:pt>
    <dgm:pt modelId="{1BC99E1D-AC4A-40EA-A0B6-F95C8180936A}" type="pres">
      <dgm:prSet presAssocID="{6072AA47-03F7-449F-AD5E-9F765E104A8E}" presName="sibTrans" presStyleLbl="sibTrans2D1" presStyleIdx="2" presStyleCnt="7"/>
      <dgm:spPr/>
    </dgm:pt>
    <dgm:pt modelId="{F7CFAB2C-7702-4260-9389-0BB9C803FA09}" type="pres">
      <dgm:prSet presAssocID="{6072AA47-03F7-449F-AD5E-9F765E104A8E}" presName="connectorText" presStyleLbl="sibTrans2D1" presStyleIdx="2" presStyleCnt="7"/>
      <dgm:spPr/>
    </dgm:pt>
    <dgm:pt modelId="{04FEF770-4FA3-49F1-B40C-94AF5528AB63}" type="pres">
      <dgm:prSet presAssocID="{21E470E7-09E8-46F1-9FD1-29131FDF5405}" presName="node" presStyleLbl="node1" presStyleIdx="3" presStyleCnt="8">
        <dgm:presLayoutVars>
          <dgm:bulletEnabled val="1"/>
        </dgm:presLayoutVars>
      </dgm:prSet>
      <dgm:spPr/>
    </dgm:pt>
    <dgm:pt modelId="{92C8DFCA-D1E0-417F-A686-D9FC0385CCBD}" type="pres">
      <dgm:prSet presAssocID="{0ACC0D43-758E-422D-8A03-8DB75666B1A0}" presName="sibTrans" presStyleLbl="sibTrans2D1" presStyleIdx="3" presStyleCnt="7"/>
      <dgm:spPr/>
    </dgm:pt>
    <dgm:pt modelId="{066AF965-FFB6-4165-B52F-960640510DA8}" type="pres">
      <dgm:prSet presAssocID="{0ACC0D43-758E-422D-8A03-8DB75666B1A0}" presName="connectorText" presStyleLbl="sibTrans2D1" presStyleIdx="3" presStyleCnt="7"/>
      <dgm:spPr/>
    </dgm:pt>
    <dgm:pt modelId="{A21DDB2C-3D52-4CBE-B695-D35904610A55}" type="pres">
      <dgm:prSet presAssocID="{2BBAA2C4-C8A7-42AB-9FFF-D52D0DA7C97E}" presName="node" presStyleLbl="node1" presStyleIdx="4" presStyleCnt="8">
        <dgm:presLayoutVars>
          <dgm:bulletEnabled val="1"/>
        </dgm:presLayoutVars>
      </dgm:prSet>
      <dgm:spPr/>
    </dgm:pt>
    <dgm:pt modelId="{7B043563-BB29-4C24-9B83-DDD46A0E5F83}" type="pres">
      <dgm:prSet presAssocID="{20A86531-7F30-41C1-9808-BCFB71F4E74C}" presName="sibTrans" presStyleLbl="sibTrans2D1" presStyleIdx="4" presStyleCnt="7"/>
      <dgm:spPr/>
    </dgm:pt>
    <dgm:pt modelId="{97A9AA41-DE84-49FA-9321-D3AB3D313FF5}" type="pres">
      <dgm:prSet presAssocID="{20A86531-7F30-41C1-9808-BCFB71F4E74C}" presName="connectorText" presStyleLbl="sibTrans2D1" presStyleIdx="4" presStyleCnt="7"/>
      <dgm:spPr/>
    </dgm:pt>
    <dgm:pt modelId="{30EB8C55-69CE-44C7-A4F0-6CD3073EC855}" type="pres">
      <dgm:prSet presAssocID="{5A2D20CF-5E7A-4D31-8407-4CF7CCB53DE6}" presName="node" presStyleLbl="node1" presStyleIdx="5" presStyleCnt="8">
        <dgm:presLayoutVars>
          <dgm:bulletEnabled val="1"/>
        </dgm:presLayoutVars>
      </dgm:prSet>
      <dgm:spPr/>
    </dgm:pt>
    <dgm:pt modelId="{F36AD347-3B70-4415-AD7C-B2E31B184B05}" type="pres">
      <dgm:prSet presAssocID="{B47522DE-76A3-4F62-A111-4F0D27750897}" presName="sibTrans" presStyleLbl="sibTrans2D1" presStyleIdx="5" presStyleCnt="7"/>
      <dgm:spPr/>
    </dgm:pt>
    <dgm:pt modelId="{E28FCBA7-C573-4603-877B-8536BFD456AB}" type="pres">
      <dgm:prSet presAssocID="{B47522DE-76A3-4F62-A111-4F0D27750897}" presName="connectorText" presStyleLbl="sibTrans2D1" presStyleIdx="5" presStyleCnt="7"/>
      <dgm:spPr/>
    </dgm:pt>
    <dgm:pt modelId="{14E450D8-C657-42A3-B035-BCB31151C7C3}" type="pres">
      <dgm:prSet presAssocID="{610ADA6E-B21A-41E2-A0C5-7468C21A2B64}" presName="node" presStyleLbl="node1" presStyleIdx="6" presStyleCnt="8">
        <dgm:presLayoutVars>
          <dgm:bulletEnabled val="1"/>
        </dgm:presLayoutVars>
      </dgm:prSet>
      <dgm:spPr/>
    </dgm:pt>
    <dgm:pt modelId="{853C280A-8C96-435C-A0B6-1965EFD56927}" type="pres">
      <dgm:prSet presAssocID="{768F070B-D48E-4B31-BEFE-ACC03F80FB32}" presName="sibTrans" presStyleLbl="sibTrans2D1" presStyleIdx="6" presStyleCnt="7"/>
      <dgm:spPr/>
    </dgm:pt>
    <dgm:pt modelId="{43704DC0-5F67-40A9-B0B9-99F20200AD98}" type="pres">
      <dgm:prSet presAssocID="{768F070B-D48E-4B31-BEFE-ACC03F80FB32}" presName="connectorText" presStyleLbl="sibTrans2D1" presStyleIdx="6" presStyleCnt="7"/>
      <dgm:spPr/>
    </dgm:pt>
    <dgm:pt modelId="{70E6639B-1389-440E-A27A-3EAE3C642B0D}" type="pres">
      <dgm:prSet presAssocID="{0D039CCC-E8F8-4D63-8136-76F645254D9F}" presName="node" presStyleLbl="node1" presStyleIdx="7" presStyleCnt="8">
        <dgm:presLayoutVars>
          <dgm:bulletEnabled val="1"/>
        </dgm:presLayoutVars>
      </dgm:prSet>
      <dgm:spPr/>
    </dgm:pt>
  </dgm:ptLst>
  <dgm:cxnLst>
    <dgm:cxn modelId="{FC27BB0A-4E47-49D6-92F4-FB1B6A44C0D9}" type="presOf" srcId="{49280FC6-FCA5-44E8-A614-DFA1CB213B72}" destId="{41EB3015-48E1-4B94-B5CE-2137210FA193}" srcOrd="1" destOrd="0" presId="urn:microsoft.com/office/officeart/2005/8/layout/process2"/>
    <dgm:cxn modelId="{5ED91112-F350-40E4-99FD-7916CA1AAB46}" type="presOf" srcId="{0D039CCC-E8F8-4D63-8136-76F645254D9F}" destId="{70E6639B-1389-440E-A27A-3EAE3C642B0D}" srcOrd="0" destOrd="0" presId="urn:microsoft.com/office/officeart/2005/8/layout/process2"/>
    <dgm:cxn modelId="{7F212122-02F0-43B9-B8D2-EFD42462C12F}" srcId="{8A14C725-258B-4030-B292-9300D40AD7AF}" destId="{0D039CCC-E8F8-4D63-8136-76F645254D9F}" srcOrd="7" destOrd="0" parTransId="{97D20CEF-7AFB-40CE-B68F-DAB71AC963C3}" sibTransId="{1DBF64CA-E848-4587-81AF-3B482B23D05F}"/>
    <dgm:cxn modelId="{2AD81E2B-3FDD-4F62-8407-9B248557AFC4}" type="presOf" srcId="{610ADA6E-B21A-41E2-A0C5-7468C21A2B64}" destId="{14E450D8-C657-42A3-B035-BCB31151C7C3}" srcOrd="0" destOrd="0" presId="urn:microsoft.com/office/officeart/2005/8/layout/process2"/>
    <dgm:cxn modelId="{F0E3652C-D76A-402F-B624-C52ED22A6B1B}" srcId="{8A14C725-258B-4030-B292-9300D40AD7AF}" destId="{CEF06755-0B9A-4700-9657-D0AFDA22953B}" srcOrd="0" destOrd="0" parTransId="{6FC1A8D6-0017-480B-9C3A-719C3FECCBA7}" sibTransId="{80A42439-3F80-4D5B-9161-1A1E21C4627E}"/>
    <dgm:cxn modelId="{C134F42D-C71F-4F3F-A9AF-DF217F51F7B6}" type="presOf" srcId="{B47522DE-76A3-4F62-A111-4F0D27750897}" destId="{E28FCBA7-C573-4603-877B-8536BFD456AB}" srcOrd="1" destOrd="0" presId="urn:microsoft.com/office/officeart/2005/8/layout/process2"/>
    <dgm:cxn modelId="{AE21DF34-2F4A-430D-92FC-26E6902F03A8}" srcId="{8A14C725-258B-4030-B292-9300D40AD7AF}" destId="{610ADA6E-B21A-41E2-A0C5-7468C21A2B64}" srcOrd="6" destOrd="0" parTransId="{D579C5C3-F99B-4745-8815-D24787966684}" sibTransId="{768F070B-D48E-4B31-BEFE-ACC03F80FB32}"/>
    <dgm:cxn modelId="{81982637-1296-4ED2-B8A3-4AD97B9DEB01}" type="presOf" srcId="{8A14C725-258B-4030-B292-9300D40AD7AF}" destId="{03DBD784-7597-4C99-B96F-E0F0688524B2}" srcOrd="0" destOrd="0" presId="urn:microsoft.com/office/officeart/2005/8/layout/process2"/>
    <dgm:cxn modelId="{69B42E40-484C-484D-88D8-E1A67F4666D5}" type="presOf" srcId="{2BBAA2C4-C8A7-42AB-9FFF-D52D0DA7C97E}" destId="{A21DDB2C-3D52-4CBE-B695-D35904610A55}" srcOrd="0" destOrd="0" presId="urn:microsoft.com/office/officeart/2005/8/layout/process2"/>
    <dgm:cxn modelId="{47B58D5C-CECF-422D-930F-74A9ED32AB52}" srcId="{8A14C725-258B-4030-B292-9300D40AD7AF}" destId="{A09A79CA-7A59-4E54-B2E9-3EDACEEC63FD}" srcOrd="2" destOrd="0" parTransId="{793FCF26-B661-4351-B302-44535D8C909B}" sibTransId="{6072AA47-03F7-449F-AD5E-9F765E104A8E}"/>
    <dgm:cxn modelId="{D149EF5E-8775-4A3F-8C74-575D3858F96D}" type="presOf" srcId="{B47522DE-76A3-4F62-A111-4F0D27750897}" destId="{F36AD347-3B70-4415-AD7C-B2E31B184B05}" srcOrd="0" destOrd="0" presId="urn:microsoft.com/office/officeart/2005/8/layout/process2"/>
    <dgm:cxn modelId="{2BA76263-16BB-4DC9-AA7C-E04A7972B8F2}" srcId="{8A14C725-258B-4030-B292-9300D40AD7AF}" destId="{D23FE703-604B-4925-AA13-B3CF14EF17D3}" srcOrd="1" destOrd="0" parTransId="{2170B5CB-7960-41A7-BEAA-0259AB17196B}" sibTransId="{49280FC6-FCA5-44E8-A614-DFA1CB213B72}"/>
    <dgm:cxn modelId="{DAC91865-EA0F-4B35-85AF-2F067D4B02C6}" type="presOf" srcId="{5A2D20CF-5E7A-4D31-8407-4CF7CCB53DE6}" destId="{30EB8C55-69CE-44C7-A4F0-6CD3073EC855}" srcOrd="0" destOrd="0" presId="urn:microsoft.com/office/officeart/2005/8/layout/process2"/>
    <dgm:cxn modelId="{083BAE54-E189-4D1F-A1CC-860BACE12A48}" type="presOf" srcId="{6072AA47-03F7-449F-AD5E-9F765E104A8E}" destId="{1BC99E1D-AC4A-40EA-A0B6-F95C8180936A}" srcOrd="0" destOrd="0" presId="urn:microsoft.com/office/officeart/2005/8/layout/process2"/>
    <dgm:cxn modelId="{485ABD74-4B2D-4EB9-A44B-3948CA374447}" type="presOf" srcId="{80A42439-3F80-4D5B-9161-1A1E21C4627E}" destId="{AAE297F5-E414-4C16-8D02-D93561D76E4B}" srcOrd="0" destOrd="0" presId="urn:microsoft.com/office/officeart/2005/8/layout/process2"/>
    <dgm:cxn modelId="{8BC7BB76-4C72-4340-BDF7-18FDD24C9D3F}" type="presOf" srcId="{0ACC0D43-758E-422D-8A03-8DB75666B1A0}" destId="{066AF965-FFB6-4165-B52F-960640510DA8}" srcOrd="1" destOrd="0" presId="urn:microsoft.com/office/officeart/2005/8/layout/process2"/>
    <dgm:cxn modelId="{FA725B7F-DF58-48AF-9B3A-8BD36FE3C48D}" type="presOf" srcId="{6072AA47-03F7-449F-AD5E-9F765E104A8E}" destId="{F7CFAB2C-7702-4260-9389-0BB9C803FA09}" srcOrd="1" destOrd="0" presId="urn:microsoft.com/office/officeart/2005/8/layout/process2"/>
    <dgm:cxn modelId="{38E8E981-4FFD-455A-8A74-A5E7B07209F2}" type="presOf" srcId="{21E470E7-09E8-46F1-9FD1-29131FDF5405}" destId="{04FEF770-4FA3-49F1-B40C-94AF5528AB63}" srcOrd="0" destOrd="0" presId="urn:microsoft.com/office/officeart/2005/8/layout/process2"/>
    <dgm:cxn modelId="{553D8E89-C0B9-4030-B76B-7C415488D233}" type="presOf" srcId="{CEF06755-0B9A-4700-9657-D0AFDA22953B}" destId="{DA85CECA-B47B-4AC3-B71F-3270DC00B3C3}" srcOrd="0" destOrd="0" presId="urn:microsoft.com/office/officeart/2005/8/layout/process2"/>
    <dgm:cxn modelId="{C7CB9B8D-32E6-4CC3-85D6-5FBAB772D846}" type="presOf" srcId="{49280FC6-FCA5-44E8-A614-DFA1CB213B72}" destId="{9EAE36D1-8898-429B-A077-72F3F6CC1EEF}" srcOrd="0" destOrd="0" presId="urn:microsoft.com/office/officeart/2005/8/layout/process2"/>
    <dgm:cxn modelId="{E2609599-0792-4EF7-AE21-DF56460F895E}" type="presOf" srcId="{768F070B-D48E-4B31-BEFE-ACC03F80FB32}" destId="{43704DC0-5F67-40A9-B0B9-99F20200AD98}" srcOrd="1" destOrd="0" presId="urn:microsoft.com/office/officeart/2005/8/layout/process2"/>
    <dgm:cxn modelId="{8BD8D0AC-F485-493D-9FC3-1E9CC7E3EDE8}" type="presOf" srcId="{20A86531-7F30-41C1-9808-BCFB71F4E74C}" destId="{97A9AA41-DE84-49FA-9321-D3AB3D313FF5}" srcOrd="1" destOrd="0" presId="urn:microsoft.com/office/officeart/2005/8/layout/process2"/>
    <dgm:cxn modelId="{426AE2B7-38A6-4C4A-BC0B-E737B3E181B2}" srcId="{8A14C725-258B-4030-B292-9300D40AD7AF}" destId="{21E470E7-09E8-46F1-9FD1-29131FDF5405}" srcOrd="3" destOrd="0" parTransId="{48E1DC3D-F1F7-47AE-A825-1296B963A32D}" sibTransId="{0ACC0D43-758E-422D-8A03-8DB75666B1A0}"/>
    <dgm:cxn modelId="{2393B5CB-27B5-4FF5-81AF-F7BE366F58DC}" type="presOf" srcId="{20A86531-7F30-41C1-9808-BCFB71F4E74C}" destId="{7B043563-BB29-4C24-9B83-DDD46A0E5F83}" srcOrd="0" destOrd="0" presId="urn:microsoft.com/office/officeart/2005/8/layout/process2"/>
    <dgm:cxn modelId="{3EF2E8CF-31CF-40D5-9BF7-2068DCE9492A}" srcId="{8A14C725-258B-4030-B292-9300D40AD7AF}" destId="{5A2D20CF-5E7A-4D31-8407-4CF7CCB53DE6}" srcOrd="5" destOrd="0" parTransId="{E8FA05FD-707D-494E-9E26-20F1DEE7D2EF}" sibTransId="{B47522DE-76A3-4F62-A111-4F0D27750897}"/>
    <dgm:cxn modelId="{F41D06E4-51D7-4916-84CD-B73347BADD02}" srcId="{8A14C725-258B-4030-B292-9300D40AD7AF}" destId="{2BBAA2C4-C8A7-42AB-9FFF-D52D0DA7C97E}" srcOrd="4" destOrd="0" parTransId="{EDCF0F31-9E83-4088-A52F-69A717EBCF83}" sibTransId="{20A86531-7F30-41C1-9808-BCFB71F4E74C}"/>
    <dgm:cxn modelId="{A40924E8-80CD-46B4-A4B5-DE62ADB94B52}" type="presOf" srcId="{A09A79CA-7A59-4E54-B2E9-3EDACEEC63FD}" destId="{8AD7772D-ADC1-4804-BA53-EB944761E580}" srcOrd="0" destOrd="0" presId="urn:microsoft.com/office/officeart/2005/8/layout/process2"/>
    <dgm:cxn modelId="{41CC54E8-83E1-43C3-9EF3-9214FF27C3B6}" type="presOf" srcId="{0ACC0D43-758E-422D-8A03-8DB75666B1A0}" destId="{92C8DFCA-D1E0-417F-A686-D9FC0385CCBD}" srcOrd="0" destOrd="0" presId="urn:microsoft.com/office/officeart/2005/8/layout/process2"/>
    <dgm:cxn modelId="{5456A0E8-6132-4965-A5A1-000DFD98843A}" type="presOf" srcId="{D23FE703-604B-4925-AA13-B3CF14EF17D3}" destId="{22A06CE7-71FD-4A3E-8AA0-B0BF43360726}" srcOrd="0" destOrd="0" presId="urn:microsoft.com/office/officeart/2005/8/layout/process2"/>
    <dgm:cxn modelId="{AD4281F0-10DF-49E4-BAE1-9697218364BA}" type="presOf" srcId="{80A42439-3F80-4D5B-9161-1A1E21C4627E}" destId="{63FECCBE-2077-4AFC-B9E7-B1C68C969FAC}" srcOrd="1" destOrd="0" presId="urn:microsoft.com/office/officeart/2005/8/layout/process2"/>
    <dgm:cxn modelId="{03F045FD-358C-42C3-B051-DD3348F8F560}" type="presOf" srcId="{768F070B-D48E-4B31-BEFE-ACC03F80FB32}" destId="{853C280A-8C96-435C-A0B6-1965EFD56927}" srcOrd="0" destOrd="0" presId="urn:microsoft.com/office/officeart/2005/8/layout/process2"/>
    <dgm:cxn modelId="{8D17FFA2-654E-46D9-8AA9-518F9853680D}" type="presParOf" srcId="{03DBD784-7597-4C99-B96F-E0F0688524B2}" destId="{DA85CECA-B47B-4AC3-B71F-3270DC00B3C3}" srcOrd="0" destOrd="0" presId="urn:microsoft.com/office/officeart/2005/8/layout/process2"/>
    <dgm:cxn modelId="{736A4840-02AD-47A7-B336-4517D9BDCA09}" type="presParOf" srcId="{03DBD784-7597-4C99-B96F-E0F0688524B2}" destId="{AAE297F5-E414-4C16-8D02-D93561D76E4B}" srcOrd="1" destOrd="0" presId="urn:microsoft.com/office/officeart/2005/8/layout/process2"/>
    <dgm:cxn modelId="{001AC0EB-585C-444B-A61B-042672A5C0E4}" type="presParOf" srcId="{AAE297F5-E414-4C16-8D02-D93561D76E4B}" destId="{63FECCBE-2077-4AFC-B9E7-B1C68C969FAC}" srcOrd="0" destOrd="0" presId="urn:microsoft.com/office/officeart/2005/8/layout/process2"/>
    <dgm:cxn modelId="{AD9CEFB5-60A7-4E18-A540-4BB4C0355DE4}" type="presParOf" srcId="{03DBD784-7597-4C99-B96F-E0F0688524B2}" destId="{22A06CE7-71FD-4A3E-8AA0-B0BF43360726}" srcOrd="2" destOrd="0" presId="urn:microsoft.com/office/officeart/2005/8/layout/process2"/>
    <dgm:cxn modelId="{2B529C25-D950-4993-8E30-088315E62D4A}" type="presParOf" srcId="{03DBD784-7597-4C99-B96F-E0F0688524B2}" destId="{9EAE36D1-8898-429B-A077-72F3F6CC1EEF}" srcOrd="3" destOrd="0" presId="urn:microsoft.com/office/officeart/2005/8/layout/process2"/>
    <dgm:cxn modelId="{FAEDE4AD-3DAC-493C-AC95-BA6DEACE0CFB}" type="presParOf" srcId="{9EAE36D1-8898-429B-A077-72F3F6CC1EEF}" destId="{41EB3015-48E1-4B94-B5CE-2137210FA193}" srcOrd="0" destOrd="0" presId="urn:microsoft.com/office/officeart/2005/8/layout/process2"/>
    <dgm:cxn modelId="{407D0F48-32A5-408B-985A-B4FD66652C43}" type="presParOf" srcId="{03DBD784-7597-4C99-B96F-E0F0688524B2}" destId="{8AD7772D-ADC1-4804-BA53-EB944761E580}" srcOrd="4" destOrd="0" presId="urn:microsoft.com/office/officeart/2005/8/layout/process2"/>
    <dgm:cxn modelId="{A6BDA1F4-E839-4A1A-B2F5-A9D3A0FB4B71}" type="presParOf" srcId="{03DBD784-7597-4C99-B96F-E0F0688524B2}" destId="{1BC99E1D-AC4A-40EA-A0B6-F95C8180936A}" srcOrd="5" destOrd="0" presId="urn:microsoft.com/office/officeart/2005/8/layout/process2"/>
    <dgm:cxn modelId="{98561711-DA81-4070-9CA4-AF38F7CEBED1}" type="presParOf" srcId="{1BC99E1D-AC4A-40EA-A0B6-F95C8180936A}" destId="{F7CFAB2C-7702-4260-9389-0BB9C803FA09}" srcOrd="0" destOrd="0" presId="urn:microsoft.com/office/officeart/2005/8/layout/process2"/>
    <dgm:cxn modelId="{05293E92-3B48-4BE0-BC7E-173CD7251084}" type="presParOf" srcId="{03DBD784-7597-4C99-B96F-E0F0688524B2}" destId="{04FEF770-4FA3-49F1-B40C-94AF5528AB63}" srcOrd="6" destOrd="0" presId="urn:microsoft.com/office/officeart/2005/8/layout/process2"/>
    <dgm:cxn modelId="{8AC31184-3452-4FC7-B204-232485C2837A}" type="presParOf" srcId="{03DBD784-7597-4C99-B96F-E0F0688524B2}" destId="{92C8DFCA-D1E0-417F-A686-D9FC0385CCBD}" srcOrd="7" destOrd="0" presId="urn:microsoft.com/office/officeart/2005/8/layout/process2"/>
    <dgm:cxn modelId="{561C3525-9D0A-439A-8417-49455AC375C2}" type="presParOf" srcId="{92C8DFCA-D1E0-417F-A686-D9FC0385CCBD}" destId="{066AF965-FFB6-4165-B52F-960640510DA8}" srcOrd="0" destOrd="0" presId="urn:microsoft.com/office/officeart/2005/8/layout/process2"/>
    <dgm:cxn modelId="{0763A2C9-697D-47BB-A7DD-80F259E34D58}" type="presParOf" srcId="{03DBD784-7597-4C99-B96F-E0F0688524B2}" destId="{A21DDB2C-3D52-4CBE-B695-D35904610A55}" srcOrd="8" destOrd="0" presId="urn:microsoft.com/office/officeart/2005/8/layout/process2"/>
    <dgm:cxn modelId="{775FFE17-0615-4F66-925F-453AE1D71FC9}" type="presParOf" srcId="{03DBD784-7597-4C99-B96F-E0F0688524B2}" destId="{7B043563-BB29-4C24-9B83-DDD46A0E5F83}" srcOrd="9" destOrd="0" presId="urn:microsoft.com/office/officeart/2005/8/layout/process2"/>
    <dgm:cxn modelId="{0BF3A274-9B44-47C6-92C8-D9C17CBEB052}" type="presParOf" srcId="{7B043563-BB29-4C24-9B83-DDD46A0E5F83}" destId="{97A9AA41-DE84-49FA-9321-D3AB3D313FF5}" srcOrd="0" destOrd="0" presId="urn:microsoft.com/office/officeart/2005/8/layout/process2"/>
    <dgm:cxn modelId="{C7D0DC81-91C9-49E8-8C48-0583491B2FD1}" type="presParOf" srcId="{03DBD784-7597-4C99-B96F-E0F0688524B2}" destId="{30EB8C55-69CE-44C7-A4F0-6CD3073EC855}" srcOrd="10" destOrd="0" presId="urn:microsoft.com/office/officeart/2005/8/layout/process2"/>
    <dgm:cxn modelId="{586B9779-7C5C-48E8-990A-0CA808CFA4C6}" type="presParOf" srcId="{03DBD784-7597-4C99-B96F-E0F0688524B2}" destId="{F36AD347-3B70-4415-AD7C-B2E31B184B05}" srcOrd="11" destOrd="0" presId="urn:microsoft.com/office/officeart/2005/8/layout/process2"/>
    <dgm:cxn modelId="{030B3396-5D97-415E-94E9-290A64840EDE}" type="presParOf" srcId="{F36AD347-3B70-4415-AD7C-B2E31B184B05}" destId="{E28FCBA7-C573-4603-877B-8536BFD456AB}" srcOrd="0" destOrd="0" presId="urn:microsoft.com/office/officeart/2005/8/layout/process2"/>
    <dgm:cxn modelId="{61737809-A709-4834-9CEE-81CEC3FA4B37}" type="presParOf" srcId="{03DBD784-7597-4C99-B96F-E0F0688524B2}" destId="{14E450D8-C657-42A3-B035-BCB31151C7C3}" srcOrd="12" destOrd="0" presId="urn:microsoft.com/office/officeart/2005/8/layout/process2"/>
    <dgm:cxn modelId="{FCD4ABC4-E1F9-4734-BC56-56ABC4CD92FC}" type="presParOf" srcId="{03DBD784-7597-4C99-B96F-E0F0688524B2}" destId="{853C280A-8C96-435C-A0B6-1965EFD56927}" srcOrd="13" destOrd="0" presId="urn:microsoft.com/office/officeart/2005/8/layout/process2"/>
    <dgm:cxn modelId="{93BBDD36-7493-4E9D-93A2-95B67EAB3B79}" type="presParOf" srcId="{853C280A-8C96-435C-A0B6-1965EFD56927}" destId="{43704DC0-5F67-40A9-B0B9-99F20200AD98}" srcOrd="0" destOrd="0" presId="urn:microsoft.com/office/officeart/2005/8/layout/process2"/>
    <dgm:cxn modelId="{32DE4AB5-5E36-4AD8-867B-EEA99A209567}" type="presParOf" srcId="{03DBD784-7597-4C99-B96F-E0F0688524B2}" destId="{70E6639B-1389-440E-A27A-3EAE3C642B0D}" srcOrd="1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3D075-B81E-4B59-A186-4E09371BAC4B}">
      <dsp:nvSpPr>
        <dsp:cNvPr id="0" name=""/>
        <dsp:cNvSpPr/>
      </dsp:nvSpPr>
      <dsp:spPr>
        <a:xfrm>
          <a:off x="88902" y="771649"/>
          <a:ext cx="1296348" cy="4272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Incoming Data</a:t>
          </a:r>
          <a:endParaRPr lang="en-US" sz="1200" kern="1200" dirty="0"/>
        </a:p>
      </dsp:txBody>
      <dsp:txXfrm>
        <a:off x="88902" y="771649"/>
        <a:ext cx="1296348" cy="427205"/>
      </dsp:txXfrm>
    </dsp:sp>
    <dsp:sp modelId="{066C68C2-73A1-478B-AF64-52B3596557EC}">
      <dsp:nvSpPr>
        <dsp:cNvPr id="0" name=""/>
        <dsp:cNvSpPr/>
      </dsp:nvSpPr>
      <dsp:spPr>
        <a:xfrm>
          <a:off x="87429" y="641719"/>
          <a:ext cx="103118" cy="10311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CB0C2-25A7-41F4-A2F8-AD40E0182692}">
      <dsp:nvSpPr>
        <dsp:cNvPr id="0" name=""/>
        <dsp:cNvSpPr/>
      </dsp:nvSpPr>
      <dsp:spPr>
        <a:xfrm>
          <a:off x="159612" y="497353"/>
          <a:ext cx="103118" cy="10311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099179-74BC-41CB-8C4B-6C1D7EADE47F}">
      <dsp:nvSpPr>
        <dsp:cNvPr id="0" name=""/>
        <dsp:cNvSpPr/>
      </dsp:nvSpPr>
      <dsp:spPr>
        <a:xfrm>
          <a:off x="332851" y="526226"/>
          <a:ext cx="162043" cy="16204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693B16-AE82-42FB-BC4B-6A3DAE214D2B}">
      <dsp:nvSpPr>
        <dsp:cNvPr id="0" name=""/>
        <dsp:cNvSpPr/>
      </dsp:nvSpPr>
      <dsp:spPr>
        <a:xfrm>
          <a:off x="477217" y="367424"/>
          <a:ext cx="103118" cy="10311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1A6140-05E9-4F98-9F7A-0B5BF2F57554}">
      <dsp:nvSpPr>
        <dsp:cNvPr id="0" name=""/>
        <dsp:cNvSpPr/>
      </dsp:nvSpPr>
      <dsp:spPr>
        <a:xfrm>
          <a:off x="664893" y="309677"/>
          <a:ext cx="103118" cy="10311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E86FB-BFBD-4ADE-B86C-796325F2833C}">
      <dsp:nvSpPr>
        <dsp:cNvPr id="0" name=""/>
        <dsp:cNvSpPr/>
      </dsp:nvSpPr>
      <dsp:spPr>
        <a:xfrm>
          <a:off x="895879" y="410734"/>
          <a:ext cx="103118" cy="10311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10377-E442-40F3-99A8-5B86A75E257D}">
      <dsp:nvSpPr>
        <dsp:cNvPr id="0" name=""/>
        <dsp:cNvSpPr/>
      </dsp:nvSpPr>
      <dsp:spPr>
        <a:xfrm>
          <a:off x="1040245" y="482917"/>
          <a:ext cx="162043" cy="16204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CED0C-96CB-4CA1-95C8-0F152BFC642C}">
      <dsp:nvSpPr>
        <dsp:cNvPr id="0" name=""/>
        <dsp:cNvSpPr/>
      </dsp:nvSpPr>
      <dsp:spPr>
        <a:xfrm>
          <a:off x="1242357" y="641719"/>
          <a:ext cx="103118" cy="10311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63EEF1-52A9-4049-BCEF-AC424DFF895A}">
      <dsp:nvSpPr>
        <dsp:cNvPr id="0" name=""/>
        <dsp:cNvSpPr/>
      </dsp:nvSpPr>
      <dsp:spPr>
        <a:xfrm>
          <a:off x="1328977" y="800522"/>
          <a:ext cx="103118" cy="10311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EC5D0-6D43-46D2-9245-D99330136064}">
      <dsp:nvSpPr>
        <dsp:cNvPr id="0" name=""/>
        <dsp:cNvSpPr/>
      </dsp:nvSpPr>
      <dsp:spPr>
        <a:xfrm>
          <a:off x="578273" y="497353"/>
          <a:ext cx="265162" cy="26516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A98304-3CD7-4494-99C7-D1CA16B49053}">
      <dsp:nvSpPr>
        <dsp:cNvPr id="0" name=""/>
        <dsp:cNvSpPr/>
      </dsp:nvSpPr>
      <dsp:spPr>
        <a:xfrm>
          <a:off x="15246" y="1045944"/>
          <a:ext cx="103118" cy="10311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41ACA-3601-456E-A5D5-89E5E7BBAAA4}">
      <dsp:nvSpPr>
        <dsp:cNvPr id="0" name=""/>
        <dsp:cNvSpPr/>
      </dsp:nvSpPr>
      <dsp:spPr>
        <a:xfrm>
          <a:off x="101865" y="1175874"/>
          <a:ext cx="162043" cy="16204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D892F0-6FE3-46E2-8DC9-4E071370BCF7}">
      <dsp:nvSpPr>
        <dsp:cNvPr id="0" name=""/>
        <dsp:cNvSpPr/>
      </dsp:nvSpPr>
      <dsp:spPr>
        <a:xfrm>
          <a:off x="318414" y="1291367"/>
          <a:ext cx="235699" cy="23569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07AD2-4D80-4015-8CC6-9E43C09F5E7B}">
      <dsp:nvSpPr>
        <dsp:cNvPr id="0" name=""/>
        <dsp:cNvSpPr/>
      </dsp:nvSpPr>
      <dsp:spPr>
        <a:xfrm>
          <a:off x="621583" y="1479042"/>
          <a:ext cx="103118" cy="10311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F91FCA-1EFC-4E2B-A118-6912597699A3}">
      <dsp:nvSpPr>
        <dsp:cNvPr id="0" name=""/>
        <dsp:cNvSpPr/>
      </dsp:nvSpPr>
      <dsp:spPr>
        <a:xfrm>
          <a:off x="679330" y="1291367"/>
          <a:ext cx="162043" cy="16204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B2583-6756-4750-8463-55A6F171DEDF}">
      <dsp:nvSpPr>
        <dsp:cNvPr id="0" name=""/>
        <dsp:cNvSpPr/>
      </dsp:nvSpPr>
      <dsp:spPr>
        <a:xfrm>
          <a:off x="823696" y="1493479"/>
          <a:ext cx="103118" cy="10311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066DEE-5608-468C-B4ED-CE2C9660B4C6}">
      <dsp:nvSpPr>
        <dsp:cNvPr id="0" name=""/>
        <dsp:cNvSpPr/>
      </dsp:nvSpPr>
      <dsp:spPr>
        <a:xfrm>
          <a:off x="953625" y="1262493"/>
          <a:ext cx="235699" cy="23569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43E42-7D8F-4A15-9CA6-E304DA063DF4}">
      <dsp:nvSpPr>
        <dsp:cNvPr id="0" name=""/>
        <dsp:cNvSpPr/>
      </dsp:nvSpPr>
      <dsp:spPr>
        <a:xfrm>
          <a:off x="1271230" y="1204747"/>
          <a:ext cx="162043" cy="16204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49A7C9-3CC2-495D-8692-C808E2BEDD06}">
      <dsp:nvSpPr>
        <dsp:cNvPr id="0" name=""/>
        <dsp:cNvSpPr/>
      </dsp:nvSpPr>
      <dsp:spPr>
        <a:xfrm>
          <a:off x="1433274" y="525986"/>
          <a:ext cx="475898" cy="908542"/>
        </a:xfrm>
        <a:prstGeom prst="chevron">
          <a:avLst>
            <a:gd name="adj" fmla="val 623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A39F18-7032-4A26-94E0-678370AA7B70}">
      <dsp:nvSpPr>
        <dsp:cNvPr id="0" name=""/>
        <dsp:cNvSpPr/>
      </dsp:nvSpPr>
      <dsp:spPr>
        <a:xfrm>
          <a:off x="1909173" y="526428"/>
          <a:ext cx="1297905" cy="908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CXS Interface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Receives flit, credit-based flow control</a:t>
          </a:r>
        </a:p>
      </dsp:txBody>
      <dsp:txXfrm>
        <a:off x="1909173" y="526428"/>
        <a:ext cx="1297905" cy="908534"/>
      </dsp:txXfrm>
    </dsp:sp>
    <dsp:sp modelId="{C06ED2B1-1E49-41E1-96AF-AAF54FBC6D2C}">
      <dsp:nvSpPr>
        <dsp:cNvPr id="0" name=""/>
        <dsp:cNvSpPr/>
      </dsp:nvSpPr>
      <dsp:spPr>
        <a:xfrm>
          <a:off x="3207079" y="525986"/>
          <a:ext cx="475898" cy="908542"/>
        </a:xfrm>
        <a:prstGeom prst="chevron">
          <a:avLst>
            <a:gd name="adj" fmla="val 6231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03FCD-7422-4A8C-8805-6333F4094639}">
      <dsp:nvSpPr>
        <dsp:cNvPr id="0" name=""/>
        <dsp:cNvSpPr/>
      </dsp:nvSpPr>
      <dsp:spPr>
        <a:xfrm>
          <a:off x="3682978" y="526428"/>
          <a:ext cx="1297905" cy="908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Async FIFO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CDC buffer: CXS clk → System clk</a:t>
          </a:r>
        </a:p>
      </dsp:txBody>
      <dsp:txXfrm>
        <a:off x="3682978" y="526428"/>
        <a:ext cx="1297905" cy="908534"/>
      </dsp:txXfrm>
    </dsp:sp>
    <dsp:sp modelId="{67CC8161-BB6A-4445-AC47-CC81C685EC85}">
      <dsp:nvSpPr>
        <dsp:cNvPr id="0" name=""/>
        <dsp:cNvSpPr/>
      </dsp:nvSpPr>
      <dsp:spPr>
        <a:xfrm>
          <a:off x="4980883" y="525986"/>
          <a:ext cx="475898" cy="908542"/>
        </a:xfrm>
        <a:prstGeom prst="chevron">
          <a:avLst>
            <a:gd name="adj" fmla="val 623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D481C-09E9-49F6-B246-1F797D8518E5}">
      <dsp:nvSpPr>
        <dsp:cNvPr id="0" name=""/>
        <dsp:cNvSpPr/>
      </dsp:nvSpPr>
      <dsp:spPr>
        <a:xfrm>
          <a:off x="5456782" y="526428"/>
          <a:ext cx="1297905" cy="908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Flit Decoder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Extracts payload, to 16bit internal bath start/end/error flags</a:t>
          </a:r>
        </a:p>
      </dsp:txBody>
      <dsp:txXfrm>
        <a:off x="5456782" y="526428"/>
        <a:ext cx="1297905" cy="908534"/>
      </dsp:txXfrm>
    </dsp:sp>
    <dsp:sp modelId="{FE58C54D-ECCD-4013-BFE5-708F6ACE58EE}">
      <dsp:nvSpPr>
        <dsp:cNvPr id="0" name=""/>
        <dsp:cNvSpPr/>
      </dsp:nvSpPr>
      <dsp:spPr>
        <a:xfrm>
          <a:off x="6754688" y="525986"/>
          <a:ext cx="475898" cy="908542"/>
        </a:xfrm>
        <a:prstGeom prst="chevron">
          <a:avLst>
            <a:gd name="adj" fmla="val 623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2D33A-2DCE-4E88-B73B-770BD077B44C}">
      <dsp:nvSpPr>
        <dsp:cNvPr id="0" name=""/>
        <dsp:cNvSpPr/>
      </dsp:nvSpPr>
      <dsp:spPr>
        <a:xfrm>
          <a:off x="7282503" y="450902"/>
          <a:ext cx="1103220" cy="110322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Control Unit</a:t>
          </a:r>
        </a:p>
      </dsp:txBody>
      <dsp:txXfrm>
        <a:off x="7444066" y="612465"/>
        <a:ext cx="780094" cy="7800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0D4A26-DF03-44E0-90C0-7FE16DEB00A3}">
      <dsp:nvSpPr>
        <dsp:cNvPr id="0" name=""/>
        <dsp:cNvSpPr/>
      </dsp:nvSpPr>
      <dsp:spPr>
        <a:xfrm>
          <a:off x="1286803" y="590282"/>
          <a:ext cx="1612192" cy="531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ATU + Encryption + Parity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Translates address, encrypts payload, appends parity</a:t>
          </a:r>
        </a:p>
      </dsp:txBody>
      <dsp:txXfrm>
        <a:off x="1286803" y="590282"/>
        <a:ext cx="1612192" cy="531290"/>
      </dsp:txXfrm>
    </dsp:sp>
    <dsp:sp modelId="{56956B0C-A52F-4D18-B3A5-9A044355D7F7}">
      <dsp:nvSpPr>
        <dsp:cNvPr id="0" name=""/>
        <dsp:cNvSpPr/>
      </dsp:nvSpPr>
      <dsp:spPr>
        <a:xfrm>
          <a:off x="1284971" y="428696"/>
          <a:ext cx="128242" cy="12824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76EF9-67D6-4ACA-B8F9-C06F1D72CEA0}">
      <dsp:nvSpPr>
        <dsp:cNvPr id="0" name=""/>
        <dsp:cNvSpPr/>
      </dsp:nvSpPr>
      <dsp:spPr>
        <a:xfrm>
          <a:off x="1374741" y="249157"/>
          <a:ext cx="128242" cy="12824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4AFA6C-A619-4AE8-BC66-CEEE69D62EA3}">
      <dsp:nvSpPr>
        <dsp:cNvPr id="0" name=""/>
        <dsp:cNvSpPr/>
      </dsp:nvSpPr>
      <dsp:spPr>
        <a:xfrm>
          <a:off x="1590188" y="285065"/>
          <a:ext cx="201524" cy="2015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33716-A694-4C07-97B9-5235BA67F503}">
      <dsp:nvSpPr>
        <dsp:cNvPr id="0" name=""/>
        <dsp:cNvSpPr/>
      </dsp:nvSpPr>
      <dsp:spPr>
        <a:xfrm>
          <a:off x="1769728" y="87571"/>
          <a:ext cx="128242" cy="12824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8699B4-84C6-4C3C-9D67-C1DF3D646DC3}">
      <dsp:nvSpPr>
        <dsp:cNvPr id="0" name=""/>
        <dsp:cNvSpPr/>
      </dsp:nvSpPr>
      <dsp:spPr>
        <a:xfrm>
          <a:off x="2003129" y="15755"/>
          <a:ext cx="128242" cy="12824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4B248F-FAFD-4467-A204-75A98BE5970C}">
      <dsp:nvSpPr>
        <dsp:cNvPr id="0" name=""/>
        <dsp:cNvSpPr/>
      </dsp:nvSpPr>
      <dsp:spPr>
        <a:xfrm>
          <a:off x="2290393" y="141433"/>
          <a:ext cx="128242" cy="12824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9D6872-0A5D-4928-8BAB-71F1709943FF}">
      <dsp:nvSpPr>
        <dsp:cNvPr id="0" name=""/>
        <dsp:cNvSpPr/>
      </dsp:nvSpPr>
      <dsp:spPr>
        <a:xfrm>
          <a:off x="2469932" y="231203"/>
          <a:ext cx="201524" cy="2015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F582B-F955-4DC2-8917-1D439D9A3AEA}">
      <dsp:nvSpPr>
        <dsp:cNvPr id="0" name=""/>
        <dsp:cNvSpPr/>
      </dsp:nvSpPr>
      <dsp:spPr>
        <a:xfrm>
          <a:off x="2721288" y="428696"/>
          <a:ext cx="128242" cy="12824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7C42E7-DDA0-40B6-9E02-38A7A19A7653}">
      <dsp:nvSpPr>
        <dsp:cNvPr id="0" name=""/>
        <dsp:cNvSpPr/>
      </dsp:nvSpPr>
      <dsp:spPr>
        <a:xfrm>
          <a:off x="2829011" y="626190"/>
          <a:ext cx="128242" cy="12824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F52567-6319-4AFD-8D96-02F9EFAB9362}">
      <dsp:nvSpPr>
        <dsp:cNvPr id="0" name=""/>
        <dsp:cNvSpPr/>
      </dsp:nvSpPr>
      <dsp:spPr>
        <a:xfrm>
          <a:off x="1895406" y="249157"/>
          <a:ext cx="329766" cy="32976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BFB5F1-4782-4A27-8DFF-CC6DE6E8A2A7}">
      <dsp:nvSpPr>
        <dsp:cNvPr id="0" name=""/>
        <dsp:cNvSpPr/>
      </dsp:nvSpPr>
      <dsp:spPr>
        <a:xfrm>
          <a:off x="1195201" y="931407"/>
          <a:ext cx="128242" cy="12824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5DEC05-2F75-4981-AC14-7249BD13BFC3}">
      <dsp:nvSpPr>
        <dsp:cNvPr id="0" name=""/>
        <dsp:cNvSpPr/>
      </dsp:nvSpPr>
      <dsp:spPr>
        <a:xfrm>
          <a:off x="1302925" y="1092993"/>
          <a:ext cx="201524" cy="2015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B692F-FCB3-4477-AEFB-804B1AF63466}">
      <dsp:nvSpPr>
        <dsp:cNvPr id="0" name=""/>
        <dsp:cNvSpPr/>
      </dsp:nvSpPr>
      <dsp:spPr>
        <a:xfrm>
          <a:off x="1572234" y="1236625"/>
          <a:ext cx="293125" cy="2931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67764-4DC3-46F2-BE44-82DD2CD73ADC}">
      <dsp:nvSpPr>
        <dsp:cNvPr id="0" name=""/>
        <dsp:cNvSpPr/>
      </dsp:nvSpPr>
      <dsp:spPr>
        <a:xfrm>
          <a:off x="1949267" y="1470026"/>
          <a:ext cx="128242" cy="12824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E7225-B096-42CB-8FFD-EC5BB3ED8B04}">
      <dsp:nvSpPr>
        <dsp:cNvPr id="0" name=""/>
        <dsp:cNvSpPr/>
      </dsp:nvSpPr>
      <dsp:spPr>
        <a:xfrm>
          <a:off x="2021083" y="1236625"/>
          <a:ext cx="201524" cy="20152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7FDFA-316C-4C36-8094-56A3D0F51284}">
      <dsp:nvSpPr>
        <dsp:cNvPr id="0" name=""/>
        <dsp:cNvSpPr/>
      </dsp:nvSpPr>
      <dsp:spPr>
        <a:xfrm>
          <a:off x="2200623" y="1487980"/>
          <a:ext cx="128242" cy="12824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8FD4E-0286-487A-83BD-67045791B957}">
      <dsp:nvSpPr>
        <dsp:cNvPr id="0" name=""/>
        <dsp:cNvSpPr/>
      </dsp:nvSpPr>
      <dsp:spPr>
        <a:xfrm>
          <a:off x="2362209" y="1200717"/>
          <a:ext cx="293125" cy="2931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A72891-DBA4-4583-842A-D01E5D67C2D4}">
      <dsp:nvSpPr>
        <dsp:cNvPr id="0" name=""/>
        <dsp:cNvSpPr/>
      </dsp:nvSpPr>
      <dsp:spPr>
        <a:xfrm>
          <a:off x="2757196" y="1128901"/>
          <a:ext cx="201524" cy="2015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6FBBAA-8B9D-4A8A-8FB7-04CAB0A37AAE}">
      <dsp:nvSpPr>
        <dsp:cNvPr id="0" name=""/>
        <dsp:cNvSpPr/>
      </dsp:nvSpPr>
      <dsp:spPr>
        <a:xfrm>
          <a:off x="2958720" y="284766"/>
          <a:ext cx="591847" cy="1129901"/>
        </a:xfrm>
        <a:prstGeom prst="chevron">
          <a:avLst>
            <a:gd name="adj" fmla="val 623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5A58E-F798-4436-BB68-0C5B1027AE1A}">
      <dsp:nvSpPr>
        <dsp:cNvPr id="0" name=""/>
        <dsp:cNvSpPr/>
      </dsp:nvSpPr>
      <dsp:spPr>
        <a:xfrm>
          <a:off x="3550567" y="285315"/>
          <a:ext cx="1614129" cy="1129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CDM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Stores config (direct write) or processed payload (ATU address)</a:t>
          </a:r>
        </a:p>
      </dsp:txBody>
      <dsp:txXfrm>
        <a:off x="3550567" y="285315"/>
        <a:ext cx="1614129" cy="1129890"/>
      </dsp:txXfrm>
    </dsp:sp>
    <dsp:sp modelId="{A507033C-DA96-4FB6-AB57-9FBC53A77E2C}">
      <dsp:nvSpPr>
        <dsp:cNvPr id="0" name=""/>
        <dsp:cNvSpPr/>
      </dsp:nvSpPr>
      <dsp:spPr>
        <a:xfrm>
          <a:off x="5164696" y="284766"/>
          <a:ext cx="591847" cy="1129901"/>
        </a:xfrm>
        <a:prstGeom prst="chevron">
          <a:avLst>
            <a:gd name="adj" fmla="val 6231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FE0CA-5284-46B2-9270-FEE66F216410}">
      <dsp:nvSpPr>
        <dsp:cNvPr id="0" name=""/>
        <dsp:cNvSpPr/>
      </dsp:nvSpPr>
      <dsp:spPr>
        <a:xfrm>
          <a:off x="5821109" y="191389"/>
          <a:ext cx="1372009" cy="137200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Data Sync + CXS TX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CDC buffer: System clk → CXS clk; sends status flit back</a:t>
          </a:r>
        </a:p>
      </dsp:txBody>
      <dsp:txXfrm>
        <a:off x="6022035" y="392315"/>
        <a:ext cx="970157" cy="9701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FC3EA6-84C2-461D-B07A-36D241C9725D}">
      <dsp:nvSpPr>
        <dsp:cNvPr id="0" name=""/>
        <dsp:cNvSpPr/>
      </dsp:nvSpPr>
      <dsp:spPr>
        <a:xfrm>
          <a:off x="1515519" y="994"/>
          <a:ext cx="2273278" cy="53847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8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Samples 32 bit CXSDATA/ 6 bit CXSCNTL on the CXS clock when CXSVALID is asserted; registers the flit</a:t>
          </a:r>
        </a:p>
      </dsp:txBody>
      <dsp:txXfrm>
        <a:off x="1515519" y="68303"/>
        <a:ext cx="2071352" cy="403852"/>
      </dsp:txXfrm>
    </dsp:sp>
    <dsp:sp modelId="{25F89F97-50D4-4A4E-8E8D-7183F38EC508}">
      <dsp:nvSpPr>
        <dsp:cNvPr id="0" name=""/>
        <dsp:cNvSpPr/>
      </dsp:nvSpPr>
      <dsp:spPr>
        <a:xfrm>
          <a:off x="0" y="994"/>
          <a:ext cx="1515519" cy="538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Flit Receiver</a:t>
          </a:r>
        </a:p>
      </dsp:txBody>
      <dsp:txXfrm>
        <a:off x="26286" y="27280"/>
        <a:ext cx="1462947" cy="485898"/>
      </dsp:txXfrm>
    </dsp:sp>
    <dsp:sp modelId="{A6588C23-84DC-45FC-B0BE-9C582CDA7B87}">
      <dsp:nvSpPr>
        <dsp:cNvPr id="0" name=""/>
        <dsp:cNvSpPr/>
      </dsp:nvSpPr>
      <dsp:spPr>
        <a:xfrm>
          <a:off x="1515519" y="593312"/>
          <a:ext cx="2273278" cy="53847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Decodes the control field to identify packet start, end, and error boundaries</a:t>
          </a:r>
        </a:p>
      </dsp:txBody>
      <dsp:txXfrm>
        <a:off x="1515519" y="660621"/>
        <a:ext cx="2071352" cy="403852"/>
      </dsp:txXfrm>
    </dsp:sp>
    <dsp:sp modelId="{DE02EA0E-7599-4846-B043-FD1217C7F6EA}">
      <dsp:nvSpPr>
        <dsp:cNvPr id="0" name=""/>
        <dsp:cNvSpPr/>
      </dsp:nvSpPr>
      <dsp:spPr>
        <a:xfrm>
          <a:off x="0" y="593312"/>
          <a:ext cx="1515519" cy="538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CXSCNTL Decoder</a:t>
          </a:r>
        </a:p>
      </dsp:txBody>
      <dsp:txXfrm>
        <a:off x="26286" y="619598"/>
        <a:ext cx="1462947" cy="485898"/>
      </dsp:txXfrm>
    </dsp:sp>
    <dsp:sp modelId="{2C810BC6-397B-47FC-9A17-0B6327A40F78}">
      <dsp:nvSpPr>
        <dsp:cNvPr id="0" name=""/>
        <dsp:cNvSpPr/>
      </dsp:nvSpPr>
      <dsp:spPr>
        <a:xfrm>
          <a:off x="1515519" y="1185629"/>
          <a:ext cx="2273278" cy="53847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Formats the decoded flit + boundary info for storage into the Async FIFO</a:t>
          </a:r>
        </a:p>
      </dsp:txBody>
      <dsp:txXfrm>
        <a:off x="1515519" y="1252938"/>
        <a:ext cx="2071352" cy="403852"/>
      </dsp:txXfrm>
    </dsp:sp>
    <dsp:sp modelId="{5BDA8100-EC44-4978-ACB5-ABFCF6719408}">
      <dsp:nvSpPr>
        <dsp:cNvPr id="0" name=""/>
        <dsp:cNvSpPr/>
      </dsp:nvSpPr>
      <dsp:spPr>
        <a:xfrm>
          <a:off x="0" y="1185629"/>
          <a:ext cx="1515519" cy="538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Boundary Extractor </a:t>
          </a:r>
        </a:p>
      </dsp:txBody>
      <dsp:txXfrm>
        <a:off x="26286" y="1211915"/>
        <a:ext cx="1462947" cy="485898"/>
      </dsp:txXfrm>
    </dsp:sp>
    <dsp:sp modelId="{57366C1C-DE19-454D-B5BA-3D8FF24965D7}">
      <dsp:nvSpPr>
        <dsp:cNvPr id="0" name=""/>
        <dsp:cNvSpPr/>
      </dsp:nvSpPr>
      <dsp:spPr>
        <a:xfrm>
          <a:off x="1515519" y="1777947"/>
          <a:ext cx="2273278" cy="53847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Monitors FIFO space; asserts CXSRXCRDGNT when a read frees a buffer slot, </a:t>
          </a:r>
          <a:r>
            <a:rPr lang="en-US" sz="8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deasserts</a:t>
          </a:r>
          <a:r>
            <a:rPr lang="en-US" sz="8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when FIFO is full</a:t>
          </a:r>
        </a:p>
      </dsp:txBody>
      <dsp:txXfrm>
        <a:off x="1515519" y="1845256"/>
        <a:ext cx="2071352" cy="403852"/>
      </dsp:txXfrm>
    </dsp:sp>
    <dsp:sp modelId="{3EA53BCA-1223-46E2-81A0-5C1752CFD4A6}">
      <dsp:nvSpPr>
        <dsp:cNvPr id="0" name=""/>
        <dsp:cNvSpPr/>
      </dsp:nvSpPr>
      <dsp:spPr>
        <a:xfrm>
          <a:off x="0" y="1777947"/>
          <a:ext cx="1515519" cy="538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Credit Generator</a:t>
          </a:r>
        </a:p>
      </dsp:txBody>
      <dsp:txXfrm>
        <a:off x="26286" y="1804233"/>
        <a:ext cx="1462947" cy="485898"/>
      </dsp:txXfrm>
    </dsp:sp>
    <dsp:sp modelId="{867EEB12-F024-4429-B5E2-6E68400547F8}">
      <dsp:nvSpPr>
        <dsp:cNvPr id="0" name=""/>
        <dsp:cNvSpPr/>
      </dsp:nvSpPr>
      <dsp:spPr>
        <a:xfrm>
          <a:off x="1515519" y="2371259"/>
          <a:ext cx="2273278" cy="53847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FSM managing link activation/deactivation handshake (CXSRXACTIVEREQ/ACK)</a:t>
          </a:r>
        </a:p>
      </dsp:txBody>
      <dsp:txXfrm>
        <a:off x="1515519" y="2438568"/>
        <a:ext cx="2071352" cy="403852"/>
      </dsp:txXfrm>
    </dsp:sp>
    <dsp:sp modelId="{9AC02F42-21BF-4A96-883F-CFAA7ED98EFF}">
      <dsp:nvSpPr>
        <dsp:cNvPr id="0" name=""/>
        <dsp:cNvSpPr/>
      </dsp:nvSpPr>
      <dsp:spPr>
        <a:xfrm>
          <a:off x="0" y="2370264"/>
          <a:ext cx="1515519" cy="538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Link Control (RX)</a:t>
          </a:r>
        </a:p>
      </dsp:txBody>
      <dsp:txXfrm>
        <a:off x="26286" y="2396550"/>
        <a:ext cx="1462947" cy="4858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FC3EA6-84C2-461D-B07A-36D241C9725D}">
      <dsp:nvSpPr>
        <dsp:cNvPr id="0" name=""/>
        <dsp:cNvSpPr/>
      </dsp:nvSpPr>
      <dsp:spPr>
        <a:xfrm>
          <a:off x="1515519" y="994"/>
          <a:ext cx="2273278" cy="53847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Converts </a:t>
          </a:r>
          <a:r>
            <a:rPr lang="en-US" sz="9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status_valid</a:t>
          </a:r>
          <a:r>
            <a:rPr lang="en-US" sz="9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/</a:t>
          </a:r>
          <a:r>
            <a:rPr lang="en-US" sz="9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pkt_type</a:t>
          </a:r>
          <a:r>
            <a:rPr lang="en-US" sz="9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/</a:t>
          </a:r>
          <a:r>
            <a:rPr lang="en-US" sz="9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error_type</a:t>
          </a:r>
          <a:r>
            <a:rPr lang="en-US" sz="9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into internal packet format with start/end markers</a:t>
          </a:r>
        </a:p>
      </dsp:txBody>
      <dsp:txXfrm>
        <a:off x="1515519" y="68303"/>
        <a:ext cx="2071352" cy="403852"/>
      </dsp:txXfrm>
    </dsp:sp>
    <dsp:sp modelId="{25F89F97-50D4-4A4E-8E8D-7183F38EC508}">
      <dsp:nvSpPr>
        <dsp:cNvPr id="0" name=""/>
        <dsp:cNvSpPr/>
      </dsp:nvSpPr>
      <dsp:spPr>
        <a:xfrm>
          <a:off x="0" y="994"/>
          <a:ext cx="1515519" cy="538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CXS Packet Formatter</a:t>
          </a:r>
        </a:p>
      </dsp:txBody>
      <dsp:txXfrm>
        <a:off x="26286" y="27280"/>
        <a:ext cx="1462947" cy="485898"/>
      </dsp:txXfrm>
    </dsp:sp>
    <dsp:sp modelId="{A6588C23-84DC-45FC-B0BE-9C582CDA7B87}">
      <dsp:nvSpPr>
        <dsp:cNvPr id="0" name=""/>
        <dsp:cNvSpPr/>
      </dsp:nvSpPr>
      <dsp:spPr>
        <a:xfrm>
          <a:off x="1515519" y="593312"/>
          <a:ext cx="2273278" cy="53847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Tracks available transmission credits (CXSTXCRDGNT in, consumed on each flit sent, max 15)</a:t>
          </a:r>
        </a:p>
      </dsp:txBody>
      <dsp:txXfrm>
        <a:off x="1515519" y="660621"/>
        <a:ext cx="2071352" cy="403852"/>
      </dsp:txXfrm>
    </dsp:sp>
    <dsp:sp modelId="{DE02EA0E-7599-4846-B043-FD1217C7F6EA}">
      <dsp:nvSpPr>
        <dsp:cNvPr id="0" name=""/>
        <dsp:cNvSpPr/>
      </dsp:nvSpPr>
      <dsp:spPr>
        <a:xfrm>
          <a:off x="0" y="593312"/>
          <a:ext cx="1515519" cy="538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CXS TX Credit Counter</a:t>
          </a:r>
        </a:p>
      </dsp:txBody>
      <dsp:txXfrm>
        <a:off x="26286" y="619598"/>
        <a:ext cx="1462947" cy="485898"/>
      </dsp:txXfrm>
    </dsp:sp>
    <dsp:sp modelId="{2C810BC6-397B-47FC-9A17-0B6327A40F78}">
      <dsp:nvSpPr>
        <dsp:cNvPr id="0" name=""/>
        <dsp:cNvSpPr/>
      </dsp:nvSpPr>
      <dsp:spPr>
        <a:xfrm>
          <a:off x="1515519" y="1185629"/>
          <a:ext cx="2273278" cy="53847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Transmits the flit only when packet is available, link permits sending, and credit is available</a:t>
          </a:r>
        </a:p>
      </dsp:txBody>
      <dsp:txXfrm>
        <a:off x="1515519" y="1252938"/>
        <a:ext cx="2071352" cy="403852"/>
      </dsp:txXfrm>
    </dsp:sp>
    <dsp:sp modelId="{5BDA8100-EC44-4978-ACB5-ABFCF6719408}">
      <dsp:nvSpPr>
        <dsp:cNvPr id="0" name=""/>
        <dsp:cNvSpPr/>
      </dsp:nvSpPr>
      <dsp:spPr>
        <a:xfrm>
          <a:off x="0" y="1185629"/>
          <a:ext cx="1515519" cy="538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CXS Flit Transmitter</a:t>
          </a:r>
        </a:p>
      </dsp:txBody>
      <dsp:txXfrm>
        <a:off x="26286" y="1211915"/>
        <a:ext cx="1462947" cy="485898"/>
      </dsp:txXfrm>
    </dsp:sp>
    <dsp:sp modelId="{57366C1C-DE19-454D-B5BA-3D8FF24965D7}">
      <dsp:nvSpPr>
        <dsp:cNvPr id="0" name=""/>
        <dsp:cNvSpPr/>
      </dsp:nvSpPr>
      <dsp:spPr>
        <a:xfrm>
          <a:off x="1515519" y="1777947"/>
          <a:ext cx="2273278" cy="53847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Encodes START/END/ENDERROR into the final CXSTXCNTL field</a:t>
          </a:r>
        </a:p>
      </dsp:txBody>
      <dsp:txXfrm>
        <a:off x="1515519" y="1845256"/>
        <a:ext cx="2071352" cy="403852"/>
      </dsp:txXfrm>
    </dsp:sp>
    <dsp:sp modelId="{3EA53BCA-1223-46E2-81A0-5C1752CFD4A6}">
      <dsp:nvSpPr>
        <dsp:cNvPr id="0" name=""/>
        <dsp:cNvSpPr/>
      </dsp:nvSpPr>
      <dsp:spPr>
        <a:xfrm>
          <a:off x="0" y="1777947"/>
          <a:ext cx="1515519" cy="538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CXS Control Encoder</a:t>
          </a: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en-US" sz="1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cxscntl_encoder</a:t>
          </a: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</dsp:txBody>
      <dsp:txXfrm>
        <a:off x="26286" y="1804233"/>
        <a:ext cx="1462947" cy="485898"/>
      </dsp:txXfrm>
    </dsp:sp>
    <dsp:sp modelId="{867EEB12-F024-4429-B5E2-6E68400547F8}">
      <dsp:nvSpPr>
        <dsp:cNvPr id="0" name=""/>
        <dsp:cNvSpPr/>
      </dsp:nvSpPr>
      <dsp:spPr>
        <a:xfrm>
          <a:off x="1515519" y="2371259"/>
          <a:ext cx="2273278" cy="53847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" tIns="5715" rIns="5715" bIns="5715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9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Manages CXSTXACTIVEREQ/ACK handshake and gates transmission permission</a:t>
          </a:r>
        </a:p>
      </dsp:txBody>
      <dsp:txXfrm>
        <a:off x="1515519" y="2438568"/>
        <a:ext cx="2071352" cy="403852"/>
      </dsp:txXfrm>
    </dsp:sp>
    <dsp:sp modelId="{9AC02F42-21BF-4A96-883F-CFAA7ED98EFF}">
      <dsp:nvSpPr>
        <dsp:cNvPr id="0" name=""/>
        <dsp:cNvSpPr/>
      </dsp:nvSpPr>
      <dsp:spPr>
        <a:xfrm>
          <a:off x="0" y="2370264"/>
          <a:ext cx="1515519" cy="538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Link Control (TX)</a:t>
          </a:r>
        </a:p>
      </dsp:txBody>
      <dsp:txXfrm>
        <a:off x="26286" y="2396550"/>
        <a:ext cx="1462947" cy="4858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EAEA3C-198E-4428-91F5-5D40AC471D03}">
      <dsp:nvSpPr>
        <dsp:cNvPr id="0" name=""/>
        <dsp:cNvSpPr/>
      </dsp:nvSpPr>
      <dsp:spPr>
        <a:xfrm rot="5400000">
          <a:off x="-85717" y="87958"/>
          <a:ext cx="571446" cy="4000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IDLE</a:t>
          </a:r>
        </a:p>
      </dsp:txBody>
      <dsp:txXfrm rot="-5400000">
        <a:off x="0" y="202247"/>
        <a:ext cx="400012" cy="171434"/>
      </dsp:txXfrm>
    </dsp:sp>
    <dsp:sp modelId="{F05F49B7-E57A-4430-8446-DFC1C1F638EA}">
      <dsp:nvSpPr>
        <dsp:cNvPr id="0" name=""/>
        <dsp:cNvSpPr/>
      </dsp:nvSpPr>
      <dsp:spPr>
        <a:xfrm rot="5400000">
          <a:off x="2657935" y="-2255681"/>
          <a:ext cx="371440" cy="48872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Default/reset state; waits while FIFO </a:t>
          </a:r>
          <a:r>
            <a:rPr lang="en-US" sz="1200" kern="120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is empty</a:t>
          </a:r>
          <a:endParaRPr lang="en-US" sz="1200" kern="1200" dirty="0">
            <a:solidFill>
              <a:srgbClr val="1E276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At system deactivation </a:t>
          </a:r>
        </a:p>
      </dsp:txBody>
      <dsp:txXfrm rot="-5400000">
        <a:off x="400013" y="20373"/>
        <a:ext cx="4869153" cy="335176"/>
      </dsp:txXfrm>
    </dsp:sp>
    <dsp:sp modelId="{1E631251-D50F-4103-BFBF-990C9568DF11}">
      <dsp:nvSpPr>
        <dsp:cNvPr id="0" name=""/>
        <dsp:cNvSpPr/>
      </dsp:nvSpPr>
      <dsp:spPr>
        <a:xfrm rot="5400000">
          <a:off x="-85717" y="583756"/>
          <a:ext cx="571446" cy="4000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CFG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SCAN</a:t>
          </a:r>
        </a:p>
      </dsp:txBody>
      <dsp:txXfrm rot="-5400000">
        <a:off x="0" y="698045"/>
        <a:ext cx="400012" cy="171434"/>
      </dsp:txXfrm>
    </dsp:sp>
    <dsp:sp modelId="{84D39791-37A5-4786-8C16-C3F8789281C3}">
      <dsp:nvSpPr>
        <dsp:cNvPr id="0" name=""/>
        <dsp:cNvSpPr/>
      </dsp:nvSpPr>
      <dsp:spPr>
        <a:xfrm rot="5400000">
          <a:off x="2657837" y="-1759784"/>
          <a:ext cx="371635" cy="48872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Reads first flit, checks if it's a config header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rd_fifo_en</a:t>
          </a: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=1, </a:t>
          </a:r>
          <a:r>
            <a:rPr lang="en-US" sz="12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addr_counte</a:t>
          </a: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</a:t>
          </a:r>
        </a:p>
      </dsp:txBody>
      <dsp:txXfrm rot="-5400000">
        <a:off x="400012" y="516183"/>
        <a:ext cx="4869143" cy="335351"/>
      </dsp:txXfrm>
    </dsp:sp>
    <dsp:sp modelId="{E7E0AF17-56E0-410F-9CE5-0C1A889F3C58}">
      <dsp:nvSpPr>
        <dsp:cNvPr id="0" name=""/>
        <dsp:cNvSpPr/>
      </dsp:nvSpPr>
      <dsp:spPr>
        <a:xfrm rot="5400000">
          <a:off x="-85717" y="1079555"/>
          <a:ext cx="571446" cy="4000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CFG_WR</a:t>
          </a:r>
        </a:p>
      </dsp:txBody>
      <dsp:txXfrm rot="-5400000">
        <a:off x="0" y="1193844"/>
        <a:ext cx="400012" cy="171434"/>
      </dsp:txXfrm>
    </dsp:sp>
    <dsp:sp modelId="{209C89DD-2555-4ACD-B62E-C40608D078AF}">
      <dsp:nvSpPr>
        <dsp:cNvPr id="0" name=""/>
        <dsp:cNvSpPr/>
      </dsp:nvSpPr>
      <dsp:spPr>
        <a:xfrm rot="5400000">
          <a:off x="2657935" y="-1264084"/>
          <a:ext cx="371440" cy="48872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Writes config payload into CDM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config_we</a:t>
          </a: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</a:t>
          </a:r>
        </a:p>
      </dsp:txBody>
      <dsp:txXfrm rot="-5400000">
        <a:off x="400013" y="1011970"/>
        <a:ext cx="4869153" cy="335176"/>
      </dsp:txXfrm>
    </dsp:sp>
    <dsp:sp modelId="{9AEABF67-0F5F-4110-AEBC-7EC940420F45}">
      <dsp:nvSpPr>
        <dsp:cNvPr id="0" name=""/>
        <dsp:cNvSpPr/>
      </dsp:nvSpPr>
      <dsp:spPr>
        <a:xfrm rot="5400000">
          <a:off x="-85717" y="1575353"/>
          <a:ext cx="571446" cy="4000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LINK_SCAN</a:t>
          </a:r>
        </a:p>
      </dsp:txBody>
      <dsp:txXfrm rot="-5400000">
        <a:off x="0" y="1689642"/>
        <a:ext cx="400012" cy="171434"/>
      </dsp:txXfrm>
    </dsp:sp>
    <dsp:sp modelId="{E638C40D-F786-40C7-81A9-EFB374C2939C}">
      <dsp:nvSpPr>
        <dsp:cNvPr id="0" name=""/>
        <dsp:cNvSpPr/>
      </dsp:nvSpPr>
      <dsp:spPr>
        <a:xfrm rot="5400000">
          <a:off x="2657935" y="-768285"/>
          <a:ext cx="371440" cy="48872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Verifies Link-Up packet after config is done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rd_fifo_en</a:t>
          </a: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</a:t>
          </a:r>
        </a:p>
      </dsp:txBody>
      <dsp:txXfrm rot="-5400000">
        <a:off x="400013" y="1507769"/>
        <a:ext cx="4869153" cy="335176"/>
      </dsp:txXfrm>
    </dsp:sp>
    <dsp:sp modelId="{16F7BE88-8E8A-4CFD-80F2-89CD3B9C1FAE}">
      <dsp:nvSpPr>
        <dsp:cNvPr id="0" name=""/>
        <dsp:cNvSpPr/>
      </dsp:nvSpPr>
      <dsp:spPr>
        <a:xfrm rot="5400000">
          <a:off x="-85717" y="2071152"/>
          <a:ext cx="571446" cy="4000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LINK</a:t>
          </a:r>
        </a:p>
      </dsp:txBody>
      <dsp:txXfrm rot="-5400000">
        <a:off x="0" y="2185441"/>
        <a:ext cx="400012" cy="171434"/>
      </dsp:txXfrm>
    </dsp:sp>
    <dsp:sp modelId="{25B04A7F-920C-454F-BB75-FD6E48F42E45}">
      <dsp:nvSpPr>
        <dsp:cNvPr id="0" name=""/>
        <dsp:cNvSpPr/>
      </dsp:nvSpPr>
      <dsp:spPr>
        <a:xfrm rot="5400000">
          <a:off x="2657935" y="-272487"/>
          <a:ext cx="371440" cy="48872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Link validated; ready for data transfer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status_valid</a:t>
          </a: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</a:t>
          </a:r>
        </a:p>
      </dsp:txBody>
      <dsp:txXfrm rot="-5400000">
        <a:off x="400013" y="2003567"/>
        <a:ext cx="4869153" cy="335176"/>
      </dsp:txXfrm>
    </dsp:sp>
    <dsp:sp modelId="{9ECE4B3C-795A-44AB-A03E-F317E85195DB}">
      <dsp:nvSpPr>
        <dsp:cNvPr id="0" name=""/>
        <dsp:cNvSpPr/>
      </dsp:nvSpPr>
      <dsp:spPr>
        <a:xfrm rot="5400000">
          <a:off x="-85717" y="2566950"/>
          <a:ext cx="571446" cy="4000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DATA_SCAN</a:t>
          </a:r>
        </a:p>
      </dsp:txBody>
      <dsp:txXfrm rot="-5400000">
        <a:off x="0" y="2681239"/>
        <a:ext cx="400012" cy="171434"/>
      </dsp:txXfrm>
    </dsp:sp>
    <dsp:sp modelId="{A259482F-8C26-4D79-9730-8BFEE3D6A50F}">
      <dsp:nvSpPr>
        <dsp:cNvPr id="0" name=""/>
        <dsp:cNvSpPr/>
      </dsp:nvSpPr>
      <dsp:spPr>
        <a:xfrm rot="5400000">
          <a:off x="2657935" y="223311"/>
          <a:ext cx="371440" cy="48872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Detects start of payload packet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rd_fifo_en</a:t>
          </a: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=1, </a:t>
          </a:r>
          <a:r>
            <a:rPr lang="en-US" sz="12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rd_configen</a:t>
          </a: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</a:t>
          </a:r>
        </a:p>
      </dsp:txBody>
      <dsp:txXfrm rot="-5400000">
        <a:off x="400013" y="2499365"/>
        <a:ext cx="4869153" cy="335176"/>
      </dsp:txXfrm>
    </dsp:sp>
    <dsp:sp modelId="{78CD9323-2AFA-4CDA-ABF1-290278A751EE}">
      <dsp:nvSpPr>
        <dsp:cNvPr id="0" name=""/>
        <dsp:cNvSpPr/>
      </dsp:nvSpPr>
      <dsp:spPr>
        <a:xfrm rot="5400000">
          <a:off x="-85717" y="3062749"/>
          <a:ext cx="571446" cy="4000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DATA_BODY</a:t>
          </a:r>
        </a:p>
      </dsp:txBody>
      <dsp:txXfrm rot="-5400000">
        <a:off x="0" y="3177038"/>
        <a:ext cx="400012" cy="171434"/>
      </dsp:txXfrm>
    </dsp:sp>
    <dsp:sp modelId="{1E00D41F-ECEC-4617-81C5-61F6D0BFC399}">
      <dsp:nvSpPr>
        <dsp:cNvPr id="0" name=""/>
        <dsp:cNvSpPr/>
      </dsp:nvSpPr>
      <dsp:spPr>
        <a:xfrm rot="5400000">
          <a:off x="2657935" y="719109"/>
          <a:ext cx="371440" cy="48872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Processes payload data until </a:t>
          </a:r>
          <a:r>
            <a:rPr lang="en-US" sz="12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pkt_end</a:t>
          </a:r>
          <a:endParaRPr lang="en-US" sz="1200" kern="1200" dirty="0">
            <a:solidFill>
              <a:srgbClr val="1E276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payload_valid</a:t>
          </a: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=1, </a:t>
          </a:r>
          <a:r>
            <a:rPr lang="en-US" sz="12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rd_config_en</a:t>
          </a: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</a:t>
          </a:r>
        </a:p>
      </dsp:txBody>
      <dsp:txXfrm rot="-5400000">
        <a:off x="400013" y="2995163"/>
        <a:ext cx="4869153" cy="335176"/>
      </dsp:txXfrm>
    </dsp:sp>
    <dsp:sp modelId="{2482E046-E71E-49D8-8096-12C3DB13CD23}">
      <dsp:nvSpPr>
        <dsp:cNvPr id="0" name=""/>
        <dsp:cNvSpPr/>
      </dsp:nvSpPr>
      <dsp:spPr>
        <a:xfrm rot="5400000">
          <a:off x="-85717" y="3558547"/>
          <a:ext cx="571446" cy="40001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ERROR</a:t>
          </a:r>
        </a:p>
      </dsp:txBody>
      <dsp:txXfrm rot="-5400000">
        <a:off x="0" y="3672836"/>
        <a:ext cx="400012" cy="171434"/>
      </dsp:txXfrm>
    </dsp:sp>
    <dsp:sp modelId="{BF1D22C6-0319-47F4-84E2-81E81E1614B8}">
      <dsp:nvSpPr>
        <dsp:cNvPr id="0" name=""/>
        <dsp:cNvSpPr/>
      </dsp:nvSpPr>
      <dsp:spPr>
        <a:xfrm rot="5400000">
          <a:off x="2657935" y="1214908"/>
          <a:ext cx="371440" cy="48872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Entered on invalid header/type/protocol violation; holds until reset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status_valid</a:t>
          </a: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=1, </a:t>
          </a:r>
          <a:r>
            <a:rPr lang="en-US" sz="1200" kern="1200" dirty="0" err="1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rd_fifo_en</a:t>
          </a:r>
          <a:r>
            <a:rPr lang="en-US" sz="1200" kern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=1</a:t>
          </a:r>
        </a:p>
      </dsp:txBody>
      <dsp:txXfrm rot="-5400000">
        <a:off x="400013" y="3490962"/>
        <a:ext cx="4869153" cy="3351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1C8D6F-EFB3-4DC0-BD9B-BBFD2E18D5C6}">
      <dsp:nvSpPr>
        <dsp:cNvPr id="0" name=""/>
        <dsp:cNvSpPr/>
      </dsp:nvSpPr>
      <dsp:spPr>
        <a:xfrm>
          <a:off x="4214" y="9795"/>
          <a:ext cx="1916299" cy="11229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Asynchronous FIFO</a:t>
          </a:r>
        </a:p>
      </dsp:txBody>
      <dsp:txXfrm>
        <a:off x="4214" y="9795"/>
        <a:ext cx="1916299" cy="748658"/>
      </dsp:txXfrm>
    </dsp:sp>
    <dsp:sp modelId="{009BC3D3-CC39-45A2-B77B-68ABB4094C99}">
      <dsp:nvSpPr>
        <dsp:cNvPr id="0" name=""/>
        <dsp:cNvSpPr/>
      </dsp:nvSpPr>
      <dsp:spPr>
        <a:xfrm>
          <a:off x="396709" y="758453"/>
          <a:ext cx="1916299" cy="2268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Safe multi-bit data transfer between </a:t>
          </a:r>
          <a:r>
            <a:rPr lang="en-US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37 MHz CXS domain → 25 MHz System domain</a:t>
          </a: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Rate matching and buffering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Full/Empty status generation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Prevention of data loss between different clock rates</a:t>
          </a:r>
        </a:p>
      </dsp:txBody>
      <dsp:txXfrm>
        <a:off x="452835" y="814579"/>
        <a:ext cx="1804047" cy="2155748"/>
      </dsp:txXfrm>
    </dsp:sp>
    <dsp:sp modelId="{A5C863C1-3E94-47FB-98C6-34B197FA4C7A}">
      <dsp:nvSpPr>
        <dsp:cNvPr id="0" name=""/>
        <dsp:cNvSpPr/>
      </dsp:nvSpPr>
      <dsp:spPr>
        <a:xfrm>
          <a:off x="2211018" y="145572"/>
          <a:ext cx="615868" cy="4771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211018" y="240993"/>
        <a:ext cx="472737" cy="286261"/>
      </dsp:txXfrm>
    </dsp:sp>
    <dsp:sp modelId="{083402C0-C91A-4AB2-BE0D-2DA7FD13F750}">
      <dsp:nvSpPr>
        <dsp:cNvPr id="0" name=""/>
        <dsp:cNvSpPr/>
      </dsp:nvSpPr>
      <dsp:spPr>
        <a:xfrm>
          <a:off x="3082530" y="9795"/>
          <a:ext cx="1916299" cy="11229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Synchronizer</a:t>
          </a:r>
        </a:p>
      </dsp:txBody>
      <dsp:txXfrm>
        <a:off x="3082530" y="9795"/>
        <a:ext cx="1916299" cy="748658"/>
      </dsp:txXfrm>
    </dsp:sp>
    <dsp:sp modelId="{42BB05AA-495E-490B-A415-AA34521D721D}">
      <dsp:nvSpPr>
        <dsp:cNvPr id="0" name=""/>
        <dsp:cNvSpPr/>
      </dsp:nvSpPr>
      <dsp:spPr>
        <a:xfrm>
          <a:off x="3475026" y="758453"/>
          <a:ext cx="1916299" cy="2268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Font typeface="Arial" panose="020B0604020202020204" pitchFamily="34" charset="0"/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Transfers status information from </a:t>
          </a:r>
          <a:r>
            <a:rPr lang="en-US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System domain → CXS domain</a:t>
          </a: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Uses a configurable multi-stage flip-flop synchronizer.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Synchronizes the enable/control signal.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31152" y="814579"/>
        <a:ext cx="1804047" cy="2155748"/>
      </dsp:txXfrm>
    </dsp:sp>
    <dsp:sp modelId="{42ED7FFA-AA35-4ED7-90B2-CD0562E75404}">
      <dsp:nvSpPr>
        <dsp:cNvPr id="0" name=""/>
        <dsp:cNvSpPr/>
      </dsp:nvSpPr>
      <dsp:spPr>
        <a:xfrm>
          <a:off x="5289334" y="145572"/>
          <a:ext cx="615868" cy="4771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289334" y="240993"/>
        <a:ext cx="472737" cy="286261"/>
      </dsp:txXfrm>
    </dsp:sp>
    <dsp:sp modelId="{87703A5A-DC03-49DD-A097-746ECB3FE60D}">
      <dsp:nvSpPr>
        <dsp:cNvPr id="0" name=""/>
        <dsp:cNvSpPr/>
      </dsp:nvSpPr>
      <dsp:spPr>
        <a:xfrm>
          <a:off x="6160847" y="9795"/>
          <a:ext cx="1916299" cy="11229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Reset Synchronizer</a:t>
          </a:r>
        </a:p>
      </dsp:txBody>
      <dsp:txXfrm>
        <a:off x="6160847" y="9795"/>
        <a:ext cx="1916299" cy="748658"/>
      </dsp:txXfrm>
    </dsp:sp>
    <dsp:sp modelId="{D08BA6F5-4B30-4583-A486-69CD12F029DC}">
      <dsp:nvSpPr>
        <dsp:cNvPr id="0" name=""/>
        <dsp:cNvSpPr/>
      </dsp:nvSpPr>
      <dsp:spPr>
        <a:xfrm>
          <a:off x="6553342" y="758453"/>
          <a:ext cx="1916299" cy="2268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Separate reset synchronization for each clock domain.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Asynchronous reset assertion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Synchronous reset </a:t>
          </a:r>
          <a:r>
            <a:rPr lang="en-US" sz="12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deassertion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09468" y="814579"/>
        <a:ext cx="1804047" cy="21557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5CECA-B47B-4AC3-B71F-3270DC00B3C3}">
      <dsp:nvSpPr>
        <dsp:cNvPr id="0" name=""/>
        <dsp:cNvSpPr/>
      </dsp:nvSpPr>
      <dsp:spPr>
        <a:xfrm>
          <a:off x="265517" y="2975"/>
          <a:ext cx="1411495" cy="3528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CXS RX Interface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852" y="13310"/>
        <a:ext cx="1390825" cy="332203"/>
      </dsp:txXfrm>
    </dsp:sp>
    <dsp:sp modelId="{AAE297F5-E414-4C16-8D02-D93561D76E4B}">
      <dsp:nvSpPr>
        <dsp:cNvPr id="0" name=""/>
        <dsp:cNvSpPr/>
      </dsp:nvSpPr>
      <dsp:spPr>
        <a:xfrm rot="5400000">
          <a:off x="905101" y="364671"/>
          <a:ext cx="132327" cy="1587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923627" y="377904"/>
        <a:ext cx="95275" cy="92629"/>
      </dsp:txXfrm>
    </dsp:sp>
    <dsp:sp modelId="{22A06CE7-71FD-4A3E-8AA0-B0BF43360726}">
      <dsp:nvSpPr>
        <dsp:cNvPr id="0" name=""/>
        <dsp:cNvSpPr/>
      </dsp:nvSpPr>
      <dsp:spPr>
        <a:xfrm>
          <a:off x="265517" y="532286"/>
          <a:ext cx="1411495" cy="3528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CDC / Asynchronous FIFO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852" y="542621"/>
        <a:ext cx="1390825" cy="332203"/>
      </dsp:txXfrm>
    </dsp:sp>
    <dsp:sp modelId="{9EAE36D1-8898-429B-A077-72F3F6CC1EEF}">
      <dsp:nvSpPr>
        <dsp:cNvPr id="0" name=""/>
        <dsp:cNvSpPr/>
      </dsp:nvSpPr>
      <dsp:spPr>
        <a:xfrm rot="5400000">
          <a:off x="905101" y="893981"/>
          <a:ext cx="132327" cy="1587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923627" y="907214"/>
        <a:ext cx="95275" cy="92629"/>
      </dsp:txXfrm>
    </dsp:sp>
    <dsp:sp modelId="{8AD7772D-ADC1-4804-BA53-EB944761E580}">
      <dsp:nvSpPr>
        <dsp:cNvPr id="0" name=""/>
        <dsp:cNvSpPr/>
      </dsp:nvSpPr>
      <dsp:spPr>
        <a:xfrm>
          <a:off x="265517" y="1061597"/>
          <a:ext cx="1411495" cy="3528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Control Unit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852" y="1071932"/>
        <a:ext cx="1390825" cy="332203"/>
      </dsp:txXfrm>
    </dsp:sp>
    <dsp:sp modelId="{1BC99E1D-AC4A-40EA-A0B6-F95C8180936A}">
      <dsp:nvSpPr>
        <dsp:cNvPr id="0" name=""/>
        <dsp:cNvSpPr/>
      </dsp:nvSpPr>
      <dsp:spPr>
        <a:xfrm rot="5400000">
          <a:off x="905101" y="1423292"/>
          <a:ext cx="132327" cy="1587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923627" y="1436525"/>
        <a:ext cx="95275" cy="92629"/>
      </dsp:txXfrm>
    </dsp:sp>
    <dsp:sp modelId="{04FEF770-4FA3-49F1-B40C-94AF5528AB63}">
      <dsp:nvSpPr>
        <dsp:cNvPr id="0" name=""/>
        <dsp:cNvSpPr/>
      </dsp:nvSpPr>
      <dsp:spPr>
        <a:xfrm>
          <a:off x="265517" y="1590907"/>
          <a:ext cx="1411495" cy="3528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Encryption + Parity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852" y="1601242"/>
        <a:ext cx="1390825" cy="332203"/>
      </dsp:txXfrm>
    </dsp:sp>
    <dsp:sp modelId="{92C8DFCA-D1E0-417F-A686-D9FC0385CCBD}">
      <dsp:nvSpPr>
        <dsp:cNvPr id="0" name=""/>
        <dsp:cNvSpPr/>
      </dsp:nvSpPr>
      <dsp:spPr>
        <a:xfrm rot="5400000">
          <a:off x="905101" y="1952603"/>
          <a:ext cx="132327" cy="1587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923627" y="1965836"/>
        <a:ext cx="95275" cy="92629"/>
      </dsp:txXfrm>
    </dsp:sp>
    <dsp:sp modelId="{A21DDB2C-3D52-4CBE-B695-D35904610A55}">
      <dsp:nvSpPr>
        <dsp:cNvPr id="0" name=""/>
        <dsp:cNvSpPr/>
      </dsp:nvSpPr>
      <dsp:spPr>
        <a:xfrm>
          <a:off x="265517" y="2120218"/>
          <a:ext cx="1411495" cy="3528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ATU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852" y="2130553"/>
        <a:ext cx="1390825" cy="332203"/>
      </dsp:txXfrm>
    </dsp:sp>
    <dsp:sp modelId="{7B043563-BB29-4C24-9B83-DDD46A0E5F83}">
      <dsp:nvSpPr>
        <dsp:cNvPr id="0" name=""/>
        <dsp:cNvSpPr/>
      </dsp:nvSpPr>
      <dsp:spPr>
        <a:xfrm rot="5400000">
          <a:off x="905101" y="2481914"/>
          <a:ext cx="132327" cy="1587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923627" y="2495147"/>
        <a:ext cx="95275" cy="92629"/>
      </dsp:txXfrm>
    </dsp:sp>
    <dsp:sp modelId="{30EB8C55-69CE-44C7-A4F0-6CD3073EC855}">
      <dsp:nvSpPr>
        <dsp:cNvPr id="0" name=""/>
        <dsp:cNvSpPr/>
      </dsp:nvSpPr>
      <dsp:spPr>
        <a:xfrm>
          <a:off x="265517" y="2649529"/>
          <a:ext cx="1411495" cy="3528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Central Data Memory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852" y="2659864"/>
        <a:ext cx="1390825" cy="332203"/>
      </dsp:txXfrm>
    </dsp:sp>
    <dsp:sp modelId="{F36AD347-3B70-4415-AD7C-B2E31B184B05}">
      <dsp:nvSpPr>
        <dsp:cNvPr id="0" name=""/>
        <dsp:cNvSpPr/>
      </dsp:nvSpPr>
      <dsp:spPr>
        <a:xfrm rot="5400000">
          <a:off x="905101" y="3011224"/>
          <a:ext cx="132327" cy="1587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923627" y="3024457"/>
        <a:ext cx="95275" cy="92629"/>
      </dsp:txXfrm>
    </dsp:sp>
    <dsp:sp modelId="{14E450D8-C657-42A3-B035-BCB31151C7C3}">
      <dsp:nvSpPr>
        <dsp:cNvPr id="0" name=""/>
        <dsp:cNvSpPr/>
      </dsp:nvSpPr>
      <dsp:spPr>
        <a:xfrm>
          <a:off x="265517" y="3178839"/>
          <a:ext cx="1411495" cy="3528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Application Interface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852" y="3189174"/>
        <a:ext cx="1390825" cy="332203"/>
      </dsp:txXfrm>
    </dsp:sp>
    <dsp:sp modelId="{853C280A-8C96-435C-A0B6-1965EFD56927}">
      <dsp:nvSpPr>
        <dsp:cNvPr id="0" name=""/>
        <dsp:cNvSpPr/>
      </dsp:nvSpPr>
      <dsp:spPr>
        <a:xfrm rot="5400000">
          <a:off x="905101" y="3540535"/>
          <a:ext cx="132327" cy="1587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923627" y="3553768"/>
        <a:ext cx="95275" cy="92629"/>
      </dsp:txXfrm>
    </dsp:sp>
    <dsp:sp modelId="{70E6639B-1389-440E-A27A-3EAE3C642B0D}">
      <dsp:nvSpPr>
        <dsp:cNvPr id="0" name=""/>
        <dsp:cNvSpPr/>
      </dsp:nvSpPr>
      <dsp:spPr>
        <a:xfrm>
          <a:off x="265517" y="3708150"/>
          <a:ext cx="1411495" cy="3528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CXS TX Interface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852" y="3718485"/>
        <a:ext cx="1390825" cy="3322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#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7441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89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31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306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7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88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41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9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A1359-FDAD-9BF5-92CE-1D293F3DE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83055-8CBC-A54C-2705-DE24D4C0F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B7DC1-83DE-1AC0-44E6-24A51B9D1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AAFF7-7E9D-3482-EE55-FDFC05D024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10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8DAFA-2ECC-B8EC-A00D-7FDF4679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929E9-B52C-074F-44B4-F4E0B6BFD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96F84-F983-AF0E-1C44-3596F705C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4F6B2-D037-E132-EC3E-349D2AE827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790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3B7C3-26A6-E74B-AB57-0B2A9A182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841DF-4A59-AEA4-0690-7D484FBE6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4DA5F-E974-FD26-E17E-9E283C1FB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51352-11A9-4ACD-E893-42A4794460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  <a:latin typeface="Calibri" panose="020F0502020204030204"/>
              </a:rPr>
              <a:pPr/>
              <a:t>19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54902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6C939-0F39-740D-B5FA-5E00920BC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182A3C-269A-14EA-6B03-FA0276E96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72F00-B6F5-9C9E-5F59-154219E22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E2522-7E03-3B88-A777-13C65C4F5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71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62599-B7E3-115D-DD6F-FD522C0E3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EE1DF-9C30-F60C-8DCD-860D94EE8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8AABD-E17D-30C7-7A8A-56D0CDD3D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9C31D-33F6-4D01-8899-4A745AC1C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02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CFEB6-DBD7-F63E-8F41-599EE790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4C3D2-72B6-0F64-A060-5E9E7B4BD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5D8DA-A2F1-834D-56B4-82E9EF8CF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BFDEF-6B4C-1407-518B-7C9415417C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1522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DCC4A-089C-3232-627F-4840FBCF8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48214-65CE-6714-718D-E2884C1A8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928A7-8CD0-40BF-3C9F-91B47CF3D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50891-1020-1032-AACC-6AB92090D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852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888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22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995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393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397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047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573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135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CHECK: the ATU captures the base address on every direct CDM write, including device entries.</a:t>
            </a:r>
          </a:p>
        </p:txBody>
      </p:sp>
    </p:spTree>
    <p:extLst>
      <p:ext uri="{BB962C8B-B14F-4D97-AF65-F5344CB8AC3E}">
        <p14:creationId xmlns:p14="http://schemas.microsoft.com/office/powerpoint/2010/main" val="37324600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206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932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TODO: Unit testbench transcripts: async_fifo, packet_formatter, control_unit, encryption, parity (Source: QuestaSim transcript)</a:t>
            </a:r>
          </a:p>
          <a:p>
            <a:r>
              <a:rPr lang="en-US"/>
              <a:t>Results measured before ADDR_WIDTH = 8 and the packet_formatter declaration-order fix; re-run before presenting.</a:t>
            </a:r>
          </a:p>
        </p:txBody>
      </p:sp>
    </p:spTree>
    <p:extLst>
      <p:ext uri="{BB962C8B-B14F-4D97-AF65-F5344CB8AC3E}">
        <p14:creationId xmlns:p14="http://schemas.microsoft.com/office/powerpoint/2010/main" val="23744456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D409B-32A9-313F-C8CF-C35699A9F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E9B1E-D7FE-3CE6-0299-85F2B9A73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DDAEC-DD55-2682-80D5-1B384456D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5579C-09D2-397C-DDCC-2113846035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391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57844-6FC8-980F-5750-139293ECF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F2C7F-464B-7178-2135-C63B79524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2A254-1F7A-2DB8-4DB0-C584A1C7B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3FCB0-E4DA-1C2E-B167-C7EBF34583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419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TODO: UVM waveforms for the four directed scenarios (Source: QuestaSim waveform (enc_sys_uvm))</a:t>
            </a:r>
          </a:p>
          <a:p>
            <a:r>
              <a:rPr lang="en-US"/>
              <a:t>Results measured before ADDR_WIDTH = 8 and the packet_formatter declaration-order fix; re-run before presenting.</a:t>
            </a:r>
          </a:p>
          <a:p>
            <a:r>
              <a:rPr lang="en-US"/>
              <a:t>CHECK: directed_seq still packs 16-bit addresses in [31:16]; with ADDR_WIDTH = 8 the RTL reads [31:24].</a:t>
            </a:r>
          </a:p>
        </p:txBody>
      </p:sp>
    </p:spTree>
    <p:extLst>
      <p:ext uri="{BB962C8B-B14F-4D97-AF65-F5344CB8AC3E}">
        <p14:creationId xmlns:p14="http://schemas.microsoft.com/office/powerpoint/2010/main" val="36663048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FD42E-13C8-73DC-4393-787BD20A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A496E-0008-7564-D962-14452424B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4A1B3-4687-74FC-9CC9-8C6FFC82E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TODO: SpyGlass lint summary report (Source: SpyGlass)</a:t>
            </a:r>
          </a:p>
          <a:p>
            <a:r>
              <a:rPr lang="en-US"/>
              <a:t>TODO: Design Compiler setup / hold timing reports (Source: Design Compiler report_timing)</a:t>
            </a:r>
          </a:p>
        </p:txBody>
      </p:sp>
    </p:spTree>
    <p:extLst>
      <p:ext uri="{BB962C8B-B14F-4D97-AF65-F5344CB8AC3E}">
        <p14:creationId xmlns:p14="http://schemas.microsoft.com/office/powerpoint/2010/main" val="21399506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A9A82-3BD9-96C9-5D1A-AEEC7E281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9ABE8-F363-EC93-4E69-A4454CCA6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6E355-F93D-87E0-B447-53CA9639B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TODO: SpyGlass lint summary report (Source: SpyGlass)</a:t>
            </a:r>
          </a:p>
          <a:p>
            <a:r>
              <a:rPr lang="en-US"/>
              <a:t>TODO: Design Compiler setup / hold timing reports (Source: Design Compiler report_timing)</a:t>
            </a:r>
          </a:p>
        </p:txBody>
      </p:sp>
    </p:spTree>
    <p:extLst>
      <p:ext uri="{BB962C8B-B14F-4D97-AF65-F5344CB8AC3E}">
        <p14:creationId xmlns:p14="http://schemas.microsoft.com/office/powerpoint/2010/main" val="22648211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46E49-53A8-7EF2-80A7-C74E236D8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73191-C989-D637-7E95-859C61AAD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5C785-1833-AD1D-03A8-0DD7BC4C7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TODO: SpyGlass lint summary report (Source: SpyGlass)</a:t>
            </a:r>
          </a:p>
          <a:p>
            <a:r>
              <a:rPr lang="en-US"/>
              <a:t>TODO: Design Compiler setup / hold timing reports (Source: Design Compiler report_timing)</a:t>
            </a:r>
          </a:p>
        </p:txBody>
      </p:sp>
    </p:spTree>
    <p:extLst>
      <p:ext uri="{BB962C8B-B14F-4D97-AF65-F5344CB8AC3E}">
        <p14:creationId xmlns:p14="http://schemas.microsoft.com/office/powerpoint/2010/main" val="7346735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656A-33A7-35DF-BDF7-077FBD734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977F7-4CB6-E722-DCA1-5376B9098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F87B3-004A-38A5-2698-296420936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TODO: SpyGlass lint summary report (Source: SpyGlass)</a:t>
            </a:r>
          </a:p>
          <a:p>
            <a:r>
              <a:rPr lang="en-US"/>
              <a:t>TODO: Design Compiler setup / hold timing reports (Source: Design Compiler report_timing)</a:t>
            </a:r>
          </a:p>
        </p:txBody>
      </p:sp>
    </p:spTree>
    <p:extLst>
      <p:ext uri="{BB962C8B-B14F-4D97-AF65-F5344CB8AC3E}">
        <p14:creationId xmlns:p14="http://schemas.microsoft.com/office/powerpoint/2010/main" val="12105960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F11B9-F43B-F060-5B2D-533313BCA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BE6F9E-5407-25D5-DB0E-9E43F6508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DCF7F-E34F-7208-235F-0B4618DFE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TODO: SpyGlass lint summary report (Source: SpyGlass)</a:t>
            </a:r>
          </a:p>
          <a:p>
            <a:r>
              <a:rPr lang="en-US"/>
              <a:t>TODO: Design Compiler setup / hold timing reports (Source: Design Compiler report_timing)</a:t>
            </a:r>
          </a:p>
        </p:txBody>
      </p:sp>
    </p:spTree>
    <p:extLst>
      <p:ext uri="{BB962C8B-B14F-4D97-AF65-F5344CB8AC3E}">
        <p14:creationId xmlns:p14="http://schemas.microsoft.com/office/powerpoint/2010/main" val="39211706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TODO: SpyGlass lint summary report (Source: SpyGlass)</a:t>
            </a:r>
          </a:p>
          <a:p>
            <a:r>
              <a:rPr lang="en-US"/>
              <a:t>TODO: Design Compiler setup / hold timing reports (Source: Design Compiler report_timing)</a:t>
            </a:r>
          </a:p>
        </p:txBody>
      </p:sp>
    </p:spTree>
    <p:extLst>
      <p:ext uri="{BB962C8B-B14F-4D97-AF65-F5344CB8AC3E}">
        <p14:creationId xmlns:p14="http://schemas.microsoft.com/office/powerpoint/2010/main" val="36546295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11E80-5920-8BEC-2707-A0442F550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3C7B0-12F4-46F4-8B94-7703B70B7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8170A-A825-C5A3-DAC5-BD3EB2AD3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TODO: SpyGlass lint summary report (Source: SpyGlass)</a:t>
            </a:r>
          </a:p>
          <a:p>
            <a:r>
              <a:rPr lang="en-US"/>
              <a:t>TODO: Design Compiler setup / hold timing reports (Source: Design Compiler report_timing)</a:t>
            </a:r>
          </a:p>
        </p:txBody>
      </p:sp>
    </p:spTree>
    <p:extLst>
      <p:ext uri="{BB962C8B-B14F-4D97-AF65-F5344CB8AC3E}">
        <p14:creationId xmlns:p14="http://schemas.microsoft.com/office/powerpoint/2010/main" val="23958113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001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567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24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slow">
    <p:push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microsoft.com/office/2007/relationships/hdphoto" Target="../media/hdphoto1.wdp"/><Relationship Id="rId7" Type="http://schemas.openxmlformats.org/officeDocument/2006/relationships/diagramColors" Target="../diagrams/colors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microsoft.com/office/2007/relationships/hdphoto" Target="../media/hdphoto1.wdp"/><Relationship Id="rId7" Type="http://schemas.openxmlformats.org/officeDocument/2006/relationships/diagramColors" Target="../diagrams/colors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microsoft.com/office/2007/relationships/hdphoto" Target="../media/hdphoto1.wdp"/><Relationship Id="rId7" Type="http://schemas.openxmlformats.org/officeDocument/2006/relationships/diagramColors" Target="../diagrams/colors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0">
              <a:srgbClr val="1E2761"/>
            </a:gs>
            <a:gs pos="0">
              <a:srgbClr val="1E2761"/>
            </a:gs>
            <a:gs pos="0">
              <a:srgbClr val="1E2761"/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16D48-6EC9-8DD5-3C1A-EF6E4452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588FA4-8786-2C22-CCDC-A262969E6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930" y="0"/>
            <a:ext cx="1646069" cy="967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C4BC81EF-AB7A-C7E1-515F-51F30D84B557}"/>
              </a:ext>
            </a:extLst>
          </p:cNvPr>
          <p:cNvSpPr/>
          <p:nvPr/>
        </p:nvSpPr>
        <p:spPr>
          <a:xfrm>
            <a:off x="1568048" y="3256855"/>
            <a:ext cx="6007903" cy="62168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18D05FF6-87A5-7CC7-FAC2-62821EAA6ABF}"/>
              </a:ext>
            </a:extLst>
          </p:cNvPr>
          <p:cNvSpPr txBox="1"/>
          <p:nvPr/>
        </p:nvSpPr>
        <p:spPr>
          <a:xfrm>
            <a:off x="54433" y="1126150"/>
            <a:ext cx="87537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CXS BRIDGE Encryption &amp; Data Management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B03F52-11C2-69B1-C930-68020A0CCE52}"/>
              </a:ext>
            </a:extLst>
          </p:cNvPr>
          <p:cNvSpPr txBox="1"/>
          <p:nvPr/>
        </p:nvSpPr>
        <p:spPr>
          <a:xfrm>
            <a:off x="2660901" y="2811153"/>
            <a:ext cx="3540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Supervised by: En. Menna Samir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43A1AA-0D7E-43DE-1BEB-E79C5C521BCC}"/>
              </a:ext>
            </a:extLst>
          </p:cNvPr>
          <p:cNvSpPr txBox="1"/>
          <p:nvPr/>
        </p:nvSpPr>
        <p:spPr>
          <a:xfrm>
            <a:off x="2375316" y="2556945"/>
            <a:ext cx="4294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Program: Digital Design Internship, Si-Vision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EC88A-4DF1-F510-EC1A-FBAEF7BC73BF}"/>
              </a:ext>
            </a:extLst>
          </p:cNvPr>
          <p:cNvSpPr txBox="1"/>
          <p:nvPr/>
        </p:nvSpPr>
        <p:spPr>
          <a:xfrm>
            <a:off x="1549400" y="3429000"/>
            <a:ext cx="6045200" cy="330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</a:rPr>
              <a:t>Presented by Mariam Gomaa &amp; Fady Samy</a:t>
            </a:r>
          </a:p>
        </p:txBody>
      </p:sp>
    </p:spTree>
    <p:extLst>
      <p:ext uri="{BB962C8B-B14F-4D97-AF65-F5344CB8AC3E}">
        <p14:creationId xmlns:p14="http://schemas.microsoft.com/office/powerpoint/2010/main" val="3685929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D0532D-1DCA-0D52-AB7D-CD4A82301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FED281D-EFE2-8270-7EBC-0F09ADCFBE2E}"/>
              </a:ext>
            </a:extLst>
          </p:cNvPr>
          <p:cNvSpPr/>
          <p:nvPr/>
        </p:nvSpPr>
        <p:spPr>
          <a:xfrm>
            <a:off x="0" y="-4873"/>
            <a:ext cx="4510007" cy="5143500"/>
          </a:xfrm>
          <a:prstGeom prst="rect">
            <a:avLst/>
          </a:prstGeom>
          <a:solidFill>
            <a:srgbClr val="1E276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69DA4A-D690-6D1C-2CFD-854B12F37CD5}"/>
              </a:ext>
            </a:extLst>
          </p:cNvPr>
          <p:cNvSpPr txBox="1"/>
          <p:nvPr/>
        </p:nvSpPr>
        <p:spPr>
          <a:xfrm>
            <a:off x="1138991" y="487110"/>
            <a:ext cx="317257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37107C-52F6-561F-0BFB-233B2CF38C47}"/>
              </a:ext>
            </a:extLst>
          </p:cNvPr>
          <p:cNvSpPr txBox="1"/>
          <p:nvPr/>
        </p:nvSpPr>
        <p:spPr>
          <a:xfrm>
            <a:off x="4877368" y="487110"/>
            <a:ext cx="3646835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00050" indent="-28575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&amp; big picture</a:t>
            </a:r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phases &amp; spec contract</a:t>
            </a:r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Clocking, CDC &amp; reset</a:t>
            </a:r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 &amp; parity rules</a:t>
            </a:r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spec, two readings</a:t>
            </a:r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A — [Teammate name]'s implementation</a:t>
            </a:r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B — [Your name]'s implementation</a:t>
            </a:r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Side-by-side comparison</a:t>
            </a:r>
          </a:p>
          <a:p>
            <a:pPr marL="400050" indent="-28575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Roadmap &amp; conclusion</a:t>
            </a: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131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4E375E-C714-93C7-58AA-C42B43D8C6ED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The Problem: Why a CXS Bridge?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D0FED3-4381-0267-AC78-6F0538EAB564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CB94AC-F3ED-C89D-38AE-477EC6816ADB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1E2761"/>
                </a:solidFill>
                <a:latin typeface="Times New Roman" panose="02020603050405020304" pitchFamily="18" charset="0"/>
              </a:rPr>
              <a:t>SPEC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BBD828-A365-B861-AD4C-347338447FEB}"/>
              </a:ext>
            </a:extLst>
          </p:cNvPr>
          <p:cNvSpPr/>
          <p:nvPr/>
        </p:nvSpPr>
        <p:spPr>
          <a:xfrm>
            <a:off x="381000" y="1397000"/>
            <a:ext cx="152400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Host software</a:t>
            </a:r>
          </a:p>
          <a:p>
            <a:pPr algn="ctr">
              <a:spcAft>
                <a:spcPts val="200"/>
              </a:spcAft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configures the bridge and sends data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C3FF6B-D98A-F75D-B6B2-C399ED14E92C}"/>
              </a:ext>
            </a:extLst>
          </p:cNvPr>
          <p:cNvCxnSpPr/>
          <p:nvPr/>
        </p:nvCxnSpPr>
        <p:spPr>
          <a:xfrm>
            <a:off x="1930400" y="1968500"/>
            <a:ext cx="685800" cy="0"/>
          </a:xfrm>
          <a:prstGeom prst="straightConnector1">
            <a:avLst/>
          </a:prstGeom>
          <a:ln w="31750">
            <a:solidFill>
              <a:srgbClr val="00C2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A35D3C6-1966-845E-43C9-5B01326601A0}"/>
              </a:ext>
            </a:extLst>
          </p:cNvPr>
          <p:cNvSpPr txBox="1"/>
          <p:nvPr/>
        </p:nvSpPr>
        <p:spPr>
          <a:xfrm>
            <a:off x="1778000" y="1574800"/>
            <a:ext cx="1016000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1E2761"/>
                </a:solidFill>
                <a:latin typeface="Times New Roman" panose="02020603050405020304" pitchFamily="18" charset="0"/>
              </a:rPr>
              <a:t>CXS link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35DCD-2668-5B10-A7DB-1B834D95AA55}"/>
              </a:ext>
            </a:extLst>
          </p:cNvPr>
          <p:cNvSpPr txBox="1"/>
          <p:nvPr/>
        </p:nvSpPr>
        <p:spPr>
          <a:xfrm>
            <a:off x="1727200" y="2032000"/>
            <a:ext cx="1117600" cy="355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>
                <a:solidFill>
                  <a:srgbClr val="3C3939"/>
                </a:solidFill>
                <a:latin typeface="Times New Roman" panose="02020603050405020304" pitchFamily="18" charset="0"/>
              </a:rPr>
              <a:t>FLITs + credits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209503-F47E-46C8-2184-C36905A765E5}"/>
              </a:ext>
            </a:extLst>
          </p:cNvPr>
          <p:cNvSpPr/>
          <p:nvPr/>
        </p:nvSpPr>
        <p:spPr>
          <a:xfrm>
            <a:off x="2667000" y="1117600"/>
            <a:ext cx="3429000" cy="175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986484-B6E9-8037-9DA6-DBEA566AFE37}"/>
              </a:ext>
            </a:extLst>
          </p:cNvPr>
          <p:cNvSpPr txBox="1"/>
          <p:nvPr/>
        </p:nvSpPr>
        <p:spPr>
          <a:xfrm>
            <a:off x="2819400" y="1168400"/>
            <a:ext cx="30480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 b="1">
                <a:solidFill>
                  <a:srgbClr val="1E2761"/>
                </a:solidFill>
                <a:latin typeface="Cambria" panose="02040503050406030204" pitchFamily="18" charset="0"/>
              </a:rPr>
              <a:t>CXS Bridge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F27B370-DD6D-C621-410D-A2DA3E305CA7}"/>
              </a:ext>
            </a:extLst>
          </p:cNvPr>
          <p:cNvSpPr/>
          <p:nvPr/>
        </p:nvSpPr>
        <p:spPr>
          <a:xfrm>
            <a:off x="2819400" y="1549400"/>
            <a:ext cx="1524000" cy="5080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1E2761"/>
                </a:solidFill>
                <a:latin typeface="Times New Roman" panose="02020603050405020304" pitchFamily="18" charset="0"/>
              </a:rPr>
              <a:t>Configure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5688685-1C0E-14BF-C23E-A682CDAC8F49}"/>
              </a:ext>
            </a:extLst>
          </p:cNvPr>
          <p:cNvSpPr/>
          <p:nvPr/>
        </p:nvSpPr>
        <p:spPr>
          <a:xfrm>
            <a:off x="4445000" y="1549400"/>
            <a:ext cx="1524000" cy="5080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1E2761"/>
                </a:solidFill>
                <a:latin typeface="Times New Roman" panose="02020603050405020304" pitchFamily="18" charset="0"/>
              </a:rPr>
              <a:t>Encrypt + parity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8DEE5FA-A010-27E6-A2ED-8E938D998F0C}"/>
              </a:ext>
            </a:extLst>
          </p:cNvPr>
          <p:cNvSpPr/>
          <p:nvPr/>
        </p:nvSpPr>
        <p:spPr>
          <a:xfrm>
            <a:off x="2819400" y="2184400"/>
            <a:ext cx="1524000" cy="5080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1E2761"/>
                </a:solidFill>
                <a:latin typeface="Times New Roman" panose="02020603050405020304" pitchFamily="18" charset="0"/>
              </a:rPr>
              <a:t>Translate address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30016B-7FD5-A3E8-F3A8-F72B1849B676}"/>
              </a:ext>
            </a:extLst>
          </p:cNvPr>
          <p:cNvSpPr/>
          <p:nvPr/>
        </p:nvSpPr>
        <p:spPr>
          <a:xfrm>
            <a:off x="4445000" y="2184400"/>
            <a:ext cx="1524000" cy="5080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1E2761"/>
                </a:solidFill>
                <a:latin typeface="Times New Roman" panose="02020603050405020304" pitchFamily="18" charset="0"/>
              </a:rPr>
              <a:t>Store in CDM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192468F-F746-D338-A19A-225DB2C03A8E}"/>
              </a:ext>
            </a:extLst>
          </p:cNvPr>
          <p:cNvSpPr/>
          <p:nvPr/>
        </p:nvSpPr>
        <p:spPr>
          <a:xfrm>
            <a:off x="6858000" y="1206500"/>
            <a:ext cx="1905000" cy="381000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>
                <a:solidFill>
                  <a:srgbClr val="FFFFFF"/>
                </a:solidFill>
                <a:latin typeface="Times New Roman" panose="02020603050405020304" pitchFamily="18" charset="0"/>
              </a:rPr>
              <a:t>Logic block 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8281DC3-8185-B19B-9557-05EB6E89F011}"/>
              </a:ext>
            </a:extLst>
          </p:cNvPr>
          <p:cNvCxnSpPr/>
          <p:nvPr/>
        </p:nvCxnSpPr>
        <p:spPr>
          <a:xfrm flipV="1">
            <a:off x="6121400" y="1397000"/>
            <a:ext cx="711200" cy="596900"/>
          </a:xfrm>
          <a:prstGeom prst="straightConnector1">
            <a:avLst/>
          </a:prstGeom>
          <a:ln w="15875">
            <a:solidFill>
              <a:srgbClr val="3C39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5D0ADD8-3B99-19C8-2E23-A04A99AE2F07}"/>
              </a:ext>
            </a:extLst>
          </p:cNvPr>
          <p:cNvSpPr/>
          <p:nvPr/>
        </p:nvSpPr>
        <p:spPr>
          <a:xfrm>
            <a:off x="6858000" y="1841500"/>
            <a:ext cx="1905000" cy="381000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>
                <a:solidFill>
                  <a:srgbClr val="FFFFFF"/>
                </a:solidFill>
                <a:latin typeface="Times New Roman" panose="02020603050405020304" pitchFamily="18" charset="0"/>
              </a:rPr>
              <a:t>Logic block 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67F709C-85DE-05F6-8839-44466CFAAA4E}"/>
              </a:ext>
            </a:extLst>
          </p:cNvPr>
          <p:cNvCxnSpPr/>
          <p:nvPr/>
        </p:nvCxnSpPr>
        <p:spPr>
          <a:xfrm>
            <a:off x="6121400" y="1993900"/>
            <a:ext cx="711200" cy="38100"/>
          </a:xfrm>
          <a:prstGeom prst="straightConnector1">
            <a:avLst/>
          </a:prstGeom>
          <a:ln w="15875">
            <a:solidFill>
              <a:srgbClr val="3C39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91F31CF-FD88-600F-6251-A426CCD811FE}"/>
              </a:ext>
            </a:extLst>
          </p:cNvPr>
          <p:cNvSpPr/>
          <p:nvPr/>
        </p:nvSpPr>
        <p:spPr>
          <a:xfrm>
            <a:off x="6858000" y="2476500"/>
            <a:ext cx="1905000" cy="381000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>
                <a:solidFill>
                  <a:srgbClr val="FFFFFF"/>
                </a:solidFill>
                <a:latin typeface="Times New Roman" panose="02020603050405020304" pitchFamily="18" charset="0"/>
              </a:rPr>
              <a:t>Logic block 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0922B99-0CEF-146D-A00F-3B58C8A65BA5}"/>
              </a:ext>
            </a:extLst>
          </p:cNvPr>
          <p:cNvCxnSpPr/>
          <p:nvPr/>
        </p:nvCxnSpPr>
        <p:spPr>
          <a:xfrm>
            <a:off x="6121400" y="1993900"/>
            <a:ext cx="711200" cy="673100"/>
          </a:xfrm>
          <a:prstGeom prst="straightConnector1">
            <a:avLst/>
          </a:prstGeom>
          <a:ln w="15875">
            <a:solidFill>
              <a:srgbClr val="3C39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4DD383-B892-20CA-641D-7B34FF865224}"/>
              </a:ext>
            </a:extLst>
          </p:cNvPr>
          <p:cNvSpPr txBox="1"/>
          <p:nvPr/>
        </p:nvSpPr>
        <p:spPr>
          <a:xfrm>
            <a:off x="6604000" y="3048000"/>
            <a:ext cx="2413000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i="1">
                <a:solidFill>
                  <a:srgbClr val="3C3939"/>
                </a:solidFill>
                <a:latin typeface="Times New Roman" panose="02020603050405020304" pitchFamily="18" charset="0"/>
              </a:rPr>
              <a:t>each block owns a CDM address region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2A4AFC-E1E6-9ACC-A310-9F47121F92B6}"/>
              </a:ext>
            </a:extLst>
          </p:cNvPr>
          <p:cNvSpPr txBox="1"/>
          <p:nvPr/>
        </p:nvSpPr>
        <p:spPr>
          <a:xfrm>
            <a:off x="355600" y="3276600"/>
            <a:ext cx="5080000" cy="254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1E2761"/>
                </a:solidFill>
                <a:latin typeface="Cambria" panose="02040503050406030204" pitchFamily="18" charset="0"/>
              </a:rPr>
              <a:t>What the spec requires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B4FBB6-EE7F-D75B-0F83-62AA5EA723CD}"/>
              </a:ext>
            </a:extLst>
          </p:cNvPr>
          <p:cNvSpPr/>
          <p:nvPr/>
        </p:nvSpPr>
        <p:spPr>
          <a:xfrm>
            <a:off x="317500" y="3581400"/>
            <a:ext cx="1625600" cy="127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0219B3-DE4A-A379-F7AC-C20D56EE66F8}"/>
              </a:ext>
            </a:extLst>
          </p:cNvPr>
          <p:cNvSpPr txBox="1"/>
          <p:nvPr/>
        </p:nvSpPr>
        <p:spPr>
          <a:xfrm>
            <a:off x="419100" y="3657600"/>
            <a:ext cx="508000" cy="355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C2A8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C0E824-624B-9028-079B-6A35131C7314}"/>
              </a:ext>
            </a:extLst>
          </p:cNvPr>
          <p:cNvSpPr txBox="1"/>
          <p:nvPr/>
        </p:nvSpPr>
        <p:spPr>
          <a:xfrm>
            <a:off x="419100" y="4038600"/>
            <a:ext cx="1422400" cy="736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Configurable encryption (bit expansion)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6F0B2D7-0829-B5BF-3E1F-7266416843C1}"/>
              </a:ext>
            </a:extLst>
          </p:cNvPr>
          <p:cNvSpPr/>
          <p:nvPr/>
        </p:nvSpPr>
        <p:spPr>
          <a:xfrm>
            <a:off x="2070100" y="3581400"/>
            <a:ext cx="1625600" cy="127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3729CA-2424-3CCE-F91A-4CBA88BF6137}"/>
              </a:ext>
            </a:extLst>
          </p:cNvPr>
          <p:cNvSpPr txBox="1"/>
          <p:nvPr/>
        </p:nvSpPr>
        <p:spPr>
          <a:xfrm>
            <a:off x="2171700" y="3657600"/>
            <a:ext cx="508000" cy="355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C2A8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633750-3D9E-625A-D4C8-914F30D1B795}"/>
              </a:ext>
            </a:extLst>
          </p:cNvPr>
          <p:cNvSpPr txBox="1"/>
          <p:nvPr/>
        </p:nvSpPr>
        <p:spPr>
          <a:xfrm>
            <a:off x="2171700" y="4038600"/>
            <a:ext cx="1422400" cy="736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Parity for data integrity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58F4CD2-F205-191F-2872-43389B78DE12}"/>
              </a:ext>
            </a:extLst>
          </p:cNvPr>
          <p:cNvSpPr/>
          <p:nvPr/>
        </p:nvSpPr>
        <p:spPr>
          <a:xfrm>
            <a:off x="3822700" y="3581400"/>
            <a:ext cx="1625600" cy="127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688492-43DA-09C8-F0D4-8826D0E91F84}"/>
              </a:ext>
            </a:extLst>
          </p:cNvPr>
          <p:cNvSpPr txBox="1"/>
          <p:nvPr/>
        </p:nvSpPr>
        <p:spPr>
          <a:xfrm>
            <a:off x="3924300" y="3657600"/>
            <a:ext cx="508000" cy="355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C2A8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42BD4F-4BB1-4DDF-F433-7BEE6FD22EE1}"/>
              </a:ext>
            </a:extLst>
          </p:cNvPr>
          <p:cNvSpPr txBox="1"/>
          <p:nvPr/>
        </p:nvSpPr>
        <p:spPr>
          <a:xfrm>
            <a:off x="3924300" y="4038600"/>
            <a:ext cx="1422400" cy="736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Per-device memory regions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2137202-316E-E4F5-58B5-2E5F096011C1}"/>
              </a:ext>
            </a:extLst>
          </p:cNvPr>
          <p:cNvSpPr/>
          <p:nvPr/>
        </p:nvSpPr>
        <p:spPr>
          <a:xfrm>
            <a:off x="5575300" y="3581400"/>
            <a:ext cx="1625600" cy="127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477CBE-7C16-4A0D-7368-00CD5C9E1AEB}"/>
              </a:ext>
            </a:extLst>
          </p:cNvPr>
          <p:cNvSpPr txBox="1"/>
          <p:nvPr/>
        </p:nvSpPr>
        <p:spPr>
          <a:xfrm>
            <a:off x="5676900" y="3657600"/>
            <a:ext cx="508000" cy="355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C2A8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A8AFD3-E7DC-F130-C77C-5C5661117F1A}"/>
              </a:ext>
            </a:extLst>
          </p:cNvPr>
          <p:cNvSpPr txBox="1"/>
          <p:nvPr/>
        </p:nvSpPr>
        <p:spPr>
          <a:xfrm>
            <a:off x="5676900" y="4038600"/>
            <a:ext cx="1422400" cy="736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Status &amp; error reporting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CE7F3FB-55F2-C064-7A29-117C9A84D1F0}"/>
              </a:ext>
            </a:extLst>
          </p:cNvPr>
          <p:cNvSpPr/>
          <p:nvPr/>
        </p:nvSpPr>
        <p:spPr>
          <a:xfrm>
            <a:off x="7327900" y="3581400"/>
            <a:ext cx="1625600" cy="127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8C8F59-5DE7-B4AE-239C-B75BC3143190}"/>
              </a:ext>
            </a:extLst>
          </p:cNvPr>
          <p:cNvSpPr txBox="1"/>
          <p:nvPr/>
        </p:nvSpPr>
        <p:spPr>
          <a:xfrm>
            <a:off x="7429500" y="3657600"/>
            <a:ext cx="508000" cy="355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C2A8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2351D0-AC6B-5CBC-A0B8-E85857231F70}"/>
              </a:ext>
            </a:extLst>
          </p:cNvPr>
          <p:cNvSpPr txBox="1"/>
          <p:nvPr/>
        </p:nvSpPr>
        <p:spPr>
          <a:xfrm>
            <a:off x="7429500" y="4038600"/>
            <a:ext cx="1422400" cy="736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Independent CXS and system clocks</a:t>
            </a:r>
          </a:p>
        </p:txBody>
      </p:sp>
    </p:spTree>
    <p:extLst>
      <p:ext uri="{BB962C8B-B14F-4D97-AF65-F5344CB8AC3E}">
        <p14:creationId xmlns:p14="http://schemas.microsoft.com/office/powerpoint/2010/main" val="106264720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7A2078-CA12-1EEA-7F4C-98A2F840F954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Big Picture: One Packet, End to 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01DB9B-A046-E9D8-F9B2-F29FBABC6DDA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7843E2-780D-1EFB-2AD3-465667A8B730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1E2761"/>
                </a:solidFill>
                <a:latin typeface="Times New Roman" panose="02020603050405020304" pitchFamily="18" charset="0"/>
              </a:rPr>
              <a:t>SPEC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C9BDD1-65D9-A230-5A76-C2EACA26511C}"/>
              </a:ext>
            </a:extLst>
          </p:cNvPr>
          <p:cNvSpPr/>
          <p:nvPr/>
        </p:nvSpPr>
        <p:spPr>
          <a:xfrm>
            <a:off x="152400" y="1041400"/>
            <a:ext cx="1422400" cy="1930400"/>
          </a:xfrm>
          <a:prstGeom prst="roundRect">
            <a:avLst>
              <a:gd name="adj" fmla="val 4000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9AA5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68994-5776-C314-8A07-5FA79925A90F}"/>
              </a:ext>
            </a:extLst>
          </p:cNvPr>
          <p:cNvSpPr txBox="1"/>
          <p:nvPr/>
        </p:nvSpPr>
        <p:spPr>
          <a:xfrm>
            <a:off x="203200" y="1079500"/>
            <a:ext cx="1320800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3C3939"/>
                </a:solidFill>
                <a:latin typeface="Times New Roman" panose="02020603050405020304" pitchFamily="18" charset="0"/>
              </a:rPr>
              <a:t>CLK_CXS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9B5B53B-342F-9C1A-89A3-5FD8925853CA}"/>
              </a:ext>
            </a:extLst>
          </p:cNvPr>
          <p:cNvSpPr/>
          <p:nvPr/>
        </p:nvSpPr>
        <p:spPr>
          <a:xfrm>
            <a:off x="1600200" y="1041400"/>
            <a:ext cx="1270000" cy="1930400"/>
          </a:xfrm>
          <a:prstGeom prst="roundRect">
            <a:avLst>
              <a:gd name="adj" fmla="val 4000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00C2A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32F5BB-9B3C-B595-C4D5-0AB731E8F3DA}"/>
              </a:ext>
            </a:extLst>
          </p:cNvPr>
          <p:cNvSpPr txBox="1"/>
          <p:nvPr/>
        </p:nvSpPr>
        <p:spPr>
          <a:xfrm>
            <a:off x="1651000" y="1079500"/>
            <a:ext cx="1168400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00C2A8"/>
                </a:solidFill>
                <a:latin typeface="Times New Roman" panose="02020603050405020304" pitchFamily="18" charset="0"/>
              </a:rPr>
              <a:t>CDC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3BE026-C8AC-5355-0855-7BA1236F3BD2}"/>
              </a:ext>
            </a:extLst>
          </p:cNvPr>
          <p:cNvSpPr/>
          <p:nvPr/>
        </p:nvSpPr>
        <p:spPr>
          <a:xfrm>
            <a:off x="2895600" y="1041400"/>
            <a:ext cx="6070600" cy="1930400"/>
          </a:xfrm>
          <a:prstGeom prst="roundRect">
            <a:avLst>
              <a:gd name="adj" fmla="val 4000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9AA5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3193ED-A571-5FBF-5594-485E61DCE485}"/>
              </a:ext>
            </a:extLst>
          </p:cNvPr>
          <p:cNvSpPr txBox="1"/>
          <p:nvPr/>
        </p:nvSpPr>
        <p:spPr>
          <a:xfrm>
            <a:off x="2946400" y="1079500"/>
            <a:ext cx="5969000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3C3939"/>
                </a:solidFill>
                <a:latin typeface="Times New Roman" panose="02020603050405020304" pitchFamily="18" charset="0"/>
              </a:rPr>
              <a:t>CLK_SYS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AD2B300-7A71-2E8B-A50A-101E1FFD4C2B}"/>
              </a:ext>
            </a:extLst>
          </p:cNvPr>
          <p:cNvSpPr/>
          <p:nvPr/>
        </p:nvSpPr>
        <p:spPr>
          <a:xfrm>
            <a:off x="698500" y="1346200"/>
            <a:ext cx="330200" cy="330200"/>
          </a:xfrm>
          <a:prstGeom prst="ellipse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412979-046A-7957-8F3D-1923F568EC9F}"/>
              </a:ext>
            </a:extLst>
          </p:cNvPr>
          <p:cNvSpPr/>
          <p:nvPr/>
        </p:nvSpPr>
        <p:spPr>
          <a:xfrm>
            <a:off x="304800" y="1778000"/>
            <a:ext cx="1117600" cy="431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CXS RX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37EB35-1821-077B-DABC-DCBC627AB4B3}"/>
              </a:ext>
            </a:extLst>
          </p:cNvPr>
          <p:cNvSpPr txBox="1"/>
          <p:nvPr/>
        </p:nvSpPr>
        <p:spPr>
          <a:xfrm>
            <a:off x="279400" y="2260600"/>
            <a:ext cx="1168400" cy="635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3C3939"/>
                </a:solidFill>
                <a:latin typeface="Times New Roman" panose="02020603050405020304" pitchFamily="18" charset="0"/>
              </a:rPr>
              <a:t>Receive FLIT, grant credit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7BC204-0A3C-4DD6-46FC-804AA1666082}"/>
              </a:ext>
            </a:extLst>
          </p:cNvPr>
          <p:cNvSpPr/>
          <p:nvPr/>
        </p:nvSpPr>
        <p:spPr>
          <a:xfrm>
            <a:off x="2070100" y="1346200"/>
            <a:ext cx="330200" cy="330200"/>
          </a:xfrm>
          <a:prstGeom prst="ellipse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BED1B41-DEC2-77D1-C174-F4256B80A1B0}"/>
              </a:ext>
            </a:extLst>
          </p:cNvPr>
          <p:cNvSpPr/>
          <p:nvPr/>
        </p:nvSpPr>
        <p:spPr>
          <a:xfrm>
            <a:off x="1676400" y="1778000"/>
            <a:ext cx="1117600" cy="43180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CDC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F701AD-4F31-EE04-BDDA-E47B0BDCDC98}"/>
              </a:ext>
            </a:extLst>
          </p:cNvPr>
          <p:cNvSpPr txBox="1"/>
          <p:nvPr/>
        </p:nvSpPr>
        <p:spPr>
          <a:xfrm>
            <a:off x="1651000" y="2260600"/>
            <a:ext cx="1168400" cy="635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3C3939"/>
                </a:solidFill>
                <a:latin typeface="Times New Roman" panose="02020603050405020304" pitchFamily="18" charset="0"/>
              </a:rPr>
              <a:t>Cross into the system clock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D44AA0-30D0-B363-3407-045125BA8655}"/>
              </a:ext>
            </a:extLst>
          </p:cNvPr>
          <p:cNvCxnSpPr/>
          <p:nvPr/>
        </p:nvCxnSpPr>
        <p:spPr>
          <a:xfrm>
            <a:off x="1422400" y="1993900"/>
            <a:ext cx="2540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B095C21-440F-6BCF-3616-DE78C98D0B16}"/>
              </a:ext>
            </a:extLst>
          </p:cNvPr>
          <p:cNvSpPr/>
          <p:nvPr/>
        </p:nvSpPr>
        <p:spPr>
          <a:xfrm>
            <a:off x="3302000" y="1346200"/>
            <a:ext cx="330200" cy="330200"/>
          </a:xfrm>
          <a:prstGeom prst="ellipse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8BD2FBF-4A95-C84F-C8B2-BF9C2C2CF8D7}"/>
              </a:ext>
            </a:extLst>
          </p:cNvPr>
          <p:cNvSpPr/>
          <p:nvPr/>
        </p:nvSpPr>
        <p:spPr>
          <a:xfrm>
            <a:off x="2908300" y="1778000"/>
            <a:ext cx="1117600" cy="431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Control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58C4A0-0C1B-09E7-F392-B1F607DCD9A9}"/>
              </a:ext>
            </a:extLst>
          </p:cNvPr>
          <p:cNvSpPr txBox="1"/>
          <p:nvPr/>
        </p:nvSpPr>
        <p:spPr>
          <a:xfrm>
            <a:off x="2882900" y="2260600"/>
            <a:ext cx="1168400" cy="635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3C3939"/>
                </a:solidFill>
                <a:latin typeface="Times New Roman" panose="02020603050405020304" pitchFamily="18" charset="0"/>
              </a:rPr>
              <a:t>Decode TLP for the current phase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7C7051-DF57-15D9-B101-5677D261DF68}"/>
              </a:ext>
            </a:extLst>
          </p:cNvPr>
          <p:cNvCxnSpPr/>
          <p:nvPr/>
        </p:nvCxnSpPr>
        <p:spPr>
          <a:xfrm>
            <a:off x="2794000" y="1993900"/>
            <a:ext cx="1143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47785AB-50AD-69A0-5C06-63D57F496A3A}"/>
              </a:ext>
            </a:extLst>
          </p:cNvPr>
          <p:cNvSpPr/>
          <p:nvPr/>
        </p:nvSpPr>
        <p:spPr>
          <a:xfrm>
            <a:off x="4521200" y="1346200"/>
            <a:ext cx="330200" cy="330200"/>
          </a:xfrm>
          <a:prstGeom prst="ellipse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AE66748-C0B0-FE8A-D195-C1792ACD3442}"/>
              </a:ext>
            </a:extLst>
          </p:cNvPr>
          <p:cNvSpPr/>
          <p:nvPr/>
        </p:nvSpPr>
        <p:spPr>
          <a:xfrm>
            <a:off x="4127500" y="1778000"/>
            <a:ext cx="1117600" cy="431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Encrypt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BB07E2-38AD-F81C-3DED-61F65D505496}"/>
              </a:ext>
            </a:extLst>
          </p:cNvPr>
          <p:cNvSpPr txBox="1"/>
          <p:nvPr/>
        </p:nvSpPr>
        <p:spPr>
          <a:xfrm>
            <a:off x="4102100" y="2260600"/>
            <a:ext cx="1168400" cy="635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3C3939"/>
                </a:solidFill>
                <a:latin typeface="Times New Roman" panose="02020603050405020304" pitchFamily="18" charset="0"/>
              </a:rPr>
              <a:t>Bit-expand the payload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C157674-4CFD-FFDC-45D4-6ECCECDCF3CA}"/>
              </a:ext>
            </a:extLst>
          </p:cNvPr>
          <p:cNvCxnSpPr/>
          <p:nvPr/>
        </p:nvCxnSpPr>
        <p:spPr>
          <a:xfrm>
            <a:off x="4025900" y="1993900"/>
            <a:ext cx="1016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81A14CD4-3CBC-14E5-8AC9-D21BE5B0795D}"/>
              </a:ext>
            </a:extLst>
          </p:cNvPr>
          <p:cNvSpPr/>
          <p:nvPr/>
        </p:nvSpPr>
        <p:spPr>
          <a:xfrm>
            <a:off x="5740400" y="1346200"/>
            <a:ext cx="330200" cy="330200"/>
          </a:xfrm>
          <a:prstGeom prst="ellipse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06EB94A-23BA-4A91-C68D-0D11F36A724C}"/>
              </a:ext>
            </a:extLst>
          </p:cNvPr>
          <p:cNvSpPr/>
          <p:nvPr/>
        </p:nvSpPr>
        <p:spPr>
          <a:xfrm>
            <a:off x="5346700" y="1778000"/>
            <a:ext cx="1117600" cy="431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Parity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179C5F-4445-657C-4243-CCB9506A6DC2}"/>
              </a:ext>
            </a:extLst>
          </p:cNvPr>
          <p:cNvSpPr txBox="1"/>
          <p:nvPr/>
        </p:nvSpPr>
        <p:spPr>
          <a:xfrm>
            <a:off x="5321300" y="2260600"/>
            <a:ext cx="1168400" cy="635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3C3939"/>
                </a:solidFill>
                <a:latin typeface="Times New Roman" panose="02020603050405020304" pitchFamily="18" charset="0"/>
              </a:rPr>
              <a:t>Append the parity bit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5880B6B-04C4-8BE2-5860-4346911AD441}"/>
              </a:ext>
            </a:extLst>
          </p:cNvPr>
          <p:cNvCxnSpPr/>
          <p:nvPr/>
        </p:nvCxnSpPr>
        <p:spPr>
          <a:xfrm>
            <a:off x="5245100" y="1993900"/>
            <a:ext cx="1016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A0E291C-D299-5555-A785-8ABEABDA1485}"/>
              </a:ext>
            </a:extLst>
          </p:cNvPr>
          <p:cNvSpPr/>
          <p:nvPr/>
        </p:nvSpPr>
        <p:spPr>
          <a:xfrm>
            <a:off x="6959600" y="1346200"/>
            <a:ext cx="330200" cy="330200"/>
          </a:xfrm>
          <a:prstGeom prst="ellipse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3C529A2-E8B5-2056-CCB9-EBAD7752A1FC}"/>
              </a:ext>
            </a:extLst>
          </p:cNvPr>
          <p:cNvSpPr/>
          <p:nvPr/>
        </p:nvSpPr>
        <p:spPr>
          <a:xfrm>
            <a:off x="6565900" y="1778000"/>
            <a:ext cx="1117600" cy="431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Translate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473B58-1D8F-874B-1E87-40B22EFBE5AE}"/>
              </a:ext>
            </a:extLst>
          </p:cNvPr>
          <p:cNvSpPr txBox="1"/>
          <p:nvPr/>
        </p:nvSpPr>
        <p:spPr>
          <a:xfrm>
            <a:off x="6540500" y="2260600"/>
            <a:ext cx="1168400" cy="635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3C3939"/>
                </a:solidFill>
                <a:latin typeface="Times New Roman" panose="02020603050405020304" pitchFamily="18" charset="0"/>
              </a:rPr>
              <a:t>Logical → physical address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C44DCFF-0D55-D23A-2555-273C3959E4BE}"/>
              </a:ext>
            </a:extLst>
          </p:cNvPr>
          <p:cNvCxnSpPr/>
          <p:nvPr/>
        </p:nvCxnSpPr>
        <p:spPr>
          <a:xfrm>
            <a:off x="6464300" y="1993900"/>
            <a:ext cx="1016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6EDA8A5A-234A-8108-3AEA-4E53E072A32B}"/>
              </a:ext>
            </a:extLst>
          </p:cNvPr>
          <p:cNvSpPr/>
          <p:nvPr/>
        </p:nvSpPr>
        <p:spPr>
          <a:xfrm>
            <a:off x="8178800" y="1346200"/>
            <a:ext cx="330200" cy="330200"/>
          </a:xfrm>
          <a:prstGeom prst="ellipse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C6B45B8-256A-FFF3-666D-5DC5BA162188}"/>
              </a:ext>
            </a:extLst>
          </p:cNvPr>
          <p:cNvSpPr/>
          <p:nvPr/>
        </p:nvSpPr>
        <p:spPr>
          <a:xfrm>
            <a:off x="7785100" y="1778000"/>
            <a:ext cx="1117600" cy="431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Store (CDM)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871F90-0789-7526-A227-71321A507228}"/>
              </a:ext>
            </a:extLst>
          </p:cNvPr>
          <p:cNvSpPr txBox="1"/>
          <p:nvPr/>
        </p:nvSpPr>
        <p:spPr>
          <a:xfrm>
            <a:off x="7759700" y="2260600"/>
            <a:ext cx="1168400" cy="635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3C3939"/>
                </a:solidFill>
                <a:latin typeface="Times New Roman" panose="02020603050405020304" pitchFamily="18" charset="0"/>
              </a:rPr>
              <a:t>Write into the device region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CDE4CA-6821-B69F-D1AA-489DC33B2747}"/>
              </a:ext>
            </a:extLst>
          </p:cNvPr>
          <p:cNvCxnSpPr/>
          <p:nvPr/>
        </p:nvCxnSpPr>
        <p:spPr>
          <a:xfrm>
            <a:off x="7683500" y="1993900"/>
            <a:ext cx="1016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5761649-2B82-2160-6B1C-00BFAF3B1C6C}"/>
              </a:ext>
            </a:extLst>
          </p:cNvPr>
          <p:cNvCxnSpPr/>
          <p:nvPr/>
        </p:nvCxnSpPr>
        <p:spPr>
          <a:xfrm>
            <a:off x="3467100" y="2921000"/>
            <a:ext cx="0" cy="254000"/>
          </a:xfrm>
          <a:prstGeom prst="straightConnector1">
            <a:avLst/>
          </a:prstGeom>
          <a:ln w="15875">
            <a:solidFill>
              <a:srgbClr val="3C393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77B498A-FFF0-2B44-82A1-5F60EC4108EA}"/>
              </a:ext>
            </a:extLst>
          </p:cNvPr>
          <p:cNvSpPr/>
          <p:nvPr/>
        </p:nvSpPr>
        <p:spPr>
          <a:xfrm>
            <a:off x="304800" y="3175000"/>
            <a:ext cx="38100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>
              <a:spcAft>
                <a:spcPts val="200"/>
              </a:spcAft>
            </a:pPr>
            <a:r>
              <a:rPr lang="en-US" sz="1050" b="1">
                <a:solidFill>
                  <a:srgbClr val="1E2761"/>
                </a:solidFill>
                <a:latin typeface="Times New Roman" panose="02020603050405020304" pitchFamily="18" charset="0"/>
              </a:rPr>
              <a:t>Return path:</a:t>
            </a:r>
            <a:r>
              <a:rPr lang="en-US" sz="1050">
                <a:solidFill>
                  <a:srgbClr val="1E2761"/>
                </a:solidFill>
                <a:latin typeface="Times New Roman" panose="02020603050405020304" pitchFamily="18" charset="0"/>
              </a:rPr>
              <a:t> error / status → back across the CDC → response FLIT on CXS TX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B0413A2-F7AF-420C-67AF-9644D4CCF5BB}"/>
              </a:ext>
            </a:extLst>
          </p:cNvPr>
          <p:cNvSpPr/>
          <p:nvPr/>
        </p:nvSpPr>
        <p:spPr>
          <a:xfrm>
            <a:off x="4267200" y="3175000"/>
            <a:ext cx="46228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>
              <a:spcAft>
                <a:spcPts val="200"/>
              </a:spcAft>
            </a:pPr>
            <a:r>
              <a:rPr lang="en-US" sz="1050" b="1">
                <a:solidFill>
                  <a:srgbClr val="1E2761"/>
                </a:solidFill>
                <a:latin typeface="Times New Roman" panose="02020603050405020304" pitchFamily="18" charset="0"/>
              </a:rPr>
              <a:t>Configuration packets</a:t>
            </a:r>
            <a:r>
              <a:rPr lang="en-US" sz="1050">
                <a:solidFill>
                  <a:srgbClr val="1E2761"/>
                </a:solidFill>
                <a:latin typeface="Times New Roman" panose="02020603050405020304" pitchFamily="18" charset="0"/>
              </a:rPr>
              <a:t> stop at step 3 and are written directly to the CDM (no encryption)</a:t>
            </a:r>
          </a:p>
        </p:txBody>
      </p:sp>
    </p:spTree>
    <p:extLst>
      <p:ext uri="{BB962C8B-B14F-4D97-AF65-F5344CB8AC3E}">
        <p14:creationId xmlns:p14="http://schemas.microsoft.com/office/powerpoint/2010/main" val="290447861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B594D4-4D1A-E3F4-E44C-FB65A2B9A1BB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Operating Phases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950CAB-BF26-3626-D2B2-4E2DFB725926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6B24F4-9330-C59E-5B3A-8395A50A3F43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1E2761"/>
                </a:solidFill>
                <a:latin typeface="Times New Roman" panose="02020603050405020304" pitchFamily="18" charset="0"/>
              </a:rPr>
              <a:t>SPEC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8FA2CA51-6EE9-94D6-9B4B-DA0A37B5F539}"/>
              </a:ext>
            </a:extLst>
          </p:cNvPr>
          <p:cNvSpPr/>
          <p:nvPr/>
        </p:nvSpPr>
        <p:spPr>
          <a:xfrm>
            <a:off x="254000" y="1066800"/>
            <a:ext cx="2819400" cy="558800"/>
          </a:xfrm>
          <a:prstGeom prst="homePlate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</a:rPr>
              <a:t>1  Configuration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DDA030-0808-B604-16BD-EF7D15EB6551}"/>
              </a:ext>
            </a:extLst>
          </p:cNvPr>
          <p:cNvSpPr/>
          <p:nvPr/>
        </p:nvSpPr>
        <p:spPr>
          <a:xfrm>
            <a:off x="254000" y="1752600"/>
            <a:ext cx="2692400" cy="218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1A9400-9D41-BEDE-8BF3-E6F8F0625775}"/>
              </a:ext>
            </a:extLst>
          </p:cNvPr>
          <p:cNvSpPr txBox="1"/>
          <p:nvPr/>
        </p:nvSpPr>
        <p:spPr>
          <a:xfrm>
            <a:off x="381000" y="1854200"/>
            <a:ext cx="2438400" cy="2006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Software sends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Configuration TLP: header + DEV_COUNT device entries</a:t>
            </a:r>
          </a:p>
          <a:p>
            <a:pPr>
              <a:spcAft>
                <a:spcPts val="200"/>
              </a:spcAft>
            </a:pPr>
            <a:endParaRPr lang="en-US" sz="1100">
              <a:solidFill>
                <a:srgbClr val="1E2761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Bridge does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Stores the register file (encryption, parity, address mode) and each device's address region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1ED06A18-B460-DEFF-E21F-0E5798DF6447}"/>
              </a:ext>
            </a:extLst>
          </p:cNvPr>
          <p:cNvSpPr/>
          <p:nvPr/>
        </p:nvSpPr>
        <p:spPr>
          <a:xfrm>
            <a:off x="3175000" y="1066800"/>
            <a:ext cx="2819400" cy="558800"/>
          </a:xfrm>
          <a:prstGeom prst="homePlate">
            <a:avLst/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</a:rPr>
              <a:t>2  Link-Up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4DEBED-B871-67A9-EA9A-78A8FDE6AC97}"/>
              </a:ext>
            </a:extLst>
          </p:cNvPr>
          <p:cNvSpPr/>
          <p:nvPr/>
        </p:nvSpPr>
        <p:spPr>
          <a:xfrm>
            <a:off x="3175000" y="1752600"/>
            <a:ext cx="2692400" cy="218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6B0FD9-F833-9C42-272B-14E0C7E1364B}"/>
              </a:ext>
            </a:extLst>
          </p:cNvPr>
          <p:cNvSpPr txBox="1"/>
          <p:nvPr/>
        </p:nvSpPr>
        <p:spPr>
          <a:xfrm>
            <a:off x="3302000" y="1854200"/>
            <a:ext cx="2438400" cy="2006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Software sends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Link-Up header packet</a:t>
            </a:r>
          </a:p>
          <a:p>
            <a:pPr>
              <a:spcAft>
                <a:spcPts val="200"/>
              </a:spcAft>
            </a:pPr>
            <a:endParaRPr lang="en-US" sz="1100">
              <a:solidFill>
                <a:srgbClr val="1E2761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Bridge does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Validates the header, identifies the target logic and returns STATUS = VALID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94FDD580-81C5-5D7F-E742-5FCDB767D65E}"/>
              </a:ext>
            </a:extLst>
          </p:cNvPr>
          <p:cNvSpPr/>
          <p:nvPr/>
        </p:nvSpPr>
        <p:spPr>
          <a:xfrm>
            <a:off x="6096000" y="1066800"/>
            <a:ext cx="2819400" cy="558800"/>
          </a:xfrm>
          <a:prstGeom prst="homePlate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</a:rPr>
              <a:t>3  Data Transmission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6F6A32F-EAFA-67AC-5C01-47463CD9AE1A}"/>
              </a:ext>
            </a:extLst>
          </p:cNvPr>
          <p:cNvSpPr/>
          <p:nvPr/>
        </p:nvSpPr>
        <p:spPr>
          <a:xfrm>
            <a:off x="6096000" y="1752600"/>
            <a:ext cx="2692400" cy="218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0F120F-A997-D172-A18B-C592A45C3508}"/>
              </a:ext>
            </a:extLst>
          </p:cNvPr>
          <p:cNvSpPr txBox="1"/>
          <p:nvPr/>
        </p:nvSpPr>
        <p:spPr>
          <a:xfrm>
            <a:off x="6223000" y="1854200"/>
            <a:ext cx="2438400" cy="2006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Software sends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Transfer TLPs: header + payload words (ADDR, DATA)</a:t>
            </a:r>
          </a:p>
          <a:p>
            <a:pPr>
              <a:spcAft>
                <a:spcPts val="200"/>
              </a:spcAft>
            </a:pPr>
            <a:endParaRPr lang="en-US" sz="1100">
              <a:solidFill>
                <a:srgbClr val="1E2761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Bridge does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Encrypts, appends parity, translates the address, stores in the CDM and notifies the destination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E7147A-FCBD-7982-01DA-2D2E8821A8DB}"/>
              </a:ext>
            </a:extLst>
          </p:cNvPr>
          <p:cNvSpPr/>
          <p:nvPr/>
        </p:nvSpPr>
        <p:spPr>
          <a:xfrm>
            <a:off x="254000" y="4089400"/>
            <a:ext cx="8636000" cy="762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Errors, any phase 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</a:rPr>
              <a:t>invalid header · unsupported encryption mode · parity mismatch · invalid state transition → reported through status</a:t>
            </a:r>
          </a:p>
        </p:txBody>
      </p:sp>
    </p:spTree>
    <p:extLst>
      <p:ext uri="{BB962C8B-B14F-4D97-AF65-F5344CB8AC3E}">
        <p14:creationId xmlns:p14="http://schemas.microsoft.com/office/powerpoint/2010/main" val="23576690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47423E-C8D6-96DB-D445-C3D2921AB28E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Spec Contract: TLP Words &amp; Register File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CD61CC-A524-7EA1-D9CE-FF0EEFC30B92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02A26A-9351-3434-289A-D7240831228F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1E2761"/>
                </a:solidFill>
                <a:latin typeface="Times New Roman" panose="02020603050405020304" pitchFamily="18" charset="0"/>
              </a:rPr>
              <a:t>SPEC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13E29-4862-48DC-995A-0D9C87E9812F}"/>
              </a:ext>
            </a:extLst>
          </p:cNvPr>
          <p:cNvSpPr txBox="1"/>
          <p:nvPr/>
        </p:nvSpPr>
        <p:spPr>
          <a:xfrm>
            <a:off x="279400" y="1117600"/>
            <a:ext cx="1498600" cy="431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Header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word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3815A0-9A95-ADF7-A5E9-57F558F5AB1C}"/>
              </a:ext>
            </a:extLst>
          </p:cNvPr>
          <p:cNvSpPr/>
          <p:nvPr/>
        </p:nvSpPr>
        <p:spPr>
          <a:xfrm>
            <a:off x="1841500" y="1117600"/>
            <a:ext cx="2203450" cy="4064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BASE_ADDR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64FB39-8CFC-5C43-DFF9-BEAF223CD103}"/>
              </a:ext>
            </a:extLst>
          </p:cNvPr>
          <p:cNvSpPr txBox="1"/>
          <p:nvPr/>
        </p:nvSpPr>
        <p:spPr>
          <a:xfrm>
            <a:off x="1841500" y="1536700"/>
            <a:ext cx="2203450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[31:16]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FF96FB-965E-782D-881F-23B9187095A7}"/>
              </a:ext>
            </a:extLst>
          </p:cNvPr>
          <p:cNvSpPr/>
          <p:nvPr/>
        </p:nvSpPr>
        <p:spPr>
          <a:xfrm>
            <a:off x="4044950" y="1117600"/>
            <a:ext cx="1431925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DEV_COUNT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EEC77-5465-3055-EDBE-5F7B93AA5109}"/>
              </a:ext>
            </a:extLst>
          </p:cNvPr>
          <p:cNvSpPr txBox="1"/>
          <p:nvPr/>
        </p:nvSpPr>
        <p:spPr>
          <a:xfrm>
            <a:off x="4044950" y="1536700"/>
            <a:ext cx="1431925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[15:8]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B09315-41A0-D0D2-18DE-FC1551818EDF}"/>
              </a:ext>
            </a:extLst>
          </p:cNvPr>
          <p:cNvSpPr/>
          <p:nvPr/>
        </p:nvSpPr>
        <p:spPr>
          <a:xfrm>
            <a:off x="5476875" y="1117600"/>
            <a:ext cx="1046163" cy="4064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ENC_MODE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E9D170-DD3B-FF38-A752-E39020E39E0B}"/>
              </a:ext>
            </a:extLst>
          </p:cNvPr>
          <p:cNvSpPr txBox="1"/>
          <p:nvPr/>
        </p:nvSpPr>
        <p:spPr>
          <a:xfrm>
            <a:off x="5476875" y="1536700"/>
            <a:ext cx="1046163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[7:4]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F08FE7-3F8A-3303-F0CA-42CCC89ABCFD}"/>
              </a:ext>
            </a:extLst>
          </p:cNvPr>
          <p:cNvSpPr/>
          <p:nvPr/>
        </p:nvSpPr>
        <p:spPr>
          <a:xfrm>
            <a:off x="6523038" y="1117600"/>
            <a:ext cx="75684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ADDR_MODE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22233C-C9E0-5B1A-4B0A-1D8E53CF6BE9}"/>
              </a:ext>
            </a:extLst>
          </p:cNvPr>
          <p:cNvSpPr txBox="1"/>
          <p:nvPr/>
        </p:nvSpPr>
        <p:spPr>
          <a:xfrm>
            <a:off x="6523038" y="1536700"/>
            <a:ext cx="756841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[3]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29FFE0-7120-D24B-52B0-1C53B432F991}"/>
              </a:ext>
            </a:extLst>
          </p:cNvPr>
          <p:cNvSpPr/>
          <p:nvPr/>
        </p:nvSpPr>
        <p:spPr>
          <a:xfrm>
            <a:off x="7279878" y="1117600"/>
            <a:ext cx="756841" cy="4064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PARITY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926A0-1431-F0AA-6495-7B7FE5A907BD}"/>
              </a:ext>
            </a:extLst>
          </p:cNvPr>
          <p:cNvSpPr txBox="1"/>
          <p:nvPr/>
        </p:nvSpPr>
        <p:spPr>
          <a:xfrm>
            <a:off x="7279878" y="1536700"/>
            <a:ext cx="756841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5FFD9F-6EED-1A43-D06E-3C002CC53369}"/>
              </a:ext>
            </a:extLst>
          </p:cNvPr>
          <p:cNvSpPr/>
          <p:nvPr/>
        </p:nvSpPr>
        <p:spPr>
          <a:xfrm>
            <a:off x="8036719" y="1117600"/>
            <a:ext cx="853281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SYS_STATE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762324-D00C-8930-5C8C-4B9FA01E4FD9}"/>
              </a:ext>
            </a:extLst>
          </p:cNvPr>
          <p:cNvSpPr txBox="1"/>
          <p:nvPr/>
        </p:nvSpPr>
        <p:spPr>
          <a:xfrm>
            <a:off x="8036719" y="1536700"/>
            <a:ext cx="853281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[1:0]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2D84D-BE1D-5C63-4488-4BCBF89A9FBA}"/>
              </a:ext>
            </a:extLst>
          </p:cNvPr>
          <p:cNvSpPr txBox="1"/>
          <p:nvPr/>
        </p:nvSpPr>
        <p:spPr>
          <a:xfrm>
            <a:off x="279400" y="1879600"/>
            <a:ext cx="1498600" cy="431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Device entry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config words 1…N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AF8A51-690F-ADB7-8483-8ED1C416A749}"/>
              </a:ext>
            </a:extLst>
          </p:cNvPr>
          <p:cNvSpPr/>
          <p:nvPr/>
        </p:nvSpPr>
        <p:spPr>
          <a:xfrm>
            <a:off x="1841500" y="1879600"/>
            <a:ext cx="3524250" cy="4064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END_ADDR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759EF0-1EBC-CBCD-D1E2-7EF164A6A906}"/>
              </a:ext>
            </a:extLst>
          </p:cNvPr>
          <p:cNvSpPr txBox="1"/>
          <p:nvPr/>
        </p:nvSpPr>
        <p:spPr>
          <a:xfrm>
            <a:off x="1841500" y="2298700"/>
            <a:ext cx="3524250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[31:16]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7184B0-B35A-BF46-BBE6-05BE4434C268}"/>
              </a:ext>
            </a:extLst>
          </p:cNvPr>
          <p:cNvSpPr/>
          <p:nvPr/>
        </p:nvSpPr>
        <p:spPr>
          <a:xfrm>
            <a:off x="5365750" y="1879600"/>
            <a:ext cx="352425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START_ADDR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AC31C2-2C54-B370-D0E4-D4B311168F7D}"/>
              </a:ext>
            </a:extLst>
          </p:cNvPr>
          <p:cNvSpPr txBox="1"/>
          <p:nvPr/>
        </p:nvSpPr>
        <p:spPr>
          <a:xfrm>
            <a:off x="5365750" y="2298700"/>
            <a:ext cx="3524250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[15:0]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209402-2DC8-6DA5-94C4-8C8825431140}"/>
              </a:ext>
            </a:extLst>
          </p:cNvPr>
          <p:cNvSpPr txBox="1"/>
          <p:nvPr/>
        </p:nvSpPr>
        <p:spPr>
          <a:xfrm>
            <a:off x="279400" y="2641600"/>
            <a:ext cx="1498600" cy="431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Payload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transfer words 1…N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90E818-3E2E-0371-205C-18704EF6D495}"/>
              </a:ext>
            </a:extLst>
          </p:cNvPr>
          <p:cNvSpPr/>
          <p:nvPr/>
        </p:nvSpPr>
        <p:spPr>
          <a:xfrm>
            <a:off x="1841500" y="2641600"/>
            <a:ext cx="3524250" cy="4064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ADDR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9B8C81-CD58-F06F-CAF1-58568B70429B}"/>
              </a:ext>
            </a:extLst>
          </p:cNvPr>
          <p:cNvSpPr txBox="1"/>
          <p:nvPr/>
        </p:nvSpPr>
        <p:spPr>
          <a:xfrm>
            <a:off x="1841500" y="3060700"/>
            <a:ext cx="3524250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[31:16]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1C69F3-8581-3EEA-1D05-370F400A9794}"/>
              </a:ext>
            </a:extLst>
          </p:cNvPr>
          <p:cNvSpPr/>
          <p:nvPr/>
        </p:nvSpPr>
        <p:spPr>
          <a:xfrm>
            <a:off x="5365750" y="2641600"/>
            <a:ext cx="352425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389510-E54E-4866-DD96-E8FC6339D0A6}"/>
              </a:ext>
            </a:extLst>
          </p:cNvPr>
          <p:cNvSpPr txBox="1"/>
          <p:nvPr/>
        </p:nvSpPr>
        <p:spPr>
          <a:xfrm>
            <a:off x="5365750" y="3060700"/>
            <a:ext cx="3524250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[15:0]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71ACE1-20D8-8E6F-F760-E0141D7E553A}"/>
              </a:ext>
            </a:extLst>
          </p:cNvPr>
          <p:cNvSpPr txBox="1"/>
          <p:nvPr/>
        </p:nvSpPr>
        <p:spPr>
          <a:xfrm>
            <a:off x="1841500" y="3251200"/>
            <a:ext cx="7048500" cy="17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900" i="1">
                <a:solidFill>
                  <a:srgbClr val="3C3939"/>
                </a:solidFill>
                <a:latin typeface="Times New Roman" panose="02020603050405020304" pitchFamily="18" charset="0"/>
              </a:rPr>
              <a:t>Bit layout per the detailed architecture spec (§6)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1AFE87E-3A25-93A1-33DF-E8FC9C8BAEC3}"/>
              </a:ext>
            </a:extLst>
          </p:cNvPr>
          <p:cNvSpPr/>
          <p:nvPr/>
        </p:nvSpPr>
        <p:spPr>
          <a:xfrm>
            <a:off x="279400" y="3505200"/>
            <a:ext cx="419100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51AF77-A94D-B733-B174-EF7F11332AEB}"/>
              </a:ext>
            </a:extLst>
          </p:cNvPr>
          <p:cNvSpPr txBox="1"/>
          <p:nvPr/>
        </p:nvSpPr>
        <p:spPr>
          <a:xfrm>
            <a:off x="431800" y="3606800"/>
            <a:ext cx="38862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FFFFFF"/>
                </a:solidFill>
                <a:latin typeface="Cambria" panose="02040503050406030204" pitchFamily="18" charset="0"/>
              </a:rPr>
              <a:t>TLP framing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7A031A-6058-BEAF-0F46-D8633A28FB2B}"/>
              </a:ext>
            </a:extLst>
          </p:cNvPr>
          <p:cNvSpPr txBox="1"/>
          <p:nvPr/>
        </p:nvSpPr>
        <p:spPr>
          <a:xfrm>
            <a:off x="431800" y="3911600"/>
            <a:ext cx="3886200" cy="889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50">
                <a:solidFill>
                  <a:srgbClr val="FFFFFF"/>
                </a:solidFill>
                <a:latin typeface="Times New Roman" panose="02020603050405020304" pitchFamily="18" charset="0"/>
              </a:rPr>
              <a:t>Word 0 is the header, followed by N words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50">
                <a:solidFill>
                  <a:srgbClr val="FFFFFF"/>
                </a:solidFill>
                <a:latin typeface="Times New Roman" panose="02020603050405020304" pitchFamily="18" charset="0"/>
              </a:rPr>
              <a:t>Configuration: N = DEV_COUNT device entries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50">
                <a:solidFill>
                  <a:srgbClr val="FFFFFF"/>
                </a:solidFill>
                <a:latin typeface="Times New Roman" panose="02020603050405020304" pitchFamily="18" charset="0"/>
              </a:rPr>
              <a:t>Transfer: N payload words (address + data)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15936D2-0795-E14A-0FCF-C2060F7565AB}"/>
              </a:ext>
            </a:extLst>
          </p:cNvPr>
          <p:cNvSpPr/>
          <p:nvPr/>
        </p:nvSpPr>
        <p:spPr>
          <a:xfrm>
            <a:off x="4673600" y="3505200"/>
            <a:ext cx="4216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A013C2-AC0F-793A-6777-94B8A65FB174}"/>
              </a:ext>
            </a:extLst>
          </p:cNvPr>
          <p:cNvSpPr txBox="1"/>
          <p:nvPr/>
        </p:nvSpPr>
        <p:spPr>
          <a:xfrm>
            <a:off x="4826000" y="3606800"/>
            <a:ext cx="39116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1E2761"/>
                </a:solidFill>
                <a:latin typeface="Cambria" panose="02040503050406030204" pitchFamily="18" charset="0"/>
              </a:rPr>
              <a:t>Register file @ 0x0000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9BC42E-4C51-6A86-C78A-5F28A9EF1B31}"/>
              </a:ext>
            </a:extLst>
          </p:cNvPr>
          <p:cNvSpPr txBox="1"/>
          <p:nvPr/>
        </p:nvSpPr>
        <p:spPr>
          <a:xfrm>
            <a:off x="4826000" y="3911600"/>
            <a:ext cx="3911600" cy="889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ENC_MODE: 0000 even · 0001 odd expansion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PARITY_MODE: even / odd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SYS_STATE: Idle · Config · Link-Up · Transfer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ADDR_MODE: address range or region mode</a:t>
            </a:r>
          </a:p>
        </p:txBody>
      </p:sp>
    </p:spTree>
    <p:extLst>
      <p:ext uri="{BB962C8B-B14F-4D97-AF65-F5344CB8AC3E}">
        <p14:creationId xmlns:p14="http://schemas.microsoft.com/office/powerpoint/2010/main" val="77217636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94217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CXS Protocol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6742" y="903993"/>
            <a:ext cx="4754136" cy="3749784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AA2364-E4C0-CF48-F257-C111345E5878}"/>
              </a:ext>
            </a:extLst>
          </p:cNvPr>
          <p:cNvSpPr txBox="1"/>
          <p:nvPr/>
        </p:nvSpPr>
        <p:spPr>
          <a:xfrm>
            <a:off x="226741" y="1070725"/>
            <a:ext cx="468722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Streaming, Point-to-Point : </a:t>
            </a: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Packetized data sent directly between two link partners — no addressing/routing layer, just protocol packets riding on flits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Full-Duplex</a:t>
            </a: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Independent TX and RX signal paths operate simultaneously and independently of each other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Flit-Based Transfer </a:t>
            </a: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Data moves one flit (flow-control unit) per clock cycle; a flit can carry multiple packets, or one packet can span several flits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Credit-Based Flow Control </a:t>
            </a: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Non-blocking: the transmitter only sends when it holds a credit from the receiver, preventing buffer overflow without handshake stalls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Field (CXSCNTL):</a:t>
            </a: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Encodes START/END/ERROR boundary info per flit so the receiver can reconstruct packet boundaries from the raw flit stream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A63AAF-DF80-678C-F616-98993F66F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031" y="903992"/>
            <a:ext cx="3491826" cy="374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712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0323FA-7281-4092-9A23-66849A405B46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Clocking, CDC &amp; Reset Rules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47D517-DC80-0366-C43E-EFB9325D6BD4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196806-0DB3-96F2-4501-DD8BF77DFB88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1E2761"/>
                </a:solidFill>
                <a:latin typeface="Times New Roman" panose="02020603050405020304" pitchFamily="18" charset="0"/>
              </a:rPr>
              <a:t>SPEC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70D7FD-07FB-7FB2-1557-0CF334481796}"/>
              </a:ext>
            </a:extLst>
          </p:cNvPr>
          <p:cNvSpPr/>
          <p:nvPr/>
        </p:nvSpPr>
        <p:spPr>
          <a:xfrm>
            <a:off x="279400" y="1092200"/>
            <a:ext cx="34290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9FB2E-4C89-1416-7A8A-6D1E0045806D}"/>
              </a:ext>
            </a:extLst>
          </p:cNvPr>
          <p:cNvSpPr txBox="1"/>
          <p:nvPr/>
        </p:nvSpPr>
        <p:spPr>
          <a:xfrm>
            <a:off x="431800" y="1193800"/>
            <a:ext cx="31242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1E2761"/>
                </a:solidFill>
                <a:latin typeface="Cambria" panose="02040503050406030204" pitchFamily="18" charset="0"/>
              </a:rPr>
              <a:t>CLK_CXS domain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38457-F04C-272B-34FC-BC4A2CCD9F29}"/>
              </a:ext>
            </a:extLst>
          </p:cNvPr>
          <p:cNvSpPr txBox="1"/>
          <p:nvPr/>
        </p:nvSpPr>
        <p:spPr>
          <a:xfrm>
            <a:off x="431800" y="1498600"/>
            <a:ext cx="3124200" cy="1295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CXS Interface (RX / TX)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Link flow control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Packet parsing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AA1C16-E5BF-EB78-1866-29DF2F28741A}"/>
              </a:ext>
            </a:extLst>
          </p:cNvPr>
          <p:cNvSpPr/>
          <p:nvPr/>
        </p:nvSpPr>
        <p:spPr>
          <a:xfrm>
            <a:off x="5435600" y="1092200"/>
            <a:ext cx="3454400" cy="1778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8A7307-743D-F54E-BC0C-53C179081AA1}"/>
              </a:ext>
            </a:extLst>
          </p:cNvPr>
          <p:cNvSpPr txBox="1"/>
          <p:nvPr/>
        </p:nvSpPr>
        <p:spPr>
          <a:xfrm>
            <a:off x="5588000" y="1193800"/>
            <a:ext cx="31496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FFFFFF"/>
                </a:solidFill>
                <a:latin typeface="Cambria" panose="02040503050406030204" pitchFamily="18" charset="0"/>
              </a:rPr>
              <a:t>CLK_SYS domain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694940-195C-D16B-9001-FE763488DA2F}"/>
              </a:ext>
            </a:extLst>
          </p:cNvPr>
          <p:cNvSpPr txBox="1"/>
          <p:nvPr/>
        </p:nvSpPr>
        <p:spPr>
          <a:xfrm>
            <a:off x="5588000" y="1498600"/>
            <a:ext cx="3149600" cy="1295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Control Unit &amp; register file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Encryption &amp; parity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Central Data Memory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3028E6-F0F2-EB83-4CB0-C36B09AEA431}"/>
              </a:ext>
            </a:extLst>
          </p:cNvPr>
          <p:cNvCxnSpPr/>
          <p:nvPr/>
        </p:nvCxnSpPr>
        <p:spPr>
          <a:xfrm>
            <a:off x="4572000" y="1066800"/>
            <a:ext cx="0" cy="1828800"/>
          </a:xfrm>
          <a:prstGeom prst="straightConnector1">
            <a:avLst/>
          </a:prstGeom>
          <a:ln w="19050">
            <a:solidFill>
              <a:srgbClr val="00C2A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FA0D44D-5993-D727-24CB-19F90CBF6B1F}"/>
              </a:ext>
            </a:extLst>
          </p:cNvPr>
          <p:cNvSpPr txBox="1"/>
          <p:nvPr/>
        </p:nvSpPr>
        <p:spPr>
          <a:xfrm>
            <a:off x="3810000" y="1092200"/>
            <a:ext cx="1524000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00C2A8"/>
                </a:solidFill>
                <a:latin typeface="Times New Roman" panose="02020603050405020304" pitchFamily="18" charset="0"/>
              </a:rPr>
              <a:t>CDC boundary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090BB7F-DB42-940C-3742-578967188DB8}"/>
              </a:ext>
            </a:extLst>
          </p:cNvPr>
          <p:cNvSpPr/>
          <p:nvPr/>
        </p:nvSpPr>
        <p:spPr>
          <a:xfrm>
            <a:off x="3810000" y="1422400"/>
            <a:ext cx="1524000" cy="50800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FFFFFF"/>
                </a:solidFill>
                <a:latin typeface="Times New Roman" panose="02020603050405020304" pitchFamily="18" charset="0"/>
              </a:rPr>
              <a:t>Async FIFO</a:t>
            </a:r>
          </a:p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packet 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FC5C43B-1FF4-812C-27D4-58E5F09B3E1F}"/>
              </a:ext>
            </a:extLst>
          </p:cNvPr>
          <p:cNvSpPr/>
          <p:nvPr/>
        </p:nvSpPr>
        <p:spPr>
          <a:xfrm>
            <a:off x="3810000" y="2159000"/>
            <a:ext cx="1524000" cy="50800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FFFFFF"/>
                </a:solidFill>
                <a:latin typeface="Times New Roman" panose="02020603050405020304" pitchFamily="18" charset="0"/>
              </a:rPr>
              <a:t>2-FF synchronizers</a:t>
            </a:r>
          </a:p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control bits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EA0145-F5C2-874E-D175-9A86FB02DBFD}"/>
              </a:ext>
            </a:extLst>
          </p:cNvPr>
          <p:cNvCxnSpPr/>
          <p:nvPr/>
        </p:nvCxnSpPr>
        <p:spPr>
          <a:xfrm>
            <a:off x="3708400" y="1676400"/>
            <a:ext cx="1016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8DA0C59-DD41-FF91-2E7D-949F972F0E84}"/>
              </a:ext>
            </a:extLst>
          </p:cNvPr>
          <p:cNvCxnSpPr/>
          <p:nvPr/>
        </p:nvCxnSpPr>
        <p:spPr>
          <a:xfrm>
            <a:off x="5334000" y="1676400"/>
            <a:ext cx="1016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F540B63-6C4D-8D7A-EF5F-211AAD9531DC}"/>
              </a:ext>
            </a:extLst>
          </p:cNvPr>
          <p:cNvCxnSpPr/>
          <p:nvPr/>
        </p:nvCxnSpPr>
        <p:spPr>
          <a:xfrm>
            <a:off x="3708400" y="2413000"/>
            <a:ext cx="101600" cy="0"/>
          </a:xfrm>
          <a:prstGeom prst="straightConnector1">
            <a:avLst/>
          </a:prstGeom>
          <a:ln w="19050">
            <a:solidFill>
              <a:srgbClr val="1E276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116EF0-F5D5-1C6F-D6F2-2288BE6D1D1F}"/>
              </a:ext>
            </a:extLst>
          </p:cNvPr>
          <p:cNvCxnSpPr/>
          <p:nvPr/>
        </p:nvCxnSpPr>
        <p:spPr>
          <a:xfrm>
            <a:off x="5334000" y="2413000"/>
            <a:ext cx="101600" cy="0"/>
          </a:xfrm>
          <a:prstGeom prst="straightConnector1">
            <a:avLst/>
          </a:prstGeom>
          <a:ln w="19050">
            <a:solidFill>
              <a:srgbClr val="1E276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A43EB0-BE4A-C359-409D-1149CBFA44EC}"/>
              </a:ext>
            </a:extLst>
          </p:cNvPr>
          <p:cNvSpPr/>
          <p:nvPr/>
        </p:nvSpPr>
        <p:spPr>
          <a:xfrm>
            <a:off x="279400" y="3048000"/>
            <a:ext cx="4191000" cy="1841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C92ACE-BC28-C7C0-6515-5FE7ABC2138A}"/>
              </a:ext>
            </a:extLst>
          </p:cNvPr>
          <p:cNvSpPr txBox="1"/>
          <p:nvPr/>
        </p:nvSpPr>
        <p:spPr>
          <a:xfrm>
            <a:off x="431800" y="3149600"/>
            <a:ext cx="38862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18" charset="0"/>
              </a:rPr>
              <a:t>CDC rules (§10)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EE3CB7-7B00-AF71-0810-1EC3DB94269F}"/>
              </a:ext>
            </a:extLst>
          </p:cNvPr>
          <p:cNvSpPr txBox="1"/>
          <p:nvPr/>
        </p:nvSpPr>
        <p:spPr>
          <a:xfrm>
            <a:off x="431800" y="3454400"/>
            <a:ext cx="3886200" cy="13589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Gray-coded pointers, dual-FF pointer synchronizers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Single-bit control → 2-stage synchronizer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Multi-bit buses → async FIFO or handshake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No logic between stages; no fan-out from FF1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Static CDC analysis; formally verified FIFOs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E0F193F-D883-4BC2-711F-3DF21F6BFBE2}"/>
              </a:ext>
            </a:extLst>
          </p:cNvPr>
          <p:cNvSpPr/>
          <p:nvPr/>
        </p:nvSpPr>
        <p:spPr>
          <a:xfrm>
            <a:off x="4673600" y="3048000"/>
            <a:ext cx="4216400" cy="18415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99BCB6-2F72-E0AB-4A56-CC2D496D67D4}"/>
              </a:ext>
            </a:extLst>
          </p:cNvPr>
          <p:cNvSpPr txBox="1"/>
          <p:nvPr/>
        </p:nvSpPr>
        <p:spPr>
          <a:xfrm>
            <a:off x="4826000" y="3149600"/>
            <a:ext cx="39116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FFFFFF"/>
                </a:solidFill>
                <a:latin typeface="Cambria" panose="02040503050406030204" pitchFamily="18" charset="0"/>
              </a:rPr>
              <a:t>Reset strategy (§11)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7A92BC-A5DF-3B35-8D07-38B4B8ED8B49}"/>
              </a:ext>
            </a:extLst>
          </p:cNvPr>
          <p:cNvSpPr txBox="1"/>
          <p:nvPr/>
        </p:nvSpPr>
        <p:spPr>
          <a:xfrm>
            <a:off x="4826000" y="3454400"/>
            <a:ext cx="3911600" cy="13589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RST_N_CXS and RST_N_SYS, active low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Asynchronous assertion: FSM to Idle, FIFOs flushed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Synchronous deassertion via a 2-FF reset synchronizer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Power-up: reset → clocks stable → release per domain →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35535416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19F884-2BB5-83F3-A8D8-0F0E4BD9A9D8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Encryption &amp; Parity Rules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2C1F39-1969-D82D-5715-9A3FDD7C02E8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912C54-A67A-0620-C435-279D73AC2096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1E2761"/>
                </a:solidFill>
                <a:latin typeface="Times New Roman" panose="02020603050405020304" pitchFamily="18" charset="0"/>
              </a:rPr>
              <a:t>SPEC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7700F7-06CE-320C-183F-FF0613625647}"/>
              </a:ext>
            </a:extLst>
          </p:cNvPr>
          <p:cNvSpPr/>
          <p:nvPr/>
        </p:nvSpPr>
        <p:spPr>
          <a:xfrm>
            <a:off x="279400" y="1193800"/>
            <a:ext cx="1651000" cy="635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1 · Count the 0s and 1s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AC6B4AEE-1980-6F0C-4AE2-E962B925366A}"/>
              </a:ext>
            </a:extLst>
          </p:cNvPr>
          <p:cNvSpPr/>
          <p:nvPr/>
        </p:nvSpPr>
        <p:spPr>
          <a:xfrm>
            <a:off x="2235200" y="1066800"/>
            <a:ext cx="1778000" cy="889000"/>
          </a:xfrm>
          <a:prstGeom prst="flowChartDecision">
            <a:avLst/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FFFFFF"/>
                </a:solidFill>
                <a:latin typeface="Times New Roman" panose="02020603050405020304" pitchFamily="18" charset="0"/>
              </a:rPr>
              <a:t>Balanced, or both counts even?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810796-8B48-2B11-6D61-639BCAA0592D}"/>
              </a:ext>
            </a:extLst>
          </p:cNvPr>
          <p:cNvSpPr/>
          <p:nvPr/>
        </p:nvSpPr>
        <p:spPr>
          <a:xfrm>
            <a:off x="4368800" y="1066800"/>
            <a:ext cx="1905000" cy="3810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1E2761"/>
                </a:solidFill>
                <a:latin typeface="Times New Roman" panose="02020603050405020304" pitchFamily="18" charset="0"/>
              </a:rPr>
              <a:t>yes → 0 → 01 · 1 → 10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8C3327-887D-BAB4-1260-E20692F3B433}"/>
              </a:ext>
            </a:extLst>
          </p:cNvPr>
          <p:cNvSpPr/>
          <p:nvPr/>
        </p:nvSpPr>
        <p:spPr>
          <a:xfrm>
            <a:off x="4368800" y="1574800"/>
            <a:ext cx="1905000" cy="3810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1E2761"/>
                </a:solidFill>
                <a:latin typeface="Times New Roman" panose="02020603050405020304" pitchFamily="18" charset="0"/>
              </a:rPr>
              <a:t>no → mode expansion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EBACB2-95B9-5F68-490F-67A8EE1C00F7}"/>
              </a:ext>
            </a:extLst>
          </p:cNvPr>
          <p:cNvSpPr/>
          <p:nvPr/>
        </p:nvSpPr>
        <p:spPr>
          <a:xfrm>
            <a:off x="6604000" y="1193800"/>
            <a:ext cx="2286000" cy="635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2 · Append parity (even / odd)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C459A1-30F9-8AB4-C858-06BD0CF21E9C}"/>
              </a:ext>
            </a:extLst>
          </p:cNvPr>
          <p:cNvCxnSpPr/>
          <p:nvPr/>
        </p:nvCxnSpPr>
        <p:spPr>
          <a:xfrm>
            <a:off x="1930400" y="1511300"/>
            <a:ext cx="3048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0B08388-6FEE-6E49-7FE2-E04DB45C3D29}"/>
              </a:ext>
            </a:extLst>
          </p:cNvPr>
          <p:cNvCxnSpPr/>
          <p:nvPr/>
        </p:nvCxnSpPr>
        <p:spPr>
          <a:xfrm flipV="1">
            <a:off x="4013200" y="1257300"/>
            <a:ext cx="355600" cy="16510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A9AD320-F15E-D2C2-8D24-B746F596FDC9}"/>
              </a:ext>
            </a:extLst>
          </p:cNvPr>
          <p:cNvCxnSpPr/>
          <p:nvPr/>
        </p:nvCxnSpPr>
        <p:spPr>
          <a:xfrm>
            <a:off x="4013200" y="1600200"/>
            <a:ext cx="355600" cy="16510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3CA41F-3C24-9F35-9A90-8060F8C1F2DB}"/>
              </a:ext>
            </a:extLst>
          </p:cNvPr>
          <p:cNvCxnSpPr/>
          <p:nvPr/>
        </p:nvCxnSpPr>
        <p:spPr>
          <a:xfrm>
            <a:off x="6273800" y="1257300"/>
            <a:ext cx="330200" cy="16510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12ACCC-E4BC-6C10-8A3B-40521BC22393}"/>
              </a:ext>
            </a:extLst>
          </p:cNvPr>
          <p:cNvCxnSpPr/>
          <p:nvPr/>
        </p:nvCxnSpPr>
        <p:spPr>
          <a:xfrm flipV="1">
            <a:off x="6273800" y="1600200"/>
            <a:ext cx="330200" cy="16510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F1EAEED-01C0-6191-2472-8D51A248021F}"/>
              </a:ext>
            </a:extLst>
          </p:cNvPr>
          <p:cNvSpPr/>
          <p:nvPr/>
        </p:nvSpPr>
        <p:spPr>
          <a:xfrm>
            <a:off x="279400" y="2235200"/>
            <a:ext cx="4191000" cy="264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4F3D6A-9C5B-032C-0EC7-261BAEC185F0}"/>
              </a:ext>
            </a:extLst>
          </p:cNvPr>
          <p:cNvSpPr txBox="1"/>
          <p:nvPr/>
        </p:nvSpPr>
        <p:spPr>
          <a:xfrm>
            <a:off x="431800" y="2336800"/>
            <a:ext cx="38862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1E2761"/>
                </a:solidFill>
                <a:latin typeface="Cambria" panose="02040503050406030204" pitchFamily="18" charset="0"/>
              </a:rPr>
              <a:t>Spec rules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F3397C-DAD8-5607-8877-D67FA65F8D3E}"/>
              </a:ext>
            </a:extLst>
          </p:cNvPr>
          <p:cNvSpPr txBox="1"/>
          <p:nvPr/>
        </p:nvSpPr>
        <p:spPr>
          <a:xfrm>
            <a:off x="431800" y="2641600"/>
            <a:ext cx="3886200" cy="2159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Mode A (even): bits duplicated, e.g. 1011 → 11001111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Mode B (odd): expansion applies when the selected count is odd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Special case wins: counts equal or both even → 0 → 01, 1 → 10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Parity bit (even or odd) appended before CDM storage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C539154-3AF4-275A-D263-C29DF85589DE}"/>
              </a:ext>
            </a:extLst>
          </p:cNvPr>
          <p:cNvSpPr/>
          <p:nvPr/>
        </p:nvSpPr>
        <p:spPr>
          <a:xfrm>
            <a:off x="4673600" y="2235200"/>
            <a:ext cx="4216400" cy="264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18DB32-E2F1-1212-17B1-22895EF08330}"/>
              </a:ext>
            </a:extLst>
          </p:cNvPr>
          <p:cNvSpPr txBox="1"/>
          <p:nvPr/>
        </p:nvSpPr>
        <p:spPr>
          <a:xfrm>
            <a:off x="4826000" y="2336800"/>
            <a:ext cx="39116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FFFFFF"/>
                </a:solidFill>
                <a:latin typeface="Cambria" panose="02040503050406030204" pitchFamily="18" charset="0"/>
              </a:rPr>
              <a:t>Worked example (spec)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4C16F0-A3A6-3B24-4D0E-392C489B6FDE}"/>
              </a:ext>
            </a:extLst>
          </p:cNvPr>
          <p:cNvSpPr txBox="1"/>
          <p:nvPr/>
        </p:nvSpPr>
        <p:spPr>
          <a:xfrm>
            <a:off x="4826000" y="2641600"/>
            <a:ext cx="3911600" cy="2159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Input 10  →  one 1, one 0  →  balanced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Special mapping  →  1001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Even parity: two 1s  →  parity bit 0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Stored  →  0 · 1001</a:t>
            </a:r>
          </a:p>
          <a:p>
            <a:pPr>
              <a:spcAft>
                <a:spcPts val="200"/>
              </a:spcAft>
            </a:pPr>
            <a:endParaRPr lang="en-US" sz="1100">
              <a:solidFill>
                <a:srgbClr val="FFFFFF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The odd-mode mapping is left open; see 'One spec, two readings'.</a:t>
            </a:r>
          </a:p>
        </p:txBody>
      </p:sp>
    </p:spTree>
    <p:extLst>
      <p:ext uri="{BB962C8B-B14F-4D97-AF65-F5344CB8AC3E}">
        <p14:creationId xmlns:p14="http://schemas.microsoft.com/office/powerpoint/2010/main" val="30562713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E2761"/>
            </a:gs>
            <a:gs pos="90000">
              <a:srgbClr val="1E2761"/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57CDF-A232-AC18-9A4A-1BD30ABF9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2390B356-7877-8B0B-829D-FB4EB06914CB}"/>
              </a:ext>
            </a:extLst>
          </p:cNvPr>
          <p:cNvSpPr txBox="1"/>
          <p:nvPr/>
        </p:nvSpPr>
        <p:spPr>
          <a:xfrm>
            <a:off x="715598" y="517183"/>
            <a:ext cx="901019" cy="1674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</a:rPr>
              <a:t>A</a:t>
            </a:r>
            <a:endParaRPr lang="en-US" sz="110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526BD67-C352-21F6-D2C5-71B8207482CC}"/>
              </a:ext>
            </a:extLst>
          </p:cNvPr>
          <p:cNvSpPr/>
          <p:nvPr/>
        </p:nvSpPr>
        <p:spPr>
          <a:xfrm>
            <a:off x="622609" y="2090610"/>
            <a:ext cx="1554480" cy="4572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0CD1D9C-01BF-9873-FADF-F920A426D81A}"/>
              </a:ext>
            </a:extLst>
          </p:cNvPr>
          <p:cNvSpPr txBox="1"/>
          <p:nvPr/>
        </p:nvSpPr>
        <p:spPr>
          <a:xfrm>
            <a:off x="622609" y="2419794"/>
            <a:ext cx="35322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A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Mariam's implementation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1C1A67-D049-D170-44D8-BA80E26E4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028" y="1057428"/>
            <a:ext cx="3048464" cy="30286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2028808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D5A19-73BC-B829-CF86-75A6EAAC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F0FFEB-CFB9-3808-BC35-F1A5C53827E8}"/>
              </a:ext>
            </a:extLst>
          </p:cNvPr>
          <p:cNvSpPr txBox="1"/>
          <p:nvPr/>
        </p:nvSpPr>
        <p:spPr>
          <a:xfrm>
            <a:off x="380504" y="218057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F4219-2CD2-5F65-171B-3CB5698CB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55" y="698117"/>
            <a:ext cx="7886700" cy="3840931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563316-B517-3761-16A3-804860415FB4}"/>
              </a:ext>
            </a:extLst>
          </p:cNvPr>
          <p:cNvSpPr txBox="1"/>
          <p:nvPr/>
        </p:nvSpPr>
        <p:spPr>
          <a:xfrm>
            <a:off x="446048" y="4531492"/>
            <a:ext cx="7946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E2761"/>
                </a:solidFill>
              </a:rPr>
              <a:t>High-level block diagram of the CXS Bridge — CXS Interface, Control Unit, Encryption, Parity, ATU, and CDM working together.</a:t>
            </a:r>
          </a:p>
        </p:txBody>
      </p:sp>
    </p:spTree>
    <p:extLst>
      <p:ext uri="{BB962C8B-B14F-4D97-AF65-F5344CB8AC3E}">
        <p14:creationId xmlns:p14="http://schemas.microsoft.com/office/powerpoint/2010/main" val="1288501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A89BC-C879-4DFF-C592-49B317E8F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extBox 3">
            <a:extLst>
              <a:ext uri="{FF2B5EF4-FFF2-40B4-BE49-F238E27FC236}">
                <a16:creationId xmlns:a16="http://schemas.microsoft.com/office/drawing/2014/main" id="{6878E6B0-32C0-A4E8-D3E3-BEBB110698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8686745"/>
              </p:ext>
            </p:extLst>
          </p:nvPr>
        </p:nvGraphicFramePr>
        <p:xfrm>
          <a:off x="345556" y="1243415"/>
          <a:ext cx="8452886" cy="1906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TextBox 3">
            <a:extLst>
              <a:ext uri="{FF2B5EF4-FFF2-40B4-BE49-F238E27FC236}">
                <a16:creationId xmlns:a16="http://schemas.microsoft.com/office/drawing/2014/main" id="{185171E3-0EA1-BFD6-FC8E-3D45C9F9D7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9689096"/>
              </p:ext>
            </p:extLst>
          </p:nvPr>
        </p:nvGraphicFramePr>
        <p:xfrm>
          <a:off x="345556" y="3149690"/>
          <a:ext cx="8452886" cy="1631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1057E001-4E80-D936-95EE-A01EC583825D}"/>
              </a:ext>
            </a:extLst>
          </p:cNvPr>
          <p:cNvSpPr txBox="1"/>
          <p:nvPr/>
        </p:nvSpPr>
        <p:spPr>
          <a:xfrm>
            <a:off x="379210" y="361830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Data 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47AE2-D4B4-02B3-A64D-30FCF78E1CA3}"/>
              </a:ext>
            </a:extLst>
          </p:cNvPr>
          <p:cNvSpPr txBox="1"/>
          <p:nvPr/>
        </p:nvSpPr>
        <p:spPr>
          <a:xfrm>
            <a:off x="280219" y="841890"/>
            <a:ext cx="8200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Incoming CXS flits cross from the CXS clock domain into the system clock domain through the Asynchronous FIFO, where the Flit Decoder extracts payload and packet-boundary information for the Control Unit</a:t>
            </a:r>
          </a:p>
        </p:txBody>
      </p:sp>
    </p:spTree>
    <p:extLst>
      <p:ext uri="{BB962C8B-B14F-4D97-AF65-F5344CB8AC3E}">
        <p14:creationId xmlns:p14="http://schemas.microsoft.com/office/powerpoint/2010/main" val="18541762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Graphic spid="3" grpId="0">
        <p:bldAsOne/>
      </p:bldGraphic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3A2CF-8A7E-294C-9745-6BD07F78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F2953BEB-C978-66BB-32E7-32B166FBAF17}"/>
              </a:ext>
            </a:extLst>
          </p:cNvPr>
          <p:cNvSpPr txBox="1"/>
          <p:nvPr/>
        </p:nvSpPr>
        <p:spPr>
          <a:xfrm>
            <a:off x="558119" y="585924"/>
            <a:ext cx="63619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CXS Interface (RX)</a:t>
            </a: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ADC472DE-EE0D-64DF-170A-6FAD2BB35B1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6094" y="4352884"/>
            <a:ext cx="169214" cy="135359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FE6A241-CF94-DFB7-4A14-F262F53DE5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3116586"/>
              </p:ext>
            </p:extLst>
          </p:nvPr>
        </p:nvGraphicFramePr>
        <p:xfrm>
          <a:off x="431510" y="1554972"/>
          <a:ext cx="3788798" cy="2909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D4D3EB52-9B7F-852F-92AC-A5402A33CC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8994" y="907027"/>
            <a:ext cx="5055006" cy="407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44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FC4CA-6B9F-B919-DDD6-C9F0DE6A6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2F65C38F-C7B2-0AB0-9D21-3FF046C28239}"/>
              </a:ext>
            </a:extLst>
          </p:cNvPr>
          <p:cNvSpPr txBox="1"/>
          <p:nvPr/>
        </p:nvSpPr>
        <p:spPr>
          <a:xfrm>
            <a:off x="558119" y="585924"/>
            <a:ext cx="63619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CXS Interface (TX)</a:t>
            </a: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72FCBA5E-699A-A223-7189-6C6E859F6E69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6094" y="4352884"/>
            <a:ext cx="169214" cy="135359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95B2E2-EFA9-379E-D197-E5CE1191F3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3325553"/>
              </p:ext>
            </p:extLst>
          </p:nvPr>
        </p:nvGraphicFramePr>
        <p:xfrm>
          <a:off x="431510" y="1554972"/>
          <a:ext cx="3788798" cy="2909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CCD484B-EEAA-F170-489A-0E7D70C80A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8432" y="921774"/>
            <a:ext cx="5236260" cy="427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442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077E2-90F5-1C2E-2A7E-5267C1944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949A8C8F-896A-3B36-3032-680E507AEFDA}"/>
              </a:ext>
            </a:extLst>
          </p:cNvPr>
          <p:cNvSpPr txBox="1"/>
          <p:nvPr/>
        </p:nvSpPr>
        <p:spPr>
          <a:xfrm>
            <a:off x="237668" y="456901"/>
            <a:ext cx="63619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Unit </a:t>
            </a: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D19122D7-633D-9D2C-EC20-CF78D1C1CAC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6094" y="4352884"/>
            <a:ext cx="169214" cy="135359"/>
          </a:xfrm>
          <a:prstGeom prst="rect">
            <a:avLst/>
          </a:prstGeom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29CF7A91-BD45-FE11-96A5-E6A03C2321A9}"/>
              </a:ext>
            </a:extLst>
          </p:cNvPr>
          <p:cNvSpPr/>
          <p:nvPr/>
        </p:nvSpPr>
        <p:spPr>
          <a:xfrm>
            <a:off x="237668" y="1226004"/>
            <a:ext cx="5186432" cy="3460595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5C0">
                <a:alpha val="35000"/>
              </a:srgbClr>
            </a:outerShdw>
          </a:effectLst>
        </p:spPr>
        <p:txBody>
          <a:bodyPr/>
          <a:lstStyle/>
          <a:p>
            <a:pPr lvl="0"/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 controller of the CXS Bridge </a:t>
            </a: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receives the formatted packet stream from the RX Interface and manages system operation according to the current protocol state</a:t>
            </a:r>
          </a:p>
          <a:p>
            <a:pPr lvl="0"/>
            <a:endPara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 boundary detection:</a:t>
            </a: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US" sz="1200" dirty="0" err="1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pkt_start</a:t>
            </a: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200" dirty="0" err="1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pkt_end</a:t>
            </a: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signals to identify each packet; the first payload word (</a:t>
            </a:r>
            <a:r>
              <a:rPr lang="en-US" sz="1200" dirty="0" err="1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pkt_start</a:t>
            </a: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1) is interpreted as the packet header</a:t>
            </a:r>
          </a:p>
          <a:p>
            <a:pPr lvl="0"/>
            <a:endPara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 Decoder:</a:t>
            </a: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Extracts packet type and control info from the header, letting the FSM determine the required operation</a:t>
            </a:r>
          </a:p>
          <a:p>
            <a:pPr lvl="0"/>
            <a:endPara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Per-packet-type behavior:</a:t>
            </a: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1200" i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Packets</a:t>
            </a: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validates content</a:t>
            </a:r>
          </a:p>
          <a:p>
            <a:pPr lvl="1"/>
            <a:r>
              <a:rPr lang="en-US" sz="1200" i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Packets</a:t>
            </a: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verifies header, transitions system to Link-Up state</a:t>
            </a:r>
          </a:p>
          <a:p>
            <a:pPr lvl="1"/>
            <a:r>
              <a:rPr lang="en-US" sz="1200" i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Packets</a:t>
            </a: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splits each 16-bit payload word into 8-bit address + 8-bit data</a:t>
            </a:r>
          </a:p>
          <a:p>
            <a:pPr lvl="1"/>
            <a:endPara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handling:</a:t>
            </a: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Any validation error → Control Unit generates a status packet, sent back to the remote transmitter</a:t>
            </a:r>
          </a:p>
          <a:p>
            <a:endPara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6F55F5-E0A8-D5AA-1A5D-99A1F896E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630" y="860643"/>
            <a:ext cx="4095293" cy="41913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281699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9C22B9-177D-86F1-FC83-649A07D3B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3CA71480-5336-ECD5-C82F-73E40689D2BA}"/>
              </a:ext>
            </a:extLst>
          </p:cNvPr>
          <p:cNvSpPr txBox="1"/>
          <p:nvPr/>
        </p:nvSpPr>
        <p:spPr>
          <a:xfrm>
            <a:off x="237668" y="121684"/>
            <a:ext cx="63619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Unit FSM</a:t>
            </a: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6858C535-E043-B021-89BD-7293CF98270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6094" y="4352884"/>
            <a:ext cx="169214" cy="135359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66D2369-A34B-4FC2-296F-EA9F6EBE0E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6797068"/>
              </p:ext>
            </p:extLst>
          </p:nvPr>
        </p:nvGraphicFramePr>
        <p:xfrm>
          <a:off x="361335" y="846259"/>
          <a:ext cx="5287298" cy="4046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E8AE4B4-3319-62DB-FA33-75767CF5C9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5343" y="441724"/>
            <a:ext cx="2500975" cy="453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708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F94A2-584C-5583-3CCC-50F9FB33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983069-0B2C-E3FC-7E93-7B28A4F5B9E1}"/>
              </a:ext>
            </a:extLst>
          </p:cNvPr>
          <p:cNvSpPr txBox="1"/>
          <p:nvPr/>
        </p:nvSpPr>
        <p:spPr>
          <a:xfrm>
            <a:off x="411480" y="342900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lvl="0">
              <a:lnSpc>
                <a:spcPct val="90000"/>
              </a:lnSpc>
              <a:spcAft>
                <a:spcPts val="600"/>
              </a:spcAft>
            </a:pPr>
            <a:r>
              <a:rPr lang="en-US" sz="225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ATU &amp; Central Data Memory (CDM)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A92DFBC-3690-BF17-4BB0-AD7433C3559D}"/>
              </a:ext>
            </a:extLst>
          </p:cNvPr>
          <p:cNvSpPr/>
          <p:nvPr/>
        </p:nvSpPr>
        <p:spPr>
          <a:xfrm>
            <a:off x="4771049" y="1100255"/>
            <a:ext cx="3938053" cy="331562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5C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9373E4-3B36-AF85-2E08-0CA9B530B4F8}"/>
              </a:ext>
            </a:extLst>
          </p:cNvPr>
          <p:cNvSpPr txBox="1"/>
          <p:nvPr/>
        </p:nvSpPr>
        <p:spPr>
          <a:xfrm>
            <a:off x="5006246" y="1192437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Data Memory (CDM)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9E2CF0A-4A35-201E-006D-0DEFC344E651}"/>
              </a:ext>
            </a:extLst>
          </p:cNvPr>
          <p:cNvSpPr txBox="1"/>
          <p:nvPr/>
        </p:nvSpPr>
        <p:spPr>
          <a:xfrm>
            <a:off x="4914900" y="1558939"/>
            <a:ext cx="3291840" cy="2802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lvl="0" indent="-257175">
              <a:lnSpc>
                <a:spcPct val="115000"/>
              </a:lnSpc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Region: Stores the configuration packet beginning at address 0x0000 ,0x0001, including the  encryption mode, parity mode, number of devices, base </a:t>
            </a:r>
            <a:r>
              <a:rPr lang="en-US" sz="1200" dirty="0" err="1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address,and</a:t>
            </a: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device memory-region information.  </a:t>
            </a:r>
          </a:p>
          <a:p>
            <a:pPr marL="257175" lvl="0" indent="-257175">
              <a:lnSpc>
                <a:spcPct val="115000"/>
              </a:lnSpc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Payload Region: Stores payload data belonging to each configured device The physical address is generated by the ATU based on the logical address contained in the data packet.</a:t>
            </a:r>
          </a:p>
          <a:p>
            <a:pPr marL="257175" lvl="0" indent="-257175">
              <a:lnSpc>
                <a:spcPct val="115000"/>
              </a:lnSpc>
              <a:spcAft>
                <a:spcPts val="900"/>
              </a:spcAft>
              <a:buSzPct val="100000"/>
              <a:buFontTx/>
              <a:buChar char="•"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Allow read operation for application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devices </a:t>
            </a:r>
          </a:p>
          <a:p>
            <a:pPr marL="257175" lvl="0" indent="-257175">
              <a:lnSpc>
                <a:spcPct val="115000"/>
              </a:lnSpc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 read operation for control unit to access configuration data stored</a:t>
            </a:r>
            <a:endParaRPr lang="en-US" sz="11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6CF46FA-2B62-3F35-ABBF-2A6ECEF1EF85}"/>
              </a:ext>
            </a:extLst>
          </p:cNvPr>
          <p:cNvSpPr/>
          <p:nvPr/>
        </p:nvSpPr>
        <p:spPr>
          <a:xfrm>
            <a:off x="434899" y="1103416"/>
            <a:ext cx="3938053" cy="3312467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E96F1EF-DD3E-D0A6-2482-0E1722077CBB}"/>
              </a:ext>
            </a:extLst>
          </p:cNvPr>
          <p:cNvSpPr txBox="1"/>
          <p:nvPr/>
        </p:nvSpPr>
        <p:spPr>
          <a:xfrm>
            <a:off x="612761" y="121362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2C62F54-D701-8B16-F0F1-7B28585C50D5}"/>
              </a:ext>
            </a:extLst>
          </p:cNvPr>
          <p:cNvSpPr txBox="1"/>
          <p:nvPr/>
        </p:nvSpPr>
        <p:spPr>
          <a:xfrm>
            <a:off x="612761" y="1414705"/>
            <a:ext cx="3607548" cy="231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lvl="0" indent="-257175"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logical address received from the data packet into a physical CDM address using the following formula :</a:t>
            </a:r>
          </a:p>
          <a:p>
            <a:pPr lvl="0">
              <a:spcAft>
                <a:spcPts val="900"/>
              </a:spcAft>
              <a:buSzPct val="100000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Physical Address = Logical Address – Base Address +      	               Start Address + 2</a:t>
            </a:r>
          </a:p>
          <a:p>
            <a:pPr marL="257175" lvl="0" indent="-257175"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configurable address translation mode with send the Base address with configuration packet. </a:t>
            </a:r>
          </a:p>
          <a:p>
            <a:pPr marL="257175" lvl="0" indent="-257175"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translated address is used to access the corresponding device memory region.</a:t>
            </a:r>
          </a:p>
        </p:txBody>
      </p:sp>
    </p:spTree>
    <p:extLst>
      <p:ext uri="{BB962C8B-B14F-4D97-AF65-F5344CB8AC3E}">
        <p14:creationId xmlns:p14="http://schemas.microsoft.com/office/powerpoint/2010/main" val="18878370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D2A2B-5652-0E74-EB4B-4FE75463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053644FA-B535-59B6-FC38-E61AF334AE51}"/>
              </a:ext>
            </a:extLst>
          </p:cNvPr>
          <p:cNvSpPr txBox="1"/>
          <p:nvPr/>
        </p:nvSpPr>
        <p:spPr>
          <a:xfrm>
            <a:off x="169499" y="249044"/>
            <a:ext cx="8740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 Domain Crossing (CDC) 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0E31D092-5C9F-B770-B981-D09EC96E07C0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07" y="1054001"/>
            <a:ext cx="3807640" cy="1281931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D1DAAC5-C3FD-EC2A-A319-80A237A37BBA}"/>
              </a:ext>
            </a:extLst>
          </p:cNvPr>
          <p:cNvSpPr/>
          <p:nvPr/>
        </p:nvSpPr>
        <p:spPr>
          <a:xfrm>
            <a:off x="648224" y="1550392"/>
            <a:ext cx="209321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defTabSz="685800"/>
            <a:r>
              <a:rPr lang="en-US" sz="1613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C0F9E37-D1A6-C842-3A0A-28871B58A229}"/>
              </a:ext>
            </a:extLst>
          </p:cNvPr>
          <p:cNvSpPr/>
          <p:nvPr/>
        </p:nvSpPr>
        <p:spPr>
          <a:xfrm>
            <a:off x="1006633" y="1135635"/>
            <a:ext cx="3044072" cy="1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85800">
              <a:lnSpc>
                <a:spcPct val="104000"/>
              </a:lnSpc>
            </a:pPr>
            <a:r>
              <a:rPr lang="en-US" sz="13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</a:t>
            </a:r>
            <a:endParaRPr lang="en-US" sz="135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BA35BFB-9923-52E1-06FA-D0F58A4FB486}"/>
              </a:ext>
            </a:extLst>
          </p:cNvPr>
          <p:cNvSpPr/>
          <p:nvPr/>
        </p:nvSpPr>
        <p:spPr>
          <a:xfrm>
            <a:off x="1009661" y="1377297"/>
            <a:ext cx="3181029" cy="926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defTabSz="685800">
              <a:lnSpc>
                <a:spcPct val="132000"/>
              </a:lnSpc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transfer between asynchronous clock domains can cause: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Metastability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corruption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Incorrect pulse detection</a:t>
            </a:r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0D71940E-DE06-2A7E-AFD7-8BD26D28A4DF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07" y="2473300"/>
            <a:ext cx="3807640" cy="1060475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4009598-5A0E-3F61-85C3-4165BB175A91}"/>
              </a:ext>
            </a:extLst>
          </p:cNvPr>
          <p:cNvSpPr/>
          <p:nvPr/>
        </p:nvSpPr>
        <p:spPr>
          <a:xfrm>
            <a:off x="687197" y="2872681"/>
            <a:ext cx="209321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defTabSz="685800"/>
            <a:r>
              <a:rPr lang="en-US" sz="1613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E95F19A-0C79-B8B2-F6F0-A9C4623B1128}"/>
              </a:ext>
            </a:extLst>
          </p:cNvPr>
          <p:cNvSpPr/>
          <p:nvPr/>
        </p:nvSpPr>
        <p:spPr>
          <a:xfrm>
            <a:off x="990763" y="2532671"/>
            <a:ext cx="384949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85800">
              <a:lnSpc>
                <a:spcPct val="104000"/>
              </a:lnSpc>
            </a:pPr>
            <a:r>
              <a:rPr lang="en-US" sz="13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Clock Domains</a:t>
            </a:r>
            <a:endParaRPr lang="en-US" sz="135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A8FC12E-691A-5A9A-8C5F-82AE9B43358B}"/>
              </a:ext>
            </a:extLst>
          </p:cNvPr>
          <p:cNvSpPr/>
          <p:nvPr/>
        </p:nvSpPr>
        <p:spPr>
          <a:xfrm>
            <a:off x="1006633" y="2786881"/>
            <a:ext cx="3044072" cy="577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defTabSz="685800">
              <a:lnSpc>
                <a:spcPct val="132000"/>
              </a:lnSpc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design operates using two independent clock domains:</a:t>
            </a:r>
          </a:p>
          <a:p>
            <a:pPr defTabSz="685800">
              <a:lnSpc>
                <a:spcPct val="132000"/>
              </a:lnSpc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CXS Clock Domain: 37 MHz</a:t>
            </a:r>
          </a:p>
          <a:p>
            <a:pPr defTabSz="685800">
              <a:lnSpc>
                <a:spcPct val="132000"/>
              </a:lnSpc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Clock Domain: 25 MHz</a:t>
            </a:r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3C4FD6AB-FB10-2EBB-0137-45664586B1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07" y="3671143"/>
            <a:ext cx="3807640" cy="1336955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C6DAA1FD-86C5-4710-2A87-73CC069A20DE}"/>
              </a:ext>
            </a:extLst>
          </p:cNvPr>
          <p:cNvSpPr/>
          <p:nvPr/>
        </p:nvSpPr>
        <p:spPr>
          <a:xfrm>
            <a:off x="687196" y="4201344"/>
            <a:ext cx="209321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defTabSz="685800"/>
            <a:r>
              <a:rPr lang="en-US" sz="1613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14FE231-71BA-E5E5-B646-9ACCE4CAD8A3}"/>
              </a:ext>
            </a:extLst>
          </p:cNvPr>
          <p:cNvSpPr/>
          <p:nvPr/>
        </p:nvSpPr>
        <p:spPr>
          <a:xfrm>
            <a:off x="990763" y="3743497"/>
            <a:ext cx="384949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85800">
              <a:lnSpc>
                <a:spcPct val="104000"/>
              </a:lnSpc>
            </a:pPr>
            <a:r>
              <a:rPr lang="en-US" sz="13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Solutions </a:t>
            </a:r>
            <a:endParaRPr lang="en-US" sz="135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B00B9B4-8374-6A9A-7EEF-DF8C6D9A6818}"/>
              </a:ext>
            </a:extLst>
          </p:cNvPr>
          <p:cNvSpPr/>
          <p:nvPr/>
        </p:nvSpPr>
        <p:spPr>
          <a:xfrm>
            <a:off x="1041622" y="3960501"/>
            <a:ext cx="2974093" cy="933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defTabSz="685800">
              <a:lnSpc>
                <a:spcPct val="132000"/>
              </a:lnSpc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CDC techniques are implemented: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Asynchronous FIFO – CXS → System domain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Synchronizer – System → CXS domain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Reset Synchronizer – Generates synchronized resets for both domains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4F8998-4BDE-46F3-DC99-F5D408181F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4941"/>
          <a:stretch>
            <a:fillRect/>
          </a:stretch>
        </p:blipFill>
        <p:spPr>
          <a:xfrm>
            <a:off x="4539903" y="1059939"/>
            <a:ext cx="4266472" cy="389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3570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FF43F-AFA3-C856-5D36-0BC8AD18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ABB019-F604-4177-25D1-1A0FE59EE0EA}"/>
              </a:ext>
            </a:extLst>
          </p:cNvPr>
          <p:cNvSpPr txBox="1"/>
          <p:nvPr/>
        </p:nvSpPr>
        <p:spPr>
          <a:xfrm>
            <a:off x="473931" y="715870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744541DB-980E-F157-4E2D-C726A38767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2773819"/>
              </p:ext>
            </p:extLst>
          </p:nvPr>
        </p:nvGraphicFramePr>
        <p:xfrm>
          <a:off x="432464" y="1053625"/>
          <a:ext cx="8473857" cy="3036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FD9B04EE-5669-91EA-5581-7DA61B5E836A}"/>
              </a:ext>
            </a:extLst>
          </p:cNvPr>
          <p:cNvSpPr txBox="1"/>
          <p:nvPr/>
        </p:nvSpPr>
        <p:spPr>
          <a:xfrm>
            <a:off x="473931" y="248119"/>
            <a:ext cx="8740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CDC solutions</a:t>
            </a:r>
          </a:p>
        </p:txBody>
      </p:sp>
    </p:spTree>
    <p:extLst>
      <p:ext uri="{BB962C8B-B14F-4D97-AF65-F5344CB8AC3E}">
        <p14:creationId xmlns:p14="http://schemas.microsoft.com/office/powerpoint/2010/main" val="11505213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16" grpId="0">
        <p:bldAsOne/>
      </p:bldGraphic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D2A2B-5652-0E74-EB4B-4FE75463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053644FA-B535-59B6-FC38-E61AF334AE51}"/>
              </a:ext>
            </a:extLst>
          </p:cNvPr>
          <p:cNvSpPr txBox="1"/>
          <p:nvPr/>
        </p:nvSpPr>
        <p:spPr>
          <a:xfrm>
            <a:off x="169499" y="80688"/>
            <a:ext cx="8740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Strategy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0E31D092-5C9F-B770-B981-D09EC96E07C0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07" y="764553"/>
            <a:ext cx="3807640" cy="2520291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D1DAAC5-C3FD-EC2A-A319-80A237A37BBA}"/>
              </a:ext>
            </a:extLst>
          </p:cNvPr>
          <p:cNvSpPr/>
          <p:nvPr/>
        </p:nvSpPr>
        <p:spPr>
          <a:xfrm>
            <a:off x="582536" y="1893878"/>
            <a:ext cx="209321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defTabSz="685800"/>
            <a:r>
              <a:rPr lang="en-US" sz="1613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C0F9E37-D1A6-C842-3A0A-28871B58A229}"/>
              </a:ext>
            </a:extLst>
          </p:cNvPr>
          <p:cNvSpPr/>
          <p:nvPr/>
        </p:nvSpPr>
        <p:spPr>
          <a:xfrm>
            <a:off x="1056732" y="937127"/>
            <a:ext cx="3044072" cy="1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85800">
              <a:lnSpc>
                <a:spcPct val="104000"/>
              </a:lnSpc>
            </a:pPr>
            <a:r>
              <a:rPr lang="en-US" sz="1350" b="1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Two-Level Verification Approach</a:t>
            </a:r>
            <a:endParaRPr lang="en-US" sz="135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BA35BFB-9923-52E1-06FA-D0F58A4FB486}"/>
              </a:ext>
            </a:extLst>
          </p:cNvPr>
          <p:cNvSpPr/>
          <p:nvPr/>
        </p:nvSpPr>
        <p:spPr>
          <a:xfrm>
            <a:off x="1063724" y="1223539"/>
            <a:ext cx="3123938" cy="1735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defTabSz="685800">
              <a:lnSpc>
                <a:spcPct val="132000"/>
              </a:lnSpc>
            </a:pPr>
            <a:r>
              <a:rPr lang="en-US" sz="100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1. Unit-Level Verification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Each major CXS interface is verified independently.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Dedicated </a:t>
            </a:r>
            <a:r>
              <a:rPr lang="en-US" sz="1000" dirty="0" err="1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SystemVerilog</a:t>
            </a:r>
            <a:r>
              <a:rPr lang="en-US" sz="1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self-checking testbenches are used.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Corner cases and protocol behavior are included.</a:t>
            </a:r>
          </a:p>
          <a:p>
            <a:pPr defTabSz="685800">
              <a:lnSpc>
                <a:spcPct val="132000"/>
              </a:lnSpc>
            </a:pPr>
            <a:endParaRPr lang="en-US" sz="1000" dirty="0">
              <a:solidFill>
                <a:srgbClr val="3C3939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  <a:p>
            <a:pPr defTabSz="685800">
              <a:lnSpc>
                <a:spcPct val="132000"/>
              </a:lnSpc>
            </a:pPr>
            <a:r>
              <a:rPr lang="en-US" sz="90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2. End-to-End Verification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Verifies the complete CXS Bridge from RX to TX.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Functional behavior is checked using self-checking testbench tasks and assertions.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3C3939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3C4FD6AB-FB10-2EBB-0137-45664586B11F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07" y="3389723"/>
            <a:ext cx="3807640" cy="1535777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C6DAA1FD-86C5-4710-2A87-73CC069A20DE}"/>
              </a:ext>
            </a:extLst>
          </p:cNvPr>
          <p:cNvSpPr/>
          <p:nvPr/>
        </p:nvSpPr>
        <p:spPr>
          <a:xfrm>
            <a:off x="593636" y="3792723"/>
            <a:ext cx="209321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defTabSz="685800"/>
            <a:r>
              <a:rPr lang="en-US" sz="1613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14FE231-71BA-E5E5-B646-9ACCE4CAD8A3}"/>
              </a:ext>
            </a:extLst>
          </p:cNvPr>
          <p:cNvSpPr/>
          <p:nvPr/>
        </p:nvSpPr>
        <p:spPr>
          <a:xfrm>
            <a:off x="1056732" y="3515464"/>
            <a:ext cx="384949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85800">
              <a:lnSpc>
                <a:spcPct val="104000"/>
              </a:lnSpc>
            </a:pPr>
            <a:r>
              <a:rPr lang="en-US" sz="13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Main Verification Goals</a:t>
            </a:r>
            <a:endParaRPr lang="en-US" sz="135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B00B9B4-8374-6A9A-7EEF-DF8C6D9A6818}"/>
              </a:ext>
            </a:extLst>
          </p:cNvPr>
          <p:cNvSpPr/>
          <p:nvPr/>
        </p:nvSpPr>
        <p:spPr>
          <a:xfrm>
            <a:off x="1056733" y="3780527"/>
            <a:ext cx="3130930" cy="989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Correct CXS protocol operation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Correct packet processing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Correct credit-based flow control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Correct configuration and error handling</a:t>
            </a:r>
          </a:p>
          <a:p>
            <a:pPr marL="171450" indent="-171450" defTabSz="68580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Correct encryption, parity, address translation, and CDM storage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BD8C256-8B0A-4E88-27A6-CA5A093B1AC8}"/>
              </a:ext>
            </a:extLst>
          </p:cNvPr>
          <p:cNvGrpSpPr/>
          <p:nvPr/>
        </p:nvGrpSpPr>
        <p:grpSpPr>
          <a:xfrm>
            <a:off x="4308212" y="1764548"/>
            <a:ext cx="4722645" cy="2219105"/>
            <a:chOff x="661475" y="2456855"/>
            <a:chExt cx="6918350" cy="271224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37471E3-346F-9CEA-E51B-61E832E25121}"/>
                </a:ext>
              </a:extLst>
            </p:cNvPr>
            <p:cNvGrpSpPr/>
            <p:nvPr/>
          </p:nvGrpSpPr>
          <p:grpSpPr>
            <a:xfrm>
              <a:off x="661475" y="2456855"/>
              <a:ext cx="6918350" cy="2712244"/>
              <a:chOff x="661475" y="2456855"/>
              <a:chExt cx="6918350" cy="2712244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A2CEB78-2557-743E-9844-F1C91441D69E}"/>
                  </a:ext>
                </a:extLst>
              </p:cNvPr>
              <p:cNvGrpSpPr/>
              <p:nvPr/>
            </p:nvGrpSpPr>
            <p:grpSpPr>
              <a:xfrm>
                <a:off x="661475" y="2456855"/>
                <a:ext cx="6918350" cy="2712244"/>
                <a:chOff x="661475" y="2456855"/>
                <a:chExt cx="6918350" cy="2712244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1FFC6E53-0808-706E-5A04-987004D2FDD2}"/>
                    </a:ext>
                  </a:extLst>
                </p:cNvPr>
                <p:cNvGrpSpPr/>
                <p:nvPr/>
              </p:nvGrpSpPr>
              <p:grpSpPr>
                <a:xfrm>
                  <a:off x="661475" y="2456855"/>
                  <a:ext cx="6918350" cy="2712244"/>
                  <a:chOff x="661475" y="2456855"/>
                  <a:chExt cx="6918350" cy="2712244"/>
                </a:xfrm>
              </p:grpSpPr>
              <p:pic>
                <p:nvPicPr>
                  <p:cNvPr id="46" name="Image 0" descr="preencoded.png">
                    <a:extLst>
                      <a:ext uri="{FF2B5EF4-FFF2-40B4-BE49-F238E27FC236}">
                        <a16:creationId xmlns:a16="http://schemas.microsoft.com/office/drawing/2014/main" id="{D4C87305-58B3-43CB-397A-FEB34A2023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duotone>
                      <a:schemeClr val="accent1">
                        <a:shade val="45000"/>
                        <a:satMod val="135000"/>
                      </a:scheme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661475" y="2456855"/>
                    <a:ext cx="6918350" cy="2712244"/>
                  </a:xfrm>
                  <a:prstGeom prst="rect">
                    <a:avLst/>
                  </a:prstGeom>
                </p:spPr>
              </p:pic>
              <p:sp>
                <p:nvSpPr>
                  <p:cNvPr id="47" name="Text 1">
                    <a:extLst>
                      <a:ext uri="{FF2B5EF4-FFF2-40B4-BE49-F238E27FC236}">
                        <a16:creationId xmlns:a16="http://schemas.microsoft.com/office/drawing/2014/main" id="{0C4B999B-2D65-D434-91DC-EE02385CA076}"/>
                      </a:ext>
                    </a:extLst>
                  </p:cNvPr>
                  <p:cNvSpPr/>
                  <p:nvPr/>
                </p:nvSpPr>
                <p:spPr>
                  <a:xfrm>
                    <a:off x="827096" y="2589869"/>
                    <a:ext cx="1266466" cy="407089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t">
                    <a:normAutofit/>
                  </a:bodyPr>
                  <a:lstStyle/>
                  <a:p>
                    <a:pPr algn="ctr" defTabSz="685800">
                      <a:lnSpc>
                        <a:spcPct val="104000"/>
                      </a:lnSpc>
                    </a:pPr>
                    <a:r>
                      <a:rPr lang="en-US" sz="938" dirty="0">
                        <a:solidFill>
                          <a:srgbClr val="1B1B27"/>
                        </a:solidFill>
                        <a:latin typeface="Raleway" pitchFamily="34" charset="0"/>
                      </a:rPr>
                      <a:t>End to end </a:t>
                    </a:r>
                    <a:r>
                      <a:rPr lang="en-US" sz="938" dirty="0" err="1">
                        <a:solidFill>
                          <a:srgbClr val="1B1B27"/>
                        </a:solidFill>
                        <a:latin typeface="Raleway" pitchFamily="34" charset="0"/>
                      </a:rPr>
                      <a:t>verfication</a:t>
                    </a:r>
                    <a:r>
                      <a:rPr lang="en-US" sz="938" dirty="0">
                        <a:solidFill>
                          <a:srgbClr val="1B1B27"/>
                        </a:solidFill>
                        <a:latin typeface="Raleway" pitchFamily="34" charset="0"/>
                      </a:rPr>
                      <a:t> </a:t>
                    </a:r>
                    <a:endParaRPr lang="en-US" sz="938" dirty="0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44" name="Text 2">
                  <a:extLst>
                    <a:ext uri="{FF2B5EF4-FFF2-40B4-BE49-F238E27FC236}">
                      <a16:creationId xmlns:a16="http://schemas.microsoft.com/office/drawing/2014/main" id="{49EB8F97-6D5E-353D-9993-967EB9DB5859}"/>
                    </a:ext>
                  </a:extLst>
                </p:cNvPr>
                <p:cNvSpPr/>
                <p:nvPr/>
              </p:nvSpPr>
              <p:spPr>
                <a:xfrm>
                  <a:off x="6147612" y="2589869"/>
                  <a:ext cx="1266467" cy="40708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>
                  <a:normAutofit/>
                </a:bodyPr>
                <a:lstStyle/>
                <a:p>
                  <a:pPr algn="ctr" defTabSz="685800">
                    <a:lnSpc>
                      <a:spcPct val="104000"/>
                    </a:lnSpc>
                  </a:pPr>
                  <a:r>
                    <a:rPr lang="en-US" sz="938" dirty="0">
                      <a:solidFill>
                        <a:srgbClr val="1B1B27"/>
                      </a:solidFill>
                      <a:latin typeface="Raleway" pitchFamily="34" charset="0"/>
                      <a:ea typeface="Raleway" pitchFamily="34" charset="-122"/>
                      <a:cs typeface="Raleway" pitchFamily="34" charset="-120"/>
                    </a:rPr>
                    <a:t>Unit test for main blocks </a:t>
                  </a:r>
                  <a:endParaRPr lang="en-US" sz="938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38" name="Text 3">
                <a:extLst>
                  <a:ext uri="{FF2B5EF4-FFF2-40B4-BE49-F238E27FC236}">
                    <a16:creationId xmlns:a16="http://schemas.microsoft.com/office/drawing/2014/main" id="{11539B98-54BF-C645-BB63-FBAD9168296E}"/>
                  </a:ext>
                </a:extLst>
              </p:cNvPr>
              <p:cNvSpPr/>
              <p:nvPr/>
            </p:nvSpPr>
            <p:spPr>
              <a:xfrm>
                <a:off x="6147612" y="4628931"/>
                <a:ext cx="1266467" cy="40708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defTabSz="685800">
                  <a:lnSpc>
                    <a:spcPct val="104000"/>
                  </a:lnSpc>
                </a:pPr>
                <a:r>
                  <a:rPr lang="en-US" sz="938" dirty="0">
                    <a:solidFill>
                      <a:srgbClr val="1B1B27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Corner Case </a:t>
                </a:r>
              </a:p>
              <a:p>
                <a:pPr defTabSz="685800">
                  <a:lnSpc>
                    <a:spcPct val="104000"/>
                  </a:lnSpc>
                </a:pPr>
                <a:r>
                  <a:rPr lang="en-US" sz="938" dirty="0" err="1">
                    <a:solidFill>
                      <a:srgbClr val="1B1B27"/>
                    </a:solidFill>
                    <a:latin typeface="Raleway" pitchFamily="34" charset="0"/>
                  </a:rPr>
                  <a:t>Verfication</a:t>
                </a:r>
                <a:r>
                  <a:rPr lang="en-US" sz="938" dirty="0">
                    <a:solidFill>
                      <a:srgbClr val="1B1B27"/>
                    </a:solidFill>
                    <a:latin typeface="Raleway" pitchFamily="34" charset="0"/>
                  </a:rPr>
                  <a:t> </a:t>
                </a:r>
                <a:endParaRPr lang="en-US" sz="938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9" name="Text 4">
              <a:extLst>
                <a:ext uri="{FF2B5EF4-FFF2-40B4-BE49-F238E27FC236}">
                  <a16:creationId xmlns:a16="http://schemas.microsoft.com/office/drawing/2014/main" id="{05DDC788-8BB4-2F44-CFAD-59759C6C80C6}"/>
                </a:ext>
              </a:extLst>
            </p:cNvPr>
            <p:cNvSpPr/>
            <p:nvPr/>
          </p:nvSpPr>
          <p:spPr>
            <a:xfrm>
              <a:off x="827096" y="4628931"/>
              <a:ext cx="1266466" cy="4070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ctr" defTabSz="685800">
                <a:lnSpc>
                  <a:spcPct val="104000"/>
                </a:lnSpc>
              </a:pPr>
              <a:r>
                <a:rPr lang="en-US" sz="938" dirty="0">
                  <a:solidFill>
                    <a:srgbClr val="1B1B27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Self checking functions </a:t>
              </a:r>
              <a:endParaRPr lang="en-US" sz="938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23112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" grpId="0" animBg="1"/>
      <p:bldP spid="5" grpId="0" animBg="1"/>
      <p:bldP spid="6" grpId="0" animBg="1"/>
      <p:bldP spid="12" grpId="0" animBg="1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0AF109-9308-A657-E937-7792B9379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87FE15-42B6-0857-A071-2B11C768B186}"/>
              </a:ext>
            </a:extLst>
          </p:cNvPr>
          <p:cNvSpPr txBox="1"/>
          <p:nvPr/>
        </p:nvSpPr>
        <p:spPr>
          <a:xfrm>
            <a:off x="281382" y="137159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CXS RX Unit Verification</a:t>
            </a:r>
            <a:endParaRPr lang="en-US" sz="22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4062ABD-8F84-DA38-D397-34F460A917F0}"/>
              </a:ext>
            </a:extLst>
          </p:cNvPr>
          <p:cNvSpPr/>
          <p:nvPr/>
        </p:nvSpPr>
        <p:spPr>
          <a:xfrm>
            <a:off x="281382" y="617220"/>
            <a:ext cx="3622403" cy="4261067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Scenarios</a:t>
            </a:r>
          </a:p>
          <a:p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 verification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activation handshake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Single-flit reception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Payload/control combinations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Back-to-back flits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return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deactivation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 flit reception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exhaustion and buffer release</a:t>
            </a:r>
          </a:p>
          <a:p>
            <a:pPr lvl="0"/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9/9 RX unit test cases PASS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path verified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decoding verified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control verified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management verified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FIFO/buffer management verified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Corner cases verified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code coverage on </a:t>
            </a:r>
            <a:r>
              <a:rPr 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questasim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CC22C9-AA13-E0DC-CA2D-C3B6CC1C85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321" y="617219"/>
            <a:ext cx="4889996" cy="22176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05961F7-B862-3990-55E9-D520896D2D3F}"/>
              </a:ext>
            </a:extLst>
          </p:cNvPr>
          <p:cNvGrpSpPr/>
          <p:nvPr/>
        </p:nvGrpSpPr>
        <p:grpSpPr>
          <a:xfrm>
            <a:off x="4105321" y="2834826"/>
            <a:ext cx="4902775" cy="2043462"/>
            <a:chOff x="0" y="0"/>
            <a:chExt cx="7197436" cy="432879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4B44CB0-E3DD-39D2-D79D-10860A8D1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4072890" cy="432879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6FCB8D5-2B08-60C5-C9CD-DAD94E434D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43" r="26104"/>
            <a:stretch>
              <a:fillRect/>
            </a:stretch>
          </p:blipFill>
          <p:spPr bwMode="auto">
            <a:xfrm>
              <a:off x="4073236" y="0"/>
              <a:ext cx="3124200" cy="432879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023308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597DA-365D-DA56-E5B2-D4A9D7CB9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58A675-7825-BA54-B5F1-BD202FD397C2}"/>
              </a:ext>
            </a:extLst>
          </p:cNvPr>
          <p:cNvSpPr txBox="1"/>
          <p:nvPr/>
        </p:nvSpPr>
        <p:spPr>
          <a:xfrm>
            <a:off x="281382" y="137159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CXS TX Unit Verification</a:t>
            </a:r>
            <a:endParaRPr lang="en-US" sz="22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67329D4-163F-EEA9-F16E-E53F26CFE413}"/>
              </a:ext>
            </a:extLst>
          </p:cNvPr>
          <p:cNvSpPr/>
          <p:nvPr/>
        </p:nvSpPr>
        <p:spPr>
          <a:xfrm>
            <a:off x="281382" y="617220"/>
            <a:ext cx="3650538" cy="4261067"/>
          </a:xfrm>
          <a:prstGeom prst="roundRect">
            <a:avLst>
              <a:gd name="adj" fmla="val 2326"/>
            </a:avLst>
          </a:prstGeom>
          <a:solidFill>
            <a:schemeClr val="bg1"/>
          </a:solidFill>
          <a:ln/>
        </p:spPr>
        <p:txBody>
          <a:bodyPr/>
          <a:lstStyle/>
          <a:p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Scenarios</a:t>
            </a:r>
          </a:p>
          <a:p>
            <a:endParaRPr lang="en-US" sz="1400" b="1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 verification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activation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Single-flit transmission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without credit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Multi-flit transmission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 operation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queued packets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accumulation/consumption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exhaustion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deactivation</a:t>
            </a:r>
          </a:p>
          <a:p>
            <a:pPr lvl="0"/>
            <a:endParaRPr lang="en-US" sz="14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endParaRPr lang="en-US" sz="1200" b="1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10/10 TX unit test cases PASS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TX unit was verified for packet formatting, buffering, transmission, and credit-based flow control.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control verified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Corner cases verified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code coverage on </a:t>
            </a:r>
            <a:r>
              <a:rPr lang="en-US" sz="1200" dirty="0" err="1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questasim</a:t>
            </a: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sz="12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E46A8F-D420-8082-7E4A-B2BF62E6D6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05321" y="617220"/>
            <a:ext cx="4889996" cy="20434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648F383-F4BC-5747-A1D9-0A0BF3F9C919}"/>
              </a:ext>
            </a:extLst>
          </p:cNvPr>
          <p:cNvGrpSpPr/>
          <p:nvPr/>
        </p:nvGrpSpPr>
        <p:grpSpPr>
          <a:xfrm>
            <a:off x="4105321" y="2660682"/>
            <a:ext cx="4902775" cy="2217606"/>
            <a:chOff x="717297" y="-4"/>
            <a:chExt cx="6480139" cy="43287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3D758E3-A20E-DA24-A063-D4C151271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046"/>
            <a:stretch>
              <a:fillRect/>
            </a:stretch>
          </p:blipFill>
          <p:spPr>
            <a:xfrm>
              <a:off x="717297" y="0"/>
              <a:ext cx="3337177" cy="432879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45E0FDA-8DAA-1CCA-419A-89C00C9EEE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37042" b="-1"/>
            <a:stretch>
              <a:fillRect/>
            </a:stretch>
          </p:blipFill>
          <p:spPr bwMode="auto">
            <a:xfrm>
              <a:off x="4073237" y="-4"/>
              <a:ext cx="3124199" cy="4328797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280953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FB4211C-F2F7-F6AD-59E9-3533A6DBE5C0}"/>
              </a:ext>
            </a:extLst>
          </p:cNvPr>
          <p:cNvSpPr txBox="1"/>
          <p:nvPr/>
        </p:nvSpPr>
        <p:spPr>
          <a:xfrm>
            <a:off x="281382" y="137159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Verification</a:t>
            </a:r>
            <a:endParaRPr lang="en-US" sz="225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9589891-CE46-CEA0-A10B-A1887DE847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204440"/>
              </p:ext>
            </p:extLst>
          </p:nvPr>
        </p:nvGraphicFramePr>
        <p:xfrm>
          <a:off x="5823045" y="712754"/>
          <a:ext cx="1942531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C0FA1E-E552-D62C-0BAE-38A8D488092A}"/>
              </a:ext>
            </a:extLst>
          </p:cNvPr>
          <p:cNvSpPr/>
          <p:nvPr/>
        </p:nvSpPr>
        <p:spPr>
          <a:xfrm>
            <a:off x="532264" y="637691"/>
            <a:ext cx="3821372" cy="4159535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32FDA-9D67-0797-0036-08DC1A5CF109}"/>
              </a:ext>
            </a:extLst>
          </p:cNvPr>
          <p:cNvSpPr txBox="1"/>
          <p:nvPr/>
        </p:nvSpPr>
        <p:spPr>
          <a:xfrm>
            <a:off x="736979" y="812043"/>
            <a:ext cx="34119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Includes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 and link initialization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Credit-based flow control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packets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detection and recovery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Link/Application handshake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packet processing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CDC/FIFO data transfer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 and parity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translation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CDM write/read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deactivation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NACK/error response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0867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92A89-26A1-E1FE-A142-12E45997F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14DDFF1-99AE-FF2B-2C4C-69EE68A360FC}"/>
              </a:ext>
            </a:extLst>
          </p:cNvPr>
          <p:cNvSpPr txBox="1"/>
          <p:nvPr/>
        </p:nvSpPr>
        <p:spPr>
          <a:xfrm>
            <a:off x="281382" y="137159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Initialization &amp; Configuration</a:t>
            </a:r>
            <a:endParaRPr lang="en-US" sz="22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AA16C-3B35-CA44-2FF8-A1DD9643DE65}"/>
              </a:ext>
            </a:extLst>
          </p:cNvPr>
          <p:cNvSpPr txBox="1"/>
          <p:nvPr/>
        </p:nvSpPr>
        <p:spPr>
          <a:xfrm>
            <a:off x="361668" y="696038"/>
            <a:ext cx="311168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Reset &amp; Pre-Activation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is reset and enters the idle state.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Flits received before link activation are rejected.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credits are granted.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payload reaches the Control Unit.</a:t>
            </a:r>
          </a:p>
          <a:p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Link Activation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CXSACTIVEREQ is asserted.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RX responds with CXSACTIVEACK.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credits are granted.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RX enters the active state.</a:t>
            </a:r>
          </a:p>
          <a:p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Configuration Validation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invalid configuration cases: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Illegal device count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Illegal encryption mode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Illegal parity mode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Illegal packet type</a:t>
            </a:r>
          </a:p>
          <a:p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behavior:</a:t>
            </a:r>
            <a:b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 configuration → </a:t>
            </a:r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state</a:t>
            </a: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Configuration write disabled.</a:t>
            </a:r>
          </a:p>
          <a:p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Valid Configuration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 configuration packet is accepted.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data is stored correctly.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FSM progresses toward the operational state.</a:t>
            </a:r>
          </a:p>
          <a:p>
            <a:endParaRPr lang="en-US" sz="11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3705C7B-819B-94B1-69F5-4BC6FCBA7676}"/>
              </a:ext>
            </a:extLst>
          </p:cNvPr>
          <p:cNvGrpSpPr/>
          <p:nvPr/>
        </p:nvGrpSpPr>
        <p:grpSpPr>
          <a:xfrm>
            <a:off x="3936013" y="805218"/>
            <a:ext cx="4957551" cy="4211134"/>
            <a:chOff x="3981733" y="805218"/>
            <a:chExt cx="4957551" cy="443311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AC36A59-79CC-40CA-39C9-A84425E63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1735" y="805218"/>
              <a:ext cx="4957549" cy="16786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5C7CAF6-BF70-E27F-A28B-B494878C1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38" t="18036" b="7930"/>
            <a:stretch>
              <a:fillRect/>
            </a:stretch>
          </p:blipFill>
          <p:spPr>
            <a:xfrm>
              <a:off x="3981733" y="3636499"/>
              <a:ext cx="4957550" cy="160183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91397DD-C868-E007-BE9F-C95307918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03"/>
            <a:stretch>
              <a:fillRect/>
            </a:stretch>
          </p:blipFill>
          <p:spPr>
            <a:xfrm>
              <a:off x="3981734" y="2483893"/>
              <a:ext cx="4957549" cy="11526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42486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B14F5C-95F6-607F-AA3F-93DEBD08B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90B07C1-BAD4-D46B-3F3F-F3B27DA321A9}"/>
              </a:ext>
            </a:extLst>
          </p:cNvPr>
          <p:cNvSpPr txBox="1"/>
          <p:nvPr/>
        </p:nvSpPr>
        <p:spPr>
          <a:xfrm>
            <a:off x="281382" y="137159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Processing</a:t>
            </a:r>
            <a:endParaRPr lang="en-US" sz="22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92863B-5E0D-5E91-5E24-C6821D659A30}"/>
              </a:ext>
            </a:extLst>
          </p:cNvPr>
          <p:cNvSpPr txBox="1"/>
          <p:nvPr/>
        </p:nvSpPr>
        <p:spPr>
          <a:xfrm>
            <a:off x="361668" y="696038"/>
            <a:ext cx="311168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processing test cases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packet decoding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payload extraction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FSM transitions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logical-to-physical address translation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encryption result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parity generation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CDM write address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CDM stored data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duplicated or skipped memory writes</a:t>
            </a:r>
          </a:p>
          <a:p>
            <a:pPr lvl="0"/>
            <a:endParaRPr lang="en-US" sz="11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Error handling in data packet</a:t>
            </a:r>
          </a:p>
          <a:p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behavior:</a:t>
            </a:r>
            <a:b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 Data packet → </a:t>
            </a:r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state</a:t>
            </a: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Data write disabled and error packet discard and send status pkt error .</a:t>
            </a:r>
          </a:p>
          <a:p>
            <a:endParaRPr lang="en-US" sz="11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Valid Data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 </a:t>
            </a:r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packet is accepted.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 data is stored correctly.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FSM progresses toward the operational state.</a:t>
            </a:r>
          </a:p>
          <a:p>
            <a:endParaRPr lang="en-US" sz="11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47C8170-5FAD-CC52-1F5D-F309CAC853AF}"/>
              </a:ext>
            </a:extLst>
          </p:cNvPr>
          <p:cNvGrpSpPr/>
          <p:nvPr/>
        </p:nvGrpSpPr>
        <p:grpSpPr>
          <a:xfrm>
            <a:off x="3411413" y="696039"/>
            <a:ext cx="5554590" cy="4059155"/>
            <a:chOff x="3411413" y="696039"/>
            <a:chExt cx="5554590" cy="405915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03D8D4C-0D6F-05BD-3775-1BCFF2CCF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1415" y="696039"/>
              <a:ext cx="5554588" cy="187571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D80B65C-337C-1B86-9455-3BCC3F42B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1413" y="2783058"/>
              <a:ext cx="5554587" cy="19721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37875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F6626-8E23-5A97-AAE4-0FACC7FD7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9F79F8B-CD78-02AA-0997-9F51C6EC63CF}"/>
              </a:ext>
            </a:extLst>
          </p:cNvPr>
          <p:cNvSpPr txBox="1"/>
          <p:nvPr/>
        </p:nvSpPr>
        <p:spPr>
          <a:xfrm>
            <a:off x="281382" y="137159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Link/Application &amp; Deactivation </a:t>
            </a:r>
            <a:endParaRPr lang="en-US" sz="22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8CB677-0ACB-4C07-AF36-667D63FF149D}"/>
              </a:ext>
            </a:extLst>
          </p:cNvPr>
          <p:cNvSpPr txBox="1"/>
          <p:nvPr/>
        </p:nvSpPr>
        <p:spPr>
          <a:xfrm>
            <a:off x="361668" y="696038"/>
            <a:ext cx="311168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1.Application Handshake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packet is processed successfully.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 reaches LINK_OK.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reads the expected CDM location.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Returned data is compared with the expected value.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 err="1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i_app_ack</a:t>
            </a: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determines the next FSM transition.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ACK allows transition to the data phase.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application receiving unexpected data it return to link scan and sent invalid link pkt and receive another link packet </a:t>
            </a:r>
          </a:p>
          <a:p>
            <a:pPr lvl="0"/>
            <a:endParaRPr lang="en-US" sz="11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11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2.Link Deactivation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CXSACTIVEREQ is </a:t>
            </a:r>
            <a:r>
              <a:rPr lang="en-US" sz="1100" dirty="0" err="1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deasserted</a:t>
            </a: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RX FSM transitions: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→ DEACTIVATE → STOP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Outstanding credits are returned.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count drains to zero.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CXSACTIVEACK is </a:t>
            </a:r>
            <a:r>
              <a:rPr lang="en-US" sz="1100" dirty="0" err="1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deasserted</a:t>
            </a: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 returns to IDLE.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11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solidFill>
                <a:srgbClr val="1E27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FAE3B5-7778-7EF4-7F6A-5B00B46D59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73356" y="696038"/>
            <a:ext cx="5554587" cy="20221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05C3A5-FC1E-4350-F6ED-AB2274321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126" y="2884266"/>
            <a:ext cx="5587817" cy="202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371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17BCBA-4583-8BA1-C09F-39426EDE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1E1AD2F-9718-35E2-0DC9-1BEB47D1B65E}"/>
              </a:ext>
            </a:extLst>
          </p:cNvPr>
          <p:cNvSpPr txBox="1"/>
          <p:nvPr/>
        </p:nvSpPr>
        <p:spPr>
          <a:xfrm>
            <a:off x="281382" y="263769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Results</a:t>
            </a:r>
            <a:endParaRPr lang="en-US" sz="22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439AB81-C9F6-6B8C-9623-C24C42511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868" y="926611"/>
            <a:ext cx="4853353" cy="3131917"/>
          </a:xfrm>
          <a:prstGeom prst="rect">
            <a:avLst/>
          </a:prstGeom>
        </p:spPr>
      </p:pic>
      <p:sp>
        <p:nvSpPr>
          <p:cNvPr id="23" name="Shape 6">
            <a:extLst>
              <a:ext uri="{FF2B5EF4-FFF2-40B4-BE49-F238E27FC236}">
                <a16:creationId xmlns:a16="http://schemas.microsoft.com/office/drawing/2014/main" id="{6D65F290-AA7F-71C5-49D3-13930EC72533}"/>
              </a:ext>
            </a:extLst>
          </p:cNvPr>
          <p:cNvSpPr/>
          <p:nvPr/>
        </p:nvSpPr>
        <p:spPr>
          <a:xfrm>
            <a:off x="281382" y="926611"/>
            <a:ext cx="3622403" cy="3131918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Verification</a:t>
            </a:r>
          </a:p>
          <a:p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 and initialization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activation and credit grant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validation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detection and recovery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CDC/FIFO data transfer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ACK handshake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 + parity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ATU address translation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CDM storage/readback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deactivation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conservation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NACK handling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5D78C1-2D21-47B5-3EAC-5000C6D0DD3D}"/>
              </a:ext>
            </a:extLst>
          </p:cNvPr>
          <p:cNvGrpSpPr/>
          <p:nvPr/>
        </p:nvGrpSpPr>
        <p:grpSpPr>
          <a:xfrm>
            <a:off x="2437217" y="4241310"/>
            <a:ext cx="4874433" cy="400310"/>
            <a:chOff x="710352" y="3830825"/>
            <a:chExt cx="4874433" cy="400310"/>
          </a:xfrm>
        </p:grpSpPr>
        <p:sp>
          <p:nvSpPr>
            <p:cNvPr id="25" name="TextBox 22">
              <a:extLst>
                <a:ext uri="{FF2B5EF4-FFF2-40B4-BE49-F238E27FC236}">
                  <a16:creationId xmlns:a16="http://schemas.microsoft.com/office/drawing/2014/main" id="{5C9DD6D2-866E-894C-81D6-084A28527DC8}"/>
                </a:ext>
              </a:extLst>
            </p:cNvPr>
            <p:cNvSpPr txBox="1"/>
            <p:nvPr/>
          </p:nvSpPr>
          <p:spPr>
            <a:xfrm>
              <a:off x="1012785" y="3905327"/>
              <a:ext cx="4572000" cy="319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10000"/>
                </a:lnSpc>
                <a:buSzPct val="100000"/>
              </a:pPr>
              <a:r>
                <a:rPr lang="en-US" sz="1400" b="1" dirty="0">
                  <a:solidFill>
                    <a:srgbClr val="1E2761"/>
                  </a:solidFill>
                  <a:latin typeface="Times New Roman" panose="02020603050405020304" pitchFamily="18" charset="0"/>
                  <a:ea typeface="Open Sans" pitchFamily="34" charset="-122"/>
                  <a:cs typeface="Times New Roman" panose="02020603050405020304" pitchFamily="18" charset="0"/>
                </a:rPr>
                <a:t>PASS → The system pass all test cases  </a:t>
              </a:r>
            </a:p>
          </p:txBody>
        </p:sp>
        <p:pic>
          <p:nvPicPr>
            <p:cNvPr id="26" name="Graphic 23" descr="Checkmark with solid fill">
              <a:extLst>
                <a:ext uri="{FF2B5EF4-FFF2-40B4-BE49-F238E27FC236}">
                  <a16:creationId xmlns:a16="http://schemas.microsoft.com/office/drawing/2014/main" id="{05512B22-E8D6-C7E0-C2AD-4BDEDFCCE8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0352" y="3830825"/>
              <a:ext cx="400310" cy="4003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38358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0BA5F-1E85-4DCD-7402-62344CDA7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B0DB4A-12B5-1964-E0AE-3EE4F0774227}"/>
              </a:ext>
            </a:extLst>
          </p:cNvPr>
          <p:cNvSpPr txBox="1"/>
          <p:nvPr/>
        </p:nvSpPr>
        <p:spPr>
          <a:xfrm>
            <a:off x="411480" y="342900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Linting Results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EEE9E5-FDA5-B2A7-9A76-1C3EB9D8D9E4}"/>
              </a:ext>
            </a:extLst>
          </p:cNvPr>
          <p:cNvSpPr/>
          <p:nvPr/>
        </p:nvSpPr>
        <p:spPr>
          <a:xfrm>
            <a:off x="377469" y="1100255"/>
            <a:ext cx="3938053" cy="331562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5C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4768D9-C540-F1F4-435A-D520E576DB54}"/>
              </a:ext>
            </a:extLst>
          </p:cNvPr>
          <p:cNvSpPr txBox="1"/>
          <p:nvPr/>
        </p:nvSpPr>
        <p:spPr>
          <a:xfrm>
            <a:off x="612666" y="1192437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Linting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77493A0-0F32-98D7-0715-13E958057308}"/>
              </a:ext>
            </a:extLst>
          </p:cNvPr>
          <p:cNvSpPr txBox="1"/>
          <p:nvPr/>
        </p:nvSpPr>
        <p:spPr>
          <a:xfrm>
            <a:off x="612666" y="1558939"/>
            <a:ext cx="3291840" cy="250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15000"/>
              </a:lnSpc>
              <a:spcAft>
                <a:spcPts val="900"/>
              </a:spcAft>
              <a:buSzPct val="100000"/>
            </a:pPr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</a:t>
            </a:r>
          </a:p>
          <a:p>
            <a:pPr marL="257175" lvl="0" indent="-257175">
              <a:lnSpc>
                <a:spcPct val="115000"/>
              </a:lnSpc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Error-level violations</a:t>
            </a:r>
          </a:p>
          <a:p>
            <a:pPr marL="257175" lvl="0" indent="-257175">
              <a:lnSpc>
                <a:spcPct val="115000"/>
              </a:lnSpc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unintended latches</a:t>
            </a:r>
          </a:p>
          <a:p>
            <a:pPr marL="257175" lvl="0" indent="-257175">
              <a:lnSpc>
                <a:spcPct val="115000"/>
              </a:lnSpc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combinational loops</a:t>
            </a:r>
          </a:p>
          <a:p>
            <a:pPr marL="257175" lvl="0" indent="-257175">
              <a:lnSpc>
                <a:spcPct val="115000"/>
              </a:lnSpc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CDC violations reported by the applied lint rules</a:t>
            </a:r>
          </a:p>
          <a:p>
            <a:pPr marL="257175" lvl="0" indent="-257175">
              <a:lnSpc>
                <a:spcPct val="115000"/>
              </a:lnSpc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STARC coding violations</a:t>
            </a:r>
          </a:p>
          <a:p>
            <a:pPr lvl="0">
              <a:lnSpc>
                <a:spcPct val="100000"/>
              </a:lnSpc>
              <a:spcAft>
                <a:spcPts val="900"/>
              </a:spcAft>
              <a:buSzPct val="100000"/>
            </a:pPr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— RTL is lint-clean under the applied </a:t>
            </a:r>
            <a:r>
              <a:rPr lang="en-US" sz="1100" b="1" dirty="0" err="1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SpyGlass</a:t>
            </a:r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rule set.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1E276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0F1C7D-31F8-3319-4C55-E9FB28CEEF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00255"/>
            <a:ext cx="4364502" cy="331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38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7E7AA5-53AD-2F1A-5641-6F13CAC6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64A472-206F-0F13-3AAF-E88583530F7A}"/>
              </a:ext>
            </a:extLst>
          </p:cNvPr>
          <p:cNvSpPr txBox="1"/>
          <p:nvPr/>
        </p:nvSpPr>
        <p:spPr>
          <a:xfrm>
            <a:off x="411480" y="342900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Timing Results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01B5F5D-091B-57D2-25AA-85329D5BE2A5}"/>
              </a:ext>
            </a:extLst>
          </p:cNvPr>
          <p:cNvSpPr/>
          <p:nvPr/>
        </p:nvSpPr>
        <p:spPr>
          <a:xfrm>
            <a:off x="474529" y="1100255"/>
            <a:ext cx="3938053" cy="380937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1404D0A-46F9-3C74-0394-FBC1513B38BF}"/>
              </a:ext>
            </a:extLst>
          </p:cNvPr>
          <p:cNvSpPr txBox="1"/>
          <p:nvPr/>
        </p:nvSpPr>
        <p:spPr>
          <a:xfrm>
            <a:off x="553081" y="1216855"/>
            <a:ext cx="3780947" cy="351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spcAft>
                <a:spcPts val="900"/>
              </a:spcAft>
              <a:buSzPct val="100000"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 Timing Analysis</a:t>
            </a:r>
          </a:p>
          <a:p>
            <a:pPr marL="257175" lvl="0" indent="-257175"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whether data arrives before the capture clock edge.</a:t>
            </a:r>
          </a:p>
          <a:p>
            <a:pPr marL="257175" lvl="0" indent="-257175"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critical path was analyzed using the synthesized netlist.</a:t>
            </a:r>
          </a:p>
          <a:p>
            <a:pPr marL="257175" lvl="0" indent="-257175"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setup violations were reported.</a:t>
            </a:r>
          </a:p>
          <a:p>
            <a:pPr marL="257175" lvl="0" indent="-257175"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47% of the clock period remains as timing margin.</a:t>
            </a:r>
          </a:p>
          <a:p>
            <a:pPr lvl="0">
              <a:spcAft>
                <a:spcPts val="900"/>
              </a:spcAft>
              <a:buSzPct val="100000"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 Timing Analysis</a:t>
            </a:r>
          </a:p>
          <a:p>
            <a:pPr marL="257175" lvl="0" indent="-257175"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Verifies the minimum-delay paths.</a:t>
            </a:r>
          </a:p>
          <a:p>
            <a:pPr marL="257175" lvl="0" indent="-257175"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hold violations were reported.</a:t>
            </a:r>
          </a:p>
          <a:p>
            <a:pPr marL="257175" lvl="0" indent="-257175">
              <a:spcAft>
                <a:spcPts val="9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Result</a:t>
            </a:r>
          </a:p>
          <a:p>
            <a:pPr lvl="0">
              <a:spcAft>
                <a:spcPts val="900"/>
              </a:spcAft>
              <a:buSzPct val="100000"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Setup ✓ | Hold ✓ | Timing MET </a:t>
            </a:r>
          </a:p>
        </p:txBody>
      </p:sp>
      <p:pic>
        <p:nvPicPr>
          <p:cNvPr id="5" name="Graphic 23" descr="Checkmark with solid fill">
            <a:extLst>
              <a:ext uri="{FF2B5EF4-FFF2-40B4-BE49-F238E27FC236}">
                <a16:creationId xmlns:a16="http://schemas.microsoft.com/office/drawing/2014/main" id="{CAE0E139-9591-2E61-011F-E941042C14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7721" y="4333468"/>
            <a:ext cx="400310" cy="4003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E7905E-8155-3CFB-9327-398A0E96E8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422" y="1100255"/>
            <a:ext cx="3802049" cy="17765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14873C-300B-1146-1BC6-63025BBB0D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422" y="2975316"/>
            <a:ext cx="3802049" cy="188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976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E2761"/>
            </a:gs>
            <a:gs pos="90000">
              <a:srgbClr val="1E2761"/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FD28D-43CD-E175-7490-25A21025A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0FF43234-4D7A-B3F1-BD1A-7A884E0E13CF}"/>
              </a:ext>
            </a:extLst>
          </p:cNvPr>
          <p:cNvSpPr txBox="1"/>
          <p:nvPr/>
        </p:nvSpPr>
        <p:spPr>
          <a:xfrm>
            <a:off x="622609" y="129726"/>
            <a:ext cx="901019" cy="1674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</a:rPr>
              <a:t>B</a:t>
            </a:r>
            <a:endParaRPr lang="en-US" sz="110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C83252D-8E20-C129-FFFF-8BA2A64DC007}"/>
              </a:ext>
            </a:extLst>
          </p:cNvPr>
          <p:cNvSpPr/>
          <p:nvPr/>
        </p:nvSpPr>
        <p:spPr>
          <a:xfrm>
            <a:off x="295879" y="1758393"/>
            <a:ext cx="1554480" cy="4572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D467C7D-76A5-4522-C532-A67D387C89FE}"/>
              </a:ext>
            </a:extLst>
          </p:cNvPr>
          <p:cNvSpPr txBox="1"/>
          <p:nvPr/>
        </p:nvSpPr>
        <p:spPr>
          <a:xfrm>
            <a:off x="295879" y="2009890"/>
            <a:ext cx="482022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Fady's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034CF6-2DC1-BD13-5B05-8E9CC0516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306" y="1162554"/>
            <a:ext cx="3226085" cy="28183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83575362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9B9C98-94A4-6013-0D48-720E528EAE4C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Architecture at a Glance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E8B2BC-2629-9373-C8C4-D7EB82A6C295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4E05EF-6BDD-4C35-BC29-F29FB0775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87" y="973394"/>
            <a:ext cx="8817629" cy="352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638867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086F02-F9F4-3BB3-3D10-307D67B5D9F7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Key Design Decisions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6B549E-2A8D-CEE5-30D0-400E7E2E4345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061113-01B0-22CB-56C1-6940B140B43C}"/>
              </a:ext>
            </a:extLst>
          </p:cNvPr>
          <p:cNvSpPr/>
          <p:nvPr/>
        </p:nvSpPr>
        <p:spPr>
          <a:xfrm>
            <a:off x="279400" y="1092200"/>
            <a:ext cx="4241800" cy="175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12BC07B-3702-4C05-2FCE-768D1CE5ECDB}"/>
              </a:ext>
            </a:extLst>
          </p:cNvPr>
          <p:cNvSpPr/>
          <p:nvPr/>
        </p:nvSpPr>
        <p:spPr>
          <a:xfrm>
            <a:off x="431800" y="1244600"/>
            <a:ext cx="431800" cy="431800"/>
          </a:xfrm>
          <a:prstGeom prst="ellipse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BC6A89-6E59-FBD1-63EE-01642B3416FD}"/>
              </a:ext>
            </a:extLst>
          </p:cNvPr>
          <p:cNvSpPr txBox="1"/>
          <p:nvPr/>
        </p:nvSpPr>
        <p:spPr>
          <a:xfrm>
            <a:off x="990600" y="1270000"/>
            <a:ext cx="3378200" cy="381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 b="1">
                <a:solidFill>
                  <a:srgbClr val="1E2761"/>
                </a:solidFill>
                <a:latin typeface="Cambria" panose="02040503050406030204" pitchFamily="18" charset="0"/>
              </a:rPr>
              <a:t>Decode before the CDC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5E1B62-639E-F131-7EC2-5F9C0E8DCFF4}"/>
              </a:ext>
            </a:extLst>
          </p:cNvPr>
          <p:cNvSpPr txBox="1"/>
          <p:nvPr/>
        </p:nvSpPr>
        <p:spPr>
          <a:xfrm>
            <a:off x="457200" y="1803400"/>
            <a:ext cx="3886200" cy="965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What:</a:t>
            </a: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 Packet Formatter extracts valid 32-bit TLP words in CLK_CXS.</a:t>
            </a:r>
          </a:p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Why:</a:t>
            </a: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 Only small, already-framed words cross the Async FIFO.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A512BE-BB3A-59A3-9F05-255E3D5637F5}"/>
              </a:ext>
            </a:extLst>
          </p:cNvPr>
          <p:cNvSpPr/>
          <p:nvPr/>
        </p:nvSpPr>
        <p:spPr>
          <a:xfrm>
            <a:off x="4648200" y="1092200"/>
            <a:ext cx="4241800" cy="175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4198CCA-82DA-0375-A965-016902892639}"/>
              </a:ext>
            </a:extLst>
          </p:cNvPr>
          <p:cNvSpPr/>
          <p:nvPr/>
        </p:nvSpPr>
        <p:spPr>
          <a:xfrm>
            <a:off x="4800600" y="1244600"/>
            <a:ext cx="431800" cy="431800"/>
          </a:xfrm>
          <a:prstGeom prst="ellipse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3A3E0A-95AE-4688-D620-0D9A665F522F}"/>
              </a:ext>
            </a:extLst>
          </p:cNvPr>
          <p:cNvSpPr txBox="1"/>
          <p:nvPr/>
        </p:nvSpPr>
        <p:spPr>
          <a:xfrm>
            <a:off x="5359400" y="1270000"/>
            <a:ext cx="3378200" cy="381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 b="1">
                <a:solidFill>
                  <a:srgbClr val="1E2761"/>
                </a:solidFill>
                <a:latin typeface="Cambria" panose="02040503050406030204" pitchFamily="18" charset="0"/>
              </a:rPr>
              <a:t>Wide link, 2 packets per FLIT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F0D3FE-0802-37A9-0096-987340240BD2}"/>
              </a:ext>
            </a:extLst>
          </p:cNvPr>
          <p:cNvSpPr txBox="1"/>
          <p:nvPr/>
        </p:nvSpPr>
        <p:spPr>
          <a:xfrm>
            <a:off x="4826000" y="1803400"/>
            <a:ext cx="3886200" cy="965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What:</a:t>
            </a: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 256-bit data + 14-bit CXSCNTL, as in the detailed spec.</a:t>
            </a:r>
          </a:p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Why:</a:t>
            </a: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 START / END pointers let one FLIT carry two TLPs.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48D544-CCA0-8992-1A68-79AF768E75F7}"/>
              </a:ext>
            </a:extLst>
          </p:cNvPr>
          <p:cNvSpPr/>
          <p:nvPr/>
        </p:nvSpPr>
        <p:spPr>
          <a:xfrm>
            <a:off x="279400" y="2997200"/>
            <a:ext cx="4241800" cy="175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1FDF6E9-D74E-1207-4A1B-8FF39B36FD41}"/>
              </a:ext>
            </a:extLst>
          </p:cNvPr>
          <p:cNvSpPr/>
          <p:nvPr/>
        </p:nvSpPr>
        <p:spPr>
          <a:xfrm>
            <a:off x="431800" y="3149600"/>
            <a:ext cx="431800" cy="431800"/>
          </a:xfrm>
          <a:prstGeom prst="ellipse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B0BE31-EC25-63AF-03A5-BC1A2E8DB5E0}"/>
              </a:ext>
            </a:extLst>
          </p:cNvPr>
          <p:cNvSpPr txBox="1"/>
          <p:nvPr/>
        </p:nvSpPr>
        <p:spPr>
          <a:xfrm>
            <a:off x="990600" y="3175000"/>
            <a:ext cx="3378200" cy="381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 b="1">
                <a:solidFill>
                  <a:srgbClr val="1E2761"/>
                </a:solidFill>
                <a:latin typeface="Cambria" panose="02040503050406030204" pitchFamily="18" charset="0"/>
              </a:rPr>
              <a:t>Toggle synchronizer for errors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49DC00-78C6-11F0-2C6F-23FEB4EAA182}"/>
              </a:ext>
            </a:extLst>
          </p:cNvPr>
          <p:cNvSpPr txBox="1"/>
          <p:nvPr/>
        </p:nvSpPr>
        <p:spPr>
          <a:xfrm>
            <a:off x="457200" y="3708400"/>
            <a:ext cx="3886200" cy="965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What:</a:t>
            </a: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 Error pulse → toggle flop → 2-FF → edge detect.</a:t>
            </a:r>
          </a:p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Why:</a:t>
            </a: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 A slower CXS clock cannot miss a one-cycle system pulse.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8E3956E-CC03-F33E-C6D3-40CE9C927675}"/>
              </a:ext>
            </a:extLst>
          </p:cNvPr>
          <p:cNvSpPr/>
          <p:nvPr/>
        </p:nvSpPr>
        <p:spPr>
          <a:xfrm>
            <a:off x="4648200" y="2997200"/>
            <a:ext cx="4241800" cy="175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20CBA29-D2D9-7AF2-F11D-0657649C936D}"/>
              </a:ext>
            </a:extLst>
          </p:cNvPr>
          <p:cNvSpPr/>
          <p:nvPr/>
        </p:nvSpPr>
        <p:spPr>
          <a:xfrm>
            <a:off x="4800600" y="3149600"/>
            <a:ext cx="431800" cy="431800"/>
          </a:xfrm>
          <a:prstGeom prst="ellipse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47439B-DF8C-3E46-B322-AC63C80C67CB}"/>
              </a:ext>
            </a:extLst>
          </p:cNvPr>
          <p:cNvSpPr txBox="1"/>
          <p:nvPr/>
        </p:nvSpPr>
        <p:spPr>
          <a:xfrm>
            <a:off x="5359400" y="3175000"/>
            <a:ext cx="3378200" cy="381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 b="1">
                <a:solidFill>
                  <a:srgbClr val="1E2761"/>
                </a:solidFill>
                <a:latin typeface="Cambria" panose="02040503050406030204" pitchFamily="18" charset="0"/>
              </a:rPr>
              <a:t>5-state FSM, read-through FIFO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9F8DF5-4266-B010-951D-C564F0F06EFF}"/>
              </a:ext>
            </a:extLst>
          </p:cNvPr>
          <p:cNvSpPr txBox="1"/>
          <p:nvPr/>
        </p:nvSpPr>
        <p:spPr>
          <a:xfrm>
            <a:off x="4826000" y="3708400"/>
            <a:ext cx="3886200" cy="965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What:</a:t>
            </a: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 IDLE · CFG_HDR · LINK_UP · DATA_HDR · ERROR.</a:t>
            </a:r>
          </a:p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Why:</a:t>
            </a: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 Headers are peeked, so no extra "scan" states are needed.</a:t>
            </a:r>
          </a:p>
        </p:txBody>
      </p:sp>
    </p:spTree>
    <p:extLst>
      <p:ext uri="{BB962C8B-B14F-4D97-AF65-F5344CB8AC3E}">
        <p14:creationId xmlns:p14="http://schemas.microsoft.com/office/powerpoint/2010/main" val="1174333590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33A4C-D6A9-9297-2995-38A1ED134E38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CXS RX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0C8A5C-3054-E42E-24DB-E432817010CE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9AD020-D3E3-08FE-7E61-58F025C00DCF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04422-7E42-F03D-0849-928964141EEA}"/>
              </a:ext>
            </a:extLst>
          </p:cNvPr>
          <p:cNvSpPr txBox="1"/>
          <p:nvPr/>
        </p:nvSpPr>
        <p:spPr>
          <a:xfrm>
            <a:off x="317500" y="1092200"/>
            <a:ext cx="1778000" cy="228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00C2A8"/>
                </a:solidFill>
                <a:latin typeface="Times New Roman" panose="02020603050405020304" pitchFamily="18" charset="0"/>
              </a:rPr>
              <a:t>combinational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49E5FA-2C3D-710B-234F-C07198679895}"/>
              </a:ext>
            </a:extLst>
          </p:cNvPr>
          <p:cNvSpPr/>
          <p:nvPr/>
        </p:nvSpPr>
        <p:spPr>
          <a:xfrm>
            <a:off x="317500" y="1346200"/>
            <a:ext cx="1778000" cy="609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200" b="1">
                <a:solidFill>
                  <a:srgbClr val="FFFFFF"/>
                </a:solidFill>
                <a:latin typeface="Times New Roman" panose="02020603050405020304" pitchFamily="18" charset="0"/>
              </a:rPr>
              <a:t>RX Interface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9F5EA7-52E8-2F3E-265E-5B0A3DF521E1}"/>
              </a:ext>
            </a:extLst>
          </p:cNvPr>
          <p:cNvSpPr/>
          <p:nvPr/>
        </p:nvSpPr>
        <p:spPr>
          <a:xfrm>
            <a:off x="317500" y="2108200"/>
            <a:ext cx="1778000" cy="157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25A13-FC43-F85C-1B84-3014932FB01C}"/>
              </a:ext>
            </a:extLst>
          </p:cNvPr>
          <p:cNvSpPr txBox="1"/>
          <p:nvPr/>
        </p:nvSpPr>
        <p:spPr>
          <a:xfrm>
            <a:off x="393700" y="2184400"/>
            <a:ext cx="1625600" cy="144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Writes {CXSCNTL, CXSDATA} when CXSVALID = 1 and the FIFO is not full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B76759-C8CD-D731-6D22-BA6B630BDD65}"/>
              </a:ext>
            </a:extLst>
          </p:cNvPr>
          <p:cNvSpPr txBox="1"/>
          <p:nvPr/>
        </p:nvSpPr>
        <p:spPr>
          <a:xfrm>
            <a:off x="2540000" y="1092200"/>
            <a:ext cx="1778000" cy="228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00C2A8"/>
                </a:solidFill>
                <a:latin typeface="Times New Roman" panose="02020603050405020304" pitchFamily="18" charset="0"/>
              </a:rPr>
              <a:t>16 × 270 bits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FC3E5B-7E27-FE4D-9546-C99988699256}"/>
              </a:ext>
            </a:extLst>
          </p:cNvPr>
          <p:cNvSpPr/>
          <p:nvPr/>
        </p:nvSpPr>
        <p:spPr>
          <a:xfrm>
            <a:off x="2540000" y="1346200"/>
            <a:ext cx="1778000" cy="609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200" b="1">
                <a:solidFill>
                  <a:srgbClr val="FFFFFF"/>
                </a:solidFill>
                <a:latin typeface="Times New Roman" panose="02020603050405020304" pitchFamily="18" charset="0"/>
              </a:rPr>
              <a:t>FLIT FIFO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5FCD76C-42BB-6319-05F2-B19DC650EF4D}"/>
              </a:ext>
            </a:extLst>
          </p:cNvPr>
          <p:cNvSpPr/>
          <p:nvPr/>
        </p:nvSpPr>
        <p:spPr>
          <a:xfrm>
            <a:off x="2540000" y="2108200"/>
            <a:ext cx="1778000" cy="157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47B460-DA00-48FF-B90A-1CB0EF98D68F}"/>
              </a:ext>
            </a:extLst>
          </p:cNvPr>
          <p:cNvSpPr txBox="1"/>
          <p:nvPr/>
        </p:nvSpPr>
        <p:spPr>
          <a:xfrm>
            <a:off x="2616200" y="2184400"/>
            <a:ext cx="1625600" cy="144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Synchronous, CXS clock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Wrap-bit pointers → full / empty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Registered read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29EA612-5AF8-96DB-A55B-111E8272DF8E}"/>
              </a:ext>
            </a:extLst>
          </p:cNvPr>
          <p:cNvCxnSpPr/>
          <p:nvPr/>
        </p:nvCxnSpPr>
        <p:spPr>
          <a:xfrm>
            <a:off x="2095500" y="1651000"/>
            <a:ext cx="444500" cy="0"/>
          </a:xfrm>
          <a:prstGeom prst="straightConnector1">
            <a:avLst/>
          </a:prstGeom>
          <a:ln w="2540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754B3A9-E4CF-F876-4624-A275839064B8}"/>
              </a:ext>
            </a:extLst>
          </p:cNvPr>
          <p:cNvSpPr txBox="1"/>
          <p:nvPr/>
        </p:nvSpPr>
        <p:spPr>
          <a:xfrm>
            <a:off x="4762500" y="1092200"/>
            <a:ext cx="1778000" cy="228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00C2A8"/>
                </a:solidFill>
                <a:latin typeface="Times New Roman" panose="02020603050405020304" pitchFamily="18" charset="0"/>
              </a:rPr>
              <a:t>3-state FSM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24DC14-5BFD-53B3-964A-36952C199BF1}"/>
              </a:ext>
            </a:extLst>
          </p:cNvPr>
          <p:cNvSpPr/>
          <p:nvPr/>
        </p:nvSpPr>
        <p:spPr>
          <a:xfrm>
            <a:off x="4762500" y="1346200"/>
            <a:ext cx="1778000" cy="609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200" b="1">
                <a:solidFill>
                  <a:srgbClr val="FFFFFF"/>
                </a:solidFill>
                <a:latin typeface="Times New Roman" panose="02020603050405020304" pitchFamily="18" charset="0"/>
              </a:rPr>
              <a:t>Packet Formatter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CB7558C-5094-76C3-EC26-703B5C516064}"/>
              </a:ext>
            </a:extLst>
          </p:cNvPr>
          <p:cNvSpPr/>
          <p:nvPr/>
        </p:nvSpPr>
        <p:spPr>
          <a:xfrm>
            <a:off x="4762500" y="2108200"/>
            <a:ext cx="1778000" cy="157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87AEF9-EF51-ABB5-F097-E2359F3C27D6}"/>
              </a:ext>
            </a:extLst>
          </p:cNvPr>
          <p:cNvSpPr txBox="1"/>
          <p:nvPr/>
        </p:nvSpPr>
        <p:spPr>
          <a:xfrm>
            <a:off x="4838700" y="2184400"/>
            <a:ext cx="1625600" cy="144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IDLE → CAPTURE → STREAM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Writes only words inside a packet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Stalls while the Async FIFO is full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DBDF73-BE6B-2A18-6005-B7CDD30E020E}"/>
              </a:ext>
            </a:extLst>
          </p:cNvPr>
          <p:cNvCxnSpPr/>
          <p:nvPr/>
        </p:nvCxnSpPr>
        <p:spPr>
          <a:xfrm>
            <a:off x="4318000" y="1651000"/>
            <a:ext cx="444500" cy="0"/>
          </a:xfrm>
          <a:prstGeom prst="straightConnector1">
            <a:avLst/>
          </a:prstGeom>
          <a:ln w="2540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DE44C2E-BB2C-2D78-C2A8-CB929265C9A0}"/>
              </a:ext>
            </a:extLst>
          </p:cNvPr>
          <p:cNvSpPr txBox="1"/>
          <p:nvPr/>
        </p:nvSpPr>
        <p:spPr>
          <a:xfrm>
            <a:off x="6985000" y="1092200"/>
            <a:ext cx="1778000" cy="228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00C2A8"/>
                </a:solidFill>
                <a:latin typeface="Times New Roman" panose="02020603050405020304" pitchFamily="18" charset="0"/>
              </a:rPr>
              <a:t>32 bits × 8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C5825-BDF8-881A-5591-8D8BCFAA3C15}"/>
              </a:ext>
            </a:extLst>
          </p:cNvPr>
          <p:cNvSpPr/>
          <p:nvPr/>
        </p:nvSpPr>
        <p:spPr>
          <a:xfrm>
            <a:off x="6985000" y="1346200"/>
            <a:ext cx="1778000" cy="60960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200" b="1">
                <a:solidFill>
                  <a:srgbClr val="FFFFFF"/>
                </a:solidFill>
                <a:latin typeface="Times New Roman" panose="02020603050405020304" pitchFamily="18" charset="0"/>
              </a:rPr>
              <a:t>Async FIFO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BB1744F-AF22-E7F6-E0F5-CE080D7AA2D6}"/>
              </a:ext>
            </a:extLst>
          </p:cNvPr>
          <p:cNvSpPr/>
          <p:nvPr/>
        </p:nvSpPr>
        <p:spPr>
          <a:xfrm>
            <a:off x="6985000" y="2108200"/>
            <a:ext cx="1778000" cy="157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5352D8-6C14-9CB9-D8F3-14646D2404EC}"/>
              </a:ext>
            </a:extLst>
          </p:cNvPr>
          <p:cNvSpPr txBox="1"/>
          <p:nvPr/>
        </p:nvSpPr>
        <p:spPr>
          <a:xfrm>
            <a:off x="7061200" y="2184400"/>
            <a:ext cx="1625600" cy="144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 dirty="0">
                <a:solidFill>
                  <a:srgbClr val="1E2761"/>
                </a:solidFill>
                <a:latin typeface="Times New Roman" panose="02020603050405020304" pitchFamily="18" charset="0"/>
              </a:rPr>
              <a:t>Crosses into CLK_SYS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 dirty="0">
                <a:solidFill>
                  <a:srgbClr val="1E2761"/>
                </a:solidFill>
                <a:latin typeface="Times New Roman" panose="02020603050405020304" pitchFamily="18" charset="0"/>
              </a:rPr>
              <a:t>Gray pointers, 2-FF sync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0965BB-7D61-6379-E4D2-4645973CC22C}"/>
              </a:ext>
            </a:extLst>
          </p:cNvPr>
          <p:cNvCxnSpPr/>
          <p:nvPr/>
        </p:nvCxnSpPr>
        <p:spPr>
          <a:xfrm>
            <a:off x="6540500" y="1651000"/>
            <a:ext cx="444500" cy="0"/>
          </a:xfrm>
          <a:prstGeom prst="straightConnector1">
            <a:avLst/>
          </a:prstGeom>
          <a:ln w="2540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40A8D04-5052-3052-034C-35377F2ECEB0}"/>
              </a:ext>
            </a:extLst>
          </p:cNvPr>
          <p:cNvCxnSpPr/>
          <p:nvPr/>
        </p:nvCxnSpPr>
        <p:spPr>
          <a:xfrm>
            <a:off x="3429000" y="3683000"/>
            <a:ext cx="0" cy="279400"/>
          </a:xfrm>
          <a:prstGeom prst="straightConnector1">
            <a:avLst/>
          </a:prstGeom>
          <a:ln w="15875">
            <a:solidFill>
              <a:srgbClr val="3C393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91ACB6F-B900-E770-9479-2AEB5969486E}"/>
              </a:ext>
            </a:extLst>
          </p:cNvPr>
          <p:cNvSpPr/>
          <p:nvPr/>
        </p:nvSpPr>
        <p:spPr>
          <a:xfrm>
            <a:off x="2540000" y="3962400"/>
            <a:ext cx="4064000" cy="812800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Credit Manager</a:t>
            </a:r>
          </a:p>
          <a:p>
            <a:pPr algn="ctr">
              <a:spcAft>
                <a:spcPts val="200"/>
              </a:spcAft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</a:rPr>
              <a:t>counter starts at the FIFO depth: −1 per write, +1 per read -1 · CXSRXCRDGNT while credits remain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2B91C83-0A40-3E4D-0A1A-404C9FE91411}"/>
              </a:ext>
            </a:extLst>
          </p:cNvPr>
          <p:cNvSpPr/>
          <p:nvPr/>
        </p:nvSpPr>
        <p:spPr>
          <a:xfrm>
            <a:off x="317500" y="4038600"/>
            <a:ext cx="1778000" cy="660400"/>
          </a:xfrm>
          <a:prstGeom prst="roundRect">
            <a:avLst>
              <a:gd name="adj" fmla="val 8000"/>
            </a:avLst>
          </a:prstGeom>
          <a:noFill/>
          <a:ln w="12700" cap="flat" cmpd="sng" algn="ctr">
            <a:solidFill>
              <a:srgbClr val="1E276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1E2761"/>
                </a:solidFill>
                <a:latin typeface="Times New Roman" panose="02020603050405020304" pitchFamily="18" charset="0"/>
              </a:rPr>
              <a:t>Link partner (CXS TX side)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2AE1948-BC24-081D-3A46-2155C441E395}"/>
              </a:ext>
            </a:extLst>
          </p:cNvPr>
          <p:cNvCxnSpPr/>
          <p:nvPr/>
        </p:nvCxnSpPr>
        <p:spPr>
          <a:xfrm flipH="1">
            <a:off x="2120900" y="4368800"/>
            <a:ext cx="4191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138523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C90E83-2110-2F7B-420E-E602D3718641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Packet Formatter: CXSCNTL Decoding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3BACCF-21C6-E3C2-C62A-798E563BA141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A70293-2E1C-A69D-6C83-B7DE658C9FD9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D157E3-3350-FE2F-D7F0-F72BD4542699}"/>
              </a:ext>
            </a:extLst>
          </p:cNvPr>
          <p:cNvSpPr txBox="1"/>
          <p:nvPr/>
        </p:nvSpPr>
        <p:spPr>
          <a:xfrm>
            <a:off x="279400" y="1092200"/>
            <a:ext cx="1524000" cy="431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CXSCNTL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14 bits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063CB4-8ACA-E2AF-B254-E16E9B56BBED}"/>
              </a:ext>
            </a:extLst>
          </p:cNvPr>
          <p:cNvSpPr/>
          <p:nvPr/>
        </p:nvSpPr>
        <p:spPr>
          <a:xfrm>
            <a:off x="1841500" y="1092200"/>
            <a:ext cx="1256393" cy="4064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END_PTR[1]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D39D0-D5E4-432B-7258-9F988547E1A1}"/>
              </a:ext>
            </a:extLst>
          </p:cNvPr>
          <p:cNvSpPr txBox="1"/>
          <p:nvPr/>
        </p:nvSpPr>
        <p:spPr>
          <a:xfrm>
            <a:off x="1841500" y="1511300"/>
            <a:ext cx="1256393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[13:11]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9C62E3-37F8-D519-54C9-D2F8D27B8F4E}"/>
              </a:ext>
            </a:extLst>
          </p:cNvPr>
          <p:cNvSpPr/>
          <p:nvPr/>
        </p:nvSpPr>
        <p:spPr>
          <a:xfrm>
            <a:off x="3097893" y="1092200"/>
            <a:ext cx="1256393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END_PTR[0]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8FD63D-7203-8D4C-4091-7172F124D026}"/>
              </a:ext>
            </a:extLst>
          </p:cNvPr>
          <p:cNvSpPr txBox="1"/>
          <p:nvPr/>
        </p:nvSpPr>
        <p:spPr>
          <a:xfrm>
            <a:off x="3097893" y="1511300"/>
            <a:ext cx="1256393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[10:8]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DC3700-A5A4-4388-BBF7-E73ADA04343A}"/>
              </a:ext>
            </a:extLst>
          </p:cNvPr>
          <p:cNvSpPr/>
          <p:nvPr/>
        </p:nvSpPr>
        <p:spPr>
          <a:xfrm>
            <a:off x="4354286" y="1092200"/>
            <a:ext cx="1133928" cy="4064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END_ERROR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384180-AA4F-1F36-251D-55C95155E73E}"/>
              </a:ext>
            </a:extLst>
          </p:cNvPr>
          <p:cNvSpPr txBox="1"/>
          <p:nvPr/>
        </p:nvSpPr>
        <p:spPr>
          <a:xfrm>
            <a:off x="4354286" y="1511300"/>
            <a:ext cx="1133929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[7:6]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0DA4B8-F637-0EA8-C882-2C09DB784EA1}"/>
              </a:ext>
            </a:extLst>
          </p:cNvPr>
          <p:cNvSpPr/>
          <p:nvPr/>
        </p:nvSpPr>
        <p:spPr>
          <a:xfrm>
            <a:off x="5488214" y="1092200"/>
            <a:ext cx="1133929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END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8BEF73-2845-2ADB-E24B-87528C1C3004}"/>
              </a:ext>
            </a:extLst>
          </p:cNvPr>
          <p:cNvSpPr txBox="1"/>
          <p:nvPr/>
        </p:nvSpPr>
        <p:spPr>
          <a:xfrm>
            <a:off x="5488214" y="1511300"/>
            <a:ext cx="1133929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[5:4]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B957D9-9D31-F21F-35EE-B29DD53DF083}"/>
              </a:ext>
            </a:extLst>
          </p:cNvPr>
          <p:cNvSpPr/>
          <p:nvPr/>
        </p:nvSpPr>
        <p:spPr>
          <a:xfrm>
            <a:off x="6622143" y="1092200"/>
            <a:ext cx="1133929" cy="4064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START_PTR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1ED4C8-36F9-56D1-C6F5-19C7E0F5E8A3}"/>
              </a:ext>
            </a:extLst>
          </p:cNvPr>
          <p:cNvSpPr txBox="1"/>
          <p:nvPr/>
        </p:nvSpPr>
        <p:spPr>
          <a:xfrm>
            <a:off x="6622143" y="1511300"/>
            <a:ext cx="1133929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[3:2]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081E4C-FEF9-B277-B74F-838E72F018D0}"/>
              </a:ext>
            </a:extLst>
          </p:cNvPr>
          <p:cNvSpPr/>
          <p:nvPr/>
        </p:nvSpPr>
        <p:spPr>
          <a:xfrm>
            <a:off x="7756072" y="1092200"/>
            <a:ext cx="1133928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1E2761"/>
                </a:solidFill>
                <a:latin typeface="Times New Roman" panose="02020603050405020304" pitchFamily="18" charset="0"/>
              </a:rPr>
              <a:t>START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38AF69-A803-F6D4-31F5-EE58D59F9C5B}"/>
              </a:ext>
            </a:extLst>
          </p:cNvPr>
          <p:cNvSpPr txBox="1"/>
          <p:nvPr/>
        </p:nvSpPr>
        <p:spPr>
          <a:xfrm>
            <a:off x="7756072" y="1511300"/>
            <a:ext cx="1133929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[1:0]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A6A585-5651-0715-2C7B-A1EAF4899380}"/>
              </a:ext>
            </a:extLst>
          </p:cNvPr>
          <p:cNvSpPr txBox="1"/>
          <p:nvPr/>
        </p:nvSpPr>
        <p:spPr>
          <a:xfrm>
            <a:off x="1841500" y="1701800"/>
            <a:ext cx="1256393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00C2A8"/>
                </a:solidFill>
                <a:latin typeface="Times New Roman" panose="02020603050405020304" pitchFamily="18" charset="0"/>
              </a:rPr>
              <a:t>110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77D7B5-C68E-65DD-B041-100F91A2383F}"/>
              </a:ext>
            </a:extLst>
          </p:cNvPr>
          <p:cNvSpPr txBox="1"/>
          <p:nvPr/>
        </p:nvSpPr>
        <p:spPr>
          <a:xfrm>
            <a:off x="3097893" y="1701800"/>
            <a:ext cx="1256393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00C2A8"/>
                </a:solidFill>
                <a:latin typeface="Times New Roman" panose="02020603050405020304" pitchFamily="18" charset="0"/>
              </a:rPr>
              <a:t>010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8073F7-0B85-4FDF-BD3A-E0D0568968E9}"/>
              </a:ext>
            </a:extLst>
          </p:cNvPr>
          <p:cNvSpPr txBox="1"/>
          <p:nvPr/>
        </p:nvSpPr>
        <p:spPr>
          <a:xfrm>
            <a:off x="4354286" y="1701800"/>
            <a:ext cx="1133929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00C2A8"/>
                </a:solidFill>
                <a:latin typeface="Times New Roman" panose="02020603050405020304" pitchFamily="18" charset="0"/>
              </a:rPr>
              <a:t>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08ECFD-6C13-6911-0CAB-D8A50C1BB0F6}"/>
              </a:ext>
            </a:extLst>
          </p:cNvPr>
          <p:cNvSpPr txBox="1"/>
          <p:nvPr/>
        </p:nvSpPr>
        <p:spPr>
          <a:xfrm>
            <a:off x="5488214" y="1701800"/>
            <a:ext cx="1133929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00C2A8"/>
                </a:solidFill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49CE30-F2B7-F305-7E59-8AFD6B34965B}"/>
              </a:ext>
            </a:extLst>
          </p:cNvPr>
          <p:cNvSpPr txBox="1"/>
          <p:nvPr/>
        </p:nvSpPr>
        <p:spPr>
          <a:xfrm>
            <a:off x="6622143" y="1701800"/>
            <a:ext cx="1133929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00C2A8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AD711C-4C8D-4B22-6BC2-8DC70C2F552A}"/>
              </a:ext>
            </a:extLst>
          </p:cNvPr>
          <p:cNvSpPr txBox="1"/>
          <p:nvPr/>
        </p:nvSpPr>
        <p:spPr>
          <a:xfrm>
            <a:off x="7756072" y="1701800"/>
            <a:ext cx="1133929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00C2A8"/>
                </a:solidFill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58F712-354D-056F-6129-8706EF231E63}"/>
              </a:ext>
            </a:extLst>
          </p:cNvPr>
          <p:cNvSpPr txBox="1"/>
          <p:nvPr/>
        </p:nvSpPr>
        <p:spPr>
          <a:xfrm>
            <a:off x="279400" y="1701800"/>
            <a:ext cx="1524000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900" i="1">
                <a:solidFill>
                  <a:srgbClr val="3C3939"/>
                </a:solidFill>
                <a:latin typeface="Times New Roman" panose="02020603050405020304" pitchFamily="18" charset="0"/>
              </a:rPr>
              <a:t>example value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BE4A2A-12A9-5CDD-8465-EA5361D085E8}"/>
              </a:ext>
            </a:extLst>
          </p:cNvPr>
          <p:cNvSpPr txBox="1"/>
          <p:nvPr/>
        </p:nvSpPr>
        <p:spPr>
          <a:xfrm>
            <a:off x="279400" y="2235200"/>
            <a:ext cx="1524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FLIT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8 × 32-bit words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BF3AB6-29F7-A00A-BD3D-ACC79E337946}"/>
              </a:ext>
            </a:extLst>
          </p:cNvPr>
          <p:cNvSpPr/>
          <p:nvPr/>
        </p:nvSpPr>
        <p:spPr>
          <a:xfrm>
            <a:off x="1841500" y="2413000"/>
            <a:ext cx="825500" cy="45720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W0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992931-D1EB-8AAB-9510-1CD7C8706009}"/>
              </a:ext>
            </a:extLst>
          </p:cNvPr>
          <p:cNvSpPr txBox="1"/>
          <p:nvPr/>
        </p:nvSpPr>
        <p:spPr>
          <a:xfrm>
            <a:off x="1841500" y="2895600"/>
            <a:ext cx="825500" cy="17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>
                <a:solidFill>
                  <a:srgbClr val="3C3939"/>
                </a:solidFill>
                <a:latin typeface="Times New Roman" panose="02020603050405020304" pitchFamily="18" charset="0"/>
              </a:rPr>
              <a:t>written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4EEC1B-DD5A-1EA0-FE2E-07EF6A8965ED}"/>
              </a:ext>
            </a:extLst>
          </p:cNvPr>
          <p:cNvSpPr/>
          <p:nvPr/>
        </p:nvSpPr>
        <p:spPr>
          <a:xfrm>
            <a:off x="2717800" y="2413000"/>
            <a:ext cx="825500" cy="45720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W1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9E6F6F-539F-BBC2-843D-14BBB9B3AF72}"/>
              </a:ext>
            </a:extLst>
          </p:cNvPr>
          <p:cNvSpPr txBox="1"/>
          <p:nvPr/>
        </p:nvSpPr>
        <p:spPr>
          <a:xfrm>
            <a:off x="2717800" y="2895600"/>
            <a:ext cx="825500" cy="17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>
                <a:solidFill>
                  <a:srgbClr val="3C3939"/>
                </a:solidFill>
                <a:latin typeface="Times New Roman" panose="02020603050405020304" pitchFamily="18" charset="0"/>
              </a:rPr>
              <a:t>written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94803E-F37F-975D-228A-513FA67B04A5}"/>
              </a:ext>
            </a:extLst>
          </p:cNvPr>
          <p:cNvSpPr/>
          <p:nvPr/>
        </p:nvSpPr>
        <p:spPr>
          <a:xfrm>
            <a:off x="3594100" y="2413000"/>
            <a:ext cx="825500" cy="45720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W2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D81C7E-4343-3DD6-F18E-BB72B58C80B9}"/>
              </a:ext>
            </a:extLst>
          </p:cNvPr>
          <p:cNvSpPr txBox="1"/>
          <p:nvPr/>
        </p:nvSpPr>
        <p:spPr>
          <a:xfrm>
            <a:off x="3594100" y="2895600"/>
            <a:ext cx="825500" cy="17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>
                <a:solidFill>
                  <a:srgbClr val="3C3939"/>
                </a:solidFill>
                <a:latin typeface="Times New Roman" panose="02020603050405020304" pitchFamily="18" charset="0"/>
              </a:rPr>
              <a:t>written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AA8D36C-1411-B9DE-7BE0-8097E667235C}"/>
              </a:ext>
            </a:extLst>
          </p:cNvPr>
          <p:cNvSpPr/>
          <p:nvPr/>
        </p:nvSpPr>
        <p:spPr>
          <a:xfrm>
            <a:off x="4470400" y="2413000"/>
            <a:ext cx="825500" cy="457200"/>
          </a:xfrm>
          <a:prstGeom prst="rect">
            <a:avLst/>
          </a:prstGeom>
          <a:solidFill>
            <a:srgbClr val="E7E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3C3939"/>
                </a:solidFill>
                <a:latin typeface="Times New Roman" panose="02020603050405020304" pitchFamily="18" charset="0"/>
              </a:rPr>
              <a:t>W3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D0FA74-E77C-62F2-5042-16D145EC0FBB}"/>
              </a:ext>
            </a:extLst>
          </p:cNvPr>
          <p:cNvSpPr txBox="1"/>
          <p:nvPr/>
        </p:nvSpPr>
        <p:spPr>
          <a:xfrm>
            <a:off x="4470400" y="2895600"/>
            <a:ext cx="825500" cy="17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>
                <a:solidFill>
                  <a:srgbClr val="3C3939"/>
                </a:solidFill>
                <a:latin typeface="Times New Roman" panose="02020603050405020304" pitchFamily="18" charset="0"/>
              </a:rPr>
              <a:t>dropped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FFD2A8-4FD2-1831-6B87-319B9DB0B0BC}"/>
              </a:ext>
            </a:extLst>
          </p:cNvPr>
          <p:cNvSpPr/>
          <p:nvPr/>
        </p:nvSpPr>
        <p:spPr>
          <a:xfrm>
            <a:off x="5346700" y="2413000"/>
            <a:ext cx="825500" cy="457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W4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EA32D6-D490-6BC1-48EA-44B4B7FB16C6}"/>
              </a:ext>
            </a:extLst>
          </p:cNvPr>
          <p:cNvSpPr txBox="1"/>
          <p:nvPr/>
        </p:nvSpPr>
        <p:spPr>
          <a:xfrm>
            <a:off x="5346700" y="2895600"/>
            <a:ext cx="825500" cy="17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>
                <a:solidFill>
                  <a:srgbClr val="3C3939"/>
                </a:solidFill>
                <a:latin typeface="Times New Roman" panose="02020603050405020304" pitchFamily="18" charset="0"/>
              </a:rPr>
              <a:t>written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113B0E8-D99E-350B-9196-369B837BECF3}"/>
              </a:ext>
            </a:extLst>
          </p:cNvPr>
          <p:cNvSpPr/>
          <p:nvPr/>
        </p:nvSpPr>
        <p:spPr>
          <a:xfrm>
            <a:off x="6223000" y="2413000"/>
            <a:ext cx="825500" cy="457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W5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5E4C97-1F33-FD43-9A0E-5A79F3132050}"/>
              </a:ext>
            </a:extLst>
          </p:cNvPr>
          <p:cNvSpPr txBox="1"/>
          <p:nvPr/>
        </p:nvSpPr>
        <p:spPr>
          <a:xfrm>
            <a:off x="6223000" y="2895600"/>
            <a:ext cx="825500" cy="17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>
                <a:solidFill>
                  <a:srgbClr val="3C3939"/>
                </a:solidFill>
                <a:latin typeface="Times New Roman" panose="02020603050405020304" pitchFamily="18" charset="0"/>
              </a:rPr>
              <a:t>written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330DD22-704F-2BE4-C2ED-C32DCCBD1B69}"/>
              </a:ext>
            </a:extLst>
          </p:cNvPr>
          <p:cNvSpPr/>
          <p:nvPr/>
        </p:nvSpPr>
        <p:spPr>
          <a:xfrm>
            <a:off x="7099300" y="2413000"/>
            <a:ext cx="825500" cy="457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FFFFFF"/>
                </a:solidFill>
                <a:latin typeface="Times New Roman" panose="02020603050405020304" pitchFamily="18" charset="0"/>
              </a:rPr>
              <a:t>W6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9CD771-192C-6FAA-5438-C6ACA90CB333}"/>
              </a:ext>
            </a:extLst>
          </p:cNvPr>
          <p:cNvSpPr txBox="1"/>
          <p:nvPr/>
        </p:nvSpPr>
        <p:spPr>
          <a:xfrm>
            <a:off x="7099300" y="2895600"/>
            <a:ext cx="825500" cy="17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>
                <a:solidFill>
                  <a:srgbClr val="3C3939"/>
                </a:solidFill>
                <a:latin typeface="Times New Roman" panose="02020603050405020304" pitchFamily="18" charset="0"/>
              </a:rPr>
              <a:t>written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6630B0-D61E-3F4A-47D3-CE68413F8BC8}"/>
              </a:ext>
            </a:extLst>
          </p:cNvPr>
          <p:cNvSpPr/>
          <p:nvPr/>
        </p:nvSpPr>
        <p:spPr>
          <a:xfrm>
            <a:off x="7975600" y="2413000"/>
            <a:ext cx="825500" cy="457200"/>
          </a:xfrm>
          <a:prstGeom prst="rect">
            <a:avLst/>
          </a:prstGeom>
          <a:solidFill>
            <a:srgbClr val="E7E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3C3939"/>
                </a:solidFill>
                <a:latin typeface="Times New Roman" panose="02020603050405020304" pitchFamily="18" charset="0"/>
              </a:rPr>
              <a:t>W7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DB6CC5-AD3B-13DA-AC5F-FE18BD3C6A03}"/>
              </a:ext>
            </a:extLst>
          </p:cNvPr>
          <p:cNvSpPr txBox="1"/>
          <p:nvPr/>
        </p:nvSpPr>
        <p:spPr>
          <a:xfrm>
            <a:off x="7975600" y="2895600"/>
            <a:ext cx="825500" cy="17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>
                <a:solidFill>
                  <a:srgbClr val="3C3939"/>
                </a:solidFill>
                <a:latin typeface="Times New Roman" panose="02020603050405020304" pitchFamily="18" charset="0"/>
              </a:rPr>
              <a:t>dropped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EE51C26-AB0A-44A6-F455-8BC22289FC40}"/>
              </a:ext>
            </a:extLst>
          </p:cNvPr>
          <p:cNvSpPr/>
          <p:nvPr/>
        </p:nvSpPr>
        <p:spPr>
          <a:xfrm>
            <a:off x="1841500" y="2159000"/>
            <a:ext cx="2578100" cy="203200"/>
          </a:xfrm>
          <a:prstGeom prst="rect">
            <a:avLst/>
          </a:prstGeom>
          <a:noFill/>
          <a:ln w="12700" cap="flat" cmpd="sng" algn="ctr">
            <a:solidFill>
              <a:srgbClr val="00C2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850">
                <a:solidFill>
                  <a:srgbClr val="1E2761"/>
                </a:solidFill>
                <a:latin typeface="Times New Roman" panose="02020603050405020304" pitchFamily="18" charset="0"/>
              </a:rPr>
              <a:t>Packet 0: START_PTR 0 → END_PTR 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9546F1B-7ED1-3412-498E-412EAE955CDF}"/>
              </a:ext>
            </a:extLst>
          </p:cNvPr>
          <p:cNvSpPr/>
          <p:nvPr/>
        </p:nvSpPr>
        <p:spPr>
          <a:xfrm>
            <a:off x="5346700" y="2159000"/>
            <a:ext cx="2578100" cy="203200"/>
          </a:xfrm>
          <a:prstGeom prst="rect">
            <a:avLst/>
          </a:prstGeom>
          <a:noFill/>
          <a:ln w="12700" cap="flat" cmpd="sng" algn="ctr">
            <a:solidFill>
              <a:srgbClr val="4472C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850">
                <a:solidFill>
                  <a:srgbClr val="1E2761"/>
                </a:solidFill>
                <a:latin typeface="Times New Roman" panose="02020603050405020304" pitchFamily="18" charset="0"/>
              </a:rPr>
              <a:t>Packet 1: START_PTR 1 (×4) → END_PTR 6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B602517-B0A6-3314-CBF2-9F911BA7AE2F}"/>
              </a:ext>
            </a:extLst>
          </p:cNvPr>
          <p:cNvSpPr/>
          <p:nvPr/>
        </p:nvSpPr>
        <p:spPr>
          <a:xfrm>
            <a:off x="279400" y="3251200"/>
            <a:ext cx="5588000" cy="1625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A5B4EF-170E-C3F8-2B01-9FD0B06BB05E}"/>
              </a:ext>
            </a:extLst>
          </p:cNvPr>
          <p:cNvSpPr txBox="1"/>
          <p:nvPr/>
        </p:nvSpPr>
        <p:spPr>
          <a:xfrm>
            <a:off x="431800" y="3352800"/>
            <a:ext cx="52832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1E2761"/>
                </a:solidFill>
                <a:latin typeface="Cambria" panose="02040503050406030204" pitchFamily="18" charset="0"/>
              </a:rPr>
              <a:t>Word-valid rule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3FCC65-527A-30BD-7CBF-B3649259B47C}"/>
              </a:ext>
            </a:extLst>
          </p:cNvPr>
          <p:cNvSpPr txBox="1"/>
          <p:nvPr/>
        </p:nvSpPr>
        <p:spPr>
          <a:xfrm>
            <a:off x="431800" y="3657600"/>
            <a:ext cx="5283200" cy="1143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50">
                <a:solidFill>
                  <a:srgbClr val="1E2761"/>
                </a:solidFill>
                <a:latin typeface="Times New Roman" panose="02020603050405020304" pitchFamily="18" charset="0"/>
              </a:rPr>
              <a:t>Word i is written when START[j] and END[j] are set and START_PTR[j] × 4 ≤ i ≤ END_PTR[j]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50">
                <a:solidFill>
                  <a:srgbClr val="1E2761"/>
                </a:solidFill>
                <a:latin typeface="Times New Roman" panose="02020603050405020304" pitchFamily="18" charset="0"/>
              </a:rPr>
              <a:t>STREAM walks W0 → W7, one word per cycle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50">
                <a:solidFill>
                  <a:srgbClr val="1E2761"/>
                </a:solidFill>
                <a:latin typeface="Times New Roman" panose="02020603050405020304" pitchFamily="18" charset="0"/>
              </a:rPr>
              <a:t>Pauses while the Async FIFO is full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BD0C53C-6230-FD3A-170D-AA6ABD01350B}"/>
              </a:ext>
            </a:extLst>
          </p:cNvPr>
          <p:cNvSpPr/>
          <p:nvPr/>
        </p:nvSpPr>
        <p:spPr>
          <a:xfrm>
            <a:off x="6045200" y="3251200"/>
            <a:ext cx="2844800" cy="1625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738FB6-400E-9927-2D0E-A6E3AFB4037B}"/>
              </a:ext>
            </a:extLst>
          </p:cNvPr>
          <p:cNvSpPr txBox="1"/>
          <p:nvPr/>
        </p:nvSpPr>
        <p:spPr>
          <a:xfrm>
            <a:off x="6197600" y="3352800"/>
            <a:ext cx="25400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FFFFFF"/>
                </a:solidFill>
                <a:latin typeface="Cambria" panose="02040503050406030204" pitchFamily="18" charset="0"/>
              </a:rPr>
              <a:t>Limitations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6DB7DD-3B56-01FD-FC2B-F0453E3DB5C7}"/>
              </a:ext>
            </a:extLst>
          </p:cNvPr>
          <p:cNvSpPr txBox="1"/>
          <p:nvPr/>
        </p:nvSpPr>
        <p:spPr>
          <a:xfrm>
            <a:off x="6197600" y="3657600"/>
            <a:ext cx="2540000" cy="1143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50">
                <a:solidFill>
                  <a:srgbClr val="FFFFFF"/>
                </a:solidFill>
                <a:latin typeface="Times New Roman" panose="02020603050405020304" pitchFamily="18" charset="0"/>
              </a:rPr>
              <a:t>Packets spanning FLITs are not supported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50">
                <a:solidFill>
                  <a:srgbClr val="FFFFFF"/>
                </a:solidFill>
                <a:latin typeface="Times New Roman" panose="02020603050405020304" pitchFamily="18" charset="0"/>
              </a:rPr>
              <a:t>END_ERROR is decoded but not yet used</a:t>
            </a:r>
          </a:p>
        </p:txBody>
      </p:sp>
    </p:spTree>
    <p:extLst>
      <p:ext uri="{BB962C8B-B14F-4D97-AF65-F5344CB8AC3E}">
        <p14:creationId xmlns:p14="http://schemas.microsoft.com/office/powerpoint/2010/main" val="2468762259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E508AE-5F2E-D506-1AD5-3A2444704937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CXS TX Path &amp; Error Return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1C1AE5-8838-AD17-351D-0DAE37314201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96E0FD-39D2-C31F-AC79-5348CDFF85F4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30D4A5-E192-02EE-0D31-2DC9F5DB1097}"/>
              </a:ext>
            </a:extLst>
          </p:cNvPr>
          <p:cNvSpPr/>
          <p:nvPr/>
        </p:nvSpPr>
        <p:spPr>
          <a:xfrm>
            <a:off x="254000" y="1168400"/>
            <a:ext cx="1333500" cy="533400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FFFFFF"/>
                </a:solidFill>
                <a:latin typeface="Times New Roman" panose="02020603050405020304" pitchFamily="18" charset="0"/>
              </a:rPr>
              <a:t>1 · Error detected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FDB52D-6072-3F5B-739D-DF40BAB7BAF0}"/>
              </a:ext>
            </a:extLst>
          </p:cNvPr>
          <p:cNvSpPr/>
          <p:nvPr/>
        </p:nvSpPr>
        <p:spPr>
          <a:xfrm>
            <a:off x="254000" y="1803400"/>
            <a:ext cx="13335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A7FE7-8A50-49C7-F221-55F5D10A2D15}"/>
              </a:ext>
            </a:extLst>
          </p:cNvPr>
          <p:cNvSpPr txBox="1"/>
          <p:nvPr/>
        </p:nvSpPr>
        <p:spPr>
          <a:xfrm>
            <a:off x="304800" y="1854200"/>
            <a:ext cx="1231900" cy="914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one-cycle error_valid, 2-bit code held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02B93C-7FC6-EE29-3888-8DD3B2175624}"/>
              </a:ext>
            </a:extLst>
          </p:cNvPr>
          <p:cNvSpPr/>
          <p:nvPr/>
        </p:nvSpPr>
        <p:spPr>
          <a:xfrm>
            <a:off x="1714500" y="1168400"/>
            <a:ext cx="1333500" cy="53340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FFFFFF"/>
                </a:solidFill>
                <a:latin typeface="Times New Roman" panose="02020603050405020304" pitchFamily="18" charset="0"/>
              </a:rPr>
              <a:t>2 · Toggle + 2-FF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0D9DA6B-2B89-A8CD-D94F-7704411BA954}"/>
              </a:ext>
            </a:extLst>
          </p:cNvPr>
          <p:cNvSpPr/>
          <p:nvPr/>
        </p:nvSpPr>
        <p:spPr>
          <a:xfrm>
            <a:off x="1714500" y="1803400"/>
            <a:ext cx="13335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5BDB97-FB1B-31B0-73D6-22A712F8F664}"/>
              </a:ext>
            </a:extLst>
          </p:cNvPr>
          <p:cNvSpPr txBox="1"/>
          <p:nvPr/>
        </p:nvSpPr>
        <p:spPr>
          <a:xfrm>
            <a:off x="1765300" y="1854200"/>
            <a:ext cx="1231900" cy="914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pulse flips a toggle; two flops re-time it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5CD47E-C724-0B66-E03F-150FC48FBEB4}"/>
              </a:ext>
            </a:extLst>
          </p:cNvPr>
          <p:cNvCxnSpPr/>
          <p:nvPr/>
        </p:nvCxnSpPr>
        <p:spPr>
          <a:xfrm>
            <a:off x="1587500" y="1435100"/>
            <a:ext cx="1270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E68263-EDDD-AB0B-0A1F-686A552B6A93}"/>
              </a:ext>
            </a:extLst>
          </p:cNvPr>
          <p:cNvSpPr/>
          <p:nvPr/>
        </p:nvSpPr>
        <p:spPr>
          <a:xfrm>
            <a:off x="3175000" y="1168400"/>
            <a:ext cx="1333500" cy="53340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FFFFFF"/>
                </a:solidFill>
                <a:latin typeface="Times New Roman" panose="02020603050405020304" pitchFamily="18" charset="0"/>
              </a:rPr>
              <a:t>3 · Edge detect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73BE72A-5D08-CA1C-5A9E-EF178B05101E}"/>
              </a:ext>
            </a:extLst>
          </p:cNvPr>
          <p:cNvSpPr/>
          <p:nvPr/>
        </p:nvSpPr>
        <p:spPr>
          <a:xfrm>
            <a:off x="3175000" y="1803400"/>
            <a:ext cx="13335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A966C3-D2B2-D537-A005-CD7F0FAF42B2}"/>
              </a:ext>
            </a:extLst>
          </p:cNvPr>
          <p:cNvSpPr txBox="1"/>
          <p:nvPr/>
        </p:nvSpPr>
        <p:spPr>
          <a:xfrm>
            <a:off x="3225800" y="1854200"/>
            <a:ext cx="1231900" cy="914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XOR with a delayed copy → one CXS pulse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A70B5F-A8AB-EBD9-AB8A-2E0AEE52B71F}"/>
              </a:ext>
            </a:extLst>
          </p:cNvPr>
          <p:cNvCxnSpPr/>
          <p:nvPr/>
        </p:nvCxnSpPr>
        <p:spPr>
          <a:xfrm>
            <a:off x="3048000" y="1435100"/>
            <a:ext cx="1270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30C9DD1-BE0B-4DFB-03C3-1807048BF697}"/>
              </a:ext>
            </a:extLst>
          </p:cNvPr>
          <p:cNvSpPr/>
          <p:nvPr/>
        </p:nvSpPr>
        <p:spPr>
          <a:xfrm>
            <a:off x="4635500" y="1168400"/>
            <a:ext cx="1333500" cy="533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FFFFFF"/>
                </a:solidFill>
                <a:latin typeface="Times New Roman" panose="02020603050405020304" pitchFamily="18" charset="0"/>
              </a:rPr>
              <a:t>4 · Packet Encoder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22A6D6-0054-0BE9-7677-D69E69253684}"/>
              </a:ext>
            </a:extLst>
          </p:cNvPr>
          <p:cNvSpPr/>
          <p:nvPr/>
        </p:nvSpPr>
        <p:spPr>
          <a:xfrm>
            <a:off x="4635500" y="1803400"/>
            <a:ext cx="13335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F599B1-640A-72E1-A990-9A81DD976401}"/>
              </a:ext>
            </a:extLst>
          </p:cNvPr>
          <p:cNvSpPr txBox="1"/>
          <p:nvPr/>
        </p:nvSpPr>
        <p:spPr>
          <a:xfrm>
            <a:off x="4686300" y="1854200"/>
            <a:ext cx="1231900" cy="914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one-word FLIT: opcode 0xE0 + code, START0/END0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8D72CA-48CD-6982-ADD3-57C73017719E}"/>
              </a:ext>
            </a:extLst>
          </p:cNvPr>
          <p:cNvCxnSpPr/>
          <p:nvPr/>
        </p:nvCxnSpPr>
        <p:spPr>
          <a:xfrm>
            <a:off x="4508500" y="1435100"/>
            <a:ext cx="1270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4625FB9-E819-D271-2C29-83353E98CACA}"/>
              </a:ext>
            </a:extLst>
          </p:cNvPr>
          <p:cNvSpPr/>
          <p:nvPr/>
        </p:nvSpPr>
        <p:spPr>
          <a:xfrm>
            <a:off x="6096000" y="1168400"/>
            <a:ext cx="1333500" cy="533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FFFFFF"/>
                </a:solidFill>
                <a:latin typeface="Times New Roman" panose="02020603050405020304" pitchFamily="18" charset="0"/>
              </a:rPr>
              <a:t>5 · Holding register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B10DAA5-B1F2-30AA-38E0-CC93525FCB20}"/>
              </a:ext>
            </a:extLst>
          </p:cNvPr>
          <p:cNvSpPr/>
          <p:nvPr/>
        </p:nvSpPr>
        <p:spPr>
          <a:xfrm>
            <a:off x="6096000" y="1803400"/>
            <a:ext cx="13335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4F3760-7648-3B8C-B505-D49102520D95}"/>
              </a:ext>
            </a:extLst>
          </p:cNvPr>
          <p:cNvSpPr txBox="1"/>
          <p:nvPr/>
        </p:nvSpPr>
        <p:spPr>
          <a:xfrm>
            <a:off x="6146800" y="1854200"/>
            <a:ext cx="1231900" cy="914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stores the FLIT; flit_ready = 0 while pending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7CC1900-CACA-C0C0-F78C-C2075822E2AE}"/>
              </a:ext>
            </a:extLst>
          </p:cNvPr>
          <p:cNvCxnSpPr/>
          <p:nvPr/>
        </p:nvCxnSpPr>
        <p:spPr>
          <a:xfrm>
            <a:off x="5969000" y="1435100"/>
            <a:ext cx="1270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B8E904C-0AE1-BAF7-7948-89A90D6D4C8D}"/>
              </a:ext>
            </a:extLst>
          </p:cNvPr>
          <p:cNvSpPr/>
          <p:nvPr/>
        </p:nvSpPr>
        <p:spPr>
          <a:xfrm>
            <a:off x="7556500" y="1168400"/>
            <a:ext cx="1333500" cy="533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FFFFFF"/>
                </a:solidFill>
                <a:latin typeface="Times New Roman" panose="02020603050405020304" pitchFamily="18" charset="0"/>
              </a:rPr>
              <a:t>6 · Credit gate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2E436AC-852C-FD26-3D0B-297E0228B869}"/>
              </a:ext>
            </a:extLst>
          </p:cNvPr>
          <p:cNvSpPr/>
          <p:nvPr/>
        </p:nvSpPr>
        <p:spPr>
          <a:xfrm>
            <a:off x="7556500" y="1803400"/>
            <a:ext cx="13335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494F57-ECFB-59AD-CC94-BBC03B045D64}"/>
              </a:ext>
            </a:extLst>
          </p:cNvPr>
          <p:cNvSpPr txBox="1"/>
          <p:nvPr/>
        </p:nvSpPr>
        <p:spPr>
          <a:xfrm>
            <a:off x="7607300" y="1854200"/>
            <a:ext cx="1231900" cy="914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sends when TX credit &gt; 0 → CXSTXVALID / DATA / CNTL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E67067D-FED6-6004-06D2-83DF1C84839D}"/>
              </a:ext>
            </a:extLst>
          </p:cNvPr>
          <p:cNvCxnSpPr/>
          <p:nvPr/>
        </p:nvCxnSpPr>
        <p:spPr>
          <a:xfrm>
            <a:off x="7429500" y="1435100"/>
            <a:ext cx="1270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AB8C278-FCF3-836C-0409-D305D67B1F2F}"/>
              </a:ext>
            </a:extLst>
          </p:cNvPr>
          <p:cNvSpPr txBox="1"/>
          <p:nvPr/>
        </p:nvSpPr>
        <p:spPr>
          <a:xfrm>
            <a:off x="254000" y="2870200"/>
            <a:ext cx="1333500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3C3939"/>
                </a:solidFill>
                <a:latin typeface="Times New Roman" panose="02020603050405020304" pitchFamily="18" charset="0"/>
              </a:rPr>
              <a:t>CLK_SYS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7D58DC-3B4A-F402-DF2B-CB0822942F19}"/>
              </a:ext>
            </a:extLst>
          </p:cNvPr>
          <p:cNvSpPr txBox="1"/>
          <p:nvPr/>
        </p:nvSpPr>
        <p:spPr>
          <a:xfrm>
            <a:off x="1714500" y="2870200"/>
            <a:ext cx="2794000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00C2A8"/>
                </a:solidFill>
                <a:latin typeface="Times New Roman" panose="02020603050405020304" pitchFamily="18" charset="0"/>
              </a:rPr>
              <a:t>CDC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BFE748-192A-F29A-731C-BD9FEBF6E9CF}"/>
              </a:ext>
            </a:extLst>
          </p:cNvPr>
          <p:cNvSpPr txBox="1"/>
          <p:nvPr/>
        </p:nvSpPr>
        <p:spPr>
          <a:xfrm>
            <a:off x="4635500" y="2870200"/>
            <a:ext cx="4254500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3C3939"/>
                </a:solidFill>
                <a:latin typeface="Times New Roman" panose="02020603050405020304" pitchFamily="18" charset="0"/>
              </a:rPr>
              <a:t>CLK_CXS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A177438-A8EA-20C4-980E-583B2C8E1DAF}"/>
              </a:ext>
            </a:extLst>
          </p:cNvPr>
          <p:cNvSpPr/>
          <p:nvPr/>
        </p:nvSpPr>
        <p:spPr>
          <a:xfrm>
            <a:off x="254000" y="3175000"/>
            <a:ext cx="4254500" cy="167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DA08B8-E79A-C51C-F084-3EE471B8C495}"/>
              </a:ext>
            </a:extLst>
          </p:cNvPr>
          <p:cNvSpPr txBox="1"/>
          <p:nvPr/>
        </p:nvSpPr>
        <p:spPr>
          <a:xfrm>
            <a:off x="406400" y="3276600"/>
            <a:ext cx="39497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1E2761"/>
                </a:solidFill>
                <a:latin typeface="Cambria" panose="02040503050406030204" pitchFamily="18" charset="0"/>
              </a:rPr>
              <a:t>Credit available (ERR_TX_FLIT)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6506ED-7935-EAC0-D7EA-70A601D1D8E4}"/>
              </a:ext>
            </a:extLst>
          </p:cNvPr>
          <p:cNvSpPr txBox="1"/>
          <p:nvPr/>
        </p:nvSpPr>
        <p:spPr>
          <a:xfrm>
            <a:off x="406400" y="3581400"/>
            <a:ext cx="3949700" cy="1193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Response FLIT is captured, then sent while TX credit &gt; 0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TX credit counter −1 per sent FLIT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F0997AA-CBB1-BD81-80B4-B739FFFF1D05}"/>
              </a:ext>
            </a:extLst>
          </p:cNvPr>
          <p:cNvSpPr/>
          <p:nvPr/>
        </p:nvSpPr>
        <p:spPr>
          <a:xfrm>
            <a:off x="4635500" y="3175000"/>
            <a:ext cx="4254500" cy="16764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4F5954-4402-8236-82FF-07E4B78C5CE5}"/>
              </a:ext>
            </a:extLst>
          </p:cNvPr>
          <p:cNvSpPr txBox="1"/>
          <p:nvPr/>
        </p:nvSpPr>
        <p:spPr>
          <a:xfrm>
            <a:off x="4787900" y="3276600"/>
            <a:ext cx="39497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FFFFFF"/>
                </a:solidFill>
                <a:latin typeface="Cambria" panose="02040503050406030204" pitchFamily="18" charset="0"/>
              </a:rPr>
              <a:t>No credit (TX_CREDIT_STALL)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232ED8-4D16-DF05-FFE2-D713A9EA7895}"/>
              </a:ext>
            </a:extLst>
          </p:cNvPr>
          <p:cNvSpPr txBox="1"/>
          <p:nvPr/>
        </p:nvSpPr>
        <p:spPr>
          <a:xfrm>
            <a:off x="4787900" y="3581400"/>
            <a:ext cx="3949700" cy="1193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FLIT parked in the holding register, flit_ready = 0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CXSTXCRDGNT grants are counted up to 16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</a:rPr>
              <a:t>The first grant releases the FLIT</a:t>
            </a:r>
          </a:p>
        </p:txBody>
      </p:sp>
    </p:spTree>
    <p:extLst>
      <p:ext uri="{BB962C8B-B14F-4D97-AF65-F5344CB8AC3E}">
        <p14:creationId xmlns:p14="http://schemas.microsoft.com/office/powerpoint/2010/main" val="1858170673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5E24F9-22A0-8BC3-9058-3F072E9E9B52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Control Unit &amp; TLP Handling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AAD5D2-FCC8-EF35-0C0E-CA94EEEEFD0E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91E809-4D7E-B133-CE11-9992539575D6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70B74-9770-3A0C-6B77-8FF3222AF233}"/>
              </a:ext>
            </a:extLst>
          </p:cNvPr>
          <p:cNvSpPr txBox="1"/>
          <p:nvPr/>
        </p:nvSpPr>
        <p:spPr>
          <a:xfrm>
            <a:off x="279400" y="1066800"/>
            <a:ext cx="1498600" cy="406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Header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word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5143A2-9572-83D1-F664-7C38E7DEF9F0}"/>
              </a:ext>
            </a:extLst>
          </p:cNvPr>
          <p:cNvSpPr/>
          <p:nvPr/>
        </p:nvSpPr>
        <p:spPr>
          <a:xfrm>
            <a:off x="1841500" y="1066800"/>
            <a:ext cx="1266825" cy="3810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 b="1">
                <a:solidFill>
                  <a:srgbClr val="1E2761"/>
                </a:solidFill>
                <a:latin typeface="Times New Roman" panose="02020603050405020304" pitchFamily="18" charset="0"/>
              </a:rPr>
              <a:t>BASE_ADDR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5BFB7-B140-9DD6-0C90-D4E5DFBF4BEA}"/>
              </a:ext>
            </a:extLst>
          </p:cNvPr>
          <p:cNvSpPr txBox="1"/>
          <p:nvPr/>
        </p:nvSpPr>
        <p:spPr>
          <a:xfrm>
            <a:off x="1841500" y="1460500"/>
            <a:ext cx="1266825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[31:24]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25772C-8827-5CB8-5585-EE343A0DFFA8}"/>
              </a:ext>
            </a:extLst>
          </p:cNvPr>
          <p:cNvSpPr/>
          <p:nvPr/>
        </p:nvSpPr>
        <p:spPr>
          <a:xfrm>
            <a:off x="3108325" y="1066800"/>
            <a:ext cx="1266825" cy="381000"/>
          </a:xfrm>
          <a:prstGeom prst="rect">
            <a:avLst/>
          </a:prstGeom>
          <a:solidFill>
            <a:srgbClr val="E7E9EE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 b="1">
                <a:solidFill>
                  <a:srgbClr val="3C3939"/>
                </a:solidFill>
                <a:latin typeface="Times New Roman" panose="02020603050405020304" pitchFamily="18" charset="0"/>
              </a:rPr>
              <a:t>unused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95149-D4B0-CDAE-0E92-1D0F975CA63E}"/>
              </a:ext>
            </a:extLst>
          </p:cNvPr>
          <p:cNvSpPr txBox="1"/>
          <p:nvPr/>
        </p:nvSpPr>
        <p:spPr>
          <a:xfrm>
            <a:off x="3108325" y="1460500"/>
            <a:ext cx="1266825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[23:16]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E710AE-A2BC-86E8-A7A3-2AFA95DD2ED7}"/>
              </a:ext>
            </a:extLst>
          </p:cNvPr>
          <p:cNvSpPr/>
          <p:nvPr/>
        </p:nvSpPr>
        <p:spPr>
          <a:xfrm>
            <a:off x="4375150" y="1066800"/>
            <a:ext cx="1266825" cy="3810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 b="1">
                <a:solidFill>
                  <a:srgbClr val="1E2761"/>
                </a:solidFill>
                <a:latin typeface="Times New Roman" panose="02020603050405020304" pitchFamily="18" charset="0"/>
              </a:rPr>
              <a:t>DEV_COUNT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52C4C8-1402-1BB0-CC26-5E968D38325E}"/>
              </a:ext>
            </a:extLst>
          </p:cNvPr>
          <p:cNvSpPr txBox="1"/>
          <p:nvPr/>
        </p:nvSpPr>
        <p:spPr>
          <a:xfrm>
            <a:off x="4375150" y="1460500"/>
            <a:ext cx="1266825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[15:8]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098CBD-2DAD-7A4A-1D0A-1B00E2D4AF57}"/>
              </a:ext>
            </a:extLst>
          </p:cNvPr>
          <p:cNvSpPr/>
          <p:nvPr/>
        </p:nvSpPr>
        <p:spPr>
          <a:xfrm>
            <a:off x="5641975" y="1066800"/>
            <a:ext cx="963613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 b="1">
                <a:solidFill>
                  <a:srgbClr val="1E2761"/>
                </a:solidFill>
                <a:latin typeface="Times New Roman" panose="02020603050405020304" pitchFamily="18" charset="0"/>
              </a:rPr>
              <a:t>ENC_MODE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EF8F27-67C5-0BAE-6253-F34F1D7B6E07}"/>
              </a:ext>
            </a:extLst>
          </p:cNvPr>
          <p:cNvSpPr txBox="1"/>
          <p:nvPr/>
        </p:nvSpPr>
        <p:spPr>
          <a:xfrm>
            <a:off x="5641975" y="1460500"/>
            <a:ext cx="963613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[7:4]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2FC959-00DF-9C5F-5062-7E6D71BD6640}"/>
              </a:ext>
            </a:extLst>
          </p:cNvPr>
          <p:cNvSpPr/>
          <p:nvPr/>
        </p:nvSpPr>
        <p:spPr>
          <a:xfrm>
            <a:off x="6605588" y="1066800"/>
            <a:ext cx="736203" cy="3810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 b="1">
                <a:solidFill>
                  <a:srgbClr val="1E2761"/>
                </a:solidFill>
                <a:latin typeface="Times New Roman" panose="02020603050405020304" pitchFamily="18" charset="0"/>
              </a:rPr>
              <a:t>ADDR_MODE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471E88-FAF9-6580-AFC3-F54641E2E693}"/>
              </a:ext>
            </a:extLst>
          </p:cNvPr>
          <p:cNvSpPr txBox="1"/>
          <p:nvPr/>
        </p:nvSpPr>
        <p:spPr>
          <a:xfrm>
            <a:off x="6605588" y="1460500"/>
            <a:ext cx="736203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[3]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A9D0B3-69EF-AB40-2D02-3735E23548E7}"/>
              </a:ext>
            </a:extLst>
          </p:cNvPr>
          <p:cNvSpPr/>
          <p:nvPr/>
        </p:nvSpPr>
        <p:spPr>
          <a:xfrm>
            <a:off x="7341791" y="1066800"/>
            <a:ext cx="736203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 b="1">
                <a:solidFill>
                  <a:srgbClr val="1E2761"/>
                </a:solidFill>
                <a:latin typeface="Times New Roman" panose="02020603050405020304" pitchFamily="18" charset="0"/>
              </a:rPr>
              <a:t>PARITY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FD81E5-1750-AC25-B01C-315A5D744408}"/>
              </a:ext>
            </a:extLst>
          </p:cNvPr>
          <p:cNvSpPr txBox="1"/>
          <p:nvPr/>
        </p:nvSpPr>
        <p:spPr>
          <a:xfrm>
            <a:off x="7341791" y="1460500"/>
            <a:ext cx="736203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[2]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9CED37-B572-B341-67A7-63B3FC5B079D}"/>
              </a:ext>
            </a:extLst>
          </p:cNvPr>
          <p:cNvSpPr/>
          <p:nvPr/>
        </p:nvSpPr>
        <p:spPr>
          <a:xfrm>
            <a:off x="8077994" y="1066800"/>
            <a:ext cx="812006" cy="3810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 b="1">
                <a:solidFill>
                  <a:srgbClr val="1E2761"/>
                </a:solidFill>
                <a:latin typeface="Times New Roman" panose="02020603050405020304" pitchFamily="18" charset="0"/>
              </a:rPr>
              <a:t>SYS_STATE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A404E1-3282-576B-DFE9-E7390CECA68E}"/>
              </a:ext>
            </a:extLst>
          </p:cNvPr>
          <p:cNvSpPr txBox="1"/>
          <p:nvPr/>
        </p:nvSpPr>
        <p:spPr>
          <a:xfrm>
            <a:off x="8077994" y="1460500"/>
            <a:ext cx="812006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[1:0]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5DAEB7-1F12-3CA7-96A7-C784AFB8EE5E}"/>
              </a:ext>
            </a:extLst>
          </p:cNvPr>
          <p:cNvSpPr txBox="1"/>
          <p:nvPr/>
        </p:nvSpPr>
        <p:spPr>
          <a:xfrm>
            <a:off x="279400" y="1778000"/>
            <a:ext cx="1498600" cy="406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Payload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transfer words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000F2B-E11C-8738-6900-0831613B6891}"/>
              </a:ext>
            </a:extLst>
          </p:cNvPr>
          <p:cNvSpPr/>
          <p:nvPr/>
        </p:nvSpPr>
        <p:spPr>
          <a:xfrm>
            <a:off x="1841500" y="1778000"/>
            <a:ext cx="3524250" cy="3810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 b="1" dirty="0">
                <a:solidFill>
                  <a:srgbClr val="1E2761"/>
                </a:solidFill>
                <a:latin typeface="Times New Roman" panose="02020603050405020304" pitchFamily="18" charset="0"/>
              </a:rPr>
              <a:t>ADDR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A1615E-66C2-14F0-B5B7-CCF6E687C809}"/>
              </a:ext>
            </a:extLst>
          </p:cNvPr>
          <p:cNvSpPr txBox="1"/>
          <p:nvPr/>
        </p:nvSpPr>
        <p:spPr>
          <a:xfrm>
            <a:off x="2725420" y="2184400"/>
            <a:ext cx="1927225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</a:rPr>
              <a:t>[31:16]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1084FD-BCDD-4B37-19B1-78C88C2BC347}"/>
              </a:ext>
            </a:extLst>
          </p:cNvPr>
          <p:cNvSpPr/>
          <p:nvPr/>
        </p:nvSpPr>
        <p:spPr>
          <a:xfrm>
            <a:off x="5365750" y="1778000"/>
            <a:ext cx="3524250" cy="3810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 b="1">
                <a:solidFill>
                  <a:srgbClr val="1E2761"/>
                </a:solidFill>
                <a:latin typeface="Times New Roman" panose="02020603050405020304" pitchFamily="18" charset="0"/>
              </a:rPr>
              <a:t>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2A3CAD-A549-677D-4CCA-F831EB1D6503}"/>
              </a:ext>
            </a:extLst>
          </p:cNvPr>
          <p:cNvSpPr txBox="1"/>
          <p:nvPr/>
        </p:nvSpPr>
        <p:spPr>
          <a:xfrm>
            <a:off x="5530850" y="2171700"/>
            <a:ext cx="3194050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[15:0]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B4AEBB-2963-E37C-B759-4A953E433BDE}"/>
              </a:ext>
            </a:extLst>
          </p:cNvPr>
          <p:cNvSpPr txBox="1"/>
          <p:nvPr/>
        </p:nvSpPr>
        <p:spPr>
          <a:xfrm>
            <a:off x="279400" y="2489200"/>
            <a:ext cx="1498600" cy="406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1E2761"/>
                </a:solidFill>
                <a:latin typeface="Times New Roman" panose="02020603050405020304" pitchFamily="18" charset="0"/>
              </a:rPr>
              <a:t>Device entry</a:t>
            </a:r>
          </a:p>
          <a:p>
            <a:pPr>
              <a:spcAft>
                <a:spcPts val="200"/>
              </a:spcAft>
            </a:pPr>
            <a:r>
              <a:rPr lang="en-US" sz="1100">
                <a:solidFill>
                  <a:srgbClr val="1E2761"/>
                </a:solidFill>
                <a:latin typeface="Times New Roman" panose="02020603050405020304" pitchFamily="18" charset="0"/>
              </a:rPr>
              <a:t>config words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539407-F4B7-27C4-F405-99735BBF448E}"/>
              </a:ext>
            </a:extLst>
          </p:cNvPr>
          <p:cNvSpPr/>
          <p:nvPr/>
        </p:nvSpPr>
        <p:spPr>
          <a:xfrm>
            <a:off x="1841500" y="2489200"/>
            <a:ext cx="3524250" cy="3810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 b="1">
                <a:solidFill>
                  <a:srgbClr val="1E2761"/>
                </a:solidFill>
                <a:latin typeface="Times New Roman" panose="02020603050405020304" pitchFamily="18" charset="0"/>
              </a:rPr>
              <a:t>END_ADDR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9A1143-1C06-5681-4065-754DDDB0F9CF}"/>
              </a:ext>
            </a:extLst>
          </p:cNvPr>
          <p:cNvSpPr txBox="1"/>
          <p:nvPr/>
        </p:nvSpPr>
        <p:spPr>
          <a:xfrm>
            <a:off x="1841500" y="2882900"/>
            <a:ext cx="3524250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[31:16]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8957A6-EAA5-E1B8-FE60-E450DF34C4AC}"/>
              </a:ext>
            </a:extLst>
          </p:cNvPr>
          <p:cNvSpPr/>
          <p:nvPr/>
        </p:nvSpPr>
        <p:spPr>
          <a:xfrm>
            <a:off x="5365750" y="2489200"/>
            <a:ext cx="3524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50" b="1">
                <a:solidFill>
                  <a:srgbClr val="1E2761"/>
                </a:solidFill>
                <a:latin typeface="Times New Roman" panose="02020603050405020304" pitchFamily="18" charset="0"/>
              </a:rPr>
              <a:t>START_ADDR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1D1D1C-DD2B-4B90-083A-769A1C9F9735}"/>
              </a:ext>
            </a:extLst>
          </p:cNvPr>
          <p:cNvSpPr txBox="1"/>
          <p:nvPr/>
        </p:nvSpPr>
        <p:spPr>
          <a:xfrm>
            <a:off x="5365750" y="2882900"/>
            <a:ext cx="3524250" cy="1651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[15:0]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6A19A22A-C895-679E-9F71-94F5AB83D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294297"/>
              </p:ext>
            </p:extLst>
          </p:nvPr>
        </p:nvGraphicFramePr>
        <p:xfrm>
          <a:off x="254000" y="3251200"/>
          <a:ext cx="86360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616854664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107949185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406801691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SYS_STATE</a:t>
                      </a:r>
                    </a:p>
                  </a:txBody>
                  <a:tcPr marL="50800" marR="50800" marT="25400" marB="254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Control Unit action</a:t>
                      </a:r>
                    </a:p>
                  </a:txBody>
                  <a:tcPr marL="50800" marR="50800" marT="25400" marB="254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Error → code</a:t>
                      </a:r>
                    </a:p>
                  </a:txBody>
                  <a:tcPr marL="50800" marR="50800" marT="25400" marB="25400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357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01 Configuration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Header → CDM 0x00 (direct write); next DEV_COUNT words → 0x01, 0x02, …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fr-FR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ENC_MODE not 0000 / 0001 → 01</a:t>
                      </a:r>
                      <a:endParaRPr lang="en-US" sz="950" b="0" i="0">
                        <a:solidFill>
                          <a:srgbClr val="1E276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6146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10 Link-Up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Consume the TLP; payload words written; enter the data phase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Header rejected → 00 (validation placeholder)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90047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11 Transfer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ADDR → ATU · DATA → Encryption → Parity → CDM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Idle / Config header in data phase → 10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53172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00 Idle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Words dropped while waiting for a Configuration header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308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900585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75EB3C-6923-F29A-1E84-53E48C65579E}"/>
              </a:ext>
            </a:extLst>
          </p:cNvPr>
          <p:cNvSpPr txBox="1"/>
          <p:nvPr/>
        </p:nvSpPr>
        <p:spPr>
          <a:xfrm>
            <a:off x="279400" y="81458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 dirty="0">
                <a:solidFill>
                  <a:srgbClr val="1E2761"/>
                </a:solidFill>
                <a:latin typeface="Cambria" panose="02040503050406030204" pitchFamily="18" charset="0"/>
              </a:rPr>
              <a:t>Control Unit FSM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50E77E-3105-94FD-1639-55D8E804E4FA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6658D2-C8EC-E205-264D-9D5613A14E8C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FA1209F-206D-8C6F-4B47-5637DED0642B}"/>
              </a:ext>
            </a:extLst>
          </p:cNvPr>
          <p:cNvSpPr/>
          <p:nvPr/>
        </p:nvSpPr>
        <p:spPr>
          <a:xfrm>
            <a:off x="5816600" y="1403242"/>
            <a:ext cx="2921000" cy="813816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7EA188-A175-CFEF-F758-104CA64115FB}"/>
              </a:ext>
            </a:extLst>
          </p:cNvPr>
          <p:cNvSpPr txBox="1"/>
          <p:nvPr/>
        </p:nvSpPr>
        <p:spPr>
          <a:xfrm>
            <a:off x="5969000" y="1504842"/>
            <a:ext cx="26162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18" charset="0"/>
              </a:rPr>
              <a:t>Counters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441FEE-3478-3F1C-BA36-10D9802AC86F}"/>
              </a:ext>
            </a:extLst>
          </p:cNvPr>
          <p:cNvSpPr txBox="1"/>
          <p:nvPr/>
        </p:nvSpPr>
        <p:spPr>
          <a:xfrm>
            <a:off x="5969000" y="1809642"/>
            <a:ext cx="2616200" cy="228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FFFFFF"/>
                </a:solidFill>
                <a:latin typeface="Times New Roman" panose="02020603050405020304" pitchFamily="18" charset="0"/>
              </a:rPr>
              <a:t>word position in the 4-word TLP · device entries written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5550E40-A686-DD6D-ADCE-EFD06CF516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14" t="3457" r="13977" b="17408"/>
          <a:stretch>
            <a:fillRect/>
          </a:stretch>
        </p:blipFill>
        <p:spPr>
          <a:xfrm>
            <a:off x="161413" y="838200"/>
            <a:ext cx="5578987" cy="387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31256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31310E-652F-DFB0-6477-D4F54687FDCF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Data Path to Storage: One Payload Word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4C4D0E-671A-B82D-C71F-A7231BF44482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3A366D-2265-52CC-ACE1-AB892750E51C}"/>
              </a:ext>
            </a:extLst>
          </p:cNvPr>
          <p:cNvSpPr/>
          <p:nvPr/>
        </p:nvSpPr>
        <p:spPr>
          <a:xfrm>
            <a:off x="279400" y="1498600"/>
            <a:ext cx="17780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FFFFFF"/>
                </a:solidFill>
                <a:latin typeface="Times New Roman" panose="02020603050405020304" pitchFamily="18" charset="0"/>
              </a:rPr>
              <a:t>Payload word</a:t>
            </a:r>
          </a:p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0x0200_A5A5</a:t>
            </a:r>
          </a:p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ADDR 0x02 · DATA 0xA5A5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9C8F8D-9158-6B02-3D01-65C4943EBDC9}"/>
              </a:ext>
            </a:extLst>
          </p:cNvPr>
          <p:cNvSpPr/>
          <p:nvPr/>
        </p:nvSpPr>
        <p:spPr>
          <a:xfrm>
            <a:off x="2540000" y="1066800"/>
            <a:ext cx="1905000" cy="609600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FFFFFF"/>
                </a:solidFill>
                <a:latin typeface="Times New Roman" panose="02020603050405020304" pitchFamily="18" charset="0"/>
              </a:rPr>
              <a:t>ATU</a:t>
            </a:r>
          </a:p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0x10 + 0x02 = 0x12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AF15F2-171D-8863-BA33-0BB1411BA573}"/>
              </a:ext>
            </a:extLst>
          </p:cNvPr>
          <p:cNvSpPr/>
          <p:nvPr/>
        </p:nvSpPr>
        <p:spPr>
          <a:xfrm>
            <a:off x="2540000" y="2006600"/>
            <a:ext cx="1905000" cy="787400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FFFFFF"/>
                </a:solidFill>
                <a:latin typeface="Times New Roman" panose="02020603050405020304" pitchFamily="18" charset="0"/>
              </a:rPr>
              <a:t>Encryption</a:t>
            </a:r>
          </a:p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8 ones / 8 zeros → balanced</a:t>
            </a:r>
          </a:p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0xA5A5 → 0x9966_9966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EB83B8-72C9-B66A-2199-6084FBFCA898}"/>
              </a:ext>
            </a:extLst>
          </p:cNvPr>
          <p:cNvSpPr/>
          <p:nvPr/>
        </p:nvSpPr>
        <p:spPr>
          <a:xfrm>
            <a:off x="4826000" y="2082800"/>
            <a:ext cx="1651000" cy="635000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FFFFFF"/>
                </a:solidFill>
                <a:latin typeface="Times New Roman" panose="02020603050405020304" pitchFamily="18" charset="0"/>
              </a:rPr>
              <a:t>Parity (even)</a:t>
            </a:r>
          </a:p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16 ones → bit 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BBD934-A6FD-13C0-9A5C-524A332FC51B}"/>
              </a:ext>
            </a:extLst>
          </p:cNvPr>
          <p:cNvSpPr/>
          <p:nvPr/>
        </p:nvSpPr>
        <p:spPr>
          <a:xfrm>
            <a:off x="6959600" y="1397000"/>
            <a:ext cx="1905000" cy="91440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de-DE" sz="1050" b="1">
                <a:solidFill>
                  <a:srgbClr val="FFFFFF"/>
                </a:solidFill>
                <a:latin typeface="Times New Roman" panose="02020603050405020304" pitchFamily="18" charset="0"/>
              </a:rPr>
              <a:t>CDM[0x12]</a:t>
            </a:r>
          </a:p>
          <a:p>
            <a:pPr algn="ctr">
              <a:spcAft>
                <a:spcPts val="200"/>
              </a:spcAft>
            </a:pPr>
            <a:r>
              <a:rPr lang="de-DE" sz="1050">
                <a:solidFill>
                  <a:srgbClr val="FFFFFF"/>
                </a:solidFill>
                <a:latin typeface="Times New Roman" panose="02020603050405020304" pitchFamily="18" charset="0"/>
              </a:rPr>
              <a:t>0_9966_9966</a:t>
            </a:r>
          </a:p>
          <a:p>
            <a:pPr algn="ctr">
              <a:spcAft>
                <a:spcPts val="200"/>
              </a:spcAft>
            </a:pPr>
            <a:r>
              <a:rPr lang="de-DE" sz="1050">
                <a:solidFill>
                  <a:srgbClr val="FFFFFF"/>
                </a:solidFill>
                <a:latin typeface="Times New Roman" panose="02020603050405020304" pitchFamily="18" charset="0"/>
              </a:rPr>
              <a:t>33 bits</a:t>
            </a:r>
            <a:endParaRPr lang="en-US" sz="10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135B26-0829-4EDE-9874-B32E3517627F}"/>
              </a:ext>
            </a:extLst>
          </p:cNvPr>
          <p:cNvCxnSpPr/>
          <p:nvPr/>
        </p:nvCxnSpPr>
        <p:spPr>
          <a:xfrm flipV="1">
            <a:off x="2057400" y="1371600"/>
            <a:ext cx="482600" cy="40640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7913E2-1170-BC10-FF96-886B90FB36D2}"/>
              </a:ext>
            </a:extLst>
          </p:cNvPr>
          <p:cNvCxnSpPr/>
          <p:nvPr/>
        </p:nvCxnSpPr>
        <p:spPr>
          <a:xfrm>
            <a:off x="2057400" y="2133600"/>
            <a:ext cx="482600" cy="26670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E237F6-1A19-5F30-7163-B1E5342FB9BD}"/>
              </a:ext>
            </a:extLst>
          </p:cNvPr>
          <p:cNvCxnSpPr/>
          <p:nvPr/>
        </p:nvCxnSpPr>
        <p:spPr>
          <a:xfrm>
            <a:off x="4445000" y="1371600"/>
            <a:ext cx="2514600" cy="30480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129C3-C7B4-D69C-2091-523E4F0C4E5D}"/>
              </a:ext>
            </a:extLst>
          </p:cNvPr>
          <p:cNvCxnSpPr/>
          <p:nvPr/>
        </p:nvCxnSpPr>
        <p:spPr>
          <a:xfrm>
            <a:off x="4445000" y="2400300"/>
            <a:ext cx="3810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D852EAD-5337-B55F-718A-91E02F97EF60}"/>
              </a:ext>
            </a:extLst>
          </p:cNvPr>
          <p:cNvCxnSpPr/>
          <p:nvPr/>
        </p:nvCxnSpPr>
        <p:spPr>
          <a:xfrm flipV="1">
            <a:off x="6477000" y="2095500"/>
            <a:ext cx="482600" cy="30480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4218759-A8B3-2CFA-7FF3-A39655EF27B5}"/>
              </a:ext>
            </a:extLst>
          </p:cNvPr>
          <p:cNvSpPr txBox="1"/>
          <p:nvPr/>
        </p:nvSpPr>
        <p:spPr>
          <a:xfrm>
            <a:off x="279400" y="2895600"/>
            <a:ext cx="8585200" cy="20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950" i="1">
                <a:solidFill>
                  <a:srgbClr val="3C3939"/>
                </a:solidFill>
                <a:latin typeface="Times New Roman" panose="02020603050405020304" pitchFamily="18" charset="0"/>
              </a:rPr>
              <a:t>Example setup: base address 0x10 from configuration · ENC_MODE 0000 · PARITY_MODE even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A0A931-0FD2-DC57-88FA-23052BEDDD6E}"/>
              </a:ext>
            </a:extLst>
          </p:cNvPr>
          <p:cNvSpPr/>
          <p:nvPr/>
        </p:nvSpPr>
        <p:spPr>
          <a:xfrm>
            <a:off x="279400" y="3200400"/>
            <a:ext cx="1016000" cy="508000"/>
          </a:xfrm>
          <a:prstGeom prst="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FFFFFF"/>
                </a:solidFill>
                <a:latin typeface="Times New Roman" panose="02020603050405020304" pitchFamily="18" charset="0"/>
              </a:rPr>
              <a:t>0x00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423692-7D3A-91BE-23E5-34655E99ED27}"/>
              </a:ext>
            </a:extLst>
          </p:cNvPr>
          <p:cNvSpPr/>
          <p:nvPr/>
        </p:nvSpPr>
        <p:spPr>
          <a:xfrm>
            <a:off x="1320800" y="3200400"/>
            <a:ext cx="22860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Global config register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1737E9-4D96-BA87-8F7F-A0AEFDBB9FBC}"/>
              </a:ext>
            </a:extLst>
          </p:cNvPr>
          <p:cNvSpPr/>
          <p:nvPr/>
        </p:nvSpPr>
        <p:spPr>
          <a:xfrm>
            <a:off x="279400" y="3771900"/>
            <a:ext cx="1016000" cy="508000"/>
          </a:xfrm>
          <a:prstGeom prst="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FFFFFF"/>
                </a:solidFill>
                <a:latin typeface="Times New Roman" panose="02020603050405020304" pitchFamily="18" charset="0"/>
              </a:rPr>
              <a:t>0x01 +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9FD69A-0BAE-6445-18F6-BBBE2BEE37C8}"/>
              </a:ext>
            </a:extLst>
          </p:cNvPr>
          <p:cNvSpPr/>
          <p:nvPr/>
        </p:nvSpPr>
        <p:spPr>
          <a:xfrm>
            <a:off x="1320800" y="3771900"/>
            <a:ext cx="22860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Device table {END, START}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E68389-6078-267B-36A7-5EC40AB7621A}"/>
              </a:ext>
            </a:extLst>
          </p:cNvPr>
          <p:cNvSpPr/>
          <p:nvPr/>
        </p:nvSpPr>
        <p:spPr>
          <a:xfrm>
            <a:off x="279400" y="4343400"/>
            <a:ext cx="1016000" cy="508000"/>
          </a:xfrm>
          <a:prstGeom prst="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>
                <a:solidFill>
                  <a:srgbClr val="FFFFFF"/>
                </a:solidFill>
                <a:latin typeface="Times New Roman" panose="02020603050405020304" pitchFamily="18" charset="0"/>
              </a:rPr>
              <a:t>base + ADDR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73A9A1-E18B-7016-0246-7F9BD3136350}"/>
              </a:ext>
            </a:extLst>
          </p:cNvPr>
          <p:cNvSpPr/>
          <p:nvPr/>
        </p:nvSpPr>
        <p:spPr>
          <a:xfrm>
            <a:off x="1320800" y="4343400"/>
            <a:ext cx="2286000" cy="50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Payload: encrypted + parity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DD6369C-4A8D-1977-50D2-EB72B19FF3B8}"/>
              </a:ext>
            </a:extLst>
          </p:cNvPr>
          <p:cNvSpPr/>
          <p:nvPr/>
        </p:nvSpPr>
        <p:spPr>
          <a:xfrm>
            <a:off x="3810000" y="3200400"/>
            <a:ext cx="5080000" cy="1651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E28E89-E666-EAC8-7527-783D414775B5}"/>
              </a:ext>
            </a:extLst>
          </p:cNvPr>
          <p:cNvSpPr txBox="1"/>
          <p:nvPr/>
        </p:nvSpPr>
        <p:spPr>
          <a:xfrm>
            <a:off x="3962400" y="3302000"/>
            <a:ext cx="47752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FFFFFF"/>
                </a:solidFill>
                <a:latin typeface="Cambria" panose="02040503050406030204" pitchFamily="18" charset="0"/>
              </a:rPr>
              <a:t>CDM &amp; ATU rules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70D601-76C2-3E68-B725-7620ABF6ECD4}"/>
              </a:ext>
            </a:extLst>
          </p:cNvPr>
          <p:cNvSpPr txBox="1"/>
          <p:nvPr/>
        </p:nvSpPr>
        <p:spPr>
          <a:xfrm>
            <a:off x="3962400" y="3606800"/>
            <a:ext cx="4775200" cy="1168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256 × 33-bit memory, 8-bit address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Configuration words bypass encryption (direct write)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Reset clears only the configuration region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ATU captures the base address during configuration writes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Read port reserved for application access</a:t>
            </a:r>
          </a:p>
        </p:txBody>
      </p:sp>
    </p:spTree>
    <p:extLst>
      <p:ext uri="{BB962C8B-B14F-4D97-AF65-F5344CB8AC3E}">
        <p14:creationId xmlns:p14="http://schemas.microsoft.com/office/powerpoint/2010/main" val="3583650772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4D1442-7BD0-3CED-45ED-F97F77D776D3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CDC Implementation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FBE26B-B503-4B4B-27C5-F8F2B21DB81E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DAB0BD-3383-59EC-E586-0B14416210FA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67F23A-EED2-16B2-6B25-744B0C1C8194}"/>
              </a:ext>
            </a:extLst>
          </p:cNvPr>
          <p:cNvSpPr/>
          <p:nvPr/>
        </p:nvSpPr>
        <p:spPr>
          <a:xfrm>
            <a:off x="254000" y="1066800"/>
            <a:ext cx="43180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F5F3B1-E22B-FED5-0DAA-A02CB118A292}"/>
              </a:ext>
            </a:extLst>
          </p:cNvPr>
          <p:cNvSpPr txBox="1"/>
          <p:nvPr/>
        </p:nvSpPr>
        <p:spPr>
          <a:xfrm>
            <a:off x="406400" y="1168400"/>
            <a:ext cx="40640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1E2761"/>
                </a:solidFill>
                <a:latin typeface="Cambria" panose="02040503050406030204" pitchFamily="18" charset="0"/>
              </a:rPr>
              <a:t>Async FIFO · data, CXS → SYS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93DC05-04B6-A336-9D92-952454145234}"/>
              </a:ext>
            </a:extLst>
          </p:cNvPr>
          <p:cNvSpPr/>
          <p:nvPr/>
        </p:nvSpPr>
        <p:spPr>
          <a:xfrm>
            <a:off x="406400" y="1549400"/>
            <a:ext cx="1244600" cy="762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Write side</a:t>
            </a:r>
          </a:p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FFFFFF"/>
                </a:solidFill>
                <a:latin typeface="Times New Roman" panose="02020603050405020304" pitchFamily="18" charset="0"/>
              </a:rPr>
              <a:t>CLK_CXS</a:t>
            </a:r>
          </a:p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FFFFFF"/>
                </a:solidFill>
                <a:latin typeface="Times New Roman" panose="02020603050405020304" pitchFamily="18" charset="0"/>
              </a:rPr>
              <a:t>binary → Gray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0FDC7D-1489-300F-E50B-018AF0822FAA}"/>
              </a:ext>
            </a:extLst>
          </p:cNvPr>
          <p:cNvSpPr/>
          <p:nvPr/>
        </p:nvSpPr>
        <p:spPr>
          <a:xfrm>
            <a:off x="1803400" y="1549400"/>
            <a:ext cx="965200" cy="7620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1E2761"/>
                </a:solidFill>
                <a:latin typeface="Times New Roman" panose="02020603050405020304" pitchFamily="18" charset="0"/>
              </a:rPr>
              <a:t>Memory</a:t>
            </a:r>
          </a:p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1E2761"/>
                </a:solidFill>
                <a:latin typeface="Times New Roman" panose="02020603050405020304" pitchFamily="18" charset="0"/>
              </a:rPr>
              <a:t>8 × 32 bits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73CE60-43F8-C973-0037-7099CE2AED19}"/>
              </a:ext>
            </a:extLst>
          </p:cNvPr>
          <p:cNvSpPr/>
          <p:nvPr/>
        </p:nvSpPr>
        <p:spPr>
          <a:xfrm>
            <a:off x="2921000" y="1549400"/>
            <a:ext cx="1498600" cy="762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Read side</a:t>
            </a:r>
          </a:p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FFFFFF"/>
                </a:solidFill>
                <a:latin typeface="Times New Roman" panose="02020603050405020304" pitchFamily="18" charset="0"/>
              </a:rPr>
              <a:t>CLK_SYS</a:t>
            </a:r>
          </a:p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FFFFFF"/>
                </a:solidFill>
                <a:latin typeface="Times New Roman" panose="02020603050405020304" pitchFamily="18" charset="0"/>
              </a:rPr>
              <a:t>binary → Gray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156398-EB15-1AB5-43FE-F4A0AF0280A6}"/>
              </a:ext>
            </a:extLst>
          </p:cNvPr>
          <p:cNvSpPr/>
          <p:nvPr/>
        </p:nvSpPr>
        <p:spPr>
          <a:xfrm>
            <a:off x="1803400" y="2489200"/>
            <a:ext cx="965200" cy="27940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FFFFFF"/>
                </a:solidFill>
                <a:latin typeface="Times New Roman" panose="02020603050405020304" pitchFamily="18" charset="0"/>
              </a:rPr>
              <a:t>2-FF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399190-F60B-806E-85E1-639BBF7C3398}"/>
              </a:ext>
            </a:extLst>
          </p:cNvPr>
          <p:cNvSpPr/>
          <p:nvPr/>
        </p:nvSpPr>
        <p:spPr>
          <a:xfrm>
            <a:off x="1803400" y="2870200"/>
            <a:ext cx="965200" cy="27940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FFFFFF"/>
                </a:solidFill>
                <a:latin typeface="Times New Roman" panose="02020603050405020304" pitchFamily="18" charset="0"/>
              </a:rPr>
              <a:t>2-FF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F49C73-DE60-A075-238E-06C5DBE76767}"/>
              </a:ext>
            </a:extLst>
          </p:cNvPr>
          <p:cNvCxnSpPr/>
          <p:nvPr/>
        </p:nvCxnSpPr>
        <p:spPr>
          <a:xfrm>
            <a:off x="1651000" y="1930400"/>
            <a:ext cx="1524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AFF0DA-3028-67F4-ED9E-ADF1BDF90965}"/>
              </a:ext>
            </a:extLst>
          </p:cNvPr>
          <p:cNvCxnSpPr/>
          <p:nvPr/>
        </p:nvCxnSpPr>
        <p:spPr>
          <a:xfrm>
            <a:off x="2768600" y="1930400"/>
            <a:ext cx="1524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74C014-D2DF-F1C9-FC91-988FA0D62CD0}"/>
              </a:ext>
            </a:extLst>
          </p:cNvPr>
          <p:cNvCxnSpPr/>
          <p:nvPr/>
        </p:nvCxnSpPr>
        <p:spPr>
          <a:xfrm>
            <a:off x="1016000" y="2311400"/>
            <a:ext cx="0" cy="317500"/>
          </a:xfrm>
          <a:prstGeom prst="straightConnector1">
            <a:avLst/>
          </a:prstGeom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F203C8-9015-43A9-4DC0-7AFFADDA1A1E}"/>
              </a:ext>
            </a:extLst>
          </p:cNvPr>
          <p:cNvCxnSpPr/>
          <p:nvPr/>
        </p:nvCxnSpPr>
        <p:spPr>
          <a:xfrm>
            <a:off x="1016000" y="2628900"/>
            <a:ext cx="7874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17AA9A-4AC4-56AE-879D-7E64586A732A}"/>
              </a:ext>
            </a:extLst>
          </p:cNvPr>
          <p:cNvCxnSpPr/>
          <p:nvPr/>
        </p:nvCxnSpPr>
        <p:spPr>
          <a:xfrm>
            <a:off x="2768600" y="2628900"/>
            <a:ext cx="914400" cy="0"/>
          </a:xfrm>
          <a:prstGeom prst="straightConnector1">
            <a:avLst/>
          </a:prstGeom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FF48AB1-95CB-EA68-0755-0C71B907A946}"/>
              </a:ext>
            </a:extLst>
          </p:cNvPr>
          <p:cNvCxnSpPr/>
          <p:nvPr/>
        </p:nvCxnSpPr>
        <p:spPr>
          <a:xfrm flipV="1">
            <a:off x="3683000" y="2311400"/>
            <a:ext cx="0" cy="31750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429388-A2EE-9854-5A53-D0575E7DD413}"/>
              </a:ext>
            </a:extLst>
          </p:cNvPr>
          <p:cNvCxnSpPr/>
          <p:nvPr/>
        </p:nvCxnSpPr>
        <p:spPr>
          <a:xfrm>
            <a:off x="3937000" y="2311400"/>
            <a:ext cx="0" cy="698500"/>
          </a:xfrm>
          <a:prstGeom prst="straightConnector1">
            <a:avLst/>
          </a:prstGeom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21F5DE6-D1BB-A967-98FC-5CB65E17C80D}"/>
              </a:ext>
            </a:extLst>
          </p:cNvPr>
          <p:cNvCxnSpPr/>
          <p:nvPr/>
        </p:nvCxnSpPr>
        <p:spPr>
          <a:xfrm flipH="1">
            <a:off x="2768600" y="3009900"/>
            <a:ext cx="1168400" cy="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9EA94E1-5DB4-4EC8-97C6-7936248048B0}"/>
              </a:ext>
            </a:extLst>
          </p:cNvPr>
          <p:cNvCxnSpPr/>
          <p:nvPr/>
        </p:nvCxnSpPr>
        <p:spPr>
          <a:xfrm flipH="1">
            <a:off x="736600" y="3009900"/>
            <a:ext cx="1066800" cy="0"/>
          </a:xfrm>
          <a:prstGeom prst="straightConnector1">
            <a:avLst/>
          </a:prstGeom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E4A1DC9-0F45-5186-4885-FAB8F7E3FA8A}"/>
              </a:ext>
            </a:extLst>
          </p:cNvPr>
          <p:cNvCxnSpPr/>
          <p:nvPr/>
        </p:nvCxnSpPr>
        <p:spPr>
          <a:xfrm flipV="1">
            <a:off x="736600" y="2311400"/>
            <a:ext cx="0" cy="698500"/>
          </a:xfrm>
          <a:prstGeom prst="straightConnector1">
            <a:avLst/>
          </a:prstGeom>
          <a:ln w="19050">
            <a:solidFill>
              <a:srgbClr val="1E27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F544E5A-2888-A078-A8BB-BA04B0427B4D}"/>
              </a:ext>
            </a:extLst>
          </p:cNvPr>
          <p:cNvSpPr txBox="1"/>
          <p:nvPr/>
        </p:nvSpPr>
        <p:spPr>
          <a:xfrm>
            <a:off x="1066800" y="2413000"/>
            <a:ext cx="711200" cy="17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g_wptr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D28DF2-01BC-43D8-CD5E-C0CB094CCF7B}"/>
              </a:ext>
            </a:extLst>
          </p:cNvPr>
          <p:cNvSpPr txBox="1"/>
          <p:nvPr/>
        </p:nvSpPr>
        <p:spPr>
          <a:xfrm>
            <a:off x="2997200" y="3035300"/>
            <a:ext cx="889000" cy="17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800">
                <a:solidFill>
                  <a:srgbClr val="3C3939"/>
                </a:solidFill>
                <a:latin typeface="Times New Roman" panose="02020603050405020304" pitchFamily="18" charset="0"/>
              </a:rPr>
              <a:t>g_rptr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E2D63F-7A23-8044-80C6-1D6F584C4C51}"/>
              </a:ext>
            </a:extLst>
          </p:cNvPr>
          <p:cNvSpPr txBox="1"/>
          <p:nvPr/>
        </p:nvSpPr>
        <p:spPr>
          <a:xfrm>
            <a:off x="406400" y="3327400"/>
            <a:ext cx="4013200" cy="1473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Full: next Gray write pointer vs synchronized read pointer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Empty: synchronized write pointer vs next read pointer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Depth 8, 32-bit TLP words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Read-through: the Control Unit peeks before popping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ACFAAF4-1FE8-C883-71B9-A0E45561DB2F}"/>
              </a:ext>
            </a:extLst>
          </p:cNvPr>
          <p:cNvSpPr/>
          <p:nvPr/>
        </p:nvSpPr>
        <p:spPr>
          <a:xfrm>
            <a:off x="4699000" y="1066800"/>
            <a:ext cx="4191000" cy="38100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9F3AA5-6228-CC27-2E5F-14E3F238C725}"/>
              </a:ext>
            </a:extLst>
          </p:cNvPr>
          <p:cNvSpPr txBox="1"/>
          <p:nvPr/>
        </p:nvSpPr>
        <p:spPr>
          <a:xfrm>
            <a:off x="4851400" y="1168400"/>
            <a:ext cx="39370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FFFFFF"/>
                </a:solidFill>
                <a:latin typeface="Cambria" panose="02040503050406030204" pitchFamily="18" charset="0"/>
              </a:rPr>
              <a:t>Toggle sync · error, SYS → CXS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219C358-85EA-593B-1FC4-05E9F4E63620}"/>
              </a:ext>
            </a:extLst>
          </p:cNvPr>
          <p:cNvSpPr/>
          <p:nvPr/>
        </p:nvSpPr>
        <p:spPr>
          <a:xfrm>
            <a:off x="4851400" y="1574800"/>
            <a:ext cx="889000" cy="381000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FFFFFF"/>
                </a:solidFill>
                <a:latin typeface="Times New Roman" panose="02020603050405020304" pitchFamily="18" charset="0"/>
              </a:rPr>
              <a:t>error_valid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B74AFE7-CABC-D55B-12E2-F5A3F75E5561}"/>
              </a:ext>
            </a:extLst>
          </p:cNvPr>
          <p:cNvSpPr/>
          <p:nvPr/>
        </p:nvSpPr>
        <p:spPr>
          <a:xfrm>
            <a:off x="5867400" y="1574800"/>
            <a:ext cx="660400" cy="381000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FFFFFF"/>
                </a:solidFill>
                <a:latin typeface="Times New Roman" panose="02020603050405020304" pitchFamily="18" charset="0"/>
              </a:rPr>
              <a:t>T flop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A9BD269-FD69-6690-3798-5EBFC9FF3767}"/>
              </a:ext>
            </a:extLst>
          </p:cNvPr>
          <p:cNvCxnSpPr/>
          <p:nvPr/>
        </p:nvCxnSpPr>
        <p:spPr>
          <a:xfrm>
            <a:off x="5740400" y="1765300"/>
            <a:ext cx="127000" cy="0"/>
          </a:xfrm>
          <a:prstGeom prst="straightConnector1">
            <a:avLst/>
          </a:prstGeom>
          <a:ln w="15875">
            <a:solidFill>
              <a:srgbClr val="CAD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5F95ADE-8EB9-65B1-2349-9E396E34CC5B}"/>
              </a:ext>
            </a:extLst>
          </p:cNvPr>
          <p:cNvSpPr/>
          <p:nvPr/>
        </p:nvSpPr>
        <p:spPr>
          <a:xfrm>
            <a:off x="6654800" y="1574800"/>
            <a:ext cx="508000" cy="38100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FFFFFF"/>
                </a:solidFill>
                <a:latin typeface="Times New Roman" panose="02020603050405020304" pitchFamily="18" charset="0"/>
              </a:rPr>
              <a:t>FF1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4816EB1-AD16-D7E7-1733-390A49DC7C8E}"/>
              </a:ext>
            </a:extLst>
          </p:cNvPr>
          <p:cNvCxnSpPr/>
          <p:nvPr/>
        </p:nvCxnSpPr>
        <p:spPr>
          <a:xfrm>
            <a:off x="6527800" y="1765300"/>
            <a:ext cx="127000" cy="0"/>
          </a:xfrm>
          <a:prstGeom prst="straightConnector1">
            <a:avLst/>
          </a:prstGeom>
          <a:ln w="15875">
            <a:solidFill>
              <a:srgbClr val="CAD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710E849-F997-ECA8-572C-28BE6C637AC5}"/>
              </a:ext>
            </a:extLst>
          </p:cNvPr>
          <p:cNvSpPr/>
          <p:nvPr/>
        </p:nvSpPr>
        <p:spPr>
          <a:xfrm>
            <a:off x="7289800" y="1574800"/>
            <a:ext cx="508000" cy="38100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FFFFFF"/>
                </a:solidFill>
                <a:latin typeface="Times New Roman" panose="02020603050405020304" pitchFamily="18" charset="0"/>
              </a:rPr>
              <a:t>FF2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400E391-2BAE-3EBB-1ED7-6282F604377A}"/>
              </a:ext>
            </a:extLst>
          </p:cNvPr>
          <p:cNvCxnSpPr/>
          <p:nvPr/>
        </p:nvCxnSpPr>
        <p:spPr>
          <a:xfrm>
            <a:off x="7162800" y="1765300"/>
            <a:ext cx="127000" cy="0"/>
          </a:xfrm>
          <a:prstGeom prst="straightConnector1">
            <a:avLst/>
          </a:prstGeom>
          <a:ln w="15875">
            <a:solidFill>
              <a:srgbClr val="CAD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3683BA9-9C18-1B04-D52A-FEFF4A166BFB}"/>
              </a:ext>
            </a:extLst>
          </p:cNvPr>
          <p:cNvSpPr/>
          <p:nvPr/>
        </p:nvSpPr>
        <p:spPr>
          <a:xfrm>
            <a:off x="7924800" y="1574800"/>
            <a:ext cx="838200" cy="381000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FFFFFF"/>
                </a:solidFill>
                <a:latin typeface="Times New Roman" panose="02020603050405020304" pitchFamily="18" charset="0"/>
              </a:rPr>
              <a:t>XOR + dly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6B92466-B279-1E1F-80A1-230BBEFDEC34}"/>
              </a:ext>
            </a:extLst>
          </p:cNvPr>
          <p:cNvCxnSpPr/>
          <p:nvPr/>
        </p:nvCxnSpPr>
        <p:spPr>
          <a:xfrm>
            <a:off x="7797800" y="1765300"/>
            <a:ext cx="127000" cy="0"/>
          </a:xfrm>
          <a:prstGeom prst="straightConnector1">
            <a:avLst/>
          </a:prstGeom>
          <a:ln w="15875">
            <a:solidFill>
              <a:srgbClr val="CADCF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06A2850-4328-58B0-2F74-9D854620D1D3}"/>
              </a:ext>
            </a:extLst>
          </p:cNvPr>
          <p:cNvSpPr txBox="1"/>
          <p:nvPr/>
        </p:nvSpPr>
        <p:spPr>
          <a:xfrm>
            <a:off x="4851400" y="2006600"/>
            <a:ext cx="1676400" cy="17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CADCFC"/>
                </a:solidFill>
                <a:latin typeface="Times New Roman" panose="02020603050405020304" pitchFamily="18" charset="0"/>
              </a:rPr>
              <a:t>CLK_SYS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D0B21E-120F-6068-9C8A-2AFEFA1EBE62}"/>
              </a:ext>
            </a:extLst>
          </p:cNvPr>
          <p:cNvSpPr txBox="1"/>
          <p:nvPr/>
        </p:nvSpPr>
        <p:spPr>
          <a:xfrm>
            <a:off x="6654800" y="2006600"/>
            <a:ext cx="2108200" cy="177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00" b="1">
                <a:solidFill>
                  <a:srgbClr val="00C2A8"/>
                </a:solidFill>
                <a:latin typeface="Times New Roman" panose="02020603050405020304" pitchFamily="18" charset="0"/>
              </a:rPr>
              <a:t>CLK_CXS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A95CDB-A199-F4ED-8E39-D7B5B5A7E1FC}"/>
              </a:ext>
            </a:extLst>
          </p:cNvPr>
          <p:cNvSpPr txBox="1"/>
          <p:nvPr/>
        </p:nvSpPr>
        <p:spPr>
          <a:xfrm>
            <a:off x="4826000" y="2336800"/>
            <a:ext cx="1244600" cy="228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900">
                <a:solidFill>
                  <a:srgbClr val="FFFFFF"/>
                </a:solidFill>
                <a:latin typeface="Times New Roman" panose="02020603050405020304" pitchFamily="18" charset="0"/>
              </a:rPr>
              <a:t>error_valid (SYS)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7CF6DC1-4AFA-4E9F-3D2F-9E5C68FE62CC}"/>
              </a:ext>
            </a:extLst>
          </p:cNvPr>
          <p:cNvCxnSpPr/>
          <p:nvPr/>
        </p:nvCxnSpPr>
        <p:spPr>
          <a:xfrm>
            <a:off x="6121400" y="2540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0EDC03B-C5FE-DEC7-C6A7-E6A44729DCD7}"/>
              </a:ext>
            </a:extLst>
          </p:cNvPr>
          <p:cNvCxnSpPr/>
          <p:nvPr/>
        </p:nvCxnSpPr>
        <p:spPr>
          <a:xfrm>
            <a:off x="6451600" y="23622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3669300-6E94-F2DD-00F0-61155613A010}"/>
              </a:ext>
            </a:extLst>
          </p:cNvPr>
          <p:cNvCxnSpPr/>
          <p:nvPr/>
        </p:nvCxnSpPr>
        <p:spPr>
          <a:xfrm>
            <a:off x="6451600" y="2362200"/>
            <a:ext cx="0" cy="17780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23AAD1C-9F41-2E45-DF24-771E713C0EE5}"/>
              </a:ext>
            </a:extLst>
          </p:cNvPr>
          <p:cNvCxnSpPr/>
          <p:nvPr/>
        </p:nvCxnSpPr>
        <p:spPr>
          <a:xfrm>
            <a:off x="6781800" y="2540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DD606C8-6734-0E31-DBFF-C29E3D11E402}"/>
              </a:ext>
            </a:extLst>
          </p:cNvPr>
          <p:cNvCxnSpPr/>
          <p:nvPr/>
        </p:nvCxnSpPr>
        <p:spPr>
          <a:xfrm>
            <a:off x="6781800" y="2362200"/>
            <a:ext cx="0" cy="17780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E3F049F-E527-AA3B-39CB-560C0CAE207A}"/>
              </a:ext>
            </a:extLst>
          </p:cNvPr>
          <p:cNvCxnSpPr/>
          <p:nvPr/>
        </p:nvCxnSpPr>
        <p:spPr>
          <a:xfrm>
            <a:off x="7112000" y="2540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5A81F53-A350-DA4D-F34A-072980FC2E37}"/>
              </a:ext>
            </a:extLst>
          </p:cNvPr>
          <p:cNvCxnSpPr/>
          <p:nvPr/>
        </p:nvCxnSpPr>
        <p:spPr>
          <a:xfrm>
            <a:off x="7442200" y="2540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D2BBAE-5110-9137-E3BB-35D57969E5A4}"/>
              </a:ext>
            </a:extLst>
          </p:cNvPr>
          <p:cNvCxnSpPr/>
          <p:nvPr/>
        </p:nvCxnSpPr>
        <p:spPr>
          <a:xfrm>
            <a:off x="7772400" y="2540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F775DFB-FC3C-B2E6-E21C-EC46D8846DB0}"/>
              </a:ext>
            </a:extLst>
          </p:cNvPr>
          <p:cNvCxnSpPr/>
          <p:nvPr/>
        </p:nvCxnSpPr>
        <p:spPr>
          <a:xfrm>
            <a:off x="8102600" y="2540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BE40C85-9E98-F428-8F7F-2C6F57E2DF4C}"/>
              </a:ext>
            </a:extLst>
          </p:cNvPr>
          <p:cNvCxnSpPr/>
          <p:nvPr/>
        </p:nvCxnSpPr>
        <p:spPr>
          <a:xfrm>
            <a:off x="8432800" y="2540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02ACEE6-BA94-2498-050A-46A6DE3D8DC0}"/>
              </a:ext>
            </a:extLst>
          </p:cNvPr>
          <p:cNvSpPr txBox="1"/>
          <p:nvPr/>
        </p:nvSpPr>
        <p:spPr>
          <a:xfrm>
            <a:off x="4826000" y="2717800"/>
            <a:ext cx="1244600" cy="228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900">
                <a:solidFill>
                  <a:srgbClr val="FFFFFF"/>
                </a:solidFill>
                <a:latin typeface="Times New Roman" panose="02020603050405020304" pitchFamily="18" charset="0"/>
              </a:rPr>
              <a:t>toggle (SYS)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DA30DCD-B773-7D36-8DA6-196996E2D569}"/>
              </a:ext>
            </a:extLst>
          </p:cNvPr>
          <p:cNvCxnSpPr/>
          <p:nvPr/>
        </p:nvCxnSpPr>
        <p:spPr>
          <a:xfrm>
            <a:off x="6121400" y="2921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74D93BA-4D53-9741-8557-477B4058F2A7}"/>
              </a:ext>
            </a:extLst>
          </p:cNvPr>
          <p:cNvCxnSpPr/>
          <p:nvPr/>
        </p:nvCxnSpPr>
        <p:spPr>
          <a:xfrm>
            <a:off x="6451600" y="27432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F59F5A-7E8B-2A85-5E22-95EB298474D4}"/>
              </a:ext>
            </a:extLst>
          </p:cNvPr>
          <p:cNvCxnSpPr/>
          <p:nvPr/>
        </p:nvCxnSpPr>
        <p:spPr>
          <a:xfrm>
            <a:off x="6451600" y="2743200"/>
            <a:ext cx="0" cy="17780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06F8BC7-8449-8609-C847-C4F90DA06D42}"/>
              </a:ext>
            </a:extLst>
          </p:cNvPr>
          <p:cNvCxnSpPr/>
          <p:nvPr/>
        </p:nvCxnSpPr>
        <p:spPr>
          <a:xfrm>
            <a:off x="6781800" y="27432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92185D0-4E03-B316-C6F9-DC234FAB3990}"/>
              </a:ext>
            </a:extLst>
          </p:cNvPr>
          <p:cNvCxnSpPr/>
          <p:nvPr/>
        </p:nvCxnSpPr>
        <p:spPr>
          <a:xfrm>
            <a:off x="7112000" y="27432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28DBC71-4E30-D2C8-934A-F7D8BFC6A56F}"/>
              </a:ext>
            </a:extLst>
          </p:cNvPr>
          <p:cNvCxnSpPr/>
          <p:nvPr/>
        </p:nvCxnSpPr>
        <p:spPr>
          <a:xfrm>
            <a:off x="7442200" y="27432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621A830-3878-B6DF-C0FB-3BB53184BCDB}"/>
              </a:ext>
            </a:extLst>
          </p:cNvPr>
          <p:cNvCxnSpPr/>
          <p:nvPr/>
        </p:nvCxnSpPr>
        <p:spPr>
          <a:xfrm>
            <a:off x="7772400" y="27432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DAFFF7B-554F-3137-F82A-1B7EC6A4BD66}"/>
              </a:ext>
            </a:extLst>
          </p:cNvPr>
          <p:cNvCxnSpPr/>
          <p:nvPr/>
        </p:nvCxnSpPr>
        <p:spPr>
          <a:xfrm>
            <a:off x="8102600" y="27432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7C45398-2078-DCF9-7DFB-0E08E5C80D0D}"/>
              </a:ext>
            </a:extLst>
          </p:cNvPr>
          <p:cNvCxnSpPr/>
          <p:nvPr/>
        </p:nvCxnSpPr>
        <p:spPr>
          <a:xfrm>
            <a:off x="8432800" y="27432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3D8FD73-F62F-7449-0137-A1F85FBE58CE}"/>
              </a:ext>
            </a:extLst>
          </p:cNvPr>
          <p:cNvSpPr txBox="1"/>
          <p:nvPr/>
        </p:nvSpPr>
        <p:spPr>
          <a:xfrm>
            <a:off x="4826000" y="3098800"/>
            <a:ext cx="1244600" cy="228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900">
                <a:solidFill>
                  <a:srgbClr val="FFFFFF"/>
                </a:solidFill>
                <a:latin typeface="Times New Roman" panose="02020603050405020304" pitchFamily="18" charset="0"/>
              </a:rPr>
              <a:t>toggle sync (CXS)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27CB6A8-03BE-EC98-74B0-5BE98A704AC3}"/>
              </a:ext>
            </a:extLst>
          </p:cNvPr>
          <p:cNvCxnSpPr/>
          <p:nvPr/>
        </p:nvCxnSpPr>
        <p:spPr>
          <a:xfrm>
            <a:off x="6121400" y="3302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FD309A7-3476-8848-9A87-7CA6A508785A}"/>
              </a:ext>
            </a:extLst>
          </p:cNvPr>
          <p:cNvCxnSpPr/>
          <p:nvPr/>
        </p:nvCxnSpPr>
        <p:spPr>
          <a:xfrm>
            <a:off x="6451600" y="3302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1C6DFC-9721-92C0-5AE4-5D231ECDA47C}"/>
              </a:ext>
            </a:extLst>
          </p:cNvPr>
          <p:cNvCxnSpPr/>
          <p:nvPr/>
        </p:nvCxnSpPr>
        <p:spPr>
          <a:xfrm>
            <a:off x="6781800" y="3302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F73CEF2-A8D0-5D9F-DF66-7CFDE368CD27}"/>
              </a:ext>
            </a:extLst>
          </p:cNvPr>
          <p:cNvCxnSpPr/>
          <p:nvPr/>
        </p:nvCxnSpPr>
        <p:spPr>
          <a:xfrm>
            <a:off x="7112000" y="31242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EE6958D-C266-11A6-43AF-A3B7ABE2110F}"/>
              </a:ext>
            </a:extLst>
          </p:cNvPr>
          <p:cNvCxnSpPr/>
          <p:nvPr/>
        </p:nvCxnSpPr>
        <p:spPr>
          <a:xfrm>
            <a:off x="7112000" y="3124200"/>
            <a:ext cx="0" cy="17780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577FA73-9CA6-2C02-695B-B84D4638C586}"/>
              </a:ext>
            </a:extLst>
          </p:cNvPr>
          <p:cNvCxnSpPr/>
          <p:nvPr/>
        </p:nvCxnSpPr>
        <p:spPr>
          <a:xfrm>
            <a:off x="7442200" y="31242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D80372E-48CD-814E-14E2-D2A58534A601}"/>
              </a:ext>
            </a:extLst>
          </p:cNvPr>
          <p:cNvCxnSpPr/>
          <p:nvPr/>
        </p:nvCxnSpPr>
        <p:spPr>
          <a:xfrm>
            <a:off x="7772400" y="31242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426314D-55B4-84DA-62FB-AC0521CF18FF}"/>
              </a:ext>
            </a:extLst>
          </p:cNvPr>
          <p:cNvCxnSpPr/>
          <p:nvPr/>
        </p:nvCxnSpPr>
        <p:spPr>
          <a:xfrm>
            <a:off x="8102600" y="31242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75EEB9A-9726-9321-C6A4-E8AF2A895E7E}"/>
              </a:ext>
            </a:extLst>
          </p:cNvPr>
          <p:cNvCxnSpPr/>
          <p:nvPr/>
        </p:nvCxnSpPr>
        <p:spPr>
          <a:xfrm>
            <a:off x="8432800" y="31242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260BC2C-7A9C-1521-381A-5D0395B052DE}"/>
              </a:ext>
            </a:extLst>
          </p:cNvPr>
          <p:cNvSpPr txBox="1"/>
          <p:nvPr/>
        </p:nvSpPr>
        <p:spPr>
          <a:xfrm>
            <a:off x="4826000" y="3479800"/>
            <a:ext cx="1244600" cy="2286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900">
                <a:solidFill>
                  <a:srgbClr val="FFFFFF"/>
                </a:solidFill>
                <a:latin typeface="Times New Roman" panose="02020603050405020304" pitchFamily="18" charset="0"/>
              </a:rPr>
              <a:t>pulse (CXS)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AFC756A-AD6B-8855-EF7B-45CE1E47AC61}"/>
              </a:ext>
            </a:extLst>
          </p:cNvPr>
          <p:cNvCxnSpPr/>
          <p:nvPr/>
        </p:nvCxnSpPr>
        <p:spPr>
          <a:xfrm>
            <a:off x="6121400" y="3683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8D26E4D-853C-F352-96B1-D84CD3BEE95A}"/>
              </a:ext>
            </a:extLst>
          </p:cNvPr>
          <p:cNvCxnSpPr/>
          <p:nvPr/>
        </p:nvCxnSpPr>
        <p:spPr>
          <a:xfrm>
            <a:off x="6451600" y="3683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0C8795A-F416-357D-713E-B93DFA2DCB11}"/>
              </a:ext>
            </a:extLst>
          </p:cNvPr>
          <p:cNvCxnSpPr/>
          <p:nvPr/>
        </p:nvCxnSpPr>
        <p:spPr>
          <a:xfrm>
            <a:off x="6781800" y="3683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3F11403-5BBE-EE67-69D3-1D12CA3FA98E}"/>
              </a:ext>
            </a:extLst>
          </p:cNvPr>
          <p:cNvCxnSpPr/>
          <p:nvPr/>
        </p:nvCxnSpPr>
        <p:spPr>
          <a:xfrm>
            <a:off x="7112000" y="35052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B818F4B-DDC5-1F02-D223-842E4DF9A5F2}"/>
              </a:ext>
            </a:extLst>
          </p:cNvPr>
          <p:cNvCxnSpPr/>
          <p:nvPr/>
        </p:nvCxnSpPr>
        <p:spPr>
          <a:xfrm>
            <a:off x="7112000" y="3505200"/>
            <a:ext cx="0" cy="17780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982F389-B553-0507-05AB-17136CC0A1A9}"/>
              </a:ext>
            </a:extLst>
          </p:cNvPr>
          <p:cNvCxnSpPr/>
          <p:nvPr/>
        </p:nvCxnSpPr>
        <p:spPr>
          <a:xfrm>
            <a:off x="7442200" y="3683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1E81345-5DA5-1E1C-C71F-B6A03B79EA9C}"/>
              </a:ext>
            </a:extLst>
          </p:cNvPr>
          <p:cNvCxnSpPr/>
          <p:nvPr/>
        </p:nvCxnSpPr>
        <p:spPr>
          <a:xfrm>
            <a:off x="7442200" y="3505200"/>
            <a:ext cx="0" cy="17780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1CADF98-636D-F081-30FD-9DF6905C910A}"/>
              </a:ext>
            </a:extLst>
          </p:cNvPr>
          <p:cNvCxnSpPr/>
          <p:nvPr/>
        </p:nvCxnSpPr>
        <p:spPr>
          <a:xfrm>
            <a:off x="7772400" y="3683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31CFD0D-0453-55B9-11E1-D28722F4E3BA}"/>
              </a:ext>
            </a:extLst>
          </p:cNvPr>
          <p:cNvCxnSpPr/>
          <p:nvPr/>
        </p:nvCxnSpPr>
        <p:spPr>
          <a:xfrm>
            <a:off x="8102600" y="3683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3AD99F4-93EC-3DE1-C248-62FE81BD308C}"/>
              </a:ext>
            </a:extLst>
          </p:cNvPr>
          <p:cNvCxnSpPr/>
          <p:nvPr/>
        </p:nvCxnSpPr>
        <p:spPr>
          <a:xfrm>
            <a:off x="8432800" y="3683000"/>
            <a:ext cx="330200" cy="0"/>
          </a:xfrm>
          <a:prstGeom prst="straightConnector1">
            <a:avLst/>
          </a:prstGeom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A6B40664-D326-37C0-B432-318E578B8BF0}"/>
              </a:ext>
            </a:extLst>
          </p:cNvPr>
          <p:cNvSpPr txBox="1"/>
          <p:nvPr/>
        </p:nvSpPr>
        <p:spPr>
          <a:xfrm>
            <a:off x="4851400" y="3962400"/>
            <a:ext cx="3937000" cy="838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Error code held stable until the next error, so the encoder samples it safely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000">
                <a:solidFill>
                  <a:srgbClr val="FFFFFF"/>
                </a:solidFill>
                <a:latin typeface="Times New Roman" panose="02020603050405020304" pitchFamily="18" charset="0"/>
              </a:rPr>
              <a:t>A slow CXS clock cannot miss a one-cycle system pulse</a:t>
            </a:r>
          </a:p>
        </p:txBody>
      </p:sp>
    </p:spTree>
    <p:extLst>
      <p:ext uri="{BB962C8B-B14F-4D97-AF65-F5344CB8AC3E}">
        <p14:creationId xmlns:p14="http://schemas.microsoft.com/office/powerpoint/2010/main" val="3598636971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A18F69-83F0-87DE-FE60-233E9F06D765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Verification Plan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FDAA4B-3B47-9448-4D68-5D1BE526FDB0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3E2EC5-DCD1-F1AC-5290-BB3F67DA4292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DD62A5-240A-04DC-B22B-FA7A1427E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129285"/>
              </p:ext>
            </p:extLst>
          </p:nvPr>
        </p:nvGraphicFramePr>
        <p:xfrm>
          <a:off x="254000" y="1066800"/>
          <a:ext cx="8890000" cy="213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088">
                  <a:extLst>
                    <a:ext uri="{9D8B030D-6E8A-4147-A177-3AD203B41FA5}">
                      <a16:colId xmlns:a16="http://schemas.microsoft.com/office/drawing/2014/main" val="898337963"/>
                    </a:ext>
                  </a:extLst>
                </a:gridCol>
                <a:gridCol w="2745441">
                  <a:extLst>
                    <a:ext uri="{9D8B030D-6E8A-4147-A177-3AD203B41FA5}">
                      <a16:colId xmlns:a16="http://schemas.microsoft.com/office/drawing/2014/main" val="2355151430"/>
                    </a:ext>
                  </a:extLst>
                </a:gridCol>
                <a:gridCol w="2483971">
                  <a:extLst>
                    <a:ext uri="{9D8B030D-6E8A-4147-A177-3AD203B41FA5}">
                      <a16:colId xmlns:a16="http://schemas.microsoft.com/office/drawing/2014/main" val="3039954829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769009580"/>
                    </a:ext>
                  </a:extLst>
                </a:gridCol>
              </a:tblGrid>
              <a:tr h="266674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Block</a:t>
                      </a:r>
                    </a:p>
                  </a:txBody>
                  <a:tcPr marL="50800" marR="50800" marT="25400" marB="254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Unit testbench</a:t>
                      </a:r>
                    </a:p>
                  </a:txBody>
                  <a:tcPr marL="50800" marR="50800" marT="25400" marB="254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UVM scenario</a:t>
                      </a:r>
                    </a:p>
                  </a:txBody>
                  <a:tcPr marL="50800" marR="50800" marT="25400" marB="254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Checking</a:t>
                      </a:r>
                    </a:p>
                  </a:txBody>
                  <a:tcPr marL="50800" marR="50800" marT="25400" marB="25400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994293"/>
                  </a:ext>
                </a:extLst>
              </a:tr>
              <a:tr h="266674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Async FIFO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async_fifo_tb: random R/W, unrelated clocks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all scenarios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reference-queue compare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775752"/>
                  </a:ext>
                </a:extLst>
              </a:tr>
              <a:tr h="266674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Packet Formatter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packet_formatter_tb: 5 directed tests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TWO_TLP_ONE_FLIT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directed stimulus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665584"/>
                  </a:ext>
                </a:extLst>
              </a:tr>
              <a:tr h="266674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Control Unit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control_unit_tb: 13 directed tests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CFG_LINK_XFER, ERR_TX_FLIT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self-checking ($error)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299326"/>
                  </a:ext>
                </a:extLst>
              </a:tr>
              <a:tr h="266674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Encryption Unit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encryption_unit_tb: 12 vectors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CFG_LINK_XFER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expected-value compare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110774"/>
                  </a:ext>
                </a:extLst>
              </a:tr>
              <a:tr h="266674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Parity Unit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parity_unit_tb: 8 vectors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CFG_LINK_XFER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expected-value compare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603524"/>
                  </a:ext>
                </a:extLst>
              </a:tr>
              <a:tr h="266674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CXS TX + credits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ERR_TX_FLIT, TX_CREDIT_STALL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waveform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763873"/>
                  </a:ext>
                </a:extLst>
              </a:tr>
              <a:tr h="266674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ATU + CDM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CFG_LINK_XFER, TWO_TLP_ONE_FLIT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waveform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989712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8C4FF8-B3EB-CFC8-4E89-81B56F205D02}"/>
              </a:ext>
            </a:extLst>
          </p:cNvPr>
          <p:cNvSpPr/>
          <p:nvPr/>
        </p:nvSpPr>
        <p:spPr>
          <a:xfrm>
            <a:off x="254000" y="4089400"/>
            <a:ext cx="8636000" cy="762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UVM environment: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</a:rPr>
              <a:t> driver · monitor · agent · env · test · reset + directed sequences</a:t>
            </a:r>
          </a:p>
        </p:txBody>
      </p:sp>
    </p:spTree>
    <p:extLst>
      <p:ext uri="{BB962C8B-B14F-4D97-AF65-F5344CB8AC3E}">
        <p14:creationId xmlns:p14="http://schemas.microsoft.com/office/powerpoint/2010/main" val="4039821635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76C8A3-55C1-0446-9883-4314A001535F}"/>
              </a:ext>
            </a:extLst>
          </p:cNvPr>
          <p:cNvSpPr txBox="1"/>
          <p:nvPr/>
        </p:nvSpPr>
        <p:spPr>
          <a:xfrm>
            <a:off x="355600" y="228115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 dirty="0">
                <a:solidFill>
                  <a:srgbClr val="1E2761"/>
                </a:solidFill>
                <a:latin typeface="Cambria" panose="02040503050406030204" pitchFamily="18" charset="0"/>
              </a:rPr>
              <a:t>Unit Test Results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B7E2D3-D7D8-8747-41FD-113ABBA44F5F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E5D7E9-FD10-8463-3168-7BBA5DB2EE0A}"/>
              </a:ext>
            </a:extLst>
          </p:cNvPr>
          <p:cNvSpPr/>
          <p:nvPr/>
        </p:nvSpPr>
        <p:spPr>
          <a:xfrm>
            <a:off x="279400" y="732502"/>
            <a:ext cx="1600200" cy="1447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B821AC-2D74-1986-8743-4C65EA853406}"/>
              </a:ext>
            </a:extLst>
          </p:cNvPr>
          <p:cNvSpPr txBox="1"/>
          <p:nvPr/>
        </p:nvSpPr>
        <p:spPr>
          <a:xfrm>
            <a:off x="279400" y="783302"/>
            <a:ext cx="1600200" cy="558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3000" b="1">
                <a:solidFill>
                  <a:srgbClr val="00C2A8"/>
                </a:solidFill>
                <a:latin typeface="Cambria" panose="02040503050406030204" pitchFamily="18" charset="0"/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26593D-E551-9C2D-1D2E-A18D6BB75584}"/>
              </a:ext>
            </a:extLst>
          </p:cNvPr>
          <p:cNvSpPr txBox="1"/>
          <p:nvPr/>
        </p:nvSpPr>
        <p:spPr>
          <a:xfrm>
            <a:off x="279400" y="1418302"/>
            <a:ext cx="1600200" cy="254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200" b="1">
                <a:solidFill>
                  <a:srgbClr val="FFFFFF"/>
                </a:solidFill>
                <a:latin typeface="Times New Roman" panose="02020603050405020304" pitchFamily="18" charset="0"/>
              </a:rPr>
              <a:t>Async FIFO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96E5E-8957-55E3-BE7D-AA338385264E}"/>
              </a:ext>
            </a:extLst>
          </p:cNvPr>
          <p:cNvSpPr txBox="1"/>
          <p:nvPr/>
        </p:nvSpPr>
        <p:spPr>
          <a:xfrm>
            <a:off x="330200" y="1697702"/>
            <a:ext cx="1498600" cy="406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CADCFC"/>
                </a:solidFill>
                <a:latin typeface="Times New Roman" panose="02020603050405020304" pitchFamily="18" charset="0"/>
              </a:rPr>
              <a:t>all read words match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D6BF40-E464-DDD4-6D89-3EEF2A75A3A8}"/>
              </a:ext>
            </a:extLst>
          </p:cNvPr>
          <p:cNvSpPr/>
          <p:nvPr/>
        </p:nvSpPr>
        <p:spPr>
          <a:xfrm>
            <a:off x="2032000" y="732502"/>
            <a:ext cx="1600200" cy="1447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466AC5-255A-55E0-9FEA-E8C9E83F884F}"/>
              </a:ext>
            </a:extLst>
          </p:cNvPr>
          <p:cNvSpPr txBox="1"/>
          <p:nvPr/>
        </p:nvSpPr>
        <p:spPr>
          <a:xfrm>
            <a:off x="2032000" y="808702"/>
            <a:ext cx="1600200" cy="558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3000" b="1">
                <a:solidFill>
                  <a:srgbClr val="00C2A8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3384D0-380F-4BA8-D68F-4E69BD290C52}"/>
              </a:ext>
            </a:extLst>
          </p:cNvPr>
          <p:cNvSpPr txBox="1"/>
          <p:nvPr/>
        </p:nvSpPr>
        <p:spPr>
          <a:xfrm>
            <a:off x="2032000" y="1418302"/>
            <a:ext cx="1600200" cy="254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200" b="1">
                <a:solidFill>
                  <a:srgbClr val="FFFFFF"/>
                </a:solidFill>
                <a:latin typeface="Times New Roman" panose="02020603050405020304" pitchFamily="18" charset="0"/>
              </a:rPr>
              <a:t>Packet Formatter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ADDF70-BE27-FA3A-A5A6-478A39100E4C}"/>
              </a:ext>
            </a:extLst>
          </p:cNvPr>
          <p:cNvSpPr txBox="1"/>
          <p:nvPr/>
        </p:nvSpPr>
        <p:spPr>
          <a:xfrm>
            <a:off x="2082800" y="1697702"/>
            <a:ext cx="1498600" cy="406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CADCFC"/>
                </a:solidFill>
                <a:latin typeface="Times New Roman" panose="02020603050405020304" pitchFamily="18" charset="0"/>
              </a:rPr>
              <a:t>directed tests, 0 errors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B99C3D5-8DAC-B769-B29D-C7E796D4B35E}"/>
              </a:ext>
            </a:extLst>
          </p:cNvPr>
          <p:cNvSpPr/>
          <p:nvPr/>
        </p:nvSpPr>
        <p:spPr>
          <a:xfrm>
            <a:off x="3784600" y="732502"/>
            <a:ext cx="1600200" cy="1447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122F81-5A3B-C190-0449-B57374DE9142}"/>
              </a:ext>
            </a:extLst>
          </p:cNvPr>
          <p:cNvSpPr txBox="1"/>
          <p:nvPr/>
        </p:nvSpPr>
        <p:spPr>
          <a:xfrm>
            <a:off x="3784600" y="808702"/>
            <a:ext cx="1600200" cy="558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3000" b="1">
                <a:solidFill>
                  <a:srgbClr val="00C2A8"/>
                </a:solidFill>
                <a:latin typeface="Cambria" panose="02040503050406030204" pitchFamily="18" charset="0"/>
              </a:rPr>
              <a:t>13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1BFA44-67C6-CC20-2635-A73CD55BB903}"/>
              </a:ext>
            </a:extLst>
          </p:cNvPr>
          <p:cNvSpPr txBox="1"/>
          <p:nvPr/>
        </p:nvSpPr>
        <p:spPr>
          <a:xfrm>
            <a:off x="3784600" y="1418302"/>
            <a:ext cx="1600200" cy="254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Control Unit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83FE31-2959-9079-E324-C6BA53F4B8D7}"/>
              </a:ext>
            </a:extLst>
          </p:cNvPr>
          <p:cNvSpPr txBox="1"/>
          <p:nvPr/>
        </p:nvSpPr>
        <p:spPr>
          <a:xfrm>
            <a:off x="3835400" y="1697702"/>
            <a:ext cx="1498600" cy="406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CADCFC"/>
                </a:solidFill>
                <a:latin typeface="Times New Roman" panose="02020603050405020304" pitchFamily="18" charset="0"/>
              </a:rPr>
              <a:t>directed tests, 0 errors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4800B39-23D4-440A-3D63-EDDAB3386E59}"/>
              </a:ext>
            </a:extLst>
          </p:cNvPr>
          <p:cNvSpPr/>
          <p:nvPr/>
        </p:nvSpPr>
        <p:spPr>
          <a:xfrm>
            <a:off x="5537200" y="732502"/>
            <a:ext cx="1600200" cy="1447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911D-B3A0-8044-1252-C0C0AB06361C}"/>
              </a:ext>
            </a:extLst>
          </p:cNvPr>
          <p:cNvSpPr txBox="1"/>
          <p:nvPr/>
        </p:nvSpPr>
        <p:spPr>
          <a:xfrm>
            <a:off x="5537200" y="808702"/>
            <a:ext cx="1600200" cy="558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3000" b="1">
                <a:solidFill>
                  <a:srgbClr val="00C2A8"/>
                </a:solidFill>
                <a:latin typeface="Cambria" panose="02040503050406030204" pitchFamily="18" charset="0"/>
              </a:rPr>
              <a:t>12/12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545B9E-8947-76B4-C883-07F9BAFA5ABF}"/>
              </a:ext>
            </a:extLst>
          </p:cNvPr>
          <p:cNvSpPr txBox="1"/>
          <p:nvPr/>
        </p:nvSpPr>
        <p:spPr>
          <a:xfrm>
            <a:off x="5537200" y="1418302"/>
            <a:ext cx="1600200" cy="254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200" b="1">
                <a:solidFill>
                  <a:srgbClr val="FFFFFF"/>
                </a:solidFill>
                <a:latin typeface="Times New Roman" panose="02020603050405020304" pitchFamily="18" charset="0"/>
              </a:rPr>
              <a:t>Encryption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9C4C73-53AD-238A-4095-20E192CD07C7}"/>
              </a:ext>
            </a:extLst>
          </p:cNvPr>
          <p:cNvSpPr txBox="1"/>
          <p:nvPr/>
        </p:nvSpPr>
        <p:spPr>
          <a:xfrm>
            <a:off x="5588000" y="1697702"/>
            <a:ext cx="1498600" cy="406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CADCFC"/>
                </a:solidFill>
                <a:latin typeface="Times New Roman" panose="02020603050405020304" pitchFamily="18" charset="0"/>
              </a:rPr>
              <a:t>test vectors pass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86080A6-E844-8D5F-206C-AB582A5ED2B5}"/>
              </a:ext>
            </a:extLst>
          </p:cNvPr>
          <p:cNvSpPr/>
          <p:nvPr/>
        </p:nvSpPr>
        <p:spPr>
          <a:xfrm>
            <a:off x="7289800" y="732502"/>
            <a:ext cx="1600200" cy="1447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5305C1-D4C0-25C6-174E-03C05FBCBB92}"/>
              </a:ext>
            </a:extLst>
          </p:cNvPr>
          <p:cNvSpPr txBox="1"/>
          <p:nvPr/>
        </p:nvSpPr>
        <p:spPr>
          <a:xfrm>
            <a:off x="7289800" y="808702"/>
            <a:ext cx="1600200" cy="5588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3000" b="1">
                <a:solidFill>
                  <a:srgbClr val="00C2A8"/>
                </a:solidFill>
                <a:latin typeface="Cambria" panose="02040503050406030204" pitchFamily="18" charset="0"/>
              </a:rPr>
              <a:t>8/8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78B14E-1080-C430-A482-B24BE6377F93}"/>
              </a:ext>
            </a:extLst>
          </p:cNvPr>
          <p:cNvSpPr txBox="1"/>
          <p:nvPr/>
        </p:nvSpPr>
        <p:spPr>
          <a:xfrm>
            <a:off x="7289800" y="1418302"/>
            <a:ext cx="1600200" cy="254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200" b="1">
                <a:solidFill>
                  <a:srgbClr val="FFFFFF"/>
                </a:solidFill>
                <a:latin typeface="Times New Roman" panose="02020603050405020304" pitchFamily="18" charset="0"/>
              </a:rPr>
              <a:t>Parity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2AFF04-DD26-C62E-69A6-E8FF60426ACE}"/>
              </a:ext>
            </a:extLst>
          </p:cNvPr>
          <p:cNvSpPr txBox="1"/>
          <p:nvPr/>
        </p:nvSpPr>
        <p:spPr>
          <a:xfrm>
            <a:off x="7340600" y="1697702"/>
            <a:ext cx="1498600" cy="406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950">
                <a:solidFill>
                  <a:srgbClr val="CADCFC"/>
                </a:solidFill>
                <a:latin typeface="Times New Roman" panose="02020603050405020304" pitchFamily="18" charset="0"/>
              </a:rPr>
              <a:t>test vectors pass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34E29B-9B22-1C0E-6442-E88CC4F6A6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792"/>
          <a:stretch>
            <a:fillRect/>
          </a:stretch>
        </p:blipFill>
        <p:spPr>
          <a:xfrm>
            <a:off x="73387" y="2612303"/>
            <a:ext cx="4596854" cy="73920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68D4A7C-AD1F-5DFA-3877-6C97350BFC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68" r="3425"/>
          <a:stretch>
            <a:fillRect/>
          </a:stretch>
        </p:blipFill>
        <p:spPr>
          <a:xfrm>
            <a:off x="4876254" y="2608489"/>
            <a:ext cx="4153318" cy="144187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E991ABD-80A1-B5CB-4CC8-ABDDA611B1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463"/>
          <a:stretch>
            <a:fillRect/>
          </a:stretch>
        </p:blipFill>
        <p:spPr>
          <a:xfrm>
            <a:off x="46713" y="3656815"/>
            <a:ext cx="4623528" cy="112023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5DAEBAD-16E2-754A-6789-C88C81A29AD7}"/>
              </a:ext>
            </a:extLst>
          </p:cNvPr>
          <p:cNvSpPr txBox="1"/>
          <p:nvPr/>
        </p:nvSpPr>
        <p:spPr>
          <a:xfrm>
            <a:off x="279400" y="2176689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b="1" dirty="0">
                <a:solidFill>
                  <a:srgbClr val="1E2761"/>
                </a:solidFill>
                <a:latin typeface="Cambria" panose="02040503050406030204" pitchFamily="18" charset="0"/>
              </a:rPr>
              <a:t>Async FIFO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ED898F-5CA1-8412-6C38-5C995B916C4E}"/>
              </a:ext>
            </a:extLst>
          </p:cNvPr>
          <p:cNvSpPr txBox="1"/>
          <p:nvPr/>
        </p:nvSpPr>
        <p:spPr>
          <a:xfrm>
            <a:off x="177800" y="3239876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b="1" dirty="0">
                <a:solidFill>
                  <a:srgbClr val="1E2761"/>
                </a:solidFill>
                <a:latin typeface="Cambria" panose="02040503050406030204" pitchFamily="18" charset="0"/>
              </a:rPr>
              <a:t>Encryption Unit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4C82ED-2DB3-30B3-64F7-CEFAAEE0BD21}"/>
              </a:ext>
            </a:extLst>
          </p:cNvPr>
          <p:cNvSpPr txBox="1"/>
          <p:nvPr/>
        </p:nvSpPr>
        <p:spPr>
          <a:xfrm>
            <a:off x="4937069" y="218689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b="1" dirty="0">
                <a:solidFill>
                  <a:srgbClr val="1E2761"/>
                </a:solidFill>
                <a:latin typeface="Cambria" panose="02040503050406030204" pitchFamily="18" charset="0"/>
              </a:rPr>
              <a:t>Parity Unit</a:t>
            </a:r>
          </a:p>
        </p:txBody>
      </p:sp>
    </p:spTree>
    <p:extLst>
      <p:ext uri="{BB962C8B-B14F-4D97-AF65-F5344CB8AC3E}">
        <p14:creationId xmlns:p14="http://schemas.microsoft.com/office/powerpoint/2010/main" val="2912942153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605EA-3B04-6E24-B60E-D0CF5D9A5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59AB8D-F1CE-0D52-EBD7-609EC9C94D10}"/>
              </a:ext>
            </a:extLst>
          </p:cNvPr>
          <p:cNvSpPr txBox="1"/>
          <p:nvPr/>
        </p:nvSpPr>
        <p:spPr>
          <a:xfrm>
            <a:off x="265516" y="30976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 Formatter Unit Verification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1C3EC62-4F39-E5C3-94C5-6AFEEB108680}"/>
              </a:ext>
            </a:extLst>
          </p:cNvPr>
          <p:cNvSpPr/>
          <p:nvPr/>
        </p:nvSpPr>
        <p:spPr>
          <a:xfrm>
            <a:off x="243941" y="511036"/>
            <a:ext cx="3251427" cy="34397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Scenarios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Reset verification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Single packet extraction (aligned words 0..2)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Unaligned packet extraction (offset words 4..7)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Multi-packet extraction (2 packets in 1 FLIT)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Full FLIT continuous streaming (words 0..7)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Invalid/unselected word dropping &amp; masking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Downstream FIFO backpressure &amp; stall handling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Streaming resumption after backpressure release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6/6 Formatter test cases PASS (74/74 assertions)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FLIT FIFO read handshake verified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Start/End pointer decoding verified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Word-by-word streaming order verified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Non-packet word suppression verified</a:t>
            </a:r>
          </a:p>
          <a:p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Backpressure hold &amp; freeze verified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4CB7E8-D9D6-E29A-53D3-4C0E19338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345" y="491570"/>
            <a:ext cx="5434497" cy="20297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A91B1A-6344-9BA4-6540-07D00CF20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187" y="2521356"/>
            <a:ext cx="2788366" cy="25911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F46334-DCA9-2EDF-CBC0-CEE9D0E03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530" y="2477711"/>
            <a:ext cx="2270652" cy="26580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E402C4-7E39-B5F2-E1A2-09E2C5EB33C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5498" r="26780"/>
          <a:stretch>
            <a:fillRect/>
          </a:stretch>
        </p:blipFill>
        <p:spPr>
          <a:xfrm>
            <a:off x="108823" y="4025037"/>
            <a:ext cx="3547522" cy="81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042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1E62F-6A53-EB56-5CBA-04CEC58E8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A4B98A-82D2-ED6E-ED83-5F52586B6932}"/>
              </a:ext>
            </a:extLst>
          </p:cNvPr>
          <p:cNvSpPr txBox="1"/>
          <p:nvPr/>
        </p:nvSpPr>
        <p:spPr>
          <a:xfrm>
            <a:off x="265516" y="0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  Verification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02BC7C2-98B1-9900-F384-4F2D6D97CBAA}"/>
              </a:ext>
            </a:extLst>
          </p:cNvPr>
          <p:cNvSpPr/>
          <p:nvPr/>
        </p:nvSpPr>
        <p:spPr>
          <a:xfrm>
            <a:off x="56183" y="469008"/>
            <a:ext cx="3251427" cy="3058074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Scenarios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Reset state verification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Out-of-order/non-config packet drop in Idle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Configuration phase &amp; direct CDM register write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Link-up packet handling &amp; state transition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Transfer TLP parsing &amp; encryption </a:t>
            </a:r>
            <a:r>
              <a:rPr lang="en-US" sz="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datapath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routing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Back-to-back Transfer TLPs &amp; 4-word frame alignment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In-flight Link-up packets during data phase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Error injection: Config header in data phase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Error injection: Unsupported encryption algorithm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Error injection: Premature header before device limit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Error recovery &amp; FSM re-initialization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➤ Asynchronous FIFO starvation &amp; random stall survival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13/13 Control Unit test cases PASS (210/210 assertions)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Configuration decoding verified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Datapath multiplexing verified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Protocol FSM transitions verified</a:t>
            </a:r>
          </a:p>
          <a:p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Comprehensive error reporting verified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7D610B-8908-336F-8098-ACE6DDEB1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368" y="2531920"/>
            <a:ext cx="3148471" cy="25806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C409B1-A143-16B1-82C1-DA8464B08E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924"/>
          <a:stretch>
            <a:fillRect/>
          </a:stretch>
        </p:blipFill>
        <p:spPr>
          <a:xfrm>
            <a:off x="6367615" y="2509752"/>
            <a:ext cx="2617247" cy="26027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E351FC-A1A0-D09A-3AAA-325418A5E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5981" y="457209"/>
            <a:ext cx="5378882" cy="20308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E6EF5F-A1A3-59D8-2DD5-00988DE3F0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057" r="4995"/>
          <a:stretch>
            <a:fillRect/>
          </a:stretch>
        </p:blipFill>
        <p:spPr>
          <a:xfrm>
            <a:off x="159138" y="3694471"/>
            <a:ext cx="3148472" cy="127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0599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125922-20BA-7761-CEBE-41DE4430AEDA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System-Level UVM Scenarios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C4EC5-7360-2BA2-9A9D-B140F89BAC78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DDD5DE-AEC1-112D-6BFE-22CC10C79FC5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AAE452-AF97-8FCE-FCBF-7588AF4F0245}"/>
              </a:ext>
            </a:extLst>
          </p:cNvPr>
          <p:cNvSpPr/>
          <p:nvPr/>
        </p:nvSpPr>
        <p:spPr>
          <a:xfrm>
            <a:off x="254000" y="1066800"/>
            <a:ext cx="1625600" cy="711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CFG_LINK_XFER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96FF2B-86BC-F2B0-FBCF-772C05EDB890}"/>
              </a:ext>
            </a:extLst>
          </p:cNvPr>
          <p:cNvSpPr/>
          <p:nvPr/>
        </p:nvSpPr>
        <p:spPr>
          <a:xfrm>
            <a:off x="1930400" y="1066800"/>
            <a:ext cx="37846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>
              <a:spcAft>
                <a:spcPts val="200"/>
              </a:spcAft>
            </a:pPr>
            <a:r>
              <a:rPr lang="en-US" sz="1000" b="1">
                <a:solidFill>
                  <a:srgbClr val="1E2761"/>
                </a:solidFill>
                <a:latin typeface="Times New Roman" panose="02020603050405020304" pitchFamily="18" charset="0"/>
              </a:rPr>
              <a:t>Stimulus:</a:t>
            </a: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 Config TLP → Link-Up TLP → Transfer TLP</a:t>
            </a:r>
          </a:p>
          <a:p>
            <a:pPr>
              <a:spcAft>
                <a:spcPts val="200"/>
              </a:spcAft>
            </a:pPr>
            <a:r>
              <a:rPr lang="en-US" sz="1000" b="1">
                <a:solidFill>
                  <a:srgbClr val="1E2761"/>
                </a:solidFill>
                <a:latin typeface="Times New Roman" panose="02020603050405020304" pitchFamily="18" charset="0"/>
              </a:rPr>
              <a:t>Expected:</a:t>
            </a: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 CDM 0x00 / 0x01+ written; payloads at base + ADDR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CB2401-C2AA-2BA9-AAC2-A8FAE46549EC}"/>
              </a:ext>
            </a:extLst>
          </p:cNvPr>
          <p:cNvSpPr/>
          <p:nvPr/>
        </p:nvSpPr>
        <p:spPr>
          <a:xfrm>
            <a:off x="254000" y="1860550"/>
            <a:ext cx="1625600" cy="711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TWO_TLP_ONE_FLIT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868F04-91B2-F3D7-A8AA-321EBDD14A06}"/>
              </a:ext>
            </a:extLst>
          </p:cNvPr>
          <p:cNvSpPr/>
          <p:nvPr/>
        </p:nvSpPr>
        <p:spPr>
          <a:xfrm>
            <a:off x="1930400" y="1879600"/>
            <a:ext cx="37846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>
              <a:spcAft>
                <a:spcPts val="200"/>
              </a:spcAft>
            </a:pPr>
            <a:r>
              <a:rPr lang="en-US" sz="1000" b="1">
                <a:solidFill>
                  <a:srgbClr val="1E2761"/>
                </a:solidFill>
                <a:latin typeface="Times New Roman" panose="02020603050405020304" pitchFamily="18" charset="0"/>
              </a:rPr>
              <a:t>Stimulus:</a:t>
            </a: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 Two Transfer TLPs in words 0–3 and 4–7</a:t>
            </a:r>
          </a:p>
          <a:p>
            <a:pPr>
              <a:spcAft>
                <a:spcPts val="200"/>
              </a:spcAft>
            </a:pPr>
            <a:r>
              <a:rPr lang="en-US" sz="1000" b="1">
                <a:solidFill>
                  <a:srgbClr val="1E2761"/>
                </a:solidFill>
                <a:latin typeface="Times New Roman" panose="02020603050405020304" pitchFamily="18" charset="0"/>
              </a:rPr>
              <a:t>Expected:</a:t>
            </a: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 six payload writes from one FLIT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8BA8AE-4642-081C-D2A1-481644EFBDDF}"/>
              </a:ext>
            </a:extLst>
          </p:cNvPr>
          <p:cNvSpPr/>
          <p:nvPr/>
        </p:nvSpPr>
        <p:spPr>
          <a:xfrm>
            <a:off x="254000" y="2692400"/>
            <a:ext cx="1625600" cy="711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ERR_TX_FLIT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F43139-A234-A13F-17D4-181FFCE649DC}"/>
              </a:ext>
            </a:extLst>
          </p:cNvPr>
          <p:cNvSpPr/>
          <p:nvPr/>
        </p:nvSpPr>
        <p:spPr>
          <a:xfrm>
            <a:off x="1930400" y="2692400"/>
            <a:ext cx="37846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>
              <a:spcAft>
                <a:spcPts val="200"/>
              </a:spcAft>
            </a:pPr>
            <a:r>
              <a:rPr lang="en-US" sz="1000" b="1">
                <a:solidFill>
                  <a:srgbClr val="1E2761"/>
                </a:solidFill>
                <a:latin typeface="Times New Roman" panose="02020603050405020304" pitchFamily="18" charset="0"/>
              </a:rPr>
              <a:t>Stimulus:</a:t>
            </a: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 Invalid ENC_MODE, TX credit available</a:t>
            </a:r>
          </a:p>
          <a:p>
            <a:pPr>
              <a:spcAft>
                <a:spcPts val="200"/>
              </a:spcAft>
            </a:pPr>
            <a:r>
              <a:rPr lang="en-US" sz="1000" b="1">
                <a:solidFill>
                  <a:srgbClr val="1E2761"/>
                </a:solidFill>
                <a:latin typeface="Times New Roman" panose="02020603050405020304" pitchFamily="18" charset="0"/>
              </a:rPr>
              <a:t>Expected:</a:t>
            </a: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 error 01 → response FLIT (0xE0) on CXS TX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52AC019-DD4E-4120-4A5B-4F456794BF77}"/>
              </a:ext>
            </a:extLst>
          </p:cNvPr>
          <p:cNvSpPr/>
          <p:nvPr/>
        </p:nvSpPr>
        <p:spPr>
          <a:xfrm>
            <a:off x="254000" y="3505200"/>
            <a:ext cx="1625600" cy="711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TX_CREDIT_STALL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5E6C0B-CC0F-69A5-D2E7-12CFB3B424C9}"/>
              </a:ext>
            </a:extLst>
          </p:cNvPr>
          <p:cNvSpPr/>
          <p:nvPr/>
        </p:nvSpPr>
        <p:spPr>
          <a:xfrm>
            <a:off x="1930400" y="3505200"/>
            <a:ext cx="3784600" cy="71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>
              <a:spcAft>
                <a:spcPts val="200"/>
              </a:spcAft>
            </a:pPr>
            <a:r>
              <a:rPr lang="en-US" sz="1000" b="1">
                <a:solidFill>
                  <a:srgbClr val="1E2761"/>
                </a:solidFill>
                <a:latin typeface="Times New Roman" panose="02020603050405020304" pitchFamily="18" charset="0"/>
              </a:rPr>
              <a:t>Stimulus:</a:t>
            </a: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 Same error, no TX credit</a:t>
            </a:r>
          </a:p>
          <a:p>
            <a:pPr>
              <a:spcAft>
                <a:spcPts val="200"/>
              </a:spcAft>
            </a:pPr>
            <a:r>
              <a:rPr lang="en-US" sz="1000" b="1">
                <a:solidFill>
                  <a:srgbClr val="1E2761"/>
                </a:solidFill>
                <a:latin typeface="Times New Roman" panose="02020603050405020304" pitchFamily="18" charset="0"/>
              </a:rPr>
              <a:t>Expected:</a:t>
            </a:r>
            <a:r>
              <a:rPr lang="en-US" sz="1000">
                <a:solidFill>
                  <a:srgbClr val="1E2761"/>
                </a:solidFill>
                <a:latin typeface="Times New Roman" panose="02020603050405020304" pitchFamily="18" charset="0"/>
              </a:rPr>
              <a:t> FLIT held until one CXSTXCRDGNT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7E280DC-7299-5AC8-1A07-660E06BCD69A}"/>
              </a:ext>
            </a:extLst>
          </p:cNvPr>
          <p:cNvSpPr/>
          <p:nvPr/>
        </p:nvSpPr>
        <p:spPr>
          <a:xfrm>
            <a:off x="254000" y="4368800"/>
            <a:ext cx="8636000" cy="5080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</a:rPr>
              <a:t>Result: 0 UVM_ERROR · 0 UVM_FATAL · </a:t>
            </a:r>
            <a:r>
              <a:rPr lang="en-US" sz="1150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behaviour</a:t>
            </a: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</a:rPr>
              <a:t> checked on waveforms</a:t>
            </a:r>
          </a:p>
        </p:txBody>
      </p:sp>
    </p:spTree>
    <p:extLst>
      <p:ext uri="{BB962C8B-B14F-4D97-AF65-F5344CB8AC3E}">
        <p14:creationId xmlns:p14="http://schemas.microsoft.com/office/powerpoint/2010/main" val="1631852961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86B04-705A-023D-F70B-CD4F35009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395A64-9668-D9C6-A160-3969B77DE406}"/>
              </a:ext>
            </a:extLst>
          </p:cNvPr>
          <p:cNvSpPr txBox="1"/>
          <p:nvPr/>
        </p:nvSpPr>
        <p:spPr>
          <a:xfrm>
            <a:off x="139700" y="276225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002060"/>
                </a:solidFill>
                <a:latin typeface="Times New Roman" panose="02020603050405020304" pitchFamily="18" charset="0"/>
              </a:rPr>
              <a:t>CFG_LINK_XFER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081D4F-3C03-0C83-B758-5F734714A6BB}"/>
              </a:ext>
            </a:extLst>
          </p:cNvPr>
          <p:cNvSpPr/>
          <p:nvPr/>
        </p:nvSpPr>
        <p:spPr>
          <a:xfrm>
            <a:off x="7772400" y="390525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CF5E14E-1156-8696-A114-C0699ED94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507151"/>
              </p:ext>
            </p:extLst>
          </p:nvPr>
        </p:nvGraphicFramePr>
        <p:xfrm>
          <a:off x="139700" y="833103"/>
          <a:ext cx="2773106" cy="36066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6291">
                  <a:extLst>
                    <a:ext uri="{9D8B030D-6E8A-4147-A177-3AD203B41FA5}">
                      <a16:colId xmlns:a16="http://schemas.microsoft.com/office/drawing/2014/main" val="740880562"/>
                    </a:ext>
                  </a:extLst>
                </a:gridCol>
                <a:gridCol w="1297692">
                  <a:extLst>
                    <a:ext uri="{9D8B030D-6E8A-4147-A177-3AD203B41FA5}">
                      <a16:colId xmlns:a16="http://schemas.microsoft.com/office/drawing/2014/main" val="136036276"/>
                    </a:ext>
                  </a:extLst>
                </a:gridCol>
                <a:gridCol w="819123">
                  <a:extLst>
                    <a:ext uri="{9D8B030D-6E8A-4147-A177-3AD203B41FA5}">
                      <a16:colId xmlns:a16="http://schemas.microsoft.com/office/drawing/2014/main" val="484343472"/>
                    </a:ext>
                  </a:extLst>
                </a:gridCol>
              </a:tblGrid>
              <a:tr h="224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</a:t>
                      </a:r>
                    </a:p>
                  </a:txBody>
                  <a:tcPr marL="30489" marR="30489" marT="15244" marB="1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Stimulus / Input</a:t>
                      </a:r>
                    </a:p>
                  </a:txBody>
                  <a:tcPr marL="30489" marR="30489" marT="15244" marB="1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FSM Progression</a:t>
                      </a:r>
                    </a:p>
                  </a:txBody>
                  <a:tcPr marL="30489" marR="30489" marT="15244" marB="15244" anchor="ctr"/>
                </a:tc>
                <a:extLst>
                  <a:ext uri="{0D108BD9-81ED-4DB2-BD59-A6C34878D82A}">
                    <a16:rowId xmlns:a16="http://schemas.microsoft.com/office/drawing/2014/main" val="4210733108"/>
                  </a:ext>
                </a:extLst>
              </a:tr>
              <a:tr h="609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</a:p>
                  </a:txBody>
                  <a:tcPr marL="30489" marR="30489" marT="15244" marB="1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 FLIT: Base </a:t>
                      </a:r>
                      <a:r>
                        <a:rPr lang="en-US" sz="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</a:t>
                      </a: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0x0100Dev Count = 2ENC_MODE = 4'h0 (Even)Parity = Even</a:t>
                      </a:r>
                    </a:p>
                  </a:txBody>
                  <a:tcPr marL="30489" marR="30489" marT="15244" marB="1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IDLE → CFG</a:t>
                      </a:r>
                    </a:p>
                  </a:txBody>
                  <a:tcPr marL="30489" marR="30489" marT="15244" marB="15244" anchor="ctr"/>
                </a:tc>
                <a:extLst>
                  <a:ext uri="{0D108BD9-81ED-4DB2-BD59-A6C34878D82A}">
                    <a16:rowId xmlns:a16="http://schemas.microsoft.com/office/drawing/2014/main" val="3675816301"/>
                  </a:ext>
                </a:extLst>
              </a:tr>
              <a:tr h="1151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Link-Up</a:t>
                      </a:r>
                    </a:p>
                  </a:txBody>
                  <a:tcPr marL="30489" marR="30489" marT="15244" marB="1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Addrs: {0x0010, 0x0011, 0x0012}Data: {0x1111, 0x2222, 0x3333}</a:t>
                      </a:r>
                    </a:p>
                  </a:txBody>
                  <a:tcPr marL="30489" marR="30489" marT="15244" marB="1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CFG → LINKUP</a:t>
                      </a:r>
                    </a:p>
                  </a:txBody>
                  <a:tcPr marL="30489" marR="30489" marT="15244" marB="15244" anchor="ctr"/>
                </a:tc>
                <a:extLst>
                  <a:ext uri="{0D108BD9-81ED-4DB2-BD59-A6C34878D82A}">
                    <a16:rowId xmlns:a16="http://schemas.microsoft.com/office/drawing/2014/main" val="2824051050"/>
                  </a:ext>
                </a:extLst>
              </a:tr>
              <a:tr h="1011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Transfer</a:t>
                      </a:r>
                    </a:p>
                  </a:txBody>
                  <a:tcPr marL="30489" marR="30489" marT="15244" marB="1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Addrs: {0x0002, 0x0003, 0x0004}Payloads: {0xA5A5, 0x5A5A, 0xFFFF}</a:t>
                      </a:r>
                    </a:p>
                  </a:txBody>
                  <a:tcPr marL="30489" marR="30489" marT="15244" marB="1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LINKUP → DATA</a:t>
                      </a:r>
                    </a:p>
                  </a:txBody>
                  <a:tcPr marL="30489" marR="30489" marT="15244" marB="15244" anchor="ctr"/>
                </a:tc>
                <a:extLst>
                  <a:ext uri="{0D108BD9-81ED-4DB2-BD59-A6C34878D82A}">
                    <a16:rowId xmlns:a16="http://schemas.microsoft.com/office/drawing/2014/main" val="354666822"/>
                  </a:ext>
                </a:extLst>
              </a:tr>
              <a:tr h="609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Flow</a:t>
                      </a:r>
                    </a:p>
                  </a:txBody>
                  <a:tcPr marL="30489" marR="30489" marT="15244" marB="1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 → Link-Up → Transfer FLITs</a:t>
                      </a:r>
                    </a:p>
                  </a:txBody>
                  <a:tcPr marL="30489" marR="30489" marT="15244" marB="1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IDLE → CFG → LINKUP → DATA</a:t>
                      </a:r>
                    </a:p>
                  </a:txBody>
                  <a:tcPr marL="30489" marR="30489" marT="15244" marB="15244" anchor="ctr"/>
                </a:tc>
                <a:extLst>
                  <a:ext uri="{0D108BD9-81ED-4DB2-BD59-A6C34878D82A}">
                    <a16:rowId xmlns:a16="http://schemas.microsoft.com/office/drawing/2014/main" val="3581702491"/>
                  </a:ext>
                </a:extLst>
              </a:tr>
            </a:tbl>
          </a:graphicData>
        </a:graphic>
      </p:graphicFrame>
      <p:pic>
        <p:nvPicPr>
          <p:cNvPr id="65" name="Picture 64">
            <a:extLst>
              <a:ext uri="{FF2B5EF4-FFF2-40B4-BE49-F238E27FC236}">
                <a16:creationId xmlns:a16="http://schemas.microsoft.com/office/drawing/2014/main" id="{EB1724D5-B7E3-B468-1D61-58DAAF0CC7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60" y="3816462"/>
            <a:ext cx="5775673" cy="105081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4899E117-1CEA-62CD-666D-B622348263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460" y="2857291"/>
            <a:ext cx="5775673" cy="92269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76C4040B-3AC5-D145-1FF1-C10A62533A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460" y="1801384"/>
            <a:ext cx="5775672" cy="984747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D58367F-A1E4-4D63-95FD-EDF9400BD0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460" y="833103"/>
            <a:ext cx="5775672" cy="922699"/>
          </a:xfrm>
          <a:prstGeom prst="rect">
            <a:avLst/>
          </a:prstGeom>
        </p:spPr>
      </p:pic>
      <p:sp>
        <p:nvSpPr>
          <p:cNvPr id="85" name="Oval 84">
            <a:extLst>
              <a:ext uri="{FF2B5EF4-FFF2-40B4-BE49-F238E27FC236}">
                <a16:creationId xmlns:a16="http://schemas.microsoft.com/office/drawing/2014/main" id="{B42E25EE-C636-CC4D-BC47-CF8F459438BA}"/>
              </a:ext>
            </a:extLst>
          </p:cNvPr>
          <p:cNvSpPr/>
          <p:nvPr/>
        </p:nvSpPr>
        <p:spPr>
          <a:xfrm>
            <a:off x="6352032" y="947403"/>
            <a:ext cx="262128" cy="16497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E56A02E-B628-B505-EB37-8B863E967DEA}"/>
              </a:ext>
            </a:extLst>
          </p:cNvPr>
          <p:cNvSpPr/>
          <p:nvPr/>
        </p:nvSpPr>
        <p:spPr>
          <a:xfrm>
            <a:off x="8200136" y="782431"/>
            <a:ext cx="262128" cy="16497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68458E9-87A8-62BF-214A-6B3E4D6E279D}"/>
              </a:ext>
            </a:extLst>
          </p:cNvPr>
          <p:cNvSpPr/>
          <p:nvPr/>
        </p:nvSpPr>
        <p:spPr>
          <a:xfrm>
            <a:off x="5784232" y="2397109"/>
            <a:ext cx="262128" cy="16497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AEF8DB0-9097-0DFE-1EED-12CD24DADD16}"/>
              </a:ext>
            </a:extLst>
          </p:cNvPr>
          <p:cNvSpPr/>
          <p:nvPr/>
        </p:nvSpPr>
        <p:spPr>
          <a:xfrm>
            <a:off x="6483096" y="2059089"/>
            <a:ext cx="262128" cy="16497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62E8A13-1A89-2289-E70E-75460C2CF8F5}"/>
              </a:ext>
            </a:extLst>
          </p:cNvPr>
          <p:cNvSpPr/>
          <p:nvPr/>
        </p:nvSpPr>
        <p:spPr>
          <a:xfrm>
            <a:off x="6553200" y="2786131"/>
            <a:ext cx="246888" cy="196877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5021055-E8E1-4490-18C6-1D174A07BA92}"/>
              </a:ext>
            </a:extLst>
          </p:cNvPr>
          <p:cNvSpPr/>
          <p:nvPr/>
        </p:nvSpPr>
        <p:spPr>
          <a:xfrm>
            <a:off x="6913880" y="3170903"/>
            <a:ext cx="688914" cy="367414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41BEA44-17C7-9AE5-434C-87C43323505B}"/>
              </a:ext>
            </a:extLst>
          </p:cNvPr>
          <p:cNvSpPr/>
          <p:nvPr/>
        </p:nvSpPr>
        <p:spPr>
          <a:xfrm>
            <a:off x="5455920" y="3798433"/>
            <a:ext cx="246888" cy="196877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A9DEFEC-CB8C-B1E3-4921-BA9EFCAB1EA5}"/>
              </a:ext>
            </a:extLst>
          </p:cNvPr>
          <p:cNvSpPr/>
          <p:nvPr/>
        </p:nvSpPr>
        <p:spPr>
          <a:xfrm>
            <a:off x="6046360" y="4192105"/>
            <a:ext cx="436736" cy="299526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3BFBE603-0C1F-8F39-CCDA-A8026EDB5D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20" y="4590259"/>
            <a:ext cx="2773107" cy="38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047497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8753D-3672-4A52-C045-A4E46CC0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04A673-4EC5-A6D0-1B1C-F844A3DD9AD8}"/>
              </a:ext>
            </a:extLst>
          </p:cNvPr>
          <p:cNvSpPr txBox="1"/>
          <p:nvPr/>
        </p:nvSpPr>
        <p:spPr>
          <a:xfrm>
            <a:off x="139700" y="276225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TWO_TLP_ONE_FLIT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5B4B23-EBE1-01BD-EEA9-749FAC6AB126}"/>
              </a:ext>
            </a:extLst>
          </p:cNvPr>
          <p:cNvSpPr/>
          <p:nvPr/>
        </p:nvSpPr>
        <p:spPr>
          <a:xfrm>
            <a:off x="7772400" y="390525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F0ED17-A1A2-2796-8356-EEAE66ACF8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84225"/>
            <a:ext cx="6481934" cy="12073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C115B4-AFED-31C6-072D-185A423FE4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2148046"/>
            <a:ext cx="6481934" cy="13088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E74E2D-BEFD-A279-66E2-5F93E063C4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r="1246"/>
          <a:stretch>
            <a:fillRect/>
          </a:stretch>
        </p:blipFill>
        <p:spPr>
          <a:xfrm>
            <a:off x="139700" y="3613327"/>
            <a:ext cx="6481934" cy="12073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A4E23A-A8D6-C47C-2072-1A92D494530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6830"/>
          <a:stretch>
            <a:fillRect/>
          </a:stretch>
        </p:blipFill>
        <p:spPr>
          <a:xfrm>
            <a:off x="6764442" y="686551"/>
            <a:ext cx="2202985" cy="14027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637985B-1189-F1DF-70E2-0D6B72272B01}"/>
              </a:ext>
            </a:extLst>
          </p:cNvPr>
          <p:cNvSpPr txBox="1"/>
          <p:nvPr/>
        </p:nvSpPr>
        <p:spPr>
          <a:xfrm>
            <a:off x="6712796" y="2319746"/>
            <a:ext cx="2306279" cy="246221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Multi-Packet in Single FLIT (TWO_TLP_ONE_FLIT)</a:t>
            </a:r>
          </a:p>
          <a:p>
            <a:pPr marL="0" marR="0" indent="0" algn="l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▪ Two Transfer TLPs packed into a single CXS FLIT.</a:t>
            </a:r>
          </a:p>
          <a:p>
            <a:pPr marL="0" marR="0" indent="0" algn="l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▪ CXS Packet Formatter decodes Start0/End0 and Start1/End1 pointers.</a:t>
            </a:r>
          </a:p>
          <a:p>
            <a:pPr marL="0" marR="0" indent="0" algn="l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▪ Both packets sequentially extracted and streamed across Async FIFO.</a:t>
            </a:r>
          </a:p>
          <a:p>
            <a:pPr marL="0" marR="0" indent="0" algn="l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▪ Control Unit parses each frame without cross-packet corruption.</a:t>
            </a:r>
          </a:p>
          <a:p>
            <a:pPr marL="0" marR="0" indent="0" algn="l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▪ Expected behavior: Multi-packet throughput with zero word loss.</a:t>
            </a:r>
          </a:p>
          <a:p>
            <a:pPr>
              <a:buNone/>
            </a:pP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13A5108-DCA9-F69D-1680-53B9BCB5C0B2}"/>
              </a:ext>
            </a:extLst>
          </p:cNvPr>
          <p:cNvSpPr/>
          <p:nvPr/>
        </p:nvSpPr>
        <p:spPr>
          <a:xfrm>
            <a:off x="176570" y="871728"/>
            <a:ext cx="3395685" cy="179936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C51FB7A-47A3-85FB-4A4A-F1B7C4E85900}"/>
              </a:ext>
            </a:extLst>
          </p:cNvPr>
          <p:cNvSpPr/>
          <p:nvPr/>
        </p:nvSpPr>
        <p:spPr>
          <a:xfrm>
            <a:off x="3300950" y="4175568"/>
            <a:ext cx="688914" cy="367414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42478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6FBE4-12DA-64D9-C83E-422B8207A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E4884E-168C-9687-2109-7F9B8D18D9FE}"/>
              </a:ext>
            </a:extLst>
          </p:cNvPr>
          <p:cNvSpPr txBox="1"/>
          <p:nvPr/>
        </p:nvSpPr>
        <p:spPr>
          <a:xfrm>
            <a:off x="139700" y="276225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ERR_TX_FLIT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E7D87C3-CA62-A291-BCF8-21D3791BAF16}"/>
              </a:ext>
            </a:extLst>
          </p:cNvPr>
          <p:cNvSpPr/>
          <p:nvPr/>
        </p:nvSpPr>
        <p:spPr>
          <a:xfrm>
            <a:off x="7772400" y="390525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167E11-0BFA-8928-EA77-3EA4F0F9C9C4}"/>
              </a:ext>
            </a:extLst>
          </p:cNvPr>
          <p:cNvSpPr txBox="1"/>
          <p:nvPr/>
        </p:nvSpPr>
        <p:spPr>
          <a:xfrm>
            <a:off x="73742" y="1137136"/>
            <a:ext cx="5788742" cy="138499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Error Injection &amp; Response FLIT (ERR_TX_FLIT)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Configuration header injected with unsupported ENC_MODE.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Control Unit detects invalid mode and transitions to ERROR state.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Error code synchronized across CDC boundary via toggle handshake.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CXS TX interface encodes and transmits an Error Response FLIT.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Expected behavior: Safe error trapping and protocol response.</a:t>
            </a:r>
            <a:endParaRPr lang="en-US" sz="1400" dirty="0">
              <a:solidFill>
                <a:srgbClr val="CCCC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A11962-A47C-80CF-2096-B6CE5CF4D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2" y="2949989"/>
            <a:ext cx="9070258" cy="156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781613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86806-35E0-47AA-1835-C51379B19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642535-F3F2-A49C-6BA5-A622990FBC5D}"/>
              </a:ext>
            </a:extLst>
          </p:cNvPr>
          <p:cNvSpPr txBox="1"/>
          <p:nvPr/>
        </p:nvSpPr>
        <p:spPr>
          <a:xfrm>
            <a:off x="139700" y="276225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TX_CREDIT_STALL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DA3EC1-87D4-183B-6A1F-9FE245A301C7}"/>
              </a:ext>
            </a:extLst>
          </p:cNvPr>
          <p:cNvSpPr/>
          <p:nvPr/>
        </p:nvSpPr>
        <p:spPr>
          <a:xfrm>
            <a:off x="7772400" y="390525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9A6157-092B-27DB-3B11-AC110A9E5740}"/>
              </a:ext>
            </a:extLst>
          </p:cNvPr>
          <p:cNvSpPr txBox="1"/>
          <p:nvPr/>
        </p:nvSpPr>
        <p:spPr>
          <a:xfrm>
            <a:off x="6281584" y="2816253"/>
            <a:ext cx="2608416" cy="23083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 Credit Flow Control &amp; Stall (TX_CREDIT_STALL)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Error Response FLIT ready for transmission while TX credit = 0.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TX Interface stalls and buffers FLIT without dropping packets.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External TX credit granted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i_top_cxs_tx_crdgnt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asserted).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Transmission resumes immediately; credit decremented correctly.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Expected behavior: Full credit flow control compliance.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BFF44B-CE09-6574-FB08-9546904D7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9174"/>
            <a:ext cx="8734323" cy="18627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F6658B-8279-D1EF-38F5-9FE4338E2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56108"/>
            <a:ext cx="6116484" cy="2011167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C3697AB-D5A0-1792-F4AD-7BC36B49C604}"/>
              </a:ext>
            </a:extLst>
          </p:cNvPr>
          <p:cNvSpPr/>
          <p:nvPr/>
        </p:nvSpPr>
        <p:spPr>
          <a:xfrm>
            <a:off x="2282918" y="864108"/>
            <a:ext cx="688914" cy="367414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FBE1CDE-E44A-93AB-72D5-8239944233DE}"/>
              </a:ext>
            </a:extLst>
          </p:cNvPr>
          <p:cNvSpPr/>
          <p:nvPr/>
        </p:nvSpPr>
        <p:spPr>
          <a:xfrm>
            <a:off x="1700784" y="2017776"/>
            <a:ext cx="277400" cy="280546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7036DF-6AF4-AF3F-4D47-AE1BEAF8A6E4}"/>
              </a:ext>
            </a:extLst>
          </p:cNvPr>
          <p:cNvSpPr/>
          <p:nvPr/>
        </p:nvSpPr>
        <p:spPr>
          <a:xfrm>
            <a:off x="2941352" y="3861691"/>
            <a:ext cx="277400" cy="280546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C0F406B-FD19-0A3A-351B-9CA3F24FCA0D}"/>
              </a:ext>
            </a:extLst>
          </p:cNvPr>
          <p:cNvSpPr/>
          <p:nvPr/>
        </p:nvSpPr>
        <p:spPr>
          <a:xfrm>
            <a:off x="3080052" y="4586729"/>
            <a:ext cx="277400" cy="280546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587566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7063-8462-5922-EEA7-AA7138196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9F96F4-0B50-672E-4B46-E915807EFFA2}"/>
              </a:ext>
            </a:extLst>
          </p:cNvPr>
          <p:cNvSpPr txBox="1"/>
          <p:nvPr/>
        </p:nvSpPr>
        <p:spPr>
          <a:xfrm>
            <a:off x="139700" y="276225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Linting &amp; Synthesis Setup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09BD20-3BDA-67C0-1F39-6FE0F4472B52}"/>
              </a:ext>
            </a:extLst>
          </p:cNvPr>
          <p:cNvSpPr/>
          <p:nvPr/>
        </p:nvSpPr>
        <p:spPr>
          <a:xfrm>
            <a:off x="7772400" y="390525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14DA79-4162-BA47-A2D0-E75F6D5CDE8E}"/>
              </a:ext>
            </a:extLst>
          </p:cNvPr>
          <p:cNvSpPr txBox="1"/>
          <p:nvPr/>
        </p:nvSpPr>
        <p:spPr>
          <a:xfrm>
            <a:off x="199102" y="1093040"/>
            <a:ext cx="8480323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Tool Setup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PDK &amp; Technology Library:</a:t>
            </a:r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Synopsys </a:t>
            </a:r>
            <a:r>
              <a:rPr lang="en-US" sz="1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SAED 90nm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educational design kit</a:t>
            </a:r>
          </a:p>
          <a:p>
            <a:pPr marL="742950" marR="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Typical operating corner (saed90nm_typ.db, 1.2V, 25°C)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RTL Lint &amp; CDC (</a:t>
            </a:r>
            <a:r>
              <a:rPr lang="en-US" sz="1600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SpyGlass</a:t>
            </a:r>
            <a:r>
              <a:rPr lang="en-US" sz="1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 coding standards, latches, and synthesizability</a:t>
            </a:r>
          </a:p>
          <a:p>
            <a:pPr marL="742950" marR="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Verified Clock Domain Crossing (CDC) between </a:t>
            </a:r>
            <a:r>
              <a:rPr lang="en-US" sz="1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CXS (37 MHz)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1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(25 MHz)</a:t>
            </a:r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 Synthesis (Design Compiler):</a:t>
            </a:r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Constrained dual asynchronous clock domains (37 MHz / 25 MHz)</a:t>
            </a:r>
          </a:p>
          <a:p>
            <a:pPr marL="742950" marR="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Mapped RTL to standard cells and generated Timing, Area, and Power reports</a:t>
            </a:r>
            <a:endParaRPr lang="en-US" sz="1600" b="0" i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320273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EDC43A-5DAF-DFFB-73FA-7B0ABDDB8437}"/>
              </a:ext>
            </a:extLst>
          </p:cNvPr>
          <p:cNvSpPr txBox="1"/>
          <p:nvPr/>
        </p:nvSpPr>
        <p:spPr>
          <a:xfrm>
            <a:off x="139700" y="26035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 dirty="0">
                <a:solidFill>
                  <a:srgbClr val="1E2761"/>
                </a:solidFill>
                <a:latin typeface="Cambria" panose="02040503050406030204" pitchFamily="18" charset="0"/>
              </a:rPr>
              <a:t>Lint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96D311-EAC9-2819-2B21-9BF15455A5E4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03183D-485E-5EDB-A724-02607D04ACAA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2FBCCB-CEC5-8328-87F1-0CDF1A1692D0}"/>
              </a:ext>
            </a:extLst>
          </p:cNvPr>
          <p:cNvSpPr/>
          <p:nvPr/>
        </p:nvSpPr>
        <p:spPr>
          <a:xfrm>
            <a:off x="364613" y="768350"/>
            <a:ext cx="8779387" cy="396875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152014-D04F-ECBE-1FDE-603AD3A4E8CA}"/>
              </a:ext>
            </a:extLst>
          </p:cNvPr>
          <p:cNvSpPr/>
          <p:nvPr/>
        </p:nvSpPr>
        <p:spPr>
          <a:xfrm>
            <a:off x="781735" y="1065571"/>
            <a:ext cx="1244600" cy="736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0</a:t>
            </a:r>
          </a:p>
          <a:p>
            <a:pPr algn="ctr">
              <a:spcAft>
                <a:spcPts val="200"/>
              </a:spcAft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</a:rPr>
              <a:t>Errors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88587B-FFFD-8055-0FE3-ACA96B1AE2D9}"/>
              </a:ext>
            </a:extLst>
          </p:cNvPr>
          <p:cNvSpPr/>
          <p:nvPr/>
        </p:nvSpPr>
        <p:spPr>
          <a:xfrm>
            <a:off x="787400" y="2041064"/>
            <a:ext cx="1244600" cy="736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0</a:t>
            </a:r>
          </a:p>
          <a:p>
            <a:pPr algn="ctr">
              <a:spcAft>
                <a:spcPts val="200"/>
              </a:spcAft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</a:rPr>
              <a:t>Latches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265EE3-41D6-AC26-52DD-6DECB30E6E43}"/>
              </a:ext>
            </a:extLst>
          </p:cNvPr>
          <p:cNvSpPr/>
          <p:nvPr/>
        </p:nvSpPr>
        <p:spPr>
          <a:xfrm>
            <a:off x="787400" y="3236757"/>
            <a:ext cx="1244600" cy="736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0</a:t>
            </a:r>
          </a:p>
          <a:p>
            <a:pPr algn="ctr">
              <a:spcAft>
                <a:spcPts val="200"/>
              </a:spcAft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</a:rPr>
              <a:t>CDC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BFD8DF-5C9A-161E-3DF4-F4261FE89B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" t="10800"/>
          <a:stretch>
            <a:fillRect/>
          </a:stretch>
        </p:blipFill>
        <p:spPr>
          <a:xfrm>
            <a:off x="2565401" y="805324"/>
            <a:ext cx="5235248" cy="21067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8CBAC7-8295-4AE2-860A-E3654A42F5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83" t="14101"/>
          <a:stretch>
            <a:fillRect/>
          </a:stretch>
        </p:blipFill>
        <p:spPr>
          <a:xfrm>
            <a:off x="2565401" y="2868561"/>
            <a:ext cx="6161733" cy="186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55000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A6687C-2A10-2FCB-CF62-2776C18D6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B6D8C5-4372-A81A-6507-BFA710E7271C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 dirty="0">
                <a:solidFill>
                  <a:srgbClr val="1E2761"/>
                </a:solidFill>
                <a:latin typeface="Cambria" panose="02040503050406030204" pitchFamily="18" charset="0"/>
              </a:rPr>
              <a:t>Synthesis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673ED2-EF5D-1679-AA42-97F56EB421DD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786EB9-858E-B840-7BE7-2F951966DBB4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PART B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CB37B04-AD32-CF07-E8E9-C32A1527087D}"/>
              </a:ext>
            </a:extLst>
          </p:cNvPr>
          <p:cNvSpPr/>
          <p:nvPr/>
        </p:nvSpPr>
        <p:spPr>
          <a:xfrm>
            <a:off x="233926" y="914400"/>
            <a:ext cx="8676148" cy="39243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28E14C-9A67-1DD5-343B-3398E1D54C18}"/>
              </a:ext>
            </a:extLst>
          </p:cNvPr>
          <p:cNvSpPr/>
          <p:nvPr/>
        </p:nvSpPr>
        <p:spPr>
          <a:xfrm>
            <a:off x="539135" y="1079500"/>
            <a:ext cx="1415026" cy="952664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12.20 ns</a:t>
            </a:r>
            <a:b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 </a:t>
            </a: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</a:rPr>
              <a:t>slack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EAACA4-6B49-7D0D-1AB4-5E4B6B622BA0}"/>
              </a:ext>
            </a:extLst>
          </p:cNvPr>
          <p:cNvSpPr/>
          <p:nvPr/>
        </p:nvSpPr>
        <p:spPr>
          <a:xfrm>
            <a:off x="539135" y="2365347"/>
            <a:ext cx="1415026" cy="952664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0.23 ns</a:t>
            </a:r>
          </a:p>
          <a:p>
            <a:pPr algn="ctr">
              <a:spcAft>
                <a:spcPts val="200"/>
              </a:spcAft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</a:rPr>
              <a:t>Hold slack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FDCA467-6051-3CEC-8002-ED64729A7700}"/>
              </a:ext>
            </a:extLst>
          </p:cNvPr>
          <p:cNvSpPr/>
          <p:nvPr/>
        </p:nvSpPr>
        <p:spPr>
          <a:xfrm>
            <a:off x="539135" y="3651195"/>
            <a:ext cx="1415026" cy="952664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 dirty="0"/>
              <a:t>670,253.87 μm²</a:t>
            </a:r>
            <a:endParaRPr lang="en-US" sz="1050" b="1" dirty="0">
              <a:solidFill>
                <a:srgbClr val="FFFFFF"/>
              </a:solidFill>
              <a:latin typeface="Times New Roman" panose="02020603050405020304" pitchFamily="18" charset="0"/>
            </a:endParaRPr>
          </a:p>
          <a:p>
            <a:pPr algn="ctr">
              <a:spcAft>
                <a:spcPts val="200"/>
              </a:spcAft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</a:rPr>
              <a:t>Area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83FD3D4-A827-C500-90E5-D7A759E71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569" y="3422650"/>
            <a:ext cx="3337849" cy="125740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061F6BE-D387-783A-69DF-48826E4FA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293" y="1038088"/>
            <a:ext cx="5342083" cy="83827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F58DD94-FDA5-FC5D-073F-B4A9951090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1533" y="2365347"/>
            <a:ext cx="5342083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38675"/>
      </p:ext>
    </p:extLst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C0FD9C-5518-2B09-D789-28F5B6A477A8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Side-by-Side 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CAD47B-72BC-34AF-E03D-E98A8E4C0134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6627DD-4331-9BB6-A5AA-D3D899337F24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SUMMARY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7125E1-C516-D271-E88C-ABBD8B440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3753"/>
              </p:ext>
            </p:extLst>
          </p:nvPr>
        </p:nvGraphicFramePr>
        <p:xfrm>
          <a:off x="254000" y="1041400"/>
          <a:ext cx="8636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52454507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284931377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167635614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Dimension</a:t>
                      </a:r>
                    </a:p>
                  </a:txBody>
                  <a:tcPr marL="50800" marR="50800" marT="25400" marB="254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Part A — Mariam Gomaa</a:t>
                      </a:r>
                    </a:p>
                  </a:txBody>
                  <a:tcPr marL="50800" marR="50800" marT="25400" marB="254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Part B — Fady Samy </a:t>
                      </a:r>
                    </a:p>
                  </a:txBody>
                  <a:tcPr marL="50800" marR="50800" marT="25400" marB="25400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7433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CXS link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32-bit data / 6-bit CNTL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256-bit data / 14-bit CNTL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80822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Link activation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CXSACTIVEREQ/ACK FSM (STOP → ACTIVE → RUN)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Not implemented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97123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FLIT decoding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Flit Decoder in CLK_SYS (after the Async FIFO)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Packet Formatter in CLK_CXS (before the Async FIFO)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62658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Control FSM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9 states, LINK_OK application handshake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5 states on a read-through FIFO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56527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Payload word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8-bit address + 8-bit data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ADDR[31:16] + DATA[15:0]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68063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ATU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Logical − Base + Start + 2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Base + Logical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94798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CDC back-path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Data synchronizer + reset synchronizers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Data synchronizer + reset synchronizers</a:t>
                      </a:r>
                    </a:p>
                  </a:txBody>
                  <a:tcPr marL="50800" marR="50800" marT="25400" marB="25400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85189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1" i="0">
                          <a:solidFill>
                            <a:srgbClr val="2F5597"/>
                          </a:solidFill>
                          <a:latin typeface="Times New Roman" panose="02020603050405020304" pitchFamily="18" charset="0"/>
                        </a:rPr>
                        <a:t>Verification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Unit TBs (RX 9/9, TX 10/10) + end-to-end; </a:t>
                      </a:r>
                      <a:r>
                        <a:rPr lang="en-US" sz="950" b="0" i="0" dirty="0" err="1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SpyGlass</a:t>
                      </a:r>
                      <a:r>
                        <a:rPr lang="en-US" sz="950" b="0" i="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; DC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sz="950" b="0" i="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Unit TBs + UVM (4 scenarios); </a:t>
                      </a:r>
                      <a:r>
                        <a:rPr lang="en-US" sz="950" b="0" i="0" dirty="0" err="1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SpyGlass</a:t>
                      </a:r>
                      <a:r>
                        <a:rPr lang="en-US" sz="950" b="0" i="0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</a:rPr>
                        <a:t>; DC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778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471888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21CBAB-98B0-1F63-BF83-DA32C05C2AB2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Roadmap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A6E08E-2D78-42C7-FA31-6684571DD13C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0E34B7-B0D0-01D3-2A7C-343B7E1FDB82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SUMMARY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6F4CC68D-2E1C-56ED-F8BB-B24C9B4824B0}"/>
              </a:ext>
            </a:extLst>
          </p:cNvPr>
          <p:cNvSpPr/>
          <p:nvPr/>
        </p:nvSpPr>
        <p:spPr>
          <a:xfrm>
            <a:off x="254000" y="1700161"/>
            <a:ext cx="2286000" cy="736600"/>
          </a:xfrm>
          <a:prstGeom prst="chevron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FFFFFF"/>
                </a:solidFill>
                <a:latin typeface="Times New Roman" panose="02020603050405020304" pitchFamily="18" charset="0"/>
              </a:rPr>
              <a:t>AES encryption engine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31E3175-3E05-6291-58B7-6B4F697E074E}"/>
              </a:ext>
            </a:extLst>
          </p:cNvPr>
          <p:cNvSpPr/>
          <p:nvPr/>
        </p:nvSpPr>
        <p:spPr>
          <a:xfrm>
            <a:off x="2387600" y="1700161"/>
            <a:ext cx="2286000" cy="736600"/>
          </a:xfrm>
          <a:prstGeom prst="chevron">
            <a:avLst/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FFFFFF"/>
                </a:solidFill>
                <a:latin typeface="Times New Roman" panose="02020603050405020304" pitchFamily="18" charset="0"/>
              </a:rPr>
              <a:t>ECC instead of parity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171189F8-8706-954C-025C-E39AEC1529D0}"/>
              </a:ext>
            </a:extLst>
          </p:cNvPr>
          <p:cNvSpPr/>
          <p:nvPr/>
        </p:nvSpPr>
        <p:spPr>
          <a:xfrm>
            <a:off x="4521200" y="1700161"/>
            <a:ext cx="2286000" cy="736600"/>
          </a:xfrm>
          <a:prstGeom prst="chevron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FFFFFF"/>
                </a:solidFill>
                <a:latin typeface="Times New Roman" panose="02020603050405020304" pitchFamily="18" charset="0"/>
              </a:rPr>
              <a:t>CRC packet check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68F39674-3BB2-DEE1-A69F-F7F7728E9172}"/>
              </a:ext>
            </a:extLst>
          </p:cNvPr>
          <p:cNvSpPr/>
          <p:nvPr/>
        </p:nvSpPr>
        <p:spPr>
          <a:xfrm>
            <a:off x="6654800" y="1700161"/>
            <a:ext cx="2286000" cy="736600"/>
          </a:xfrm>
          <a:prstGeom prst="chevron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050" b="1">
                <a:solidFill>
                  <a:srgbClr val="FFFFFF"/>
                </a:solidFill>
                <a:latin typeface="Times New Roman" panose="02020603050405020304" pitchFamily="18" charset="0"/>
              </a:rPr>
              <a:t>DMA &amp; variable-length TLPs</a:t>
            </a:r>
          </a:p>
        </p:txBody>
      </p:sp>
    </p:spTree>
    <p:extLst>
      <p:ext uri="{BB962C8B-B14F-4D97-AF65-F5344CB8AC3E}">
        <p14:creationId xmlns:p14="http://schemas.microsoft.com/office/powerpoint/2010/main" val="2362620634"/>
      </p:ext>
    </p:extLst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54D7-B63F-9460-DA80-864F8985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77B227-5E0D-3C2E-03C0-031568237743}"/>
              </a:ext>
            </a:extLst>
          </p:cNvPr>
          <p:cNvSpPr txBox="1"/>
          <p:nvPr/>
        </p:nvSpPr>
        <p:spPr>
          <a:xfrm>
            <a:off x="355600" y="304800"/>
            <a:ext cx="7112000" cy="508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US" sz="2400" b="1">
                <a:solidFill>
                  <a:srgbClr val="1E2761"/>
                </a:solidFill>
                <a:latin typeface="Cambria" panose="02040503050406030204" pitchFamily="18" charset="0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7984E1-3D9C-9D8C-8D51-7467EB7690EF}"/>
              </a:ext>
            </a:extLst>
          </p:cNvPr>
          <p:cNvSpPr/>
          <p:nvPr/>
        </p:nvSpPr>
        <p:spPr>
          <a:xfrm>
            <a:off x="406400" y="838200"/>
            <a:ext cx="762000" cy="44450"/>
          </a:xfrm>
          <a:prstGeom prst="rect">
            <a:avLst/>
          </a:prstGeom>
          <a:solidFill>
            <a:srgbClr val="00C2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A94FEE-59A6-C09D-B1C1-9F830238B151}"/>
              </a:ext>
            </a:extLst>
          </p:cNvPr>
          <p:cNvSpPr/>
          <p:nvPr/>
        </p:nvSpPr>
        <p:spPr>
          <a:xfrm>
            <a:off x="7772400" y="406400"/>
            <a:ext cx="1117600" cy="279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950" b="1">
                <a:solidFill>
                  <a:srgbClr val="FFFFFF"/>
                </a:solidFill>
                <a:latin typeface="Times New Roman" panose="02020603050405020304" pitchFamily="18" charset="0"/>
              </a:rPr>
              <a:t>SUMMARY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914D72-16CB-64DD-41FC-4BC0A25D3204}"/>
              </a:ext>
            </a:extLst>
          </p:cNvPr>
          <p:cNvSpPr/>
          <p:nvPr/>
        </p:nvSpPr>
        <p:spPr>
          <a:xfrm>
            <a:off x="254000" y="1092200"/>
            <a:ext cx="2768600" cy="2895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EDC7E-4790-03D5-E6A3-0FBD8876BBE0}"/>
              </a:ext>
            </a:extLst>
          </p:cNvPr>
          <p:cNvSpPr txBox="1"/>
          <p:nvPr/>
        </p:nvSpPr>
        <p:spPr>
          <a:xfrm>
            <a:off x="406400" y="1193800"/>
            <a:ext cx="24638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1E2761"/>
                </a:solidFill>
                <a:latin typeface="Cambria" panose="02040503050406030204" pitchFamily="18" charset="0"/>
              </a:rPr>
              <a:t>The spec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874E26-2DB3-2E14-61EE-4DF3DA931F5C}"/>
              </a:ext>
            </a:extLst>
          </p:cNvPr>
          <p:cNvSpPr txBox="1"/>
          <p:nvPr/>
        </p:nvSpPr>
        <p:spPr>
          <a:xfrm>
            <a:off x="406400" y="1498600"/>
            <a:ext cx="2463800" cy="2413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50">
                <a:solidFill>
                  <a:srgbClr val="1E2761"/>
                </a:solidFill>
                <a:latin typeface="Times New Roman" panose="02020603050405020304" pitchFamily="18" charset="0"/>
              </a:rPr>
              <a:t>One contract: TLP formats, register file, three phases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50">
                <a:solidFill>
                  <a:srgbClr val="1E2761"/>
                </a:solidFill>
                <a:latin typeface="Times New Roman" panose="02020603050405020304" pitchFamily="18" charset="0"/>
              </a:rPr>
              <a:t>Two clock domains with defined CDC and reset rules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76F6DA-627E-79C4-95DA-A4CC77784483}"/>
              </a:ext>
            </a:extLst>
          </p:cNvPr>
          <p:cNvSpPr/>
          <p:nvPr/>
        </p:nvSpPr>
        <p:spPr>
          <a:xfrm>
            <a:off x="3187700" y="1092200"/>
            <a:ext cx="2768600" cy="2895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06194-E6B5-A64D-4C4B-D067AB0CFE2A}"/>
              </a:ext>
            </a:extLst>
          </p:cNvPr>
          <p:cNvSpPr txBox="1"/>
          <p:nvPr/>
        </p:nvSpPr>
        <p:spPr>
          <a:xfrm>
            <a:off x="3340100" y="1193800"/>
            <a:ext cx="24638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FFFFFF"/>
                </a:solidFill>
                <a:latin typeface="Cambria" panose="02040503050406030204" pitchFamily="18" charset="0"/>
              </a:rPr>
              <a:t>Two implementations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6B3F36-EE21-A840-90BF-5167CE556608}"/>
              </a:ext>
            </a:extLst>
          </p:cNvPr>
          <p:cNvSpPr txBox="1"/>
          <p:nvPr/>
        </p:nvSpPr>
        <p:spPr>
          <a:xfrm>
            <a:off x="3340100" y="1498600"/>
            <a:ext cx="2463800" cy="2413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50">
                <a:solidFill>
                  <a:srgbClr val="FFFFFF"/>
                </a:solidFill>
                <a:latin typeface="Times New Roman" panose="02020603050405020304" pitchFamily="18" charset="0"/>
              </a:rPr>
              <a:t>The same packet journey</a:t>
            </a:r>
          </a:p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50">
                <a:solidFill>
                  <a:srgbClr val="FFFFFF"/>
                </a:solidFill>
                <a:latin typeface="Times New Roman" panose="02020603050405020304" pitchFamily="18" charset="0"/>
              </a:rPr>
              <a:t>Different decode location, link width, FSM and CDC back-path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2164F42-A926-43A2-1490-6BF7F7FD2F27}"/>
              </a:ext>
            </a:extLst>
          </p:cNvPr>
          <p:cNvSpPr/>
          <p:nvPr/>
        </p:nvSpPr>
        <p:spPr>
          <a:xfrm>
            <a:off x="6121400" y="1092200"/>
            <a:ext cx="2768600" cy="2895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B81B0D-FDA7-A8FC-3C47-4EC85E0BAA88}"/>
              </a:ext>
            </a:extLst>
          </p:cNvPr>
          <p:cNvSpPr txBox="1"/>
          <p:nvPr/>
        </p:nvSpPr>
        <p:spPr>
          <a:xfrm>
            <a:off x="6273800" y="1193800"/>
            <a:ext cx="2463800" cy="2794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1E2761"/>
                </a:solidFill>
                <a:latin typeface="Cambria" panose="02040503050406030204" pitchFamily="18" charset="0"/>
              </a:rPr>
              <a:t>Outcome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924A93-3605-10FC-057B-EC88076B12E7}"/>
              </a:ext>
            </a:extLst>
          </p:cNvPr>
          <p:cNvSpPr txBox="1"/>
          <p:nvPr/>
        </p:nvSpPr>
        <p:spPr>
          <a:xfrm>
            <a:off x="6273800" y="1498600"/>
            <a:ext cx="2463800" cy="24130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noAutofit/>
          </a:bodyPr>
          <a:lstStyle/>
          <a:p>
            <a:pPr marL="127000" indent="-127000">
              <a:spcAft>
                <a:spcPts val="200"/>
              </a:spcAft>
              <a:buFont typeface="+mj-lt"/>
              <a:buChar char="•"/>
            </a:pPr>
            <a:r>
              <a:rPr lang="en-US" sz="1150" dirty="0">
                <a:solidFill>
                  <a:srgbClr val="1E2761"/>
                </a:solidFill>
                <a:latin typeface="Times New Roman" panose="02020603050405020304" pitchFamily="18" charset="0"/>
              </a:rPr>
              <a:t>Part A  &amp; B: verified, lint-clean, timing met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3B6B314-7A78-D9A0-E2DB-F7A958D03F0B}"/>
              </a:ext>
            </a:extLst>
          </p:cNvPr>
          <p:cNvSpPr/>
          <p:nvPr/>
        </p:nvSpPr>
        <p:spPr>
          <a:xfrm>
            <a:off x="254000" y="4165600"/>
            <a:ext cx="8636000" cy="711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>
              <a:spcAft>
                <a:spcPts val="200"/>
              </a:spcAft>
            </a:pPr>
            <a:r>
              <a:rPr lang="en-US" sz="1300">
                <a:solidFill>
                  <a:srgbClr val="FFFFFF"/>
                </a:solidFill>
                <a:latin typeface="Times New Roman" panose="02020603050405020304" pitchFamily="18" charset="0"/>
              </a:rPr>
              <a:t>One specification, two bridges: comparing them shows where the spec leaves room for design choices.</a:t>
            </a:r>
          </a:p>
        </p:txBody>
      </p:sp>
    </p:spTree>
    <p:extLst>
      <p:ext uri="{BB962C8B-B14F-4D97-AF65-F5344CB8AC3E}">
        <p14:creationId xmlns:p14="http://schemas.microsoft.com/office/powerpoint/2010/main" val="2276037752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5B1EA-75DD-7D8C-B21F-194B4F491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8040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1777</TotalTime>
  <Words>5345</Words>
  <Application>Microsoft Office PowerPoint</Application>
  <PresentationFormat>On-screen Show (16:9)</PresentationFormat>
  <Paragraphs>973</Paragraphs>
  <Slides>55</Slides>
  <Notes>40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Times New Roman</vt:lpstr>
      <vt:lpstr>Cambria</vt:lpstr>
      <vt:lpstr>Wingdings</vt:lpstr>
      <vt:lpstr>Roboto</vt:lpstr>
      <vt:lpstr>Arial</vt:lpstr>
      <vt:lpstr>Raleway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Gomaas Khalaf</dc:creator>
  <cp:lastModifiedBy>Fady Samy</cp:lastModifiedBy>
  <cp:revision>125</cp:revision>
  <dcterms:created xsi:type="dcterms:W3CDTF">2026-08-05T13:06:05Z</dcterms:created>
  <dcterms:modified xsi:type="dcterms:W3CDTF">2026-09-12T02:12:32Z</dcterms:modified>
</cp:coreProperties>
</file>