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6"/>
  </p:notesMasterIdLst>
  <p:sldIdLst>
    <p:sldId id="289" r:id="rId2"/>
    <p:sldId id="302" r:id="rId3"/>
    <p:sldId id="304" r:id="rId4"/>
    <p:sldId id="282" r:id="rId5"/>
    <p:sldId id="293" r:id="rId6"/>
    <p:sldId id="305" r:id="rId7"/>
    <p:sldId id="295" r:id="rId8"/>
    <p:sldId id="286" r:id="rId9"/>
    <p:sldId id="283" r:id="rId10"/>
    <p:sldId id="294" r:id="rId11"/>
    <p:sldId id="306" r:id="rId12"/>
    <p:sldId id="308" r:id="rId13"/>
    <p:sldId id="324" r:id="rId14"/>
    <p:sldId id="309" r:id="rId15"/>
    <p:sldId id="310" r:id="rId16"/>
    <p:sldId id="311" r:id="rId17"/>
    <p:sldId id="280" r:id="rId18"/>
    <p:sldId id="299" r:id="rId19"/>
    <p:sldId id="288" r:id="rId20"/>
    <p:sldId id="285" r:id="rId21"/>
    <p:sldId id="312" r:id="rId22"/>
    <p:sldId id="307" r:id="rId23"/>
    <p:sldId id="313" r:id="rId24"/>
    <p:sldId id="314" r:id="rId25"/>
    <p:sldId id="316" r:id="rId26"/>
    <p:sldId id="315" r:id="rId27"/>
    <p:sldId id="317" r:id="rId28"/>
    <p:sldId id="318" r:id="rId29"/>
    <p:sldId id="319" r:id="rId30"/>
    <p:sldId id="321" r:id="rId31"/>
    <p:sldId id="320" r:id="rId32"/>
    <p:sldId id="296" r:id="rId33"/>
    <p:sldId id="322" r:id="rId34"/>
    <p:sldId id="323" r:id="rId35"/>
  </p:sldIdLst>
  <p:sldSz cx="9144000" cy="5143500" type="screen16x9"/>
  <p:notesSz cx="5143500" cy="9144000"/>
  <p:embeddedFontLst>
    <p:embeddedFont>
      <p:font typeface="Cambria" panose="02040503050406030204" pitchFamily="18" charset="0"/>
      <p:regular r:id="rId37"/>
      <p:bold r:id="rId38"/>
      <p:italic r:id="rId39"/>
      <p:boldItalic r:id="rId40"/>
    </p:embeddedFont>
    <p:embeddedFont>
      <p:font typeface="Raleway" pitchFamily="2" charset="0"/>
      <p:regular r:id="rId41"/>
      <p:bold r:id="rId42"/>
    </p:embeddedFont>
    <p:embeddedFont>
      <p:font typeface="Roboto" pitchFamily="2"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761"/>
    <a:srgbClr val="00C2A8"/>
    <a:srgbClr val="FFFAFA"/>
    <a:srgbClr val="043DBC"/>
    <a:srgbClr val="202CA0"/>
    <a:srgbClr val="1733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10"/>
  </p:normalViewPr>
  <p:slideViewPr>
    <p:cSldViewPr snapToGrid="0" snapToObjects="1">
      <p:cViewPr varScale="1">
        <p:scale>
          <a:sx n="46" d="100"/>
          <a:sy n="46" d="100"/>
        </p:scale>
        <p:origin x="115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260851B-F560-493E-884F-AA69E8F6E36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2839A391-F32F-4F3C-9E82-835B7511C592}">
      <dgm:prSet phldrT="[Text]" phldr="0"/>
      <dgm:spPr/>
      <dgm:t>
        <a:bodyPr/>
        <a:lstStyle/>
        <a:p>
          <a:r>
            <a:rPr lang="en-US" b="1"/>
            <a:t>Receiving</a:t>
          </a:r>
          <a:endParaRPr lang="en-US" b="1" dirty="0"/>
        </a:p>
      </dgm:t>
    </dgm:pt>
    <dgm:pt modelId="{EFBAA1BC-C2D7-4CDB-964A-1AD37D455171}" type="parTrans" cxnId="{9CE20F5A-9DA2-4264-AA69-96AF5D2BBB27}">
      <dgm:prSet/>
      <dgm:spPr/>
      <dgm:t>
        <a:bodyPr/>
        <a:lstStyle/>
        <a:p>
          <a:endParaRPr lang="en-US"/>
        </a:p>
      </dgm:t>
    </dgm:pt>
    <dgm:pt modelId="{B6D6188B-61C7-4E51-A112-5B0D7254EA2A}" type="sibTrans" cxnId="{9CE20F5A-9DA2-4264-AA69-96AF5D2BBB27}">
      <dgm:prSet/>
      <dgm:spPr/>
      <dgm:t>
        <a:bodyPr/>
        <a:lstStyle/>
        <a:p>
          <a:endParaRPr lang="en-US"/>
        </a:p>
      </dgm:t>
    </dgm:pt>
    <dgm:pt modelId="{4031F221-6E8B-4D38-AD25-E1FADEED6937}">
      <dgm:prSet phldrT="[Text]" phldr="0"/>
      <dgm:spPr/>
      <dgm:t>
        <a:bodyPr/>
        <a:lstStyle/>
        <a:p>
          <a:r>
            <a:rPr lang="en-US" b="1"/>
            <a:t>Encryption</a:t>
          </a:r>
          <a:endParaRPr lang="en-US" dirty="0"/>
        </a:p>
      </dgm:t>
    </dgm:pt>
    <dgm:pt modelId="{DDB2546C-E8FC-4F53-809C-CC71DCBB3FDC}" type="parTrans" cxnId="{D4881306-50A0-453E-91A9-C10BD759190E}">
      <dgm:prSet/>
      <dgm:spPr/>
      <dgm:t>
        <a:bodyPr/>
        <a:lstStyle/>
        <a:p>
          <a:endParaRPr lang="en-US"/>
        </a:p>
      </dgm:t>
    </dgm:pt>
    <dgm:pt modelId="{66699949-91FB-4412-BAB3-8E66B2CA344E}" type="sibTrans" cxnId="{D4881306-50A0-453E-91A9-C10BD759190E}">
      <dgm:prSet/>
      <dgm:spPr/>
      <dgm:t>
        <a:bodyPr/>
        <a:lstStyle/>
        <a:p>
          <a:endParaRPr lang="en-US"/>
        </a:p>
      </dgm:t>
    </dgm:pt>
    <dgm:pt modelId="{85274742-F2D7-47EA-97F1-33D6A4F65E45}">
      <dgm:prSet phldrT="[Text]" phldr="0"/>
      <dgm:spPr/>
      <dgm:t>
        <a:bodyPr/>
        <a:lstStyle/>
        <a:p>
          <a:r>
            <a:rPr lang="en-US" b="1"/>
            <a:t>Parity</a:t>
          </a:r>
          <a:endParaRPr lang="en-US" dirty="0"/>
        </a:p>
      </dgm:t>
    </dgm:pt>
    <dgm:pt modelId="{23AB8A89-19E5-4F53-BA16-3EC6D9F0A657}" type="parTrans" cxnId="{367EBE60-D61C-4563-AF27-970A8587B868}">
      <dgm:prSet/>
      <dgm:spPr/>
      <dgm:t>
        <a:bodyPr/>
        <a:lstStyle/>
        <a:p>
          <a:endParaRPr lang="en-US"/>
        </a:p>
      </dgm:t>
    </dgm:pt>
    <dgm:pt modelId="{64043CAC-FD3F-421F-B953-ECA0126303DE}" type="sibTrans" cxnId="{367EBE60-D61C-4563-AF27-970A8587B868}">
      <dgm:prSet/>
      <dgm:spPr/>
      <dgm:t>
        <a:bodyPr/>
        <a:lstStyle/>
        <a:p>
          <a:endParaRPr lang="en-US"/>
        </a:p>
      </dgm:t>
    </dgm:pt>
    <dgm:pt modelId="{3C5141FE-984B-4748-8A8C-D44FF043F0C5}">
      <dgm:prSet phldrT="[Text]" phldr="0"/>
      <dgm:spPr/>
      <dgm:t>
        <a:bodyPr/>
        <a:lstStyle/>
        <a:p>
          <a:r>
            <a:rPr lang="en-US" b="1"/>
            <a:t>Storing</a:t>
          </a:r>
          <a:endParaRPr lang="en-US" b="1" dirty="0"/>
        </a:p>
      </dgm:t>
    </dgm:pt>
    <dgm:pt modelId="{0FEB5A1C-FED0-4CA4-A39E-0C673C7981EB}" type="parTrans" cxnId="{AAE077D0-14DA-411B-82BA-1228835917D0}">
      <dgm:prSet/>
      <dgm:spPr/>
      <dgm:t>
        <a:bodyPr/>
        <a:lstStyle/>
        <a:p>
          <a:endParaRPr lang="en-US"/>
        </a:p>
      </dgm:t>
    </dgm:pt>
    <dgm:pt modelId="{4514BB01-993C-4CEE-9797-A8405C1E45B0}" type="sibTrans" cxnId="{AAE077D0-14DA-411B-82BA-1228835917D0}">
      <dgm:prSet/>
      <dgm:spPr/>
      <dgm:t>
        <a:bodyPr/>
        <a:lstStyle/>
        <a:p>
          <a:endParaRPr lang="en-US"/>
        </a:p>
      </dgm:t>
    </dgm:pt>
    <dgm:pt modelId="{DC2ACE6F-4DE9-4F04-893A-8765F0CB3E7B}" type="pres">
      <dgm:prSet presAssocID="{8260851B-F560-493E-884F-AA69E8F6E365}" presName="Name0" presStyleCnt="0">
        <dgm:presLayoutVars>
          <dgm:chMax val="11"/>
          <dgm:chPref val="11"/>
          <dgm:dir/>
          <dgm:resizeHandles/>
        </dgm:presLayoutVars>
      </dgm:prSet>
      <dgm:spPr/>
    </dgm:pt>
    <dgm:pt modelId="{1C9D6133-80B4-446B-9B08-2B3E1D5A420D}" type="pres">
      <dgm:prSet presAssocID="{3C5141FE-984B-4748-8A8C-D44FF043F0C5}" presName="Accent4" presStyleCnt="0"/>
      <dgm:spPr/>
    </dgm:pt>
    <dgm:pt modelId="{FDD8BF07-C71E-467F-9FB5-8F4EB5FADFA0}" type="pres">
      <dgm:prSet presAssocID="{3C5141FE-984B-4748-8A8C-D44FF043F0C5}" presName="Accent" presStyleLbl="node1" presStyleIdx="0" presStyleCnt="4"/>
      <dgm:spPr>
        <a:solidFill>
          <a:srgbClr val="002060"/>
        </a:solidFill>
      </dgm:spPr>
    </dgm:pt>
    <dgm:pt modelId="{5FF2CB7A-EEF1-4F20-815C-F17CDBD2206A}" type="pres">
      <dgm:prSet presAssocID="{3C5141FE-984B-4748-8A8C-D44FF043F0C5}" presName="ParentBackground4" presStyleCnt="0"/>
      <dgm:spPr/>
    </dgm:pt>
    <dgm:pt modelId="{1509CF40-E589-4609-8AB5-35177CD6BC7E}" type="pres">
      <dgm:prSet presAssocID="{3C5141FE-984B-4748-8A8C-D44FF043F0C5}" presName="ParentBackground" presStyleLbl="fgAcc1" presStyleIdx="0" presStyleCnt="4"/>
      <dgm:spPr/>
    </dgm:pt>
    <dgm:pt modelId="{19596B29-2FD9-49C8-90E3-E9267DD3A1FB}" type="pres">
      <dgm:prSet presAssocID="{3C5141FE-984B-4748-8A8C-D44FF043F0C5}" presName="Parent4" presStyleLbl="revTx" presStyleIdx="0" presStyleCnt="0">
        <dgm:presLayoutVars>
          <dgm:chMax val="1"/>
          <dgm:chPref val="1"/>
          <dgm:bulletEnabled val="1"/>
        </dgm:presLayoutVars>
      </dgm:prSet>
      <dgm:spPr/>
    </dgm:pt>
    <dgm:pt modelId="{3077A77D-1954-42FC-B4E5-B155CFC43751}" type="pres">
      <dgm:prSet presAssocID="{85274742-F2D7-47EA-97F1-33D6A4F65E45}" presName="Accent3" presStyleCnt="0"/>
      <dgm:spPr/>
    </dgm:pt>
    <dgm:pt modelId="{A1FCC95A-8C82-4448-B9E2-36DA616DDD78}" type="pres">
      <dgm:prSet presAssocID="{85274742-F2D7-47EA-97F1-33D6A4F65E45}" presName="Accent" presStyleLbl="node1" presStyleIdx="1" presStyleCnt="4"/>
      <dgm:spPr>
        <a:solidFill>
          <a:srgbClr val="002060"/>
        </a:solidFill>
      </dgm:spPr>
    </dgm:pt>
    <dgm:pt modelId="{2994F052-D484-4817-B699-AA78A431831A}" type="pres">
      <dgm:prSet presAssocID="{85274742-F2D7-47EA-97F1-33D6A4F65E45}" presName="ParentBackground3" presStyleCnt="0"/>
      <dgm:spPr/>
    </dgm:pt>
    <dgm:pt modelId="{4512CE89-0B49-42EA-AF66-E3717E9B4297}" type="pres">
      <dgm:prSet presAssocID="{85274742-F2D7-47EA-97F1-33D6A4F65E45}" presName="ParentBackground" presStyleLbl="fgAcc1" presStyleIdx="1" presStyleCnt="4"/>
      <dgm:spPr/>
    </dgm:pt>
    <dgm:pt modelId="{79F47A5D-4A93-484B-9113-16EC3AC48B1B}" type="pres">
      <dgm:prSet presAssocID="{85274742-F2D7-47EA-97F1-33D6A4F65E45}" presName="Parent3" presStyleLbl="revTx" presStyleIdx="0" presStyleCnt="0">
        <dgm:presLayoutVars>
          <dgm:chMax val="1"/>
          <dgm:chPref val="1"/>
          <dgm:bulletEnabled val="1"/>
        </dgm:presLayoutVars>
      </dgm:prSet>
      <dgm:spPr/>
    </dgm:pt>
    <dgm:pt modelId="{5D64D231-2814-4ABB-9CCC-25E57491B74F}" type="pres">
      <dgm:prSet presAssocID="{4031F221-6E8B-4D38-AD25-E1FADEED6937}" presName="Accent2" presStyleCnt="0"/>
      <dgm:spPr/>
    </dgm:pt>
    <dgm:pt modelId="{E4962A0A-DFAD-4249-B2CE-5963F243EF6A}" type="pres">
      <dgm:prSet presAssocID="{4031F221-6E8B-4D38-AD25-E1FADEED6937}" presName="Accent" presStyleLbl="node1" presStyleIdx="2" presStyleCnt="4"/>
      <dgm:spPr>
        <a:solidFill>
          <a:srgbClr val="002060"/>
        </a:solidFill>
      </dgm:spPr>
    </dgm:pt>
    <dgm:pt modelId="{5A1F8ADC-887E-4D1E-9979-68D89212BC61}" type="pres">
      <dgm:prSet presAssocID="{4031F221-6E8B-4D38-AD25-E1FADEED6937}" presName="ParentBackground2" presStyleCnt="0"/>
      <dgm:spPr/>
    </dgm:pt>
    <dgm:pt modelId="{5F54E8AD-D6F4-44D5-93A3-51108CB89D87}" type="pres">
      <dgm:prSet presAssocID="{4031F221-6E8B-4D38-AD25-E1FADEED6937}" presName="ParentBackground" presStyleLbl="fgAcc1" presStyleIdx="2" presStyleCnt="4"/>
      <dgm:spPr/>
    </dgm:pt>
    <dgm:pt modelId="{3218510E-7695-47A9-8C3B-462CD06C85CC}" type="pres">
      <dgm:prSet presAssocID="{4031F221-6E8B-4D38-AD25-E1FADEED6937}" presName="Parent2" presStyleLbl="revTx" presStyleIdx="0" presStyleCnt="0">
        <dgm:presLayoutVars>
          <dgm:chMax val="1"/>
          <dgm:chPref val="1"/>
          <dgm:bulletEnabled val="1"/>
        </dgm:presLayoutVars>
      </dgm:prSet>
      <dgm:spPr/>
    </dgm:pt>
    <dgm:pt modelId="{8A8A42A5-8F56-4016-AF74-2116BF5E46BD}" type="pres">
      <dgm:prSet presAssocID="{2839A391-F32F-4F3C-9E82-835B7511C592}" presName="Accent1" presStyleCnt="0"/>
      <dgm:spPr/>
    </dgm:pt>
    <dgm:pt modelId="{38EFC76C-5A8F-44DC-9760-F51F746588A8}" type="pres">
      <dgm:prSet presAssocID="{2839A391-F32F-4F3C-9E82-835B7511C592}" presName="Accent" presStyleLbl="node1" presStyleIdx="3" presStyleCnt="4"/>
      <dgm:spPr>
        <a:solidFill>
          <a:srgbClr val="002060"/>
        </a:solidFill>
      </dgm:spPr>
    </dgm:pt>
    <dgm:pt modelId="{8FCFEBDD-6CD3-4D38-B43C-236FE29A9DEA}" type="pres">
      <dgm:prSet presAssocID="{2839A391-F32F-4F3C-9E82-835B7511C592}" presName="ParentBackground1" presStyleCnt="0"/>
      <dgm:spPr/>
    </dgm:pt>
    <dgm:pt modelId="{AAC3C89B-CE1D-4F85-BE1F-C9EE55283FF5}" type="pres">
      <dgm:prSet presAssocID="{2839A391-F32F-4F3C-9E82-835B7511C592}" presName="ParentBackground" presStyleLbl="fgAcc1" presStyleIdx="3" presStyleCnt="4"/>
      <dgm:spPr/>
    </dgm:pt>
    <dgm:pt modelId="{D698B297-78C5-4826-8FCA-E3F94EF414FB}" type="pres">
      <dgm:prSet presAssocID="{2839A391-F32F-4F3C-9E82-835B7511C592}" presName="Parent1" presStyleLbl="revTx" presStyleIdx="0" presStyleCnt="0">
        <dgm:presLayoutVars>
          <dgm:chMax val="1"/>
          <dgm:chPref val="1"/>
          <dgm:bulletEnabled val="1"/>
        </dgm:presLayoutVars>
      </dgm:prSet>
      <dgm:spPr/>
    </dgm:pt>
  </dgm:ptLst>
  <dgm:cxnLst>
    <dgm:cxn modelId="{D4881306-50A0-453E-91A9-C10BD759190E}" srcId="{8260851B-F560-493E-884F-AA69E8F6E365}" destId="{4031F221-6E8B-4D38-AD25-E1FADEED6937}" srcOrd="1" destOrd="0" parTransId="{DDB2546C-E8FC-4F53-809C-CC71DCBB3FDC}" sibTransId="{66699949-91FB-4412-BAB3-8E66B2CA344E}"/>
    <dgm:cxn modelId="{4AE3F70A-ACD5-4979-873B-DFD270EFE344}" type="presOf" srcId="{2839A391-F32F-4F3C-9E82-835B7511C592}" destId="{AAC3C89B-CE1D-4F85-BE1F-C9EE55283FF5}" srcOrd="0" destOrd="0" presId="urn:microsoft.com/office/officeart/2011/layout/CircleProcess"/>
    <dgm:cxn modelId="{479A6E23-5C0E-4388-9CCE-FE0D7B935F6A}" type="presOf" srcId="{4031F221-6E8B-4D38-AD25-E1FADEED6937}" destId="{3218510E-7695-47A9-8C3B-462CD06C85CC}" srcOrd="1" destOrd="0" presId="urn:microsoft.com/office/officeart/2011/layout/CircleProcess"/>
    <dgm:cxn modelId="{5B22B028-8CDE-4F80-B5C4-D24EB576C4B0}" type="presOf" srcId="{4031F221-6E8B-4D38-AD25-E1FADEED6937}" destId="{5F54E8AD-D6F4-44D5-93A3-51108CB89D87}" srcOrd="0" destOrd="0" presId="urn:microsoft.com/office/officeart/2011/layout/CircleProcess"/>
    <dgm:cxn modelId="{BC6CC75F-C577-4BC0-B2A0-2069333BC861}" type="presOf" srcId="{2839A391-F32F-4F3C-9E82-835B7511C592}" destId="{D698B297-78C5-4826-8FCA-E3F94EF414FB}" srcOrd="1" destOrd="0" presId="urn:microsoft.com/office/officeart/2011/layout/CircleProcess"/>
    <dgm:cxn modelId="{367EBE60-D61C-4563-AF27-970A8587B868}" srcId="{8260851B-F560-493E-884F-AA69E8F6E365}" destId="{85274742-F2D7-47EA-97F1-33D6A4F65E45}" srcOrd="2" destOrd="0" parTransId="{23AB8A89-19E5-4F53-BA16-3EC6D9F0A657}" sibTransId="{64043CAC-FD3F-421F-B953-ECA0126303DE}"/>
    <dgm:cxn modelId="{52ED4259-3839-4549-8C08-87A4A3565CFD}" type="presOf" srcId="{85274742-F2D7-47EA-97F1-33D6A4F65E45}" destId="{4512CE89-0B49-42EA-AF66-E3717E9B4297}" srcOrd="0" destOrd="0" presId="urn:microsoft.com/office/officeart/2011/layout/CircleProcess"/>
    <dgm:cxn modelId="{9CE20F5A-9DA2-4264-AA69-96AF5D2BBB27}" srcId="{8260851B-F560-493E-884F-AA69E8F6E365}" destId="{2839A391-F32F-4F3C-9E82-835B7511C592}" srcOrd="0" destOrd="0" parTransId="{EFBAA1BC-C2D7-4CDB-964A-1AD37D455171}" sibTransId="{B6D6188B-61C7-4E51-A112-5B0D7254EA2A}"/>
    <dgm:cxn modelId="{B4DABA83-0C4E-4406-ACFE-5137F7A5B9D1}" type="presOf" srcId="{8260851B-F560-493E-884F-AA69E8F6E365}" destId="{DC2ACE6F-4DE9-4F04-893A-8765F0CB3E7B}" srcOrd="0" destOrd="0" presId="urn:microsoft.com/office/officeart/2011/layout/CircleProcess"/>
    <dgm:cxn modelId="{F68F5493-1CC2-4292-B9EC-1C3A7448FC72}" type="presOf" srcId="{85274742-F2D7-47EA-97F1-33D6A4F65E45}" destId="{79F47A5D-4A93-484B-9113-16EC3AC48B1B}" srcOrd="1" destOrd="0" presId="urn:microsoft.com/office/officeart/2011/layout/CircleProcess"/>
    <dgm:cxn modelId="{28A6D1A6-9580-46E4-AF84-2EBFDD8CFFAC}" type="presOf" srcId="{3C5141FE-984B-4748-8A8C-D44FF043F0C5}" destId="{1509CF40-E589-4609-8AB5-35177CD6BC7E}" srcOrd="0" destOrd="0" presId="urn:microsoft.com/office/officeart/2011/layout/CircleProcess"/>
    <dgm:cxn modelId="{837439BA-6078-45C9-8D23-9CEBCBE4D361}" type="presOf" srcId="{3C5141FE-984B-4748-8A8C-D44FF043F0C5}" destId="{19596B29-2FD9-49C8-90E3-E9267DD3A1FB}" srcOrd="1" destOrd="0" presId="urn:microsoft.com/office/officeart/2011/layout/CircleProcess"/>
    <dgm:cxn modelId="{AAE077D0-14DA-411B-82BA-1228835917D0}" srcId="{8260851B-F560-493E-884F-AA69E8F6E365}" destId="{3C5141FE-984B-4748-8A8C-D44FF043F0C5}" srcOrd="3" destOrd="0" parTransId="{0FEB5A1C-FED0-4CA4-A39E-0C673C7981EB}" sibTransId="{4514BB01-993C-4CEE-9797-A8405C1E45B0}"/>
    <dgm:cxn modelId="{C6ADD7A2-9615-4C94-A82D-2DFC2BCF0C3F}" type="presParOf" srcId="{DC2ACE6F-4DE9-4F04-893A-8765F0CB3E7B}" destId="{1C9D6133-80B4-446B-9B08-2B3E1D5A420D}" srcOrd="0" destOrd="0" presId="urn:microsoft.com/office/officeart/2011/layout/CircleProcess"/>
    <dgm:cxn modelId="{182F8468-5618-4173-8F9C-CBF8EFE6C0D3}" type="presParOf" srcId="{1C9D6133-80B4-446B-9B08-2B3E1D5A420D}" destId="{FDD8BF07-C71E-467F-9FB5-8F4EB5FADFA0}" srcOrd="0" destOrd="0" presId="urn:microsoft.com/office/officeart/2011/layout/CircleProcess"/>
    <dgm:cxn modelId="{63C52317-DD51-4075-B82B-CDA49136A9C7}" type="presParOf" srcId="{DC2ACE6F-4DE9-4F04-893A-8765F0CB3E7B}" destId="{5FF2CB7A-EEF1-4F20-815C-F17CDBD2206A}" srcOrd="1" destOrd="0" presId="urn:microsoft.com/office/officeart/2011/layout/CircleProcess"/>
    <dgm:cxn modelId="{B2A44A3C-8A52-4DE0-8E4A-48142224EC70}" type="presParOf" srcId="{5FF2CB7A-EEF1-4F20-815C-F17CDBD2206A}" destId="{1509CF40-E589-4609-8AB5-35177CD6BC7E}" srcOrd="0" destOrd="0" presId="urn:microsoft.com/office/officeart/2011/layout/CircleProcess"/>
    <dgm:cxn modelId="{E1F629B3-1047-45DD-A21E-6CDFC6AB3D50}" type="presParOf" srcId="{DC2ACE6F-4DE9-4F04-893A-8765F0CB3E7B}" destId="{19596B29-2FD9-49C8-90E3-E9267DD3A1FB}" srcOrd="2" destOrd="0" presId="urn:microsoft.com/office/officeart/2011/layout/CircleProcess"/>
    <dgm:cxn modelId="{B31A50E8-70C5-40E3-BC7C-71524ADBE659}" type="presParOf" srcId="{DC2ACE6F-4DE9-4F04-893A-8765F0CB3E7B}" destId="{3077A77D-1954-42FC-B4E5-B155CFC43751}" srcOrd="3" destOrd="0" presId="urn:microsoft.com/office/officeart/2011/layout/CircleProcess"/>
    <dgm:cxn modelId="{551A5D7A-F8FE-4C6F-AFA9-04E64D3F4417}" type="presParOf" srcId="{3077A77D-1954-42FC-B4E5-B155CFC43751}" destId="{A1FCC95A-8C82-4448-B9E2-36DA616DDD78}" srcOrd="0" destOrd="0" presId="urn:microsoft.com/office/officeart/2011/layout/CircleProcess"/>
    <dgm:cxn modelId="{6104C5D9-B2ED-4677-BAEE-1438D2885493}" type="presParOf" srcId="{DC2ACE6F-4DE9-4F04-893A-8765F0CB3E7B}" destId="{2994F052-D484-4817-B699-AA78A431831A}" srcOrd="4" destOrd="0" presId="urn:microsoft.com/office/officeart/2011/layout/CircleProcess"/>
    <dgm:cxn modelId="{F63C5E42-307E-43EB-BB9B-9CEC5479A08D}" type="presParOf" srcId="{2994F052-D484-4817-B699-AA78A431831A}" destId="{4512CE89-0B49-42EA-AF66-E3717E9B4297}" srcOrd="0" destOrd="0" presId="urn:microsoft.com/office/officeart/2011/layout/CircleProcess"/>
    <dgm:cxn modelId="{56D1B03B-31D2-45FF-96D8-99D0EBA27E81}" type="presParOf" srcId="{DC2ACE6F-4DE9-4F04-893A-8765F0CB3E7B}" destId="{79F47A5D-4A93-484B-9113-16EC3AC48B1B}" srcOrd="5" destOrd="0" presId="urn:microsoft.com/office/officeart/2011/layout/CircleProcess"/>
    <dgm:cxn modelId="{1678B92F-7118-4570-AACE-43A5252D60F3}" type="presParOf" srcId="{DC2ACE6F-4DE9-4F04-893A-8765F0CB3E7B}" destId="{5D64D231-2814-4ABB-9CCC-25E57491B74F}" srcOrd="6" destOrd="0" presId="urn:microsoft.com/office/officeart/2011/layout/CircleProcess"/>
    <dgm:cxn modelId="{BFD71665-761D-4E2A-BA33-8E89C8A3CC35}" type="presParOf" srcId="{5D64D231-2814-4ABB-9CCC-25E57491B74F}" destId="{E4962A0A-DFAD-4249-B2CE-5963F243EF6A}" srcOrd="0" destOrd="0" presId="urn:microsoft.com/office/officeart/2011/layout/CircleProcess"/>
    <dgm:cxn modelId="{47B05938-EABC-4532-9C24-8F644480CE43}" type="presParOf" srcId="{DC2ACE6F-4DE9-4F04-893A-8765F0CB3E7B}" destId="{5A1F8ADC-887E-4D1E-9979-68D89212BC61}" srcOrd="7" destOrd="0" presId="urn:microsoft.com/office/officeart/2011/layout/CircleProcess"/>
    <dgm:cxn modelId="{13173D85-62A4-4DD6-B1FF-FCEA3B94E4D0}" type="presParOf" srcId="{5A1F8ADC-887E-4D1E-9979-68D89212BC61}" destId="{5F54E8AD-D6F4-44D5-93A3-51108CB89D87}" srcOrd="0" destOrd="0" presId="urn:microsoft.com/office/officeart/2011/layout/CircleProcess"/>
    <dgm:cxn modelId="{E6583170-1710-40CE-990A-2BAAB0FF2ADC}" type="presParOf" srcId="{DC2ACE6F-4DE9-4F04-893A-8765F0CB3E7B}" destId="{3218510E-7695-47A9-8C3B-462CD06C85CC}" srcOrd="8" destOrd="0" presId="urn:microsoft.com/office/officeart/2011/layout/CircleProcess"/>
    <dgm:cxn modelId="{5876BA08-5441-49FD-88F3-CE287A98156D}" type="presParOf" srcId="{DC2ACE6F-4DE9-4F04-893A-8765F0CB3E7B}" destId="{8A8A42A5-8F56-4016-AF74-2116BF5E46BD}" srcOrd="9" destOrd="0" presId="urn:microsoft.com/office/officeart/2011/layout/CircleProcess"/>
    <dgm:cxn modelId="{FC783ED0-24DF-4FA0-8003-00B2AF3A26E1}" type="presParOf" srcId="{8A8A42A5-8F56-4016-AF74-2116BF5E46BD}" destId="{38EFC76C-5A8F-44DC-9760-F51F746588A8}" srcOrd="0" destOrd="0" presId="urn:microsoft.com/office/officeart/2011/layout/CircleProcess"/>
    <dgm:cxn modelId="{336161A1-E719-4363-B661-998F905BE560}" type="presParOf" srcId="{DC2ACE6F-4DE9-4F04-893A-8765F0CB3E7B}" destId="{8FCFEBDD-6CD3-4D38-B43C-236FE29A9DEA}" srcOrd="10" destOrd="0" presId="urn:microsoft.com/office/officeart/2011/layout/CircleProcess"/>
    <dgm:cxn modelId="{490B7272-2C56-409D-919F-8652A9CD28CB}" type="presParOf" srcId="{8FCFEBDD-6CD3-4D38-B43C-236FE29A9DEA}" destId="{AAC3C89B-CE1D-4F85-BE1F-C9EE55283FF5}" srcOrd="0" destOrd="0" presId="urn:microsoft.com/office/officeart/2011/layout/CircleProcess"/>
    <dgm:cxn modelId="{FA023B51-382F-4A5A-8C7E-3693A6B49232}" type="presParOf" srcId="{DC2ACE6F-4DE9-4F04-893A-8765F0CB3E7B}" destId="{D698B297-78C5-4826-8FCA-E3F94EF414FB}" srcOrd="11"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252C34-1FFA-41E1-8421-B2ECF34FBD7B}" type="doc">
      <dgm:prSet loTypeId="urn:microsoft.com/office/officeart/2009/3/layout/RandomtoResultProcess" loCatId="process" qsTypeId="urn:microsoft.com/office/officeart/2005/8/quickstyle/simple1#4" qsCatId="simple" csTypeId="urn:microsoft.com/office/officeart/2005/8/colors/colorful1#4" csCatId="colorful" phldr="1"/>
      <dgm:spPr/>
      <dgm:t>
        <a:bodyPr/>
        <a:lstStyle/>
        <a:p>
          <a:endParaRPr lang="en-US"/>
        </a:p>
      </dgm:t>
    </dgm:pt>
    <dgm:pt modelId="{600F66A8-801D-4FED-B25C-AEBEB0341812}">
      <dgm:prSet/>
      <dgm:spPr/>
      <dgm:t>
        <a:bodyPr/>
        <a:lstStyle/>
        <a:p>
          <a:r>
            <a:rPr lang="en-US" b="1"/>
            <a:t>Incoming FLITs</a:t>
          </a:r>
          <a:endParaRPr lang="en-US" dirty="0"/>
        </a:p>
      </dgm:t>
    </dgm:pt>
    <dgm:pt modelId="{F32DB85D-BE85-4C0F-81B2-5923345D25CE}" type="parTrans" cxnId="{2A4D3494-CB9E-4105-ABF9-99AC9E5912D6}">
      <dgm:prSet/>
      <dgm:spPr/>
      <dgm:t>
        <a:bodyPr/>
        <a:lstStyle/>
        <a:p>
          <a:endParaRPr lang="en-US"/>
        </a:p>
      </dgm:t>
    </dgm:pt>
    <dgm:pt modelId="{241C212A-5701-46C8-9E1D-D351669892FD}" type="sibTrans" cxnId="{2A4D3494-CB9E-4105-ABF9-99AC9E5912D6}">
      <dgm:prSet phldrT="1" phldr="0"/>
      <dgm:spPr/>
      <dgm:t>
        <a:bodyPr/>
        <a:lstStyle/>
        <a:p>
          <a:endParaRPr lang="en-US"/>
        </a:p>
      </dgm:t>
    </dgm:pt>
    <dgm:pt modelId="{3E387711-B8FE-4C56-A644-03C8EBB44C41}">
      <dgm:prSet custT="1"/>
      <dgm:spPr/>
      <dgm:t>
        <a:bodyPr/>
        <a:lstStyle/>
        <a:p>
          <a:pPr marL="0" lvl="0" indent="0" algn="l">
            <a:lnSpc>
              <a:spcPct val="100000"/>
            </a:lnSpc>
            <a:spcBef>
              <a:spcPts val="0"/>
            </a:spcBef>
            <a:spcAft>
              <a:spcPts val="0"/>
            </a:spcAft>
            <a:buFontTx/>
            <a:buNone/>
          </a:pPr>
          <a:r>
            <a:rPr lang="en-US" sz="1200" b="0" i="0">
              <a:solidFill>
                <a:srgbClr val="000000"/>
              </a:solidFill>
              <a:latin typeface="Calibri" panose="020F0502020204030204" pitchFamily="34" charset="0"/>
            </a:rPr>
            <a:t>CXS RX + FLIT FIFO</a:t>
          </a:r>
        </a:p>
        <a:p>
          <a:pPr marL="0" lvl="0" indent="0" algn="l">
            <a:lnSpc>
              <a:spcPct val="100000"/>
            </a:lnSpc>
            <a:spcBef>
              <a:spcPts val="0"/>
            </a:spcBef>
            <a:spcAft>
              <a:spcPts val="0"/>
            </a:spcAft>
            <a:buFontTx/>
            <a:buNone/>
          </a:pPr>
          <a:r>
            <a:rPr lang="en-US" sz="1200" b="0" i="0">
              <a:solidFill>
                <a:srgbClr val="000000"/>
              </a:solidFill>
              <a:latin typeface="Calibri" panose="020F0502020204030204" pitchFamily="34" charset="0"/>
            </a:rPr>
            <a:t>Buffers FLITs, credit-based flow control</a:t>
          </a:r>
          <a:endParaRPr lang="en-US" sz="1200" b="0" i="0" dirty="0">
            <a:solidFill>
              <a:srgbClr val="000000"/>
            </a:solidFill>
            <a:latin typeface="Calibri" panose="020F0502020204030204" pitchFamily="34" charset="0"/>
          </a:endParaRPr>
        </a:p>
      </dgm:t>
    </dgm:pt>
    <dgm:pt modelId="{2745A513-9A1F-46C1-9C96-6A10172532A9}" type="parTrans" cxnId="{1EF82831-C1EA-4E36-86C7-69D335A30826}">
      <dgm:prSet/>
      <dgm:spPr/>
      <dgm:t>
        <a:bodyPr/>
        <a:lstStyle/>
        <a:p>
          <a:endParaRPr lang="en-US"/>
        </a:p>
      </dgm:t>
    </dgm:pt>
    <dgm:pt modelId="{84FAA0BD-ED58-496E-A6AD-3310C2CEBCC4}" type="sibTrans" cxnId="{1EF82831-C1EA-4E36-86C7-69D335A30826}">
      <dgm:prSet phldrT="2" phldr="0"/>
      <dgm:spPr/>
      <dgm:t>
        <a:bodyPr/>
        <a:lstStyle/>
        <a:p>
          <a:endParaRPr lang="en-US"/>
        </a:p>
      </dgm:t>
    </dgm:pt>
    <dgm:pt modelId="{948E1B04-1E4C-4447-9F50-37699F3BB4B0}">
      <dgm:prSet custT="1"/>
      <dgm:spPr/>
      <dgm:t>
        <a:bodyPr/>
        <a:lstStyle/>
        <a:p>
          <a:pPr marL="0" lvl="0" indent="0" algn="l">
            <a:lnSpc>
              <a:spcPct val="100000"/>
            </a:lnSpc>
            <a:spcBef>
              <a:spcPts val="0"/>
            </a:spcBef>
            <a:spcAft>
              <a:spcPts val="0"/>
            </a:spcAft>
            <a:buFontTx/>
            <a:buNone/>
          </a:pPr>
          <a:r>
            <a:rPr lang="en-US" sz="1200" b="0" i="0">
              <a:solidFill>
                <a:srgbClr val="000000"/>
              </a:solidFill>
              <a:latin typeface="Calibri" panose="020F0502020204030204" pitchFamily="34" charset="0"/>
            </a:rPr>
            <a:t>Packet Formatter</a:t>
          </a:r>
        </a:p>
        <a:p>
          <a:pPr marL="0" lvl="0" indent="0" algn="l">
            <a:lnSpc>
              <a:spcPct val="100000"/>
            </a:lnSpc>
            <a:spcBef>
              <a:spcPts val="0"/>
            </a:spcBef>
            <a:spcAft>
              <a:spcPts val="0"/>
            </a:spcAft>
            <a:buFontTx/>
            <a:buNone/>
          </a:pPr>
          <a:r>
            <a:rPr lang="en-US" sz="1200" b="0" i="0">
              <a:solidFill>
                <a:srgbClr val="000000"/>
              </a:solidFill>
              <a:latin typeface="Calibri" panose="020F0502020204030204" pitchFamily="34" charset="0"/>
            </a:rPr>
            <a:t>CXSCNTL decode → valid 32-bit TLP words</a:t>
          </a:r>
          <a:endParaRPr lang="en-US" sz="1200" b="0" i="0" dirty="0">
            <a:solidFill>
              <a:srgbClr val="000000"/>
            </a:solidFill>
            <a:latin typeface="Calibri" panose="020F0502020204030204" pitchFamily="34" charset="0"/>
          </a:endParaRPr>
        </a:p>
      </dgm:t>
    </dgm:pt>
    <dgm:pt modelId="{89A41376-24AC-4395-BFD6-714DE767B8E1}" type="parTrans" cxnId="{3F978B45-6FC6-4E4C-A601-74532E5CEA81}">
      <dgm:prSet/>
      <dgm:spPr/>
      <dgm:t>
        <a:bodyPr/>
        <a:lstStyle/>
        <a:p>
          <a:endParaRPr lang="en-US"/>
        </a:p>
      </dgm:t>
    </dgm:pt>
    <dgm:pt modelId="{81F30644-0CEA-4F06-9B7C-852962FE6854}" type="sibTrans" cxnId="{3F978B45-6FC6-4E4C-A601-74532E5CEA81}">
      <dgm:prSet phldrT="3" phldr="0"/>
      <dgm:spPr/>
      <dgm:t>
        <a:bodyPr/>
        <a:lstStyle/>
        <a:p>
          <a:endParaRPr lang="en-US"/>
        </a:p>
      </dgm:t>
    </dgm:pt>
    <dgm:pt modelId="{D5C8A19E-34DA-4DAC-B59F-061935B7D848}">
      <dgm:prSet custT="1"/>
      <dgm:spPr/>
      <dgm:t>
        <a:bodyPr/>
        <a:lstStyle/>
        <a:p>
          <a:pPr marL="0" lvl="0" indent="0" algn="l">
            <a:lnSpc>
              <a:spcPct val="100000"/>
            </a:lnSpc>
            <a:spcBef>
              <a:spcPts val="0"/>
            </a:spcBef>
            <a:spcAft>
              <a:spcPts val="0"/>
            </a:spcAft>
            <a:buFontTx/>
            <a:buNone/>
          </a:pPr>
          <a:r>
            <a:rPr lang="en-US" sz="1200" b="0" i="0">
              <a:solidFill>
                <a:srgbClr val="000000"/>
              </a:solidFill>
              <a:latin typeface="Calibri" panose="020F0502020204030204" pitchFamily="34" charset="0"/>
            </a:rPr>
            <a:t>Async FIFO</a:t>
          </a:r>
        </a:p>
        <a:p>
          <a:pPr marL="0" lvl="0" indent="0" algn="l">
            <a:lnSpc>
              <a:spcPct val="100000"/>
            </a:lnSpc>
            <a:spcBef>
              <a:spcPts val="0"/>
            </a:spcBef>
            <a:spcAft>
              <a:spcPts val="0"/>
            </a:spcAft>
            <a:buFontTx/>
            <a:buNone/>
          </a:pPr>
          <a:r>
            <a:rPr lang="en-US" sz="1200" b="0" i="0">
              <a:solidFill>
                <a:srgbClr val="000000"/>
              </a:solidFill>
              <a:latin typeface="Calibri" panose="020F0502020204030204" pitchFamily="34" charset="0"/>
            </a:rPr>
            <a:t>CDC buffer: CXS clk → System clk</a:t>
          </a:r>
          <a:endParaRPr lang="en-US" sz="1200" b="0" i="0" dirty="0">
            <a:solidFill>
              <a:srgbClr val="000000"/>
            </a:solidFill>
            <a:latin typeface="Calibri" panose="020F0502020204030204" pitchFamily="34" charset="0"/>
          </a:endParaRPr>
        </a:p>
      </dgm:t>
    </dgm:pt>
    <dgm:pt modelId="{F540DA51-C0FD-45CF-8326-B89463200A2C}" type="parTrans" cxnId="{7E6EE846-DE56-4EBB-9761-FB083892330C}">
      <dgm:prSet/>
      <dgm:spPr/>
      <dgm:t>
        <a:bodyPr/>
        <a:lstStyle/>
        <a:p>
          <a:endParaRPr lang="en-US"/>
        </a:p>
      </dgm:t>
    </dgm:pt>
    <dgm:pt modelId="{53006F09-7FB2-42DC-B967-7422F877F952}" type="sibTrans" cxnId="{7E6EE846-DE56-4EBB-9761-FB083892330C}">
      <dgm:prSet phldrT="4" phldr="0"/>
      <dgm:spPr/>
      <dgm:t>
        <a:bodyPr/>
        <a:lstStyle/>
        <a:p>
          <a:endParaRPr lang="en-US"/>
        </a:p>
      </dgm:t>
    </dgm:pt>
    <dgm:pt modelId="{74638CEB-CCEB-47E8-AE36-89016C68555B}">
      <dgm:prSet/>
      <dgm:spPr/>
      <dgm:t>
        <a:bodyPr/>
        <a:lstStyle/>
        <a:p>
          <a:r>
            <a:rPr lang="en-US"/>
            <a:t>Control Unit</a:t>
          </a:r>
          <a:endParaRPr lang="en-US" dirty="0"/>
        </a:p>
      </dgm:t>
    </dgm:pt>
    <dgm:pt modelId="{B491DFB5-4357-404D-99C5-E150B12700C5}" type="parTrans" cxnId="{28754DC2-C7BA-45A4-8FF7-EDC5B53E6C01}">
      <dgm:prSet/>
      <dgm:spPr/>
      <dgm:t>
        <a:bodyPr/>
        <a:lstStyle/>
        <a:p>
          <a:endParaRPr lang="en-US"/>
        </a:p>
      </dgm:t>
    </dgm:pt>
    <dgm:pt modelId="{2B9B09FB-EA92-4DF7-9B2E-FA85ACF8677A}" type="sibTrans" cxnId="{28754DC2-C7BA-45A4-8FF7-EDC5B53E6C01}">
      <dgm:prSet phldrT="5" phldr="0"/>
      <dgm:spPr/>
      <dgm:t>
        <a:bodyPr/>
        <a:lstStyle/>
        <a:p>
          <a:endParaRPr lang="en-US"/>
        </a:p>
      </dgm:t>
    </dgm:pt>
    <dgm:pt modelId="{1064E059-ED04-48CD-9467-12295B164061}" type="pres">
      <dgm:prSet presAssocID="{27252C34-1FFA-41E1-8421-B2ECF34FBD7B}" presName="Name0" presStyleCnt="0">
        <dgm:presLayoutVars>
          <dgm:dir/>
          <dgm:animOne val="branch"/>
          <dgm:animLvl val="lvl"/>
        </dgm:presLayoutVars>
      </dgm:prSet>
      <dgm:spPr/>
    </dgm:pt>
    <dgm:pt modelId="{396B2D6B-C7F9-4D65-B2D6-F6ABE2788F0C}" type="pres">
      <dgm:prSet presAssocID="{600F66A8-801D-4FED-B25C-AEBEB0341812}" presName="chaos" presStyleCnt="0"/>
      <dgm:spPr/>
    </dgm:pt>
    <dgm:pt modelId="{9D03D075-B81E-4B59-A186-4E09371BAC4B}" type="pres">
      <dgm:prSet presAssocID="{600F66A8-801D-4FED-B25C-AEBEB0341812}" presName="parTx1" presStyleLbl="revTx" presStyleIdx="0" presStyleCnt="4"/>
      <dgm:spPr/>
    </dgm:pt>
    <dgm:pt modelId="{066C68C2-73A1-478B-AF64-52B3596557EC}" type="pres">
      <dgm:prSet presAssocID="{600F66A8-801D-4FED-B25C-AEBEB0341812}" presName="c1" presStyleLbl="node1" presStyleIdx="0" presStyleCnt="19"/>
      <dgm:spPr/>
    </dgm:pt>
    <dgm:pt modelId="{088CB0C2-25A7-41F4-A2F8-AD40E0182692}" type="pres">
      <dgm:prSet presAssocID="{600F66A8-801D-4FED-B25C-AEBEB0341812}" presName="c2" presStyleLbl="node1" presStyleIdx="1" presStyleCnt="19"/>
      <dgm:spPr/>
    </dgm:pt>
    <dgm:pt modelId="{56099179-74BC-41CB-8C4B-6C1D7EADE47F}" type="pres">
      <dgm:prSet presAssocID="{600F66A8-801D-4FED-B25C-AEBEB0341812}" presName="c3" presStyleLbl="node1" presStyleIdx="2" presStyleCnt="19"/>
      <dgm:spPr/>
    </dgm:pt>
    <dgm:pt modelId="{84693B16-AE82-42FB-BC4B-6A3DAE214D2B}" type="pres">
      <dgm:prSet presAssocID="{600F66A8-801D-4FED-B25C-AEBEB0341812}" presName="c4" presStyleLbl="node1" presStyleIdx="3" presStyleCnt="19"/>
      <dgm:spPr/>
    </dgm:pt>
    <dgm:pt modelId="{031A6140-05E9-4F98-9F7A-0B5BF2F57554}" type="pres">
      <dgm:prSet presAssocID="{600F66A8-801D-4FED-B25C-AEBEB0341812}" presName="c5" presStyleLbl="node1" presStyleIdx="4" presStyleCnt="19"/>
      <dgm:spPr/>
    </dgm:pt>
    <dgm:pt modelId="{B6FE86FB-BFBD-4ADE-B86C-796325F2833C}" type="pres">
      <dgm:prSet presAssocID="{600F66A8-801D-4FED-B25C-AEBEB0341812}" presName="c6" presStyleLbl="node1" presStyleIdx="5" presStyleCnt="19"/>
      <dgm:spPr/>
    </dgm:pt>
    <dgm:pt modelId="{41310377-E442-40F3-99A8-5B86A75E257D}" type="pres">
      <dgm:prSet presAssocID="{600F66A8-801D-4FED-B25C-AEBEB0341812}" presName="c7" presStyleLbl="node1" presStyleIdx="6" presStyleCnt="19"/>
      <dgm:spPr/>
    </dgm:pt>
    <dgm:pt modelId="{ADACED0C-96CB-4CA1-95C8-0F152BFC642C}" type="pres">
      <dgm:prSet presAssocID="{600F66A8-801D-4FED-B25C-AEBEB0341812}" presName="c8" presStyleLbl="node1" presStyleIdx="7" presStyleCnt="19"/>
      <dgm:spPr/>
    </dgm:pt>
    <dgm:pt modelId="{D663EEF1-52A9-4049-BCEF-AC424DFF895A}" type="pres">
      <dgm:prSet presAssocID="{600F66A8-801D-4FED-B25C-AEBEB0341812}" presName="c9" presStyleLbl="node1" presStyleIdx="8" presStyleCnt="19"/>
      <dgm:spPr/>
    </dgm:pt>
    <dgm:pt modelId="{250EC5D0-6D43-46D2-9245-D99330136064}" type="pres">
      <dgm:prSet presAssocID="{600F66A8-801D-4FED-B25C-AEBEB0341812}" presName="c10" presStyleLbl="node1" presStyleIdx="9" presStyleCnt="19"/>
      <dgm:spPr/>
    </dgm:pt>
    <dgm:pt modelId="{A1A98304-3CD7-4494-99C7-D1CA16B49053}" type="pres">
      <dgm:prSet presAssocID="{600F66A8-801D-4FED-B25C-AEBEB0341812}" presName="c11" presStyleLbl="node1" presStyleIdx="10" presStyleCnt="19"/>
      <dgm:spPr/>
    </dgm:pt>
    <dgm:pt modelId="{86341ACA-3601-456E-A5D5-89E5E7BBAAA4}" type="pres">
      <dgm:prSet presAssocID="{600F66A8-801D-4FED-B25C-AEBEB0341812}" presName="c12" presStyleLbl="node1" presStyleIdx="11" presStyleCnt="19"/>
      <dgm:spPr/>
    </dgm:pt>
    <dgm:pt modelId="{0DD892F0-6FE3-46E2-8DC9-4E071370BCF7}" type="pres">
      <dgm:prSet presAssocID="{600F66A8-801D-4FED-B25C-AEBEB0341812}" presName="c13" presStyleLbl="node1" presStyleIdx="12" presStyleCnt="19"/>
      <dgm:spPr/>
    </dgm:pt>
    <dgm:pt modelId="{11307AD2-4D80-4015-8CC6-9E43C09F5E7B}" type="pres">
      <dgm:prSet presAssocID="{600F66A8-801D-4FED-B25C-AEBEB0341812}" presName="c14" presStyleLbl="node1" presStyleIdx="13" presStyleCnt="19"/>
      <dgm:spPr/>
    </dgm:pt>
    <dgm:pt modelId="{8BF91FCA-1EFC-4E2B-A118-6912597699A3}" type="pres">
      <dgm:prSet presAssocID="{600F66A8-801D-4FED-B25C-AEBEB0341812}" presName="c15" presStyleLbl="node1" presStyleIdx="14" presStyleCnt="19"/>
      <dgm:spPr/>
    </dgm:pt>
    <dgm:pt modelId="{824B2583-6756-4750-8463-55A6F171DEDF}" type="pres">
      <dgm:prSet presAssocID="{600F66A8-801D-4FED-B25C-AEBEB0341812}" presName="c16" presStyleLbl="node1" presStyleIdx="15" presStyleCnt="19"/>
      <dgm:spPr/>
    </dgm:pt>
    <dgm:pt modelId="{99066DEE-5608-468C-B4ED-CE2C9660B4C6}" type="pres">
      <dgm:prSet presAssocID="{600F66A8-801D-4FED-B25C-AEBEB0341812}" presName="c17" presStyleLbl="node1" presStyleIdx="16" presStyleCnt="19"/>
      <dgm:spPr/>
    </dgm:pt>
    <dgm:pt modelId="{EA243E42-7D8F-4A15-9CA6-E304DA063DF4}" type="pres">
      <dgm:prSet presAssocID="{600F66A8-801D-4FED-B25C-AEBEB0341812}" presName="c18" presStyleLbl="node1" presStyleIdx="17" presStyleCnt="19"/>
      <dgm:spPr/>
    </dgm:pt>
    <dgm:pt modelId="{BA2DA9B5-BDFA-4E12-9F32-EC3A15B53402}" type="pres">
      <dgm:prSet presAssocID="{241C212A-5701-46C8-9E1D-D351669892FD}" presName="chevronComposite1" presStyleCnt="0"/>
      <dgm:spPr/>
    </dgm:pt>
    <dgm:pt modelId="{C549A7C9-3CC2-495D-8692-C808E2BEDD06}" type="pres">
      <dgm:prSet presAssocID="{241C212A-5701-46C8-9E1D-D351669892FD}" presName="chevron1" presStyleLbl="sibTrans2D1" presStyleIdx="0" presStyleCnt="4"/>
      <dgm:spPr/>
    </dgm:pt>
    <dgm:pt modelId="{DC06FB68-BFDF-4514-836F-552FF2FCE2D5}" type="pres">
      <dgm:prSet presAssocID="{241C212A-5701-46C8-9E1D-D351669892FD}" presName="spChevron1" presStyleCnt="0"/>
      <dgm:spPr/>
    </dgm:pt>
    <dgm:pt modelId="{6DDF6FC5-3050-49EC-83B5-0FD89CB95FAB}" type="pres">
      <dgm:prSet presAssocID="{3E387711-B8FE-4C56-A644-03C8EBB44C41}" presName="middle" presStyleCnt="0"/>
      <dgm:spPr/>
    </dgm:pt>
    <dgm:pt modelId="{B5A39F18-7032-4A26-94E0-678370AA7B70}" type="pres">
      <dgm:prSet presAssocID="{3E387711-B8FE-4C56-A644-03C8EBB44C41}" presName="parTxMid" presStyleLbl="revTx" presStyleIdx="1" presStyleCnt="4"/>
      <dgm:spPr/>
    </dgm:pt>
    <dgm:pt modelId="{587B6C3E-58FB-4C81-B9D8-15A8F8FDEE8B}" type="pres">
      <dgm:prSet presAssocID="{3E387711-B8FE-4C56-A644-03C8EBB44C41}" presName="spMid" presStyleCnt="0"/>
      <dgm:spPr/>
    </dgm:pt>
    <dgm:pt modelId="{EC704624-3CC6-454A-B726-6AD8BC8CE062}" type="pres">
      <dgm:prSet presAssocID="{84FAA0BD-ED58-496E-A6AD-3310C2CEBCC4}" presName="chevronComposite1" presStyleCnt="0"/>
      <dgm:spPr/>
    </dgm:pt>
    <dgm:pt modelId="{C06ED2B1-1E49-41E1-96AF-AAF54FBC6D2C}" type="pres">
      <dgm:prSet presAssocID="{84FAA0BD-ED58-496E-A6AD-3310C2CEBCC4}" presName="chevron1" presStyleLbl="sibTrans2D1" presStyleIdx="1" presStyleCnt="4"/>
      <dgm:spPr/>
    </dgm:pt>
    <dgm:pt modelId="{16891D37-1530-4746-9F61-3926748E601B}" type="pres">
      <dgm:prSet presAssocID="{84FAA0BD-ED58-496E-A6AD-3310C2CEBCC4}" presName="spChevron1" presStyleCnt="0"/>
      <dgm:spPr/>
    </dgm:pt>
    <dgm:pt modelId="{2E387C6C-5043-4981-8E96-881D948C580C}" type="pres">
      <dgm:prSet presAssocID="{948E1B04-1E4C-4447-9F50-37699F3BB4B0}" presName="middle" presStyleCnt="0"/>
      <dgm:spPr/>
    </dgm:pt>
    <dgm:pt modelId="{BE703FCD-7422-4A8C-8805-6333F4094639}" type="pres">
      <dgm:prSet presAssocID="{948E1B04-1E4C-4447-9F50-37699F3BB4B0}" presName="parTxMid" presStyleLbl="revTx" presStyleIdx="2" presStyleCnt="4"/>
      <dgm:spPr/>
    </dgm:pt>
    <dgm:pt modelId="{CA92BFD0-A821-4A88-BCFE-E3452EE8E02B}" type="pres">
      <dgm:prSet presAssocID="{948E1B04-1E4C-4447-9F50-37699F3BB4B0}" presName="spMid" presStyleCnt="0"/>
      <dgm:spPr/>
    </dgm:pt>
    <dgm:pt modelId="{948AECEF-FAEF-4936-A911-BC477F458AA5}" type="pres">
      <dgm:prSet presAssocID="{81F30644-0CEA-4F06-9B7C-852962FE6854}" presName="chevronComposite1" presStyleCnt="0"/>
      <dgm:spPr/>
    </dgm:pt>
    <dgm:pt modelId="{67CC8161-BB6A-4445-AC47-CC81C685EC85}" type="pres">
      <dgm:prSet presAssocID="{81F30644-0CEA-4F06-9B7C-852962FE6854}" presName="chevron1" presStyleLbl="sibTrans2D1" presStyleIdx="2" presStyleCnt="4"/>
      <dgm:spPr/>
    </dgm:pt>
    <dgm:pt modelId="{CF267818-47AE-409A-8124-99F33E7F253A}" type="pres">
      <dgm:prSet presAssocID="{81F30644-0CEA-4F06-9B7C-852962FE6854}" presName="spChevron1" presStyleCnt="0"/>
      <dgm:spPr/>
    </dgm:pt>
    <dgm:pt modelId="{0212AC64-D223-4410-B904-D9606393DEB5}" type="pres">
      <dgm:prSet presAssocID="{D5C8A19E-34DA-4DAC-B59F-061935B7D848}" presName="middle" presStyleCnt="0"/>
      <dgm:spPr/>
    </dgm:pt>
    <dgm:pt modelId="{4A0D481C-09E9-49F6-B246-1F797D8518E5}" type="pres">
      <dgm:prSet presAssocID="{D5C8A19E-34DA-4DAC-B59F-061935B7D848}" presName="parTxMid" presStyleLbl="revTx" presStyleIdx="3" presStyleCnt="4"/>
      <dgm:spPr/>
    </dgm:pt>
    <dgm:pt modelId="{F608511C-4F46-4DDE-A51D-194E3C15B965}" type="pres">
      <dgm:prSet presAssocID="{D5C8A19E-34DA-4DAC-B59F-061935B7D848}" presName="spMid" presStyleCnt="0"/>
      <dgm:spPr/>
    </dgm:pt>
    <dgm:pt modelId="{43CF0019-93CE-41B1-8CCD-8A90A8EE190E}" type="pres">
      <dgm:prSet presAssocID="{53006F09-7FB2-42DC-B967-7422F877F952}" presName="chevronComposite1" presStyleCnt="0"/>
      <dgm:spPr/>
    </dgm:pt>
    <dgm:pt modelId="{FE58C54D-ECCD-4013-BFE5-708F6ACE58EE}" type="pres">
      <dgm:prSet presAssocID="{53006F09-7FB2-42DC-B967-7422F877F952}" presName="chevron1" presStyleLbl="sibTrans2D1" presStyleIdx="3" presStyleCnt="4"/>
      <dgm:spPr/>
    </dgm:pt>
    <dgm:pt modelId="{69F679A5-7DF6-4B19-B5CF-A2F332631EC4}" type="pres">
      <dgm:prSet presAssocID="{53006F09-7FB2-42DC-B967-7422F877F952}" presName="spChevron1" presStyleCnt="0"/>
      <dgm:spPr/>
    </dgm:pt>
    <dgm:pt modelId="{00EC81F2-07AF-4D93-87D6-4CB82B7B38F1}" type="pres">
      <dgm:prSet presAssocID="{74638CEB-CCEB-47E8-AE36-89016C68555B}" presName="last" presStyleCnt="0"/>
      <dgm:spPr/>
    </dgm:pt>
    <dgm:pt modelId="{CA22D33A-2DCE-4E88-B73B-770BD077B44C}" type="pres">
      <dgm:prSet presAssocID="{74638CEB-CCEB-47E8-AE36-89016C68555B}" presName="circleTx" presStyleLbl="node1" presStyleIdx="18" presStyleCnt="19"/>
      <dgm:spPr/>
    </dgm:pt>
    <dgm:pt modelId="{5DB5ACC1-5149-4F6A-AB4B-F63BBAFC1F6F}" type="pres">
      <dgm:prSet presAssocID="{74638CEB-CCEB-47E8-AE36-89016C68555B}" presName="spN" presStyleCnt="0"/>
      <dgm:spPr/>
    </dgm:pt>
  </dgm:ptLst>
  <dgm:cxnLst>
    <dgm:cxn modelId="{1EF82831-C1EA-4E36-86C7-69D335A30826}" srcId="{27252C34-1FFA-41E1-8421-B2ECF34FBD7B}" destId="{3E387711-B8FE-4C56-A644-03C8EBB44C41}" srcOrd="1" destOrd="0" parTransId="{2745A513-9A1F-46C1-9C96-6A10172532A9}" sibTransId="{84FAA0BD-ED58-496E-A6AD-3310C2CEBCC4}"/>
    <dgm:cxn modelId="{402A1635-95D2-4408-80B6-22F98784D7EE}" type="presOf" srcId="{600F66A8-801D-4FED-B25C-AEBEB0341812}" destId="{9D03D075-B81E-4B59-A186-4E09371BAC4B}" srcOrd="0" destOrd="0" presId="urn:microsoft.com/office/officeart/2009/3/layout/RandomtoResultProcess"/>
    <dgm:cxn modelId="{3F978B45-6FC6-4E4C-A601-74532E5CEA81}" srcId="{27252C34-1FFA-41E1-8421-B2ECF34FBD7B}" destId="{948E1B04-1E4C-4447-9F50-37699F3BB4B0}" srcOrd="2" destOrd="0" parTransId="{89A41376-24AC-4395-BFD6-714DE767B8E1}" sibTransId="{81F30644-0CEA-4F06-9B7C-852962FE6854}"/>
    <dgm:cxn modelId="{7E6EE846-DE56-4EBB-9761-FB083892330C}" srcId="{27252C34-1FFA-41E1-8421-B2ECF34FBD7B}" destId="{D5C8A19E-34DA-4DAC-B59F-061935B7D848}" srcOrd="3" destOrd="0" parTransId="{F540DA51-C0FD-45CF-8326-B89463200A2C}" sibTransId="{53006F09-7FB2-42DC-B967-7422F877F952}"/>
    <dgm:cxn modelId="{F0EB334D-48B6-4ED5-A854-3E62DF952635}" type="presOf" srcId="{27252C34-1FFA-41E1-8421-B2ECF34FBD7B}" destId="{1064E059-ED04-48CD-9467-12295B164061}" srcOrd="0" destOrd="0" presId="urn:microsoft.com/office/officeart/2009/3/layout/RandomtoResultProcess"/>
    <dgm:cxn modelId="{E3C94951-858A-4C35-A419-5E79C0019A54}" type="presOf" srcId="{948E1B04-1E4C-4447-9F50-37699F3BB4B0}" destId="{BE703FCD-7422-4A8C-8805-6333F4094639}" srcOrd="0" destOrd="0" presId="urn:microsoft.com/office/officeart/2009/3/layout/RandomtoResultProcess"/>
    <dgm:cxn modelId="{49A0AD78-309B-465E-AC7E-DA51BE62062E}" type="presOf" srcId="{D5C8A19E-34DA-4DAC-B59F-061935B7D848}" destId="{4A0D481C-09E9-49F6-B246-1F797D8518E5}" srcOrd="0" destOrd="0" presId="urn:microsoft.com/office/officeart/2009/3/layout/RandomtoResultProcess"/>
    <dgm:cxn modelId="{2A4D3494-CB9E-4105-ABF9-99AC9E5912D6}" srcId="{27252C34-1FFA-41E1-8421-B2ECF34FBD7B}" destId="{600F66A8-801D-4FED-B25C-AEBEB0341812}" srcOrd="0" destOrd="0" parTransId="{F32DB85D-BE85-4C0F-81B2-5923345D25CE}" sibTransId="{241C212A-5701-46C8-9E1D-D351669892FD}"/>
    <dgm:cxn modelId="{98E41496-EB5E-4637-AD90-45F25B5704B1}" type="presOf" srcId="{3E387711-B8FE-4C56-A644-03C8EBB44C41}" destId="{B5A39F18-7032-4A26-94E0-678370AA7B70}" srcOrd="0" destOrd="0" presId="urn:microsoft.com/office/officeart/2009/3/layout/RandomtoResultProcess"/>
    <dgm:cxn modelId="{28754DC2-C7BA-45A4-8FF7-EDC5B53E6C01}" srcId="{27252C34-1FFA-41E1-8421-B2ECF34FBD7B}" destId="{74638CEB-CCEB-47E8-AE36-89016C68555B}" srcOrd="4" destOrd="0" parTransId="{B491DFB5-4357-404D-99C5-E150B12700C5}" sibTransId="{2B9B09FB-EA92-4DF7-9B2E-FA85ACF8677A}"/>
    <dgm:cxn modelId="{7F74AAFB-7B7A-4520-ABCE-D902B22CAFC0}" type="presOf" srcId="{74638CEB-CCEB-47E8-AE36-89016C68555B}" destId="{CA22D33A-2DCE-4E88-B73B-770BD077B44C}" srcOrd="0" destOrd="0" presId="urn:microsoft.com/office/officeart/2009/3/layout/RandomtoResultProcess"/>
    <dgm:cxn modelId="{9D37E707-BAAC-4B22-97F1-3AFE0CA154D3}" type="presParOf" srcId="{1064E059-ED04-48CD-9467-12295B164061}" destId="{396B2D6B-C7F9-4D65-B2D6-F6ABE2788F0C}" srcOrd="0" destOrd="0" presId="urn:microsoft.com/office/officeart/2009/3/layout/RandomtoResultProcess"/>
    <dgm:cxn modelId="{52141BE9-9550-43A8-9A03-34A6505A41D8}" type="presParOf" srcId="{396B2D6B-C7F9-4D65-B2D6-F6ABE2788F0C}" destId="{9D03D075-B81E-4B59-A186-4E09371BAC4B}" srcOrd="0" destOrd="0" presId="urn:microsoft.com/office/officeart/2009/3/layout/RandomtoResultProcess"/>
    <dgm:cxn modelId="{13C45BB7-AAC0-4D5C-B198-CCE3CD061072}" type="presParOf" srcId="{396B2D6B-C7F9-4D65-B2D6-F6ABE2788F0C}" destId="{066C68C2-73A1-478B-AF64-52B3596557EC}" srcOrd="1" destOrd="0" presId="urn:microsoft.com/office/officeart/2009/3/layout/RandomtoResultProcess"/>
    <dgm:cxn modelId="{B812C0A5-D4E1-4E48-A3EA-12D4139CF7A3}" type="presParOf" srcId="{396B2D6B-C7F9-4D65-B2D6-F6ABE2788F0C}" destId="{088CB0C2-25A7-41F4-A2F8-AD40E0182692}" srcOrd="2" destOrd="0" presId="urn:microsoft.com/office/officeart/2009/3/layout/RandomtoResultProcess"/>
    <dgm:cxn modelId="{CB90FF7B-EE1F-4577-9BE1-8F77952AA9D8}" type="presParOf" srcId="{396B2D6B-C7F9-4D65-B2D6-F6ABE2788F0C}" destId="{56099179-74BC-41CB-8C4B-6C1D7EADE47F}" srcOrd="3" destOrd="0" presId="urn:microsoft.com/office/officeart/2009/3/layout/RandomtoResultProcess"/>
    <dgm:cxn modelId="{B1C760FE-D446-4E44-8D6A-CAD961DC8874}" type="presParOf" srcId="{396B2D6B-C7F9-4D65-B2D6-F6ABE2788F0C}" destId="{84693B16-AE82-42FB-BC4B-6A3DAE214D2B}" srcOrd="4" destOrd="0" presId="urn:microsoft.com/office/officeart/2009/3/layout/RandomtoResultProcess"/>
    <dgm:cxn modelId="{30E99B7E-8A72-41A2-B4C1-182EB890A832}" type="presParOf" srcId="{396B2D6B-C7F9-4D65-B2D6-F6ABE2788F0C}" destId="{031A6140-05E9-4F98-9F7A-0B5BF2F57554}" srcOrd="5" destOrd="0" presId="urn:microsoft.com/office/officeart/2009/3/layout/RandomtoResultProcess"/>
    <dgm:cxn modelId="{413422F3-8F11-4217-AD59-675747EBA284}" type="presParOf" srcId="{396B2D6B-C7F9-4D65-B2D6-F6ABE2788F0C}" destId="{B6FE86FB-BFBD-4ADE-B86C-796325F2833C}" srcOrd="6" destOrd="0" presId="urn:microsoft.com/office/officeart/2009/3/layout/RandomtoResultProcess"/>
    <dgm:cxn modelId="{D06DFF44-8649-4046-A581-62EA5617FCB1}" type="presParOf" srcId="{396B2D6B-C7F9-4D65-B2D6-F6ABE2788F0C}" destId="{41310377-E442-40F3-99A8-5B86A75E257D}" srcOrd="7" destOrd="0" presId="urn:microsoft.com/office/officeart/2009/3/layout/RandomtoResultProcess"/>
    <dgm:cxn modelId="{277A610B-5B26-4DCF-9295-52DE44A78F26}" type="presParOf" srcId="{396B2D6B-C7F9-4D65-B2D6-F6ABE2788F0C}" destId="{ADACED0C-96CB-4CA1-95C8-0F152BFC642C}" srcOrd="8" destOrd="0" presId="urn:microsoft.com/office/officeart/2009/3/layout/RandomtoResultProcess"/>
    <dgm:cxn modelId="{13003796-4310-4B9B-9143-EF68BB2D151B}" type="presParOf" srcId="{396B2D6B-C7F9-4D65-B2D6-F6ABE2788F0C}" destId="{D663EEF1-52A9-4049-BCEF-AC424DFF895A}" srcOrd="9" destOrd="0" presId="urn:microsoft.com/office/officeart/2009/3/layout/RandomtoResultProcess"/>
    <dgm:cxn modelId="{DA42DF85-3B2D-459A-AB88-D2F4C022B648}" type="presParOf" srcId="{396B2D6B-C7F9-4D65-B2D6-F6ABE2788F0C}" destId="{250EC5D0-6D43-46D2-9245-D99330136064}" srcOrd="10" destOrd="0" presId="urn:microsoft.com/office/officeart/2009/3/layout/RandomtoResultProcess"/>
    <dgm:cxn modelId="{42EF98D0-FB33-46D3-A30A-1FDABDDDDA9D}" type="presParOf" srcId="{396B2D6B-C7F9-4D65-B2D6-F6ABE2788F0C}" destId="{A1A98304-3CD7-4494-99C7-D1CA16B49053}" srcOrd="11" destOrd="0" presId="urn:microsoft.com/office/officeart/2009/3/layout/RandomtoResultProcess"/>
    <dgm:cxn modelId="{A72FA667-81C0-43CB-8CE5-A7B84A0B1207}" type="presParOf" srcId="{396B2D6B-C7F9-4D65-B2D6-F6ABE2788F0C}" destId="{86341ACA-3601-456E-A5D5-89E5E7BBAAA4}" srcOrd="12" destOrd="0" presId="urn:microsoft.com/office/officeart/2009/3/layout/RandomtoResultProcess"/>
    <dgm:cxn modelId="{07D289AC-EE46-4766-B295-BCD55110AEB7}" type="presParOf" srcId="{396B2D6B-C7F9-4D65-B2D6-F6ABE2788F0C}" destId="{0DD892F0-6FE3-46E2-8DC9-4E071370BCF7}" srcOrd="13" destOrd="0" presId="urn:microsoft.com/office/officeart/2009/3/layout/RandomtoResultProcess"/>
    <dgm:cxn modelId="{D4A4C2EF-0814-4EDB-8DAA-F87C97FED3E6}" type="presParOf" srcId="{396B2D6B-C7F9-4D65-B2D6-F6ABE2788F0C}" destId="{11307AD2-4D80-4015-8CC6-9E43C09F5E7B}" srcOrd="14" destOrd="0" presId="urn:microsoft.com/office/officeart/2009/3/layout/RandomtoResultProcess"/>
    <dgm:cxn modelId="{C1193A73-54C1-402C-A46E-E0007CE15DA6}" type="presParOf" srcId="{396B2D6B-C7F9-4D65-B2D6-F6ABE2788F0C}" destId="{8BF91FCA-1EFC-4E2B-A118-6912597699A3}" srcOrd="15" destOrd="0" presId="urn:microsoft.com/office/officeart/2009/3/layout/RandomtoResultProcess"/>
    <dgm:cxn modelId="{3FE6B6D5-29B2-4503-86EF-AA1FB2A00D10}" type="presParOf" srcId="{396B2D6B-C7F9-4D65-B2D6-F6ABE2788F0C}" destId="{824B2583-6756-4750-8463-55A6F171DEDF}" srcOrd="16" destOrd="0" presId="urn:microsoft.com/office/officeart/2009/3/layout/RandomtoResultProcess"/>
    <dgm:cxn modelId="{34B4C2CE-F20E-4B03-AA9C-810FE7C22746}" type="presParOf" srcId="{396B2D6B-C7F9-4D65-B2D6-F6ABE2788F0C}" destId="{99066DEE-5608-468C-B4ED-CE2C9660B4C6}" srcOrd="17" destOrd="0" presId="urn:microsoft.com/office/officeart/2009/3/layout/RandomtoResultProcess"/>
    <dgm:cxn modelId="{6862DA17-1E04-40E4-90B2-30DAFEA6AC61}" type="presParOf" srcId="{396B2D6B-C7F9-4D65-B2D6-F6ABE2788F0C}" destId="{EA243E42-7D8F-4A15-9CA6-E304DA063DF4}" srcOrd="18" destOrd="0" presId="urn:microsoft.com/office/officeart/2009/3/layout/RandomtoResultProcess"/>
    <dgm:cxn modelId="{2CB48C86-DFAF-4617-B8C9-7DC0EA7A211B}" type="presParOf" srcId="{1064E059-ED04-48CD-9467-12295B164061}" destId="{BA2DA9B5-BDFA-4E12-9F32-EC3A15B53402}" srcOrd="1" destOrd="0" presId="urn:microsoft.com/office/officeart/2009/3/layout/RandomtoResultProcess"/>
    <dgm:cxn modelId="{20FD4431-E6AE-4BE6-A0D5-7783424FDCE9}" type="presParOf" srcId="{BA2DA9B5-BDFA-4E12-9F32-EC3A15B53402}" destId="{C549A7C9-3CC2-495D-8692-C808E2BEDD06}" srcOrd="0" destOrd="0" presId="urn:microsoft.com/office/officeart/2009/3/layout/RandomtoResultProcess"/>
    <dgm:cxn modelId="{FDAA7F4D-C783-459E-9617-0405B3210CC1}" type="presParOf" srcId="{BA2DA9B5-BDFA-4E12-9F32-EC3A15B53402}" destId="{DC06FB68-BFDF-4514-836F-552FF2FCE2D5}" srcOrd="1" destOrd="0" presId="urn:microsoft.com/office/officeart/2009/3/layout/RandomtoResultProcess"/>
    <dgm:cxn modelId="{0BDA270E-3794-46B5-8BE4-C1124643A19B}" type="presParOf" srcId="{1064E059-ED04-48CD-9467-12295B164061}" destId="{6DDF6FC5-3050-49EC-83B5-0FD89CB95FAB}" srcOrd="2" destOrd="0" presId="urn:microsoft.com/office/officeart/2009/3/layout/RandomtoResultProcess"/>
    <dgm:cxn modelId="{27045823-04C5-42E7-AA75-FA7E3D5D0801}" type="presParOf" srcId="{6DDF6FC5-3050-49EC-83B5-0FD89CB95FAB}" destId="{B5A39F18-7032-4A26-94E0-678370AA7B70}" srcOrd="0" destOrd="0" presId="urn:microsoft.com/office/officeart/2009/3/layout/RandomtoResultProcess"/>
    <dgm:cxn modelId="{9B64CB86-FACC-40D0-B0ED-A1978F0AFDFC}" type="presParOf" srcId="{6DDF6FC5-3050-49EC-83B5-0FD89CB95FAB}" destId="{587B6C3E-58FB-4C81-B9D8-15A8F8FDEE8B}" srcOrd="1" destOrd="0" presId="urn:microsoft.com/office/officeart/2009/3/layout/RandomtoResultProcess"/>
    <dgm:cxn modelId="{4F528955-2D04-4561-93F3-A70BE4F2EA48}" type="presParOf" srcId="{1064E059-ED04-48CD-9467-12295B164061}" destId="{EC704624-3CC6-454A-B726-6AD8BC8CE062}" srcOrd="3" destOrd="0" presId="urn:microsoft.com/office/officeart/2009/3/layout/RandomtoResultProcess"/>
    <dgm:cxn modelId="{5A68CD86-6ADC-473F-BB40-D15BDFB5F9A7}" type="presParOf" srcId="{EC704624-3CC6-454A-B726-6AD8BC8CE062}" destId="{C06ED2B1-1E49-41E1-96AF-AAF54FBC6D2C}" srcOrd="0" destOrd="0" presId="urn:microsoft.com/office/officeart/2009/3/layout/RandomtoResultProcess"/>
    <dgm:cxn modelId="{67CD0772-7F40-4F83-8196-0CBCCE1B8B72}" type="presParOf" srcId="{EC704624-3CC6-454A-B726-6AD8BC8CE062}" destId="{16891D37-1530-4746-9F61-3926748E601B}" srcOrd="1" destOrd="0" presId="urn:microsoft.com/office/officeart/2009/3/layout/RandomtoResultProcess"/>
    <dgm:cxn modelId="{0F5A14B0-2170-4723-BD05-2DB3C31FEEF3}" type="presParOf" srcId="{1064E059-ED04-48CD-9467-12295B164061}" destId="{2E387C6C-5043-4981-8E96-881D948C580C}" srcOrd="4" destOrd="0" presId="urn:microsoft.com/office/officeart/2009/3/layout/RandomtoResultProcess"/>
    <dgm:cxn modelId="{C917062D-5711-4FBB-84B0-FFBD5F59E841}" type="presParOf" srcId="{2E387C6C-5043-4981-8E96-881D948C580C}" destId="{BE703FCD-7422-4A8C-8805-6333F4094639}" srcOrd="0" destOrd="0" presId="urn:microsoft.com/office/officeart/2009/3/layout/RandomtoResultProcess"/>
    <dgm:cxn modelId="{281FE59B-6CEE-4E65-948A-E297900302AA}" type="presParOf" srcId="{2E387C6C-5043-4981-8E96-881D948C580C}" destId="{CA92BFD0-A821-4A88-BCFE-E3452EE8E02B}" srcOrd="1" destOrd="0" presId="urn:microsoft.com/office/officeart/2009/3/layout/RandomtoResultProcess"/>
    <dgm:cxn modelId="{B6A1C21F-6A39-4F47-B49A-949BC36FEE74}" type="presParOf" srcId="{1064E059-ED04-48CD-9467-12295B164061}" destId="{948AECEF-FAEF-4936-A911-BC477F458AA5}" srcOrd="5" destOrd="0" presId="urn:microsoft.com/office/officeart/2009/3/layout/RandomtoResultProcess"/>
    <dgm:cxn modelId="{1086835B-F34E-4E63-BD48-FBDD3391D504}" type="presParOf" srcId="{948AECEF-FAEF-4936-A911-BC477F458AA5}" destId="{67CC8161-BB6A-4445-AC47-CC81C685EC85}" srcOrd="0" destOrd="0" presId="urn:microsoft.com/office/officeart/2009/3/layout/RandomtoResultProcess"/>
    <dgm:cxn modelId="{84AD1206-9DF5-4D06-80D1-36112CAB01BB}" type="presParOf" srcId="{948AECEF-FAEF-4936-A911-BC477F458AA5}" destId="{CF267818-47AE-409A-8124-99F33E7F253A}" srcOrd="1" destOrd="0" presId="urn:microsoft.com/office/officeart/2009/3/layout/RandomtoResultProcess"/>
    <dgm:cxn modelId="{3E71AED7-7AA7-43AC-9FD1-32B791C71EB9}" type="presParOf" srcId="{1064E059-ED04-48CD-9467-12295B164061}" destId="{0212AC64-D223-4410-B904-D9606393DEB5}" srcOrd="6" destOrd="0" presId="urn:microsoft.com/office/officeart/2009/3/layout/RandomtoResultProcess"/>
    <dgm:cxn modelId="{EEA43D00-2040-4BC8-8322-1B2F7B81F61C}" type="presParOf" srcId="{0212AC64-D223-4410-B904-D9606393DEB5}" destId="{4A0D481C-09E9-49F6-B246-1F797D8518E5}" srcOrd="0" destOrd="0" presId="urn:microsoft.com/office/officeart/2009/3/layout/RandomtoResultProcess"/>
    <dgm:cxn modelId="{79483A3A-83B6-4473-9503-527430D9CB27}" type="presParOf" srcId="{0212AC64-D223-4410-B904-D9606393DEB5}" destId="{F608511C-4F46-4DDE-A51D-194E3C15B965}" srcOrd="1" destOrd="0" presId="urn:microsoft.com/office/officeart/2009/3/layout/RandomtoResultProcess"/>
    <dgm:cxn modelId="{95C06110-4BF8-4213-90A2-173106DD1A9E}" type="presParOf" srcId="{1064E059-ED04-48CD-9467-12295B164061}" destId="{43CF0019-93CE-41B1-8CCD-8A90A8EE190E}" srcOrd="7" destOrd="0" presId="urn:microsoft.com/office/officeart/2009/3/layout/RandomtoResultProcess"/>
    <dgm:cxn modelId="{80CF2505-80A8-40C2-8699-8FB83E276828}" type="presParOf" srcId="{43CF0019-93CE-41B1-8CCD-8A90A8EE190E}" destId="{FE58C54D-ECCD-4013-BFE5-708F6ACE58EE}" srcOrd="0" destOrd="0" presId="urn:microsoft.com/office/officeart/2009/3/layout/RandomtoResultProcess"/>
    <dgm:cxn modelId="{1180D85F-A990-49BA-B777-0FC6970DF118}" type="presParOf" srcId="{43CF0019-93CE-41B1-8CCD-8A90A8EE190E}" destId="{69F679A5-7DF6-4B19-B5CF-A2F332631EC4}" srcOrd="1" destOrd="0" presId="urn:microsoft.com/office/officeart/2009/3/layout/RandomtoResultProcess"/>
    <dgm:cxn modelId="{1C96DB18-94F8-4DC5-BEAF-131B50C96253}" type="presParOf" srcId="{1064E059-ED04-48CD-9467-12295B164061}" destId="{00EC81F2-07AF-4D93-87D6-4CB82B7B38F1}" srcOrd="8" destOrd="0" presId="urn:microsoft.com/office/officeart/2009/3/layout/RandomtoResultProcess"/>
    <dgm:cxn modelId="{25FCA5EB-0D34-4A50-AE4A-03C53E455358}" type="presParOf" srcId="{00EC81F2-07AF-4D93-87D6-4CB82B7B38F1}" destId="{CA22D33A-2DCE-4E88-B73B-770BD077B44C}" srcOrd="0" destOrd="0" presId="urn:microsoft.com/office/officeart/2009/3/layout/RandomtoResultProcess"/>
    <dgm:cxn modelId="{C8261550-4903-408F-B29E-F4C53810CBC9}" type="presParOf" srcId="{00EC81F2-07AF-4D93-87D6-4CB82B7B38F1}" destId="{5DB5ACC1-5149-4F6A-AB4B-F63BBAFC1F6F}" srcOrd="1" destOrd="0" presId="urn:microsoft.com/office/officeart/2009/3/layout/RandomtoResul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252C34-1FFA-41E1-8421-B2ECF34FBD7B}" type="doc">
      <dgm:prSet loTypeId="urn:microsoft.com/office/officeart/2009/3/layout/RandomtoResultProcess" loCatId="process" qsTypeId="urn:microsoft.com/office/officeart/2005/8/quickstyle/simple1#4" qsCatId="simple" csTypeId="urn:microsoft.com/office/officeart/2005/8/colors/colorful1#5" csCatId="colorful" phldr="1"/>
      <dgm:spPr/>
      <dgm:t>
        <a:bodyPr/>
        <a:lstStyle/>
        <a:p>
          <a:endParaRPr lang="en-US"/>
        </a:p>
      </dgm:t>
    </dgm:pt>
    <dgm:pt modelId="{FC0BADB1-1500-4554-AA39-978AD711A57D}">
      <dgm:prSet custT="1"/>
      <dgm:spPr/>
      <dgm:t>
        <a:bodyPr/>
        <a:lstStyle/>
        <a:p>
          <a:pPr marL="0" lvl="0" indent="0" algn="l">
            <a:lnSpc>
              <a:spcPct val="100000"/>
            </a:lnSpc>
            <a:spcBef>
              <a:spcPts val="0"/>
            </a:spcBef>
            <a:spcAft>
              <a:spcPts val="0"/>
            </a:spcAft>
            <a:buFontTx/>
            <a:buNone/>
          </a:pPr>
          <a:r>
            <a:rPr lang="en-US" sz="1000" b="0" i="0">
              <a:solidFill>
                <a:srgbClr val="000000"/>
              </a:solidFill>
              <a:latin typeface="Calibri" panose="020F0502020204030204" pitchFamily="34" charset="0"/>
            </a:rPr>
            <a:t>ATU + Encryption + Parity</a:t>
          </a:r>
        </a:p>
        <a:p>
          <a:pPr marL="0" lvl="0" indent="0" algn="l">
            <a:lnSpc>
              <a:spcPct val="100000"/>
            </a:lnSpc>
            <a:spcBef>
              <a:spcPts val="0"/>
            </a:spcBef>
            <a:spcAft>
              <a:spcPts val="0"/>
            </a:spcAft>
            <a:buFontTx/>
            <a:buNone/>
          </a:pPr>
          <a:r>
            <a:rPr lang="en-US" sz="1000" b="0" i="0">
              <a:solidFill>
                <a:srgbClr val="000000"/>
              </a:solidFill>
              <a:latin typeface="Calibri" panose="020F0502020204030204" pitchFamily="34" charset="0"/>
            </a:rPr>
            <a:t>Translates address, encrypts payload, appends parity</a:t>
          </a:r>
          <a:endParaRPr lang="en-US" sz="1000" b="0" i="0" dirty="0">
            <a:solidFill>
              <a:srgbClr val="000000"/>
            </a:solidFill>
            <a:latin typeface="Calibri" panose="020F0502020204030204" pitchFamily="34" charset="0"/>
          </a:endParaRPr>
        </a:p>
      </dgm:t>
    </dgm:pt>
    <dgm:pt modelId="{75216135-AD73-4876-B5EF-EBE8F791F7F2}" type="sibTrans" cxnId="{25A41EC7-DBA2-4961-B1E7-9F983D626F8B}">
      <dgm:prSet/>
      <dgm:spPr/>
      <dgm:t>
        <a:bodyPr/>
        <a:lstStyle/>
        <a:p>
          <a:endParaRPr lang="en-US"/>
        </a:p>
      </dgm:t>
    </dgm:pt>
    <dgm:pt modelId="{EACD115A-F137-4552-B925-CF9E3A304D92}" type="parTrans" cxnId="{25A41EC7-DBA2-4961-B1E7-9F983D626F8B}">
      <dgm:prSet/>
      <dgm:spPr/>
      <dgm:t>
        <a:bodyPr/>
        <a:lstStyle/>
        <a:p>
          <a:endParaRPr lang="en-US"/>
        </a:p>
      </dgm:t>
    </dgm:pt>
    <dgm:pt modelId="{C8C8CD9B-5818-4DC6-A12E-2A607F4010B2}">
      <dgm:prSet custT="1"/>
      <dgm:spPr/>
      <dgm:t>
        <a:bodyPr/>
        <a:lstStyle/>
        <a:p>
          <a:pPr marL="0" lvl="0" indent="0" algn="l">
            <a:lnSpc>
              <a:spcPct val="100000"/>
            </a:lnSpc>
            <a:spcBef>
              <a:spcPts val="0"/>
            </a:spcBef>
            <a:spcAft>
              <a:spcPts val="0"/>
            </a:spcAft>
            <a:buFontTx/>
            <a:buNone/>
          </a:pPr>
          <a:r>
            <a:rPr lang="en-US" sz="1000" b="0" i="0">
              <a:solidFill>
                <a:srgbClr val="000000"/>
              </a:solidFill>
              <a:latin typeface="Calibri" panose="020F0502020204030204" pitchFamily="34" charset="0"/>
            </a:rPr>
            <a:t>CDM</a:t>
          </a:r>
        </a:p>
        <a:p>
          <a:pPr marL="0" lvl="0" indent="0" algn="l">
            <a:lnSpc>
              <a:spcPct val="100000"/>
            </a:lnSpc>
            <a:spcBef>
              <a:spcPts val="0"/>
            </a:spcBef>
            <a:spcAft>
              <a:spcPts val="0"/>
            </a:spcAft>
            <a:buFontTx/>
            <a:buNone/>
          </a:pPr>
          <a:r>
            <a:rPr lang="en-US" sz="1000" b="0" i="0">
              <a:solidFill>
                <a:srgbClr val="000000"/>
              </a:solidFill>
              <a:latin typeface="Calibri" panose="020F0502020204030204" pitchFamily="34" charset="0"/>
            </a:rPr>
            <a:t>Stores config (direct write) or encrypted payload (ATU address)</a:t>
          </a:r>
          <a:endParaRPr lang="en-US" sz="1000" b="0" i="0" dirty="0">
            <a:solidFill>
              <a:srgbClr val="000000"/>
            </a:solidFill>
            <a:latin typeface="Calibri" panose="020F0502020204030204" pitchFamily="34" charset="0"/>
          </a:endParaRPr>
        </a:p>
      </dgm:t>
    </dgm:pt>
    <dgm:pt modelId="{847EC7C3-5B30-4475-8905-AF811C121792}" type="sibTrans" cxnId="{BD8BE0F6-58E2-4DC8-BFAD-996769F0F949}">
      <dgm:prSet/>
      <dgm:spPr/>
      <dgm:t>
        <a:bodyPr/>
        <a:lstStyle/>
        <a:p>
          <a:endParaRPr lang="en-US"/>
        </a:p>
      </dgm:t>
    </dgm:pt>
    <dgm:pt modelId="{EAFDFC2E-9BF6-4AE0-ACBA-87EED66EEC3A}" type="parTrans" cxnId="{BD8BE0F6-58E2-4DC8-BFAD-996769F0F949}">
      <dgm:prSet/>
      <dgm:spPr/>
      <dgm:t>
        <a:bodyPr/>
        <a:lstStyle/>
        <a:p>
          <a:endParaRPr lang="en-US"/>
        </a:p>
      </dgm:t>
    </dgm:pt>
    <dgm:pt modelId="{152C9E08-AFA2-4611-B58C-ADBBDA5BF8EE}">
      <dgm:prSet custT="1"/>
      <dgm:spPr/>
      <dgm:t>
        <a:bodyPr/>
        <a:lstStyle/>
        <a:p>
          <a:pPr marL="0" lvl="0" indent="0" algn="l">
            <a:lnSpc>
              <a:spcPct val="100000"/>
            </a:lnSpc>
            <a:spcBef>
              <a:spcPts val="0"/>
            </a:spcBef>
            <a:spcAft>
              <a:spcPts val="0"/>
            </a:spcAft>
            <a:buFontTx/>
            <a:buNone/>
          </a:pPr>
          <a:r>
            <a:rPr lang="en-US" sz="1000" b="0" i="0">
              <a:solidFill>
                <a:srgbClr val="FFFFFF"/>
              </a:solidFill>
              <a:latin typeface="Calibri" panose="020F0502020204030204" pitchFamily="34" charset="0"/>
            </a:rPr>
            <a:t>Error Return + CXS TX</a:t>
          </a:r>
        </a:p>
        <a:p>
          <a:pPr marL="0" lvl="0" indent="0" algn="l">
            <a:lnSpc>
              <a:spcPct val="100000"/>
            </a:lnSpc>
            <a:spcBef>
              <a:spcPts val="0"/>
            </a:spcBef>
            <a:spcAft>
              <a:spcPts val="0"/>
            </a:spcAft>
            <a:buFontTx/>
            <a:buNone/>
          </a:pPr>
          <a:r>
            <a:rPr lang="en-US" sz="1000" b="0" i="0">
              <a:solidFill>
                <a:srgbClr val="FFFFFF"/>
              </a:solidFill>
              <a:latin typeface="Calibri" panose="020F0502020204030204" pitchFamily="34" charset="0"/>
            </a:rPr>
            <a:t>Toggle sync System → CXS clk; response FLIT sent</a:t>
          </a:r>
          <a:endParaRPr lang="en-US" sz="1000" b="0" i="0" dirty="0">
            <a:solidFill>
              <a:srgbClr val="FFFFFF"/>
            </a:solidFill>
            <a:latin typeface="Calibri" panose="020F0502020204030204" pitchFamily="34" charset="0"/>
          </a:endParaRPr>
        </a:p>
      </dgm:t>
    </dgm:pt>
    <dgm:pt modelId="{7C02B79B-5928-4361-869A-E59EEAB65A15}" type="sibTrans" cxnId="{9BE2B80F-0A52-4EFC-8D1F-0F5357C39691}">
      <dgm:prSet/>
      <dgm:spPr/>
      <dgm:t>
        <a:bodyPr/>
        <a:lstStyle/>
        <a:p>
          <a:endParaRPr lang="en-US"/>
        </a:p>
      </dgm:t>
    </dgm:pt>
    <dgm:pt modelId="{9C393E8F-3552-4A2D-94D6-80EFDEFBD854}" type="parTrans" cxnId="{9BE2B80F-0A52-4EFC-8D1F-0F5357C39691}">
      <dgm:prSet/>
      <dgm:spPr/>
      <dgm:t>
        <a:bodyPr/>
        <a:lstStyle/>
        <a:p>
          <a:endParaRPr lang="en-US"/>
        </a:p>
      </dgm:t>
    </dgm:pt>
    <dgm:pt modelId="{7FE80DC8-A7E3-4705-B55A-B6F4D1881A14}" type="pres">
      <dgm:prSet presAssocID="{27252C34-1FFA-41E1-8421-B2ECF34FBD7B}" presName="Name0" presStyleCnt="0">
        <dgm:presLayoutVars>
          <dgm:dir/>
          <dgm:animOne val="branch"/>
          <dgm:animLvl val="lvl"/>
        </dgm:presLayoutVars>
      </dgm:prSet>
      <dgm:spPr/>
    </dgm:pt>
    <dgm:pt modelId="{D2A74003-75C1-488B-8A06-F5F9DA4B0A43}" type="pres">
      <dgm:prSet presAssocID="{FC0BADB1-1500-4554-AA39-978AD711A57D}" presName="chaos" presStyleCnt="0"/>
      <dgm:spPr/>
    </dgm:pt>
    <dgm:pt modelId="{850D4A26-DF03-44E0-90C0-7FE16DEB00A3}" type="pres">
      <dgm:prSet presAssocID="{FC0BADB1-1500-4554-AA39-978AD711A57D}" presName="parTx1" presStyleLbl="revTx" presStyleIdx="0" presStyleCnt="2"/>
      <dgm:spPr/>
    </dgm:pt>
    <dgm:pt modelId="{56956B0C-A52F-4D18-B3A5-9A044355D7F7}" type="pres">
      <dgm:prSet presAssocID="{FC0BADB1-1500-4554-AA39-978AD711A57D}" presName="c1" presStyleLbl="node1" presStyleIdx="0" presStyleCnt="19"/>
      <dgm:spPr/>
    </dgm:pt>
    <dgm:pt modelId="{24076EF9-67D6-4ACA-B8F9-C06F1D72CEA0}" type="pres">
      <dgm:prSet presAssocID="{FC0BADB1-1500-4554-AA39-978AD711A57D}" presName="c2" presStyleLbl="node1" presStyleIdx="1" presStyleCnt="19"/>
      <dgm:spPr/>
    </dgm:pt>
    <dgm:pt modelId="{264AFA6C-A619-4AE8-BC66-CEEE69D62EA3}" type="pres">
      <dgm:prSet presAssocID="{FC0BADB1-1500-4554-AA39-978AD711A57D}" presName="c3" presStyleLbl="node1" presStyleIdx="2" presStyleCnt="19"/>
      <dgm:spPr/>
    </dgm:pt>
    <dgm:pt modelId="{36B33716-A694-4C07-97B9-5235BA67F503}" type="pres">
      <dgm:prSet presAssocID="{FC0BADB1-1500-4554-AA39-978AD711A57D}" presName="c4" presStyleLbl="node1" presStyleIdx="3" presStyleCnt="19"/>
      <dgm:spPr/>
    </dgm:pt>
    <dgm:pt modelId="{B98699B4-84C6-4C3C-9D67-C1DF3D646DC3}" type="pres">
      <dgm:prSet presAssocID="{FC0BADB1-1500-4554-AA39-978AD711A57D}" presName="c5" presStyleLbl="node1" presStyleIdx="4" presStyleCnt="19"/>
      <dgm:spPr/>
    </dgm:pt>
    <dgm:pt modelId="{D64B248F-FAFD-4467-A204-75A98BE5970C}" type="pres">
      <dgm:prSet presAssocID="{FC0BADB1-1500-4554-AA39-978AD711A57D}" presName="c6" presStyleLbl="node1" presStyleIdx="5" presStyleCnt="19"/>
      <dgm:spPr/>
    </dgm:pt>
    <dgm:pt modelId="{829D6872-0A5D-4928-8BAB-71F1709943FF}" type="pres">
      <dgm:prSet presAssocID="{FC0BADB1-1500-4554-AA39-978AD711A57D}" presName="c7" presStyleLbl="node1" presStyleIdx="6" presStyleCnt="19"/>
      <dgm:spPr/>
    </dgm:pt>
    <dgm:pt modelId="{8E6F582B-F955-4DC2-8917-1D439D9A3AEA}" type="pres">
      <dgm:prSet presAssocID="{FC0BADB1-1500-4554-AA39-978AD711A57D}" presName="c8" presStyleLbl="node1" presStyleIdx="7" presStyleCnt="19"/>
      <dgm:spPr/>
    </dgm:pt>
    <dgm:pt modelId="{2B7C42E7-DDA0-40B6-9E02-38A7A19A7653}" type="pres">
      <dgm:prSet presAssocID="{FC0BADB1-1500-4554-AA39-978AD711A57D}" presName="c9" presStyleLbl="node1" presStyleIdx="8" presStyleCnt="19"/>
      <dgm:spPr/>
    </dgm:pt>
    <dgm:pt modelId="{4DF52567-6319-4AFD-8D96-02F9EFAB9362}" type="pres">
      <dgm:prSet presAssocID="{FC0BADB1-1500-4554-AA39-978AD711A57D}" presName="c10" presStyleLbl="node1" presStyleIdx="9" presStyleCnt="19"/>
      <dgm:spPr/>
    </dgm:pt>
    <dgm:pt modelId="{77BFB5F1-4782-4A27-8DFF-CC6DE6E8A2A7}" type="pres">
      <dgm:prSet presAssocID="{FC0BADB1-1500-4554-AA39-978AD711A57D}" presName="c11" presStyleLbl="node1" presStyleIdx="10" presStyleCnt="19"/>
      <dgm:spPr/>
    </dgm:pt>
    <dgm:pt modelId="{BC5DEC05-2F75-4981-AC14-7249BD13BFC3}" type="pres">
      <dgm:prSet presAssocID="{FC0BADB1-1500-4554-AA39-978AD711A57D}" presName="c12" presStyleLbl="node1" presStyleIdx="11" presStyleCnt="19"/>
      <dgm:spPr/>
    </dgm:pt>
    <dgm:pt modelId="{FA6B692F-FCB3-4477-AEFB-804B1AF63466}" type="pres">
      <dgm:prSet presAssocID="{FC0BADB1-1500-4554-AA39-978AD711A57D}" presName="c13" presStyleLbl="node1" presStyleIdx="12" presStyleCnt="19"/>
      <dgm:spPr/>
    </dgm:pt>
    <dgm:pt modelId="{A6167764-4DC3-46F2-BE44-82DD2CD73ADC}" type="pres">
      <dgm:prSet presAssocID="{FC0BADB1-1500-4554-AA39-978AD711A57D}" presName="c14" presStyleLbl="node1" presStyleIdx="13" presStyleCnt="19"/>
      <dgm:spPr/>
    </dgm:pt>
    <dgm:pt modelId="{76FE7225-B096-42CB-8FFD-EC5BB3ED8B04}" type="pres">
      <dgm:prSet presAssocID="{FC0BADB1-1500-4554-AA39-978AD711A57D}" presName="c15" presStyleLbl="node1" presStyleIdx="14" presStyleCnt="19"/>
      <dgm:spPr/>
    </dgm:pt>
    <dgm:pt modelId="{9C17FDFA-316C-4C36-8094-56A3D0F51284}" type="pres">
      <dgm:prSet presAssocID="{FC0BADB1-1500-4554-AA39-978AD711A57D}" presName="c16" presStyleLbl="node1" presStyleIdx="15" presStyleCnt="19"/>
      <dgm:spPr/>
    </dgm:pt>
    <dgm:pt modelId="{9EC8FD4E-0286-487A-83BD-67045791B957}" type="pres">
      <dgm:prSet presAssocID="{FC0BADB1-1500-4554-AA39-978AD711A57D}" presName="c17" presStyleLbl="node1" presStyleIdx="16" presStyleCnt="19"/>
      <dgm:spPr/>
    </dgm:pt>
    <dgm:pt modelId="{4EA72891-DBA4-4583-842A-D01E5D67C2D4}" type="pres">
      <dgm:prSet presAssocID="{FC0BADB1-1500-4554-AA39-978AD711A57D}" presName="c18" presStyleLbl="node1" presStyleIdx="17" presStyleCnt="19"/>
      <dgm:spPr/>
    </dgm:pt>
    <dgm:pt modelId="{50465067-9D3A-484B-BC0F-0069EE1F7D91}" type="pres">
      <dgm:prSet presAssocID="{75216135-AD73-4876-B5EF-EBE8F791F7F2}" presName="chevronComposite1" presStyleCnt="0"/>
      <dgm:spPr/>
    </dgm:pt>
    <dgm:pt modelId="{ED6FBBAA-8B9D-4A8A-8FB7-04CAB0A37AAE}" type="pres">
      <dgm:prSet presAssocID="{75216135-AD73-4876-B5EF-EBE8F791F7F2}" presName="chevron1" presStyleLbl="sibTrans2D1" presStyleIdx="0" presStyleCnt="2"/>
      <dgm:spPr/>
    </dgm:pt>
    <dgm:pt modelId="{D7D9D7D6-4ABB-4CC6-A22B-CDFB4AA68DA5}" type="pres">
      <dgm:prSet presAssocID="{75216135-AD73-4876-B5EF-EBE8F791F7F2}" presName="spChevron1" presStyleCnt="0"/>
      <dgm:spPr/>
    </dgm:pt>
    <dgm:pt modelId="{E5524B8D-6697-472F-96C0-49DAFE20B06C}" type="pres">
      <dgm:prSet presAssocID="{C8C8CD9B-5818-4DC6-A12E-2A607F4010B2}" presName="middle" presStyleCnt="0"/>
      <dgm:spPr/>
    </dgm:pt>
    <dgm:pt modelId="{B2D5A58E-F798-4436-BB68-0C5B1027AE1A}" type="pres">
      <dgm:prSet presAssocID="{C8C8CD9B-5818-4DC6-A12E-2A607F4010B2}" presName="parTxMid" presStyleLbl="revTx" presStyleIdx="1" presStyleCnt="2"/>
      <dgm:spPr/>
    </dgm:pt>
    <dgm:pt modelId="{02093748-F101-428A-82DB-2D1550985EA9}" type="pres">
      <dgm:prSet presAssocID="{C8C8CD9B-5818-4DC6-A12E-2A607F4010B2}" presName="spMid" presStyleCnt="0"/>
      <dgm:spPr/>
    </dgm:pt>
    <dgm:pt modelId="{6A5652FC-CA44-4BDF-B447-D9EB1ECBE251}" type="pres">
      <dgm:prSet presAssocID="{847EC7C3-5B30-4475-8905-AF811C121792}" presName="chevronComposite1" presStyleCnt="0"/>
      <dgm:spPr/>
    </dgm:pt>
    <dgm:pt modelId="{A507033C-DA96-4FB6-AB57-9FBC53A77E2C}" type="pres">
      <dgm:prSet presAssocID="{847EC7C3-5B30-4475-8905-AF811C121792}" presName="chevron1" presStyleLbl="sibTrans2D1" presStyleIdx="1" presStyleCnt="2"/>
      <dgm:spPr/>
    </dgm:pt>
    <dgm:pt modelId="{B456EACF-4186-474A-A7AB-24B2E6410E9D}" type="pres">
      <dgm:prSet presAssocID="{847EC7C3-5B30-4475-8905-AF811C121792}" presName="spChevron1" presStyleCnt="0"/>
      <dgm:spPr/>
    </dgm:pt>
    <dgm:pt modelId="{0EA9AAE6-1EF3-488F-BDF5-45CBE9452701}" type="pres">
      <dgm:prSet presAssocID="{152C9E08-AFA2-4611-B58C-ADBBDA5BF8EE}" presName="last" presStyleCnt="0"/>
      <dgm:spPr/>
    </dgm:pt>
    <dgm:pt modelId="{429FE0CA-5284-46B2-9270-FEE66F216410}" type="pres">
      <dgm:prSet presAssocID="{152C9E08-AFA2-4611-B58C-ADBBDA5BF8EE}" presName="circleTx" presStyleLbl="node1" presStyleIdx="18" presStyleCnt="19"/>
      <dgm:spPr/>
    </dgm:pt>
    <dgm:pt modelId="{FEE4A1AD-06E3-4B15-A5BC-282F2C4FF321}" type="pres">
      <dgm:prSet presAssocID="{152C9E08-AFA2-4611-B58C-ADBBDA5BF8EE}" presName="spN" presStyleCnt="0"/>
      <dgm:spPr/>
    </dgm:pt>
  </dgm:ptLst>
  <dgm:cxnLst>
    <dgm:cxn modelId="{9BE2B80F-0A52-4EFC-8D1F-0F5357C39691}" srcId="{27252C34-1FFA-41E1-8421-B2ECF34FBD7B}" destId="{152C9E08-AFA2-4611-B58C-ADBBDA5BF8EE}" srcOrd="2" destOrd="0" parTransId="{9C393E8F-3552-4A2D-94D6-80EFDEFBD854}" sibTransId="{7C02B79B-5928-4361-869A-E59EEAB65A15}"/>
    <dgm:cxn modelId="{459F0110-7011-48D9-8FDA-BDC00260DEE7}" type="presOf" srcId="{C8C8CD9B-5818-4DC6-A12E-2A607F4010B2}" destId="{B2D5A58E-F798-4436-BB68-0C5B1027AE1A}" srcOrd="0" destOrd="0" presId="urn:microsoft.com/office/officeart/2009/3/layout/RandomtoResultProcess"/>
    <dgm:cxn modelId="{6AACA43B-123A-4A15-BCCB-2514CD67ED4A}" type="presOf" srcId="{27252C34-1FFA-41E1-8421-B2ECF34FBD7B}" destId="{7FE80DC8-A7E3-4705-B55A-B6F4D1881A14}" srcOrd="0" destOrd="0" presId="urn:microsoft.com/office/officeart/2009/3/layout/RandomtoResultProcess"/>
    <dgm:cxn modelId="{0A457C5A-EC66-45A3-BE75-799A26910F63}" type="presOf" srcId="{152C9E08-AFA2-4611-B58C-ADBBDA5BF8EE}" destId="{429FE0CA-5284-46B2-9270-FEE66F216410}" srcOrd="0" destOrd="0" presId="urn:microsoft.com/office/officeart/2009/3/layout/RandomtoResultProcess"/>
    <dgm:cxn modelId="{9F4412B0-9F35-41F1-9D48-97EDC0951851}" type="presOf" srcId="{FC0BADB1-1500-4554-AA39-978AD711A57D}" destId="{850D4A26-DF03-44E0-90C0-7FE16DEB00A3}" srcOrd="0" destOrd="0" presId="urn:microsoft.com/office/officeart/2009/3/layout/RandomtoResultProcess"/>
    <dgm:cxn modelId="{25A41EC7-DBA2-4961-B1E7-9F983D626F8B}" srcId="{27252C34-1FFA-41E1-8421-B2ECF34FBD7B}" destId="{FC0BADB1-1500-4554-AA39-978AD711A57D}" srcOrd="0" destOrd="0" parTransId="{EACD115A-F137-4552-B925-CF9E3A304D92}" sibTransId="{75216135-AD73-4876-B5EF-EBE8F791F7F2}"/>
    <dgm:cxn modelId="{BD8BE0F6-58E2-4DC8-BFAD-996769F0F949}" srcId="{27252C34-1FFA-41E1-8421-B2ECF34FBD7B}" destId="{C8C8CD9B-5818-4DC6-A12E-2A607F4010B2}" srcOrd="1" destOrd="0" parTransId="{EAFDFC2E-9BF6-4AE0-ACBA-87EED66EEC3A}" sibTransId="{847EC7C3-5B30-4475-8905-AF811C121792}"/>
    <dgm:cxn modelId="{A8F65A5C-5DF4-4DB6-A85F-DEB59A5E2730}" type="presParOf" srcId="{7FE80DC8-A7E3-4705-B55A-B6F4D1881A14}" destId="{D2A74003-75C1-488B-8A06-F5F9DA4B0A43}" srcOrd="0" destOrd="0" presId="urn:microsoft.com/office/officeart/2009/3/layout/RandomtoResultProcess"/>
    <dgm:cxn modelId="{21D1C4A4-87EA-4599-95D0-2A33DE229291}" type="presParOf" srcId="{D2A74003-75C1-488B-8A06-F5F9DA4B0A43}" destId="{850D4A26-DF03-44E0-90C0-7FE16DEB00A3}" srcOrd="0" destOrd="0" presId="urn:microsoft.com/office/officeart/2009/3/layout/RandomtoResultProcess"/>
    <dgm:cxn modelId="{895DFFFF-5D0F-4222-AE62-31C5922D6AF3}" type="presParOf" srcId="{D2A74003-75C1-488B-8A06-F5F9DA4B0A43}" destId="{56956B0C-A52F-4D18-B3A5-9A044355D7F7}" srcOrd="1" destOrd="0" presId="urn:microsoft.com/office/officeart/2009/3/layout/RandomtoResultProcess"/>
    <dgm:cxn modelId="{B4677DFD-C87B-462C-9771-9A7D06F2047D}" type="presParOf" srcId="{D2A74003-75C1-488B-8A06-F5F9DA4B0A43}" destId="{24076EF9-67D6-4ACA-B8F9-C06F1D72CEA0}" srcOrd="2" destOrd="0" presId="urn:microsoft.com/office/officeart/2009/3/layout/RandomtoResultProcess"/>
    <dgm:cxn modelId="{95C9C022-2357-4A87-9F46-3ECA5E98A553}" type="presParOf" srcId="{D2A74003-75C1-488B-8A06-F5F9DA4B0A43}" destId="{264AFA6C-A619-4AE8-BC66-CEEE69D62EA3}" srcOrd="3" destOrd="0" presId="urn:microsoft.com/office/officeart/2009/3/layout/RandomtoResultProcess"/>
    <dgm:cxn modelId="{64549B1F-AE66-4898-9789-3A94D6496E9A}" type="presParOf" srcId="{D2A74003-75C1-488B-8A06-F5F9DA4B0A43}" destId="{36B33716-A694-4C07-97B9-5235BA67F503}" srcOrd="4" destOrd="0" presId="urn:microsoft.com/office/officeart/2009/3/layout/RandomtoResultProcess"/>
    <dgm:cxn modelId="{026F0A45-BE01-4FC9-A27C-98AC93FFF1DB}" type="presParOf" srcId="{D2A74003-75C1-488B-8A06-F5F9DA4B0A43}" destId="{B98699B4-84C6-4C3C-9D67-C1DF3D646DC3}" srcOrd="5" destOrd="0" presId="urn:microsoft.com/office/officeart/2009/3/layout/RandomtoResultProcess"/>
    <dgm:cxn modelId="{3F34FC1E-F86D-4355-A8D4-FBDD5F584B95}" type="presParOf" srcId="{D2A74003-75C1-488B-8A06-F5F9DA4B0A43}" destId="{D64B248F-FAFD-4467-A204-75A98BE5970C}" srcOrd="6" destOrd="0" presId="urn:microsoft.com/office/officeart/2009/3/layout/RandomtoResultProcess"/>
    <dgm:cxn modelId="{B1BC6F88-DB15-4917-8340-AF195F009069}" type="presParOf" srcId="{D2A74003-75C1-488B-8A06-F5F9DA4B0A43}" destId="{829D6872-0A5D-4928-8BAB-71F1709943FF}" srcOrd="7" destOrd="0" presId="urn:microsoft.com/office/officeart/2009/3/layout/RandomtoResultProcess"/>
    <dgm:cxn modelId="{2C68DEB3-B0E9-45F0-92C7-7B42C9E0C962}" type="presParOf" srcId="{D2A74003-75C1-488B-8A06-F5F9DA4B0A43}" destId="{8E6F582B-F955-4DC2-8917-1D439D9A3AEA}" srcOrd="8" destOrd="0" presId="urn:microsoft.com/office/officeart/2009/3/layout/RandomtoResultProcess"/>
    <dgm:cxn modelId="{B3B9DD57-C948-45E7-A01C-FE1C7DFC1711}" type="presParOf" srcId="{D2A74003-75C1-488B-8A06-F5F9DA4B0A43}" destId="{2B7C42E7-DDA0-40B6-9E02-38A7A19A7653}" srcOrd="9" destOrd="0" presId="urn:microsoft.com/office/officeart/2009/3/layout/RandomtoResultProcess"/>
    <dgm:cxn modelId="{3F4A6AD7-E484-4D62-8B5C-98AD585387FF}" type="presParOf" srcId="{D2A74003-75C1-488B-8A06-F5F9DA4B0A43}" destId="{4DF52567-6319-4AFD-8D96-02F9EFAB9362}" srcOrd="10" destOrd="0" presId="urn:microsoft.com/office/officeart/2009/3/layout/RandomtoResultProcess"/>
    <dgm:cxn modelId="{E5CB822B-B205-43B8-A050-0DFFAE9FCF1F}" type="presParOf" srcId="{D2A74003-75C1-488B-8A06-F5F9DA4B0A43}" destId="{77BFB5F1-4782-4A27-8DFF-CC6DE6E8A2A7}" srcOrd="11" destOrd="0" presId="urn:microsoft.com/office/officeart/2009/3/layout/RandomtoResultProcess"/>
    <dgm:cxn modelId="{2510F1B1-693B-4712-95E5-377FC95EDCE6}" type="presParOf" srcId="{D2A74003-75C1-488B-8A06-F5F9DA4B0A43}" destId="{BC5DEC05-2F75-4981-AC14-7249BD13BFC3}" srcOrd="12" destOrd="0" presId="urn:microsoft.com/office/officeart/2009/3/layout/RandomtoResultProcess"/>
    <dgm:cxn modelId="{354F5F2E-93B4-4471-90A4-34252A07812F}" type="presParOf" srcId="{D2A74003-75C1-488B-8A06-F5F9DA4B0A43}" destId="{FA6B692F-FCB3-4477-AEFB-804B1AF63466}" srcOrd="13" destOrd="0" presId="urn:microsoft.com/office/officeart/2009/3/layout/RandomtoResultProcess"/>
    <dgm:cxn modelId="{EA1124FE-C5EF-4A52-A7F0-7F4C449FD41B}" type="presParOf" srcId="{D2A74003-75C1-488B-8A06-F5F9DA4B0A43}" destId="{A6167764-4DC3-46F2-BE44-82DD2CD73ADC}" srcOrd="14" destOrd="0" presId="urn:microsoft.com/office/officeart/2009/3/layout/RandomtoResultProcess"/>
    <dgm:cxn modelId="{7E86D700-0B69-4571-ADD3-9B277A2E6352}" type="presParOf" srcId="{D2A74003-75C1-488B-8A06-F5F9DA4B0A43}" destId="{76FE7225-B096-42CB-8FFD-EC5BB3ED8B04}" srcOrd="15" destOrd="0" presId="urn:microsoft.com/office/officeart/2009/3/layout/RandomtoResultProcess"/>
    <dgm:cxn modelId="{C3CE1BFA-CF5E-4748-A0D9-888553E2D110}" type="presParOf" srcId="{D2A74003-75C1-488B-8A06-F5F9DA4B0A43}" destId="{9C17FDFA-316C-4C36-8094-56A3D0F51284}" srcOrd="16" destOrd="0" presId="urn:microsoft.com/office/officeart/2009/3/layout/RandomtoResultProcess"/>
    <dgm:cxn modelId="{483D549F-4ACA-434A-8173-44706DCEFD2C}" type="presParOf" srcId="{D2A74003-75C1-488B-8A06-F5F9DA4B0A43}" destId="{9EC8FD4E-0286-487A-83BD-67045791B957}" srcOrd="17" destOrd="0" presId="urn:microsoft.com/office/officeart/2009/3/layout/RandomtoResultProcess"/>
    <dgm:cxn modelId="{8F6C2AA3-94E2-426A-B69B-5DBEA14B23B4}" type="presParOf" srcId="{D2A74003-75C1-488B-8A06-F5F9DA4B0A43}" destId="{4EA72891-DBA4-4583-842A-D01E5D67C2D4}" srcOrd="18" destOrd="0" presId="urn:microsoft.com/office/officeart/2009/3/layout/RandomtoResultProcess"/>
    <dgm:cxn modelId="{F97A57C4-00C9-4E1F-BE33-AA292E6F45CB}" type="presParOf" srcId="{7FE80DC8-A7E3-4705-B55A-B6F4D1881A14}" destId="{50465067-9D3A-484B-BC0F-0069EE1F7D91}" srcOrd="1" destOrd="0" presId="urn:microsoft.com/office/officeart/2009/3/layout/RandomtoResultProcess"/>
    <dgm:cxn modelId="{2258567C-2C3E-4A43-9893-5C4EEFDA0B82}" type="presParOf" srcId="{50465067-9D3A-484B-BC0F-0069EE1F7D91}" destId="{ED6FBBAA-8B9D-4A8A-8FB7-04CAB0A37AAE}" srcOrd="0" destOrd="0" presId="urn:microsoft.com/office/officeart/2009/3/layout/RandomtoResultProcess"/>
    <dgm:cxn modelId="{EDECDB7D-D339-4565-AF31-28C4635A665F}" type="presParOf" srcId="{50465067-9D3A-484B-BC0F-0069EE1F7D91}" destId="{D7D9D7D6-4ABB-4CC6-A22B-CDFB4AA68DA5}" srcOrd="1" destOrd="0" presId="urn:microsoft.com/office/officeart/2009/3/layout/RandomtoResultProcess"/>
    <dgm:cxn modelId="{1FB179C5-8669-4D4A-8AD3-BDAC1C2B2D2E}" type="presParOf" srcId="{7FE80DC8-A7E3-4705-B55A-B6F4D1881A14}" destId="{E5524B8D-6697-472F-96C0-49DAFE20B06C}" srcOrd="2" destOrd="0" presId="urn:microsoft.com/office/officeart/2009/3/layout/RandomtoResultProcess"/>
    <dgm:cxn modelId="{77E1EE48-4B67-4268-A084-C6CE10AEC5B9}" type="presParOf" srcId="{E5524B8D-6697-472F-96C0-49DAFE20B06C}" destId="{B2D5A58E-F798-4436-BB68-0C5B1027AE1A}" srcOrd="0" destOrd="0" presId="urn:microsoft.com/office/officeart/2009/3/layout/RandomtoResultProcess"/>
    <dgm:cxn modelId="{09C495BA-276C-4EBA-91FD-EC8228394155}" type="presParOf" srcId="{E5524B8D-6697-472F-96C0-49DAFE20B06C}" destId="{02093748-F101-428A-82DB-2D1550985EA9}" srcOrd="1" destOrd="0" presId="urn:microsoft.com/office/officeart/2009/3/layout/RandomtoResultProcess"/>
    <dgm:cxn modelId="{50017312-9387-4C23-BACA-EA12509CB166}" type="presParOf" srcId="{7FE80DC8-A7E3-4705-B55A-B6F4D1881A14}" destId="{6A5652FC-CA44-4BDF-B447-D9EB1ECBE251}" srcOrd="3" destOrd="0" presId="urn:microsoft.com/office/officeart/2009/3/layout/RandomtoResultProcess"/>
    <dgm:cxn modelId="{A52550E1-E643-44FF-80D9-D00E36C347F7}" type="presParOf" srcId="{6A5652FC-CA44-4BDF-B447-D9EB1ECBE251}" destId="{A507033C-DA96-4FB6-AB57-9FBC53A77E2C}" srcOrd="0" destOrd="0" presId="urn:microsoft.com/office/officeart/2009/3/layout/RandomtoResultProcess"/>
    <dgm:cxn modelId="{CB9E3B1D-A53F-463E-A288-236E1D7AEB59}" type="presParOf" srcId="{6A5652FC-CA44-4BDF-B447-D9EB1ECBE251}" destId="{B456EACF-4186-474A-A7AB-24B2E6410E9D}" srcOrd="1" destOrd="0" presId="urn:microsoft.com/office/officeart/2009/3/layout/RandomtoResultProcess"/>
    <dgm:cxn modelId="{DC4F20D6-BA2B-4FEA-BC99-7077009947A6}" type="presParOf" srcId="{7FE80DC8-A7E3-4705-B55A-B6F4D1881A14}" destId="{0EA9AAE6-1EF3-488F-BDF5-45CBE9452701}" srcOrd="4" destOrd="0" presId="urn:microsoft.com/office/officeart/2009/3/layout/RandomtoResultProcess"/>
    <dgm:cxn modelId="{60ED7D7C-7094-46D4-AE71-4CA73FDD6665}" type="presParOf" srcId="{0EA9AAE6-1EF3-488F-BDF5-45CBE9452701}" destId="{429FE0CA-5284-46B2-9270-FEE66F216410}" srcOrd="0" destOrd="0" presId="urn:microsoft.com/office/officeart/2009/3/layout/RandomtoResultProcess"/>
    <dgm:cxn modelId="{1DF47DCB-AA0C-4EC0-840E-01C1D23837A3}" type="presParOf" srcId="{0EA9AAE6-1EF3-488F-BDF5-45CBE9452701}" destId="{FEE4A1AD-06E3-4B15-A5BC-282F2C4FF321}" srcOrd="1" destOrd="0" presId="urn:microsoft.com/office/officeart/2009/3/layout/RandomtoResultProces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CB9EA7-8E54-4554-9478-C52E782196AA}"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587DBFA9-E399-4780-B8C8-5835E44FFDAF}">
      <dgm:prSet phldrT="[Text]" custT="1"/>
      <dgm:spPr/>
      <dgm:t>
        <a:bodyPr/>
        <a:lstStyle/>
        <a:p>
          <a:pPr>
            <a:buNone/>
          </a:pPr>
          <a:r>
            <a:rPr lang="en-US" sz="1100" b="0">
              <a:latin typeface="Times New Roman" panose="02020603050405020304" pitchFamily="18" charset="0"/>
              <a:cs typeface="Times New Roman" panose="02020603050405020304" pitchFamily="18" charset="0"/>
            </a:rPr>
            <a:t>RX Interface</a:t>
          </a:r>
          <a:endParaRPr lang="en-US" sz="1100" b="0" dirty="0">
            <a:latin typeface="Times New Roman" panose="02020603050405020304" pitchFamily="18" charset="0"/>
            <a:cs typeface="Times New Roman" panose="02020603050405020304" pitchFamily="18" charset="0"/>
          </a:endParaRPr>
        </a:p>
      </dgm:t>
    </dgm:pt>
    <dgm:pt modelId="{FA9B13A3-2E0D-4BEC-BD0C-5056051139F9}" type="parTrans" cxnId="{1D87B82D-E6B4-4D09-B0FF-8B98421B2A20}">
      <dgm:prSet/>
      <dgm:spPr/>
      <dgm:t>
        <a:bodyPr/>
        <a:lstStyle/>
        <a:p>
          <a:endParaRPr lang="en-US"/>
        </a:p>
      </dgm:t>
    </dgm:pt>
    <dgm:pt modelId="{250C3B0D-635A-48A5-A0EC-52D433D293F4}" type="sibTrans" cxnId="{1D87B82D-E6B4-4D09-B0FF-8B98421B2A20}">
      <dgm:prSet/>
      <dgm:spPr/>
      <dgm:t>
        <a:bodyPr/>
        <a:lstStyle/>
        <a:p>
          <a:endParaRPr lang="en-US"/>
        </a:p>
      </dgm:t>
    </dgm:pt>
    <dgm:pt modelId="{78D37829-E7DD-4E2B-9C40-EFC0929B2B82}">
      <dgm:prSet phldrT="[Text]"/>
      <dgm:spPr/>
      <dgm:t>
        <a:bodyPr/>
        <a:lstStyle/>
        <a:p>
          <a:pPr>
            <a:buNone/>
          </a:pPr>
          <a:r>
            <a:rPr lang="en-US">
              <a:latin typeface="Times New Roman" panose="02020603050405020304" pitchFamily="18" charset="0"/>
              <a:cs typeface="Times New Roman" panose="02020603050405020304" pitchFamily="18" charset="0"/>
            </a:rPr>
            <a:t>Writes the 270-bit FLIT {CXSCNTL, CXSDATA} into the FLIT FIFO when CXSVALID is high and the FIFO is not full</a:t>
          </a:r>
          <a:endParaRPr lang="en-US" dirty="0">
            <a:solidFill>
              <a:srgbClr val="1E2761"/>
            </a:solidFill>
            <a:latin typeface="Times New Roman" panose="02020603050405020304" pitchFamily="18" charset="0"/>
            <a:cs typeface="Times New Roman" panose="02020603050405020304" pitchFamily="18" charset="0"/>
          </a:endParaRPr>
        </a:p>
      </dgm:t>
    </dgm:pt>
    <dgm:pt modelId="{FB5D4021-0DBC-476F-81AB-C06003D5969A}" type="parTrans" cxnId="{D6C0F97C-0EEE-4854-BEE9-B8A31A2E8537}">
      <dgm:prSet/>
      <dgm:spPr/>
      <dgm:t>
        <a:bodyPr/>
        <a:lstStyle/>
        <a:p>
          <a:endParaRPr lang="en-US"/>
        </a:p>
      </dgm:t>
    </dgm:pt>
    <dgm:pt modelId="{6FF33F86-815E-4AC2-9BFE-BE675DE29A47}" type="sibTrans" cxnId="{D6C0F97C-0EEE-4854-BEE9-B8A31A2E8537}">
      <dgm:prSet/>
      <dgm:spPr/>
      <dgm:t>
        <a:bodyPr/>
        <a:lstStyle/>
        <a:p>
          <a:endParaRPr lang="en-US"/>
        </a:p>
      </dgm:t>
    </dgm:pt>
    <dgm:pt modelId="{D60FA8B2-50A5-413C-9408-28591DEAA567}">
      <dgm:prSet phldrT="[Text]" custT="1"/>
      <dgm:spPr/>
      <dgm:t>
        <a:bodyPr/>
        <a:lstStyle/>
        <a:p>
          <a:pPr>
            <a:buNone/>
          </a:pPr>
          <a:r>
            <a:rPr lang="en-US" sz="1100" b="0">
              <a:latin typeface="Times New Roman" panose="02020603050405020304" pitchFamily="18" charset="0"/>
              <a:cs typeface="Times New Roman" panose="02020603050405020304" pitchFamily="18" charset="0"/>
            </a:rPr>
            <a:t>FLIT FIFO</a:t>
          </a:r>
          <a:endParaRPr lang="en-US" sz="1100" b="0" dirty="0">
            <a:latin typeface="Times New Roman" panose="02020603050405020304" pitchFamily="18" charset="0"/>
            <a:cs typeface="Times New Roman" panose="02020603050405020304" pitchFamily="18" charset="0"/>
          </a:endParaRPr>
        </a:p>
      </dgm:t>
    </dgm:pt>
    <dgm:pt modelId="{FCC1F11B-22C5-4417-B0A5-C271AC32C65F}" type="parTrans" cxnId="{772557BD-585E-42B9-9F2C-91FB0D9D9B54}">
      <dgm:prSet/>
      <dgm:spPr/>
      <dgm:t>
        <a:bodyPr/>
        <a:lstStyle/>
        <a:p>
          <a:endParaRPr lang="en-US"/>
        </a:p>
      </dgm:t>
    </dgm:pt>
    <dgm:pt modelId="{0E8F797D-5428-4D89-8238-DE4D8976A0E0}" type="sibTrans" cxnId="{772557BD-585E-42B9-9F2C-91FB0D9D9B54}">
      <dgm:prSet/>
      <dgm:spPr/>
      <dgm:t>
        <a:bodyPr/>
        <a:lstStyle/>
        <a:p>
          <a:endParaRPr lang="en-US"/>
        </a:p>
      </dgm:t>
    </dgm:pt>
    <dgm:pt modelId="{AFDE22E2-4165-49A7-86B9-D09F1E76A3F7}">
      <dgm:prSet phldrT="[Text]"/>
      <dgm:spPr/>
      <dgm:t>
        <a:bodyPr/>
        <a:lstStyle/>
        <a:p>
          <a:pPr>
            <a:buNone/>
          </a:pPr>
          <a:r>
            <a:rPr lang="en-US">
              <a:solidFill>
                <a:srgbClr val="1E2761"/>
              </a:solidFill>
              <a:latin typeface="Times New Roman" panose="02020603050405020304" pitchFamily="18" charset="0"/>
              <a:cs typeface="Times New Roman" panose="02020603050405020304" pitchFamily="18" charset="0"/>
            </a:rPr>
            <a:t>Synchronous 16-entry FIFO on the CXS clock; full/empty from wrap-bit pointers; registered read</a:t>
          </a:r>
          <a:endParaRPr lang="en-US" dirty="0">
            <a:solidFill>
              <a:srgbClr val="1E2761"/>
            </a:solidFill>
            <a:latin typeface="Times New Roman" panose="02020603050405020304" pitchFamily="18" charset="0"/>
            <a:cs typeface="Times New Roman" panose="02020603050405020304" pitchFamily="18" charset="0"/>
          </a:endParaRPr>
        </a:p>
      </dgm:t>
    </dgm:pt>
    <dgm:pt modelId="{E1C6C9E4-D8EA-4FC9-993F-11B16BD40349}" type="parTrans" cxnId="{90A11E29-B2C7-4455-B20D-93BB74E82532}">
      <dgm:prSet/>
      <dgm:spPr/>
      <dgm:t>
        <a:bodyPr/>
        <a:lstStyle/>
        <a:p>
          <a:endParaRPr lang="en-US"/>
        </a:p>
      </dgm:t>
    </dgm:pt>
    <dgm:pt modelId="{C22AEB32-68E0-4225-9076-CB056509BC07}" type="sibTrans" cxnId="{90A11E29-B2C7-4455-B20D-93BB74E82532}">
      <dgm:prSet/>
      <dgm:spPr/>
      <dgm:t>
        <a:bodyPr/>
        <a:lstStyle/>
        <a:p>
          <a:endParaRPr lang="en-US"/>
        </a:p>
      </dgm:t>
    </dgm:pt>
    <dgm:pt modelId="{1DA748D1-0299-4A50-B5A4-5D11A6819543}">
      <dgm:prSet phldrT="[Text]" custT="1"/>
      <dgm:spPr/>
      <dgm:t>
        <a:bodyPr/>
        <a:lstStyle/>
        <a:p>
          <a:pPr>
            <a:buNone/>
          </a:pPr>
          <a:r>
            <a:rPr lang="en-US" sz="1100" b="0">
              <a:latin typeface="Times New Roman" panose="02020603050405020304" pitchFamily="18" charset="0"/>
              <a:cs typeface="Times New Roman" panose="02020603050405020304" pitchFamily="18" charset="0"/>
            </a:rPr>
            <a:t>Credit Manager</a:t>
          </a:r>
          <a:endParaRPr lang="en-US" sz="1100" b="0" dirty="0">
            <a:latin typeface="Times New Roman" panose="02020603050405020304" pitchFamily="18" charset="0"/>
            <a:cs typeface="Times New Roman" panose="02020603050405020304" pitchFamily="18" charset="0"/>
          </a:endParaRPr>
        </a:p>
      </dgm:t>
    </dgm:pt>
    <dgm:pt modelId="{0FD87663-F0FA-4F47-8063-5818DE418996}" type="parTrans" cxnId="{A2CF2858-0AC2-420E-908B-31A9B64E7F98}">
      <dgm:prSet/>
      <dgm:spPr/>
      <dgm:t>
        <a:bodyPr/>
        <a:lstStyle/>
        <a:p>
          <a:endParaRPr lang="en-US"/>
        </a:p>
      </dgm:t>
    </dgm:pt>
    <dgm:pt modelId="{04053A23-5446-4A62-A621-0B91F0E87708}" type="sibTrans" cxnId="{A2CF2858-0AC2-420E-908B-31A9B64E7F98}">
      <dgm:prSet/>
      <dgm:spPr/>
      <dgm:t>
        <a:bodyPr/>
        <a:lstStyle/>
        <a:p>
          <a:endParaRPr lang="en-US"/>
        </a:p>
      </dgm:t>
    </dgm:pt>
    <dgm:pt modelId="{B42D00DA-3A68-4D80-856A-C41F57E525F8}">
      <dgm:prSet phldrT="[Text]"/>
      <dgm:spPr/>
      <dgm:t>
        <a:bodyPr/>
        <a:lstStyle/>
        <a:p>
          <a:pPr>
            <a:buNone/>
          </a:pPr>
          <a:r>
            <a:rPr lang="en-US">
              <a:solidFill>
                <a:srgbClr val="1E2761"/>
              </a:solidFill>
              <a:latin typeface="Times New Roman" panose="02020603050405020304" pitchFamily="18" charset="0"/>
              <a:cs typeface="Times New Roman" panose="02020603050405020304" pitchFamily="18" charset="0"/>
            </a:rPr>
            <a:t>Counter starts at the FIFO depth: −1 per write, +1 per read; CXSRXCRDGNT asserted while credits remain</a:t>
          </a:r>
          <a:endParaRPr lang="en-US" dirty="0">
            <a:solidFill>
              <a:srgbClr val="1E2761"/>
            </a:solidFill>
            <a:latin typeface="Times New Roman" panose="02020603050405020304" pitchFamily="18" charset="0"/>
            <a:cs typeface="Times New Roman" panose="02020603050405020304" pitchFamily="18" charset="0"/>
          </a:endParaRPr>
        </a:p>
      </dgm:t>
    </dgm:pt>
    <dgm:pt modelId="{194D30A2-7E5B-4B11-9CFE-3C7D2A4DD3B4}" type="parTrans" cxnId="{00083175-4192-4663-8223-CB3EF07BD8B7}">
      <dgm:prSet/>
      <dgm:spPr/>
      <dgm:t>
        <a:bodyPr/>
        <a:lstStyle/>
        <a:p>
          <a:endParaRPr lang="en-US"/>
        </a:p>
      </dgm:t>
    </dgm:pt>
    <dgm:pt modelId="{28B2DA2E-4723-4E7C-904A-F53F92141AF2}" type="sibTrans" cxnId="{00083175-4192-4663-8223-CB3EF07BD8B7}">
      <dgm:prSet/>
      <dgm:spPr/>
      <dgm:t>
        <a:bodyPr/>
        <a:lstStyle/>
        <a:p>
          <a:endParaRPr lang="en-US"/>
        </a:p>
      </dgm:t>
    </dgm:pt>
    <dgm:pt modelId="{C572F834-F33A-4189-A470-B523A86ADA09}">
      <dgm:prSet phldrT="[Text]" custT="1"/>
      <dgm:spPr/>
      <dgm:t>
        <a:bodyPr/>
        <a:lstStyle/>
        <a:p>
          <a:pPr>
            <a:buNone/>
          </a:pPr>
          <a:r>
            <a:rPr lang="en-US" sz="1100" b="0">
              <a:latin typeface="Times New Roman" panose="02020603050405020304" pitchFamily="18" charset="0"/>
              <a:cs typeface="Times New Roman" panose="02020603050405020304" pitchFamily="18" charset="0"/>
            </a:rPr>
            <a:t>Packet Formatter</a:t>
          </a:r>
          <a:endParaRPr lang="en-US" sz="1100" b="0" dirty="0">
            <a:latin typeface="Times New Roman" panose="02020603050405020304" pitchFamily="18" charset="0"/>
            <a:cs typeface="Times New Roman" panose="02020603050405020304" pitchFamily="18" charset="0"/>
          </a:endParaRPr>
        </a:p>
      </dgm:t>
    </dgm:pt>
    <dgm:pt modelId="{1C85CA04-570D-4CBA-A506-221A2E18C27A}" type="parTrans" cxnId="{5348EF65-A493-4F43-B08F-3E26C8B088CD}">
      <dgm:prSet/>
      <dgm:spPr/>
      <dgm:t>
        <a:bodyPr/>
        <a:lstStyle/>
        <a:p>
          <a:endParaRPr lang="en-US"/>
        </a:p>
      </dgm:t>
    </dgm:pt>
    <dgm:pt modelId="{3DCFEB92-0445-4DDF-A841-30442DED6FB0}" type="sibTrans" cxnId="{5348EF65-A493-4F43-B08F-3E26C8B088CD}">
      <dgm:prSet/>
      <dgm:spPr/>
      <dgm:t>
        <a:bodyPr/>
        <a:lstStyle/>
        <a:p>
          <a:endParaRPr lang="en-US"/>
        </a:p>
      </dgm:t>
    </dgm:pt>
    <dgm:pt modelId="{9D02684A-D1DF-40FC-B238-1330D6A1A71F}">
      <dgm:prSet phldrT="[Text]"/>
      <dgm:spPr/>
      <dgm:t>
        <a:bodyPr/>
        <a:lstStyle/>
        <a:p>
          <a:pPr>
            <a:buNone/>
          </a:pPr>
          <a:r>
            <a:rPr lang="en-US">
              <a:solidFill>
                <a:srgbClr val="1E2761"/>
              </a:solidFill>
              <a:latin typeface="Times New Roman" panose="02020603050405020304" pitchFamily="18" charset="0"/>
              <a:cs typeface="Times New Roman" panose="02020603050405020304" pitchFamily="18" charset="0"/>
            </a:rPr>
            <a:t>Decodes CXSCNTL START/END pointers and writes only valid 32-bit TLP words into the Async FIFO</a:t>
          </a:r>
          <a:endParaRPr lang="en-US" dirty="0">
            <a:solidFill>
              <a:srgbClr val="1E2761"/>
            </a:solidFill>
            <a:latin typeface="Times New Roman" panose="02020603050405020304" pitchFamily="18" charset="0"/>
            <a:cs typeface="Times New Roman" panose="02020603050405020304" pitchFamily="18" charset="0"/>
          </a:endParaRPr>
        </a:p>
      </dgm:t>
    </dgm:pt>
    <dgm:pt modelId="{A00FAED5-6627-45FA-B63B-9DD4DB82A1C1}" type="parTrans" cxnId="{3D6F927A-4D50-406E-852F-DB421710256F}">
      <dgm:prSet/>
      <dgm:spPr/>
      <dgm:t>
        <a:bodyPr/>
        <a:lstStyle/>
        <a:p>
          <a:endParaRPr lang="en-US"/>
        </a:p>
      </dgm:t>
    </dgm:pt>
    <dgm:pt modelId="{327881BB-A4F9-4DDC-8643-16493CAB0380}" type="sibTrans" cxnId="{3D6F927A-4D50-406E-852F-DB421710256F}">
      <dgm:prSet/>
      <dgm:spPr/>
      <dgm:t>
        <a:bodyPr/>
        <a:lstStyle/>
        <a:p>
          <a:endParaRPr lang="en-US"/>
        </a:p>
      </dgm:t>
    </dgm:pt>
    <dgm:pt modelId="{1764816E-4097-4A97-BF81-494B01D978A7}" type="pres">
      <dgm:prSet presAssocID="{C0CB9EA7-8E54-4554-9478-C52E782196AA}" presName="Name0" presStyleCnt="0">
        <dgm:presLayoutVars>
          <dgm:dir/>
          <dgm:animLvl val="lvl"/>
          <dgm:resizeHandles/>
        </dgm:presLayoutVars>
      </dgm:prSet>
      <dgm:spPr/>
    </dgm:pt>
    <dgm:pt modelId="{2992D441-577B-491D-8104-339F61ED64CC}" type="pres">
      <dgm:prSet presAssocID="{587DBFA9-E399-4780-B8C8-5835E44FFDAF}" presName="linNode" presStyleCnt="0"/>
      <dgm:spPr/>
    </dgm:pt>
    <dgm:pt modelId="{25F89F97-50D4-4A4E-8E8D-7183F38EC508}" type="pres">
      <dgm:prSet presAssocID="{587DBFA9-E399-4780-B8C8-5835E44FFDAF}" presName="parentShp" presStyleLbl="node1" presStyleIdx="0" presStyleCnt="4">
        <dgm:presLayoutVars>
          <dgm:bulletEnabled val="1"/>
        </dgm:presLayoutVars>
      </dgm:prSet>
      <dgm:spPr/>
    </dgm:pt>
    <dgm:pt modelId="{0BFC3EA6-84C2-461D-B07A-36D241C9725D}" type="pres">
      <dgm:prSet presAssocID="{587DBFA9-E399-4780-B8C8-5835E44FFDAF}" presName="childShp" presStyleLbl="bgAccFollowNode1" presStyleIdx="0" presStyleCnt="4">
        <dgm:presLayoutVars>
          <dgm:bulletEnabled val="1"/>
        </dgm:presLayoutVars>
      </dgm:prSet>
      <dgm:spPr/>
    </dgm:pt>
    <dgm:pt modelId="{8800715A-EA61-43ED-B19B-5849BBE27A49}" type="pres">
      <dgm:prSet presAssocID="{250C3B0D-635A-48A5-A0EC-52D433D293F4}" presName="spacing" presStyleCnt="0"/>
      <dgm:spPr/>
    </dgm:pt>
    <dgm:pt modelId="{D7F9E0D4-11BB-43E1-BB28-319015674D99}" type="pres">
      <dgm:prSet presAssocID="{D60FA8B2-50A5-413C-9408-28591DEAA567}" presName="linNode" presStyleCnt="0"/>
      <dgm:spPr/>
    </dgm:pt>
    <dgm:pt modelId="{DE02EA0E-7599-4846-B043-FD1217C7F6EA}" type="pres">
      <dgm:prSet presAssocID="{D60FA8B2-50A5-413C-9408-28591DEAA567}" presName="parentShp" presStyleLbl="node1" presStyleIdx="1" presStyleCnt="4">
        <dgm:presLayoutVars>
          <dgm:bulletEnabled val="1"/>
        </dgm:presLayoutVars>
      </dgm:prSet>
      <dgm:spPr/>
    </dgm:pt>
    <dgm:pt modelId="{A6588C23-84DC-45FC-B0BE-9C582CDA7B87}" type="pres">
      <dgm:prSet presAssocID="{D60FA8B2-50A5-413C-9408-28591DEAA567}" presName="childShp" presStyleLbl="bgAccFollowNode1" presStyleIdx="1" presStyleCnt="4">
        <dgm:presLayoutVars>
          <dgm:bulletEnabled val="1"/>
        </dgm:presLayoutVars>
      </dgm:prSet>
      <dgm:spPr/>
    </dgm:pt>
    <dgm:pt modelId="{0EC640B7-EF84-42D3-A0FC-7DBF6D1AC73E}" type="pres">
      <dgm:prSet presAssocID="{0E8F797D-5428-4D89-8238-DE4D8976A0E0}" presName="spacing" presStyleCnt="0"/>
      <dgm:spPr/>
    </dgm:pt>
    <dgm:pt modelId="{FE89B3AC-1004-44AA-BFCB-BB2A0A7A4F9C}" type="pres">
      <dgm:prSet presAssocID="{1DA748D1-0299-4A50-B5A4-5D11A6819543}" presName="linNode" presStyleCnt="0"/>
      <dgm:spPr/>
    </dgm:pt>
    <dgm:pt modelId="{5BDA8100-EC44-4978-ACB5-ABFCF6719408}" type="pres">
      <dgm:prSet presAssocID="{1DA748D1-0299-4A50-B5A4-5D11A6819543}" presName="parentShp" presStyleLbl="node1" presStyleIdx="2" presStyleCnt="4">
        <dgm:presLayoutVars>
          <dgm:bulletEnabled val="1"/>
        </dgm:presLayoutVars>
      </dgm:prSet>
      <dgm:spPr/>
    </dgm:pt>
    <dgm:pt modelId="{2C810BC6-397B-47FC-9A17-0B6327A40F78}" type="pres">
      <dgm:prSet presAssocID="{1DA748D1-0299-4A50-B5A4-5D11A6819543}" presName="childShp" presStyleLbl="bgAccFollowNode1" presStyleIdx="2" presStyleCnt="4">
        <dgm:presLayoutVars>
          <dgm:bulletEnabled val="1"/>
        </dgm:presLayoutVars>
      </dgm:prSet>
      <dgm:spPr/>
    </dgm:pt>
    <dgm:pt modelId="{38C465B4-2538-478A-AE6A-EBCF3687A9D6}" type="pres">
      <dgm:prSet presAssocID="{04053A23-5446-4A62-A621-0B91F0E87708}" presName="spacing" presStyleCnt="0"/>
      <dgm:spPr/>
    </dgm:pt>
    <dgm:pt modelId="{1EA1C7D4-E71A-497A-A14B-AED983FA27B8}" type="pres">
      <dgm:prSet presAssocID="{C572F834-F33A-4189-A470-B523A86ADA09}" presName="linNode" presStyleCnt="0"/>
      <dgm:spPr/>
    </dgm:pt>
    <dgm:pt modelId="{3EA53BCA-1223-46E2-81A0-5C1752CFD4A6}" type="pres">
      <dgm:prSet presAssocID="{C572F834-F33A-4189-A470-B523A86ADA09}" presName="parentShp" presStyleLbl="node1" presStyleIdx="3" presStyleCnt="4">
        <dgm:presLayoutVars>
          <dgm:bulletEnabled val="1"/>
        </dgm:presLayoutVars>
      </dgm:prSet>
      <dgm:spPr/>
    </dgm:pt>
    <dgm:pt modelId="{57366C1C-DE19-454D-B5BA-3D8FF24965D7}" type="pres">
      <dgm:prSet presAssocID="{C572F834-F33A-4189-A470-B523A86ADA09}" presName="childShp" presStyleLbl="bgAccFollowNode1" presStyleIdx="3" presStyleCnt="4">
        <dgm:presLayoutVars>
          <dgm:bulletEnabled val="1"/>
        </dgm:presLayoutVars>
      </dgm:prSet>
      <dgm:spPr/>
    </dgm:pt>
  </dgm:ptLst>
  <dgm:cxnLst>
    <dgm:cxn modelId="{10533402-6A6A-4DF3-9632-F1122D90BB80}" type="presOf" srcId="{9D02684A-D1DF-40FC-B238-1330D6A1A71F}" destId="{57366C1C-DE19-454D-B5BA-3D8FF24965D7}" srcOrd="0" destOrd="0" presId="urn:microsoft.com/office/officeart/2005/8/layout/vList6"/>
    <dgm:cxn modelId="{C99FC607-BE0B-4CD8-86EC-3BAA92F5FA05}" type="presOf" srcId="{78D37829-E7DD-4E2B-9C40-EFC0929B2B82}" destId="{0BFC3EA6-84C2-461D-B07A-36D241C9725D}" srcOrd="0" destOrd="0" presId="urn:microsoft.com/office/officeart/2005/8/layout/vList6"/>
    <dgm:cxn modelId="{E1622E0D-958A-414A-A838-5527EB32A4E1}" type="presOf" srcId="{D60FA8B2-50A5-413C-9408-28591DEAA567}" destId="{DE02EA0E-7599-4846-B043-FD1217C7F6EA}" srcOrd="0" destOrd="0" presId="urn:microsoft.com/office/officeart/2005/8/layout/vList6"/>
    <dgm:cxn modelId="{7F400312-ED75-42BA-823A-1525C8FB3A65}" type="presOf" srcId="{B42D00DA-3A68-4D80-856A-C41F57E525F8}" destId="{2C810BC6-397B-47FC-9A17-0B6327A40F78}" srcOrd="0" destOrd="0" presId="urn:microsoft.com/office/officeart/2005/8/layout/vList6"/>
    <dgm:cxn modelId="{90A11E29-B2C7-4455-B20D-93BB74E82532}" srcId="{D60FA8B2-50A5-413C-9408-28591DEAA567}" destId="{AFDE22E2-4165-49A7-86B9-D09F1E76A3F7}" srcOrd="0" destOrd="0" parTransId="{E1C6C9E4-D8EA-4FC9-993F-11B16BD40349}" sibTransId="{C22AEB32-68E0-4225-9076-CB056509BC07}"/>
    <dgm:cxn modelId="{1D87B82D-E6B4-4D09-B0FF-8B98421B2A20}" srcId="{C0CB9EA7-8E54-4554-9478-C52E782196AA}" destId="{587DBFA9-E399-4780-B8C8-5835E44FFDAF}" srcOrd="0" destOrd="0" parTransId="{FA9B13A3-2E0D-4BEC-BD0C-5056051139F9}" sibTransId="{250C3B0D-635A-48A5-A0EC-52D433D293F4}"/>
    <dgm:cxn modelId="{5348EF65-A493-4F43-B08F-3E26C8B088CD}" srcId="{C0CB9EA7-8E54-4554-9478-C52E782196AA}" destId="{C572F834-F33A-4189-A470-B523A86ADA09}" srcOrd="3" destOrd="0" parTransId="{1C85CA04-570D-4CBA-A506-221A2E18C27A}" sibTransId="{3DCFEB92-0445-4DDF-A841-30442DED6FB0}"/>
    <dgm:cxn modelId="{00083175-4192-4663-8223-CB3EF07BD8B7}" srcId="{1DA748D1-0299-4A50-B5A4-5D11A6819543}" destId="{B42D00DA-3A68-4D80-856A-C41F57E525F8}" srcOrd="0" destOrd="0" parTransId="{194D30A2-7E5B-4B11-9CFE-3C7D2A4DD3B4}" sibTransId="{28B2DA2E-4723-4E7C-904A-F53F92141AF2}"/>
    <dgm:cxn modelId="{A2CF2858-0AC2-420E-908B-31A9B64E7F98}" srcId="{C0CB9EA7-8E54-4554-9478-C52E782196AA}" destId="{1DA748D1-0299-4A50-B5A4-5D11A6819543}" srcOrd="2" destOrd="0" parTransId="{0FD87663-F0FA-4F47-8063-5818DE418996}" sibTransId="{04053A23-5446-4A62-A621-0B91F0E87708}"/>
    <dgm:cxn modelId="{3D6F927A-4D50-406E-852F-DB421710256F}" srcId="{C572F834-F33A-4189-A470-B523A86ADA09}" destId="{9D02684A-D1DF-40FC-B238-1330D6A1A71F}" srcOrd="0" destOrd="0" parTransId="{A00FAED5-6627-45FA-B63B-9DD4DB82A1C1}" sibTransId="{327881BB-A4F9-4DDC-8643-16493CAB0380}"/>
    <dgm:cxn modelId="{D6C0F97C-0EEE-4854-BEE9-B8A31A2E8537}" srcId="{587DBFA9-E399-4780-B8C8-5835E44FFDAF}" destId="{78D37829-E7DD-4E2B-9C40-EFC0929B2B82}" srcOrd="0" destOrd="0" parTransId="{FB5D4021-0DBC-476F-81AB-C06003D5969A}" sibTransId="{6FF33F86-815E-4AC2-9BFE-BE675DE29A47}"/>
    <dgm:cxn modelId="{7F275DB7-89A7-4561-91D2-C35CC29C8076}" type="presOf" srcId="{AFDE22E2-4165-49A7-86B9-D09F1E76A3F7}" destId="{A6588C23-84DC-45FC-B0BE-9C582CDA7B87}" srcOrd="0" destOrd="0" presId="urn:microsoft.com/office/officeart/2005/8/layout/vList6"/>
    <dgm:cxn modelId="{772557BD-585E-42B9-9F2C-91FB0D9D9B54}" srcId="{C0CB9EA7-8E54-4554-9478-C52E782196AA}" destId="{D60FA8B2-50A5-413C-9408-28591DEAA567}" srcOrd="1" destOrd="0" parTransId="{FCC1F11B-22C5-4417-B0A5-C271AC32C65F}" sibTransId="{0E8F797D-5428-4D89-8238-DE4D8976A0E0}"/>
    <dgm:cxn modelId="{B0AC8ECF-3155-4670-A132-9D4718AB168D}" type="presOf" srcId="{587DBFA9-E399-4780-B8C8-5835E44FFDAF}" destId="{25F89F97-50D4-4A4E-8E8D-7183F38EC508}" srcOrd="0" destOrd="0" presId="urn:microsoft.com/office/officeart/2005/8/layout/vList6"/>
    <dgm:cxn modelId="{06E870D0-5EB9-4C59-98E1-748C9E962B4E}" type="presOf" srcId="{C572F834-F33A-4189-A470-B523A86ADA09}" destId="{3EA53BCA-1223-46E2-81A0-5C1752CFD4A6}" srcOrd="0" destOrd="0" presId="urn:microsoft.com/office/officeart/2005/8/layout/vList6"/>
    <dgm:cxn modelId="{F83E92DE-50D7-40F4-A0E0-30CBCA126B42}" type="presOf" srcId="{1DA748D1-0299-4A50-B5A4-5D11A6819543}" destId="{5BDA8100-EC44-4978-ACB5-ABFCF6719408}" srcOrd="0" destOrd="0" presId="urn:microsoft.com/office/officeart/2005/8/layout/vList6"/>
    <dgm:cxn modelId="{7382DDFF-1ABF-468F-B1BD-D58B323CAEF9}" type="presOf" srcId="{C0CB9EA7-8E54-4554-9478-C52E782196AA}" destId="{1764816E-4097-4A97-BF81-494B01D978A7}" srcOrd="0" destOrd="0" presId="urn:microsoft.com/office/officeart/2005/8/layout/vList6"/>
    <dgm:cxn modelId="{6AFA7542-63F8-47D8-BF92-720B7BA62617}" type="presParOf" srcId="{1764816E-4097-4A97-BF81-494B01D978A7}" destId="{2992D441-577B-491D-8104-339F61ED64CC}" srcOrd="0" destOrd="0" presId="urn:microsoft.com/office/officeart/2005/8/layout/vList6"/>
    <dgm:cxn modelId="{BDC86CA3-F567-40AC-96F7-FFA4F9785982}" type="presParOf" srcId="{2992D441-577B-491D-8104-339F61ED64CC}" destId="{25F89F97-50D4-4A4E-8E8D-7183F38EC508}" srcOrd="0" destOrd="0" presId="urn:microsoft.com/office/officeart/2005/8/layout/vList6"/>
    <dgm:cxn modelId="{6AE23DD7-CED1-4124-9AFC-83DF65B5C373}" type="presParOf" srcId="{2992D441-577B-491D-8104-339F61ED64CC}" destId="{0BFC3EA6-84C2-461D-B07A-36D241C9725D}" srcOrd="1" destOrd="0" presId="urn:microsoft.com/office/officeart/2005/8/layout/vList6"/>
    <dgm:cxn modelId="{4E79BC87-4F8D-4584-ACA5-8FA79CE85900}" type="presParOf" srcId="{1764816E-4097-4A97-BF81-494B01D978A7}" destId="{8800715A-EA61-43ED-B19B-5849BBE27A49}" srcOrd="1" destOrd="0" presId="urn:microsoft.com/office/officeart/2005/8/layout/vList6"/>
    <dgm:cxn modelId="{E6336796-DDAE-4B7F-8681-2A275E4E21E2}" type="presParOf" srcId="{1764816E-4097-4A97-BF81-494B01D978A7}" destId="{D7F9E0D4-11BB-43E1-BB28-319015674D99}" srcOrd="2" destOrd="0" presId="urn:microsoft.com/office/officeart/2005/8/layout/vList6"/>
    <dgm:cxn modelId="{EA0885C2-8CF3-4AA3-8FE7-993DD9FC624E}" type="presParOf" srcId="{D7F9E0D4-11BB-43E1-BB28-319015674D99}" destId="{DE02EA0E-7599-4846-B043-FD1217C7F6EA}" srcOrd="0" destOrd="0" presId="urn:microsoft.com/office/officeart/2005/8/layout/vList6"/>
    <dgm:cxn modelId="{D6504E1B-37C9-4432-94E3-2422D8B4F099}" type="presParOf" srcId="{D7F9E0D4-11BB-43E1-BB28-319015674D99}" destId="{A6588C23-84DC-45FC-B0BE-9C582CDA7B87}" srcOrd="1" destOrd="0" presId="urn:microsoft.com/office/officeart/2005/8/layout/vList6"/>
    <dgm:cxn modelId="{298E2153-6F3F-4957-B334-14CE57A3BD38}" type="presParOf" srcId="{1764816E-4097-4A97-BF81-494B01D978A7}" destId="{0EC640B7-EF84-42D3-A0FC-7DBF6D1AC73E}" srcOrd="3" destOrd="0" presId="urn:microsoft.com/office/officeart/2005/8/layout/vList6"/>
    <dgm:cxn modelId="{C7400F1B-270D-4579-808D-19F409A7055B}" type="presParOf" srcId="{1764816E-4097-4A97-BF81-494B01D978A7}" destId="{FE89B3AC-1004-44AA-BFCB-BB2A0A7A4F9C}" srcOrd="4" destOrd="0" presId="urn:microsoft.com/office/officeart/2005/8/layout/vList6"/>
    <dgm:cxn modelId="{11CBAC5A-3A55-4466-80A0-7B3289D8B1C0}" type="presParOf" srcId="{FE89B3AC-1004-44AA-BFCB-BB2A0A7A4F9C}" destId="{5BDA8100-EC44-4978-ACB5-ABFCF6719408}" srcOrd="0" destOrd="0" presId="urn:microsoft.com/office/officeart/2005/8/layout/vList6"/>
    <dgm:cxn modelId="{0D56CDEC-750A-4ACA-80A6-60F17F783664}" type="presParOf" srcId="{FE89B3AC-1004-44AA-BFCB-BB2A0A7A4F9C}" destId="{2C810BC6-397B-47FC-9A17-0B6327A40F78}" srcOrd="1" destOrd="0" presId="urn:microsoft.com/office/officeart/2005/8/layout/vList6"/>
    <dgm:cxn modelId="{B1056107-B93D-4240-8009-C926C3EB9D74}" type="presParOf" srcId="{1764816E-4097-4A97-BF81-494B01D978A7}" destId="{38C465B4-2538-478A-AE6A-EBCF3687A9D6}" srcOrd="5" destOrd="0" presId="urn:microsoft.com/office/officeart/2005/8/layout/vList6"/>
    <dgm:cxn modelId="{7F76A0C9-2B46-4F16-AC5B-62F70715D7A8}" type="presParOf" srcId="{1764816E-4097-4A97-BF81-494B01D978A7}" destId="{1EA1C7D4-E71A-497A-A14B-AED983FA27B8}" srcOrd="6" destOrd="0" presId="urn:microsoft.com/office/officeart/2005/8/layout/vList6"/>
    <dgm:cxn modelId="{3A9D8E7D-283C-4B10-8940-7ED24DB320E5}" type="presParOf" srcId="{1EA1C7D4-E71A-497A-A14B-AED983FA27B8}" destId="{3EA53BCA-1223-46E2-81A0-5C1752CFD4A6}" srcOrd="0" destOrd="0" presId="urn:microsoft.com/office/officeart/2005/8/layout/vList6"/>
    <dgm:cxn modelId="{88687C98-096B-44C6-9A68-2F5B425CE5AA}" type="presParOf" srcId="{1EA1C7D4-E71A-497A-A14B-AED983FA27B8}" destId="{57366C1C-DE19-454D-B5BA-3D8FF24965D7}" srcOrd="1" destOrd="0" presId="urn:microsoft.com/office/officeart/2005/8/layout/v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CB9EA7-8E54-4554-9478-C52E782196AA}"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587DBFA9-E399-4780-B8C8-5835E44FFDAF}">
      <dgm:prSet phldrT="[Text]" custT="1"/>
      <dgm:spPr/>
      <dgm:t>
        <a:bodyPr/>
        <a:lstStyle/>
        <a:p>
          <a:pPr>
            <a:buNone/>
          </a:pPr>
          <a:r>
            <a:rPr lang="en-US" sz="1100" b="0">
              <a:latin typeface="Times New Roman" panose="02020603050405020304" pitchFamily="18" charset="0"/>
              <a:cs typeface="Times New Roman" panose="02020603050405020304" pitchFamily="18" charset="0"/>
            </a:rPr>
            <a:t>Packet Encoder</a:t>
          </a:r>
          <a:endParaRPr lang="en-US" sz="1100" b="0" dirty="0">
            <a:latin typeface="Times New Roman" panose="02020603050405020304" pitchFamily="18" charset="0"/>
            <a:cs typeface="Times New Roman" panose="02020603050405020304" pitchFamily="18" charset="0"/>
          </a:endParaRPr>
        </a:p>
      </dgm:t>
    </dgm:pt>
    <dgm:pt modelId="{FA9B13A3-2E0D-4BEC-BD0C-5056051139F9}" type="parTrans" cxnId="{1D87B82D-E6B4-4D09-B0FF-8B98421B2A20}">
      <dgm:prSet/>
      <dgm:spPr/>
      <dgm:t>
        <a:bodyPr/>
        <a:lstStyle/>
        <a:p>
          <a:endParaRPr lang="en-US"/>
        </a:p>
      </dgm:t>
    </dgm:pt>
    <dgm:pt modelId="{250C3B0D-635A-48A5-A0EC-52D433D293F4}" type="sibTrans" cxnId="{1D87B82D-E6B4-4D09-B0FF-8B98421B2A20}">
      <dgm:prSet/>
      <dgm:spPr/>
      <dgm:t>
        <a:bodyPr/>
        <a:lstStyle/>
        <a:p>
          <a:endParaRPr lang="en-US"/>
        </a:p>
      </dgm:t>
    </dgm:pt>
    <dgm:pt modelId="{78D37829-E7DD-4E2B-9C40-EFC0929B2B82}">
      <dgm:prSet phldrT="[Text]" custT="1"/>
      <dgm:spPr/>
      <dgm:t>
        <a:bodyPr/>
        <a:lstStyle/>
        <a:p>
          <a:pPr>
            <a:buNone/>
          </a:pPr>
          <a:r>
            <a:rPr lang="en-US" sz="900">
              <a:solidFill>
                <a:srgbClr val="1E2761"/>
              </a:solidFill>
              <a:latin typeface="Times New Roman" panose="02020603050405020304" pitchFamily="18" charset="0"/>
              <a:cs typeface="Times New Roman" panose="02020603050405020304" pitchFamily="18" charset="0"/>
            </a:rPr>
            <a:t>On a synchronized error pulse, builds a one-word response FLIT: opcode 0xE0 + 2-bit error code, START0/END0 set</a:t>
          </a:r>
          <a:endParaRPr lang="en-US" sz="900" dirty="0">
            <a:solidFill>
              <a:srgbClr val="1E2761"/>
            </a:solidFill>
            <a:latin typeface="Times New Roman" panose="02020603050405020304" pitchFamily="18" charset="0"/>
            <a:cs typeface="Times New Roman" panose="02020603050405020304" pitchFamily="18" charset="0"/>
          </a:endParaRPr>
        </a:p>
      </dgm:t>
    </dgm:pt>
    <dgm:pt modelId="{FB5D4021-0DBC-476F-81AB-C06003D5969A}" type="parTrans" cxnId="{D6C0F97C-0EEE-4854-BEE9-B8A31A2E8537}">
      <dgm:prSet/>
      <dgm:spPr/>
      <dgm:t>
        <a:bodyPr/>
        <a:lstStyle/>
        <a:p>
          <a:endParaRPr lang="en-US"/>
        </a:p>
      </dgm:t>
    </dgm:pt>
    <dgm:pt modelId="{6FF33F86-815E-4AC2-9BFE-BE675DE29A47}" type="sibTrans" cxnId="{D6C0F97C-0EEE-4854-BEE9-B8A31A2E8537}">
      <dgm:prSet/>
      <dgm:spPr/>
      <dgm:t>
        <a:bodyPr/>
        <a:lstStyle/>
        <a:p>
          <a:endParaRPr lang="en-US"/>
        </a:p>
      </dgm:t>
    </dgm:pt>
    <dgm:pt modelId="{D60FA8B2-50A5-413C-9408-28591DEAA567}">
      <dgm:prSet phldrT="[Text]" custT="1"/>
      <dgm:spPr/>
      <dgm:t>
        <a:bodyPr/>
        <a:lstStyle/>
        <a:p>
          <a:pPr>
            <a:buNone/>
          </a:pPr>
          <a:r>
            <a:rPr lang="en-US" sz="1100" b="0">
              <a:latin typeface="Times New Roman" panose="02020603050405020304" pitchFamily="18" charset="0"/>
              <a:cs typeface="Times New Roman" panose="02020603050405020304" pitchFamily="18" charset="0"/>
            </a:rPr>
            <a:t>TX Holding Register</a:t>
          </a:r>
          <a:endParaRPr lang="en-US" sz="1100" b="0" dirty="0">
            <a:latin typeface="Times New Roman" panose="02020603050405020304" pitchFamily="18" charset="0"/>
            <a:cs typeface="Times New Roman" panose="02020603050405020304" pitchFamily="18" charset="0"/>
          </a:endParaRPr>
        </a:p>
      </dgm:t>
    </dgm:pt>
    <dgm:pt modelId="{FCC1F11B-22C5-4417-B0A5-C271AC32C65F}" type="parTrans" cxnId="{772557BD-585E-42B9-9F2C-91FB0D9D9B54}">
      <dgm:prSet/>
      <dgm:spPr/>
      <dgm:t>
        <a:bodyPr/>
        <a:lstStyle/>
        <a:p>
          <a:endParaRPr lang="en-US"/>
        </a:p>
      </dgm:t>
    </dgm:pt>
    <dgm:pt modelId="{0E8F797D-5428-4D89-8238-DE4D8976A0E0}" type="sibTrans" cxnId="{772557BD-585E-42B9-9F2C-91FB0D9D9B54}">
      <dgm:prSet/>
      <dgm:spPr/>
      <dgm:t>
        <a:bodyPr/>
        <a:lstStyle/>
        <a:p>
          <a:endParaRPr lang="en-US"/>
        </a:p>
      </dgm:t>
    </dgm:pt>
    <dgm:pt modelId="{AFDE22E2-4165-49A7-86B9-D09F1E76A3F7}">
      <dgm:prSet phldrT="[Text]" custT="1"/>
      <dgm:spPr/>
      <dgm:t>
        <a:bodyPr/>
        <a:lstStyle/>
        <a:p>
          <a:pPr>
            <a:buNone/>
          </a:pPr>
          <a:r>
            <a:rPr lang="en-US" sz="900">
              <a:solidFill>
                <a:srgbClr val="1E2761"/>
              </a:solidFill>
              <a:latin typeface="Times New Roman" panose="02020603050405020304" pitchFamily="18" charset="0"/>
              <a:cs typeface="Times New Roman" panose="02020603050405020304" pitchFamily="18" charset="0"/>
            </a:rPr>
            <a:t>Holds one pending FLIT; flit_ready stays low until it is transmitted</a:t>
          </a:r>
          <a:endParaRPr lang="en-US" sz="900" dirty="0">
            <a:solidFill>
              <a:srgbClr val="1E2761"/>
            </a:solidFill>
            <a:latin typeface="Times New Roman" panose="02020603050405020304" pitchFamily="18" charset="0"/>
            <a:cs typeface="Times New Roman" panose="02020603050405020304" pitchFamily="18" charset="0"/>
          </a:endParaRPr>
        </a:p>
      </dgm:t>
    </dgm:pt>
    <dgm:pt modelId="{E1C6C9E4-D8EA-4FC9-993F-11B16BD40349}" type="parTrans" cxnId="{90A11E29-B2C7-4455-B20D-93BB74E82532}">
      <dgm:prSet/>
      <dgm:spPr/>
      <dgm:t>
        <a:bodyPr/>
        <a:lstStyle/>
        <a:p>
          <a:endParaRPr lang="en-US"/>
        </a:p>
      </dgm:t>
    </dgm:pt>
    <dgm:pt modelId="{C22AEB32-68E0-4225-9076-CB056509BC07}" type="sibTrans" cxnId="{90A11E29-B2C7-4455-B20D-93BB74E82532}">
      <dgm:prSet/>
      <dgm:spPr/>
      <dgm:t>
        <a:bodyPr/>
        <a:lstStyle/>
        <a:p>
          <a:endParaRPr lang="en-US"/>
        </a:p>
      </dgm:t>
    </dgm:pt>
    <dgm:pt modelId="{1DA748D1-0299-4A50-B5A4-5D11A6819543}">
      <dgm:prSet phldrT="[Text]" custT="1"/>
      <dgm:spPr/>
      <dgm:t>
        <a:bodyPr/>
        <a:lstStyle/>
        <a:p>
          <a:pPr>
            <a:buNone/>
          </a:pPr>
          <a:r>
            <a:rPr lang="en-US" sz="1100" b="0">
              <a:latin typeface="Times New Roman" panose="02020603050405020304" pitchFamily="18" charset="0"/>
              <a:cs typeface="Times New Roman" panose="02020603050405020304" pitchFamily="18" charset="0"/>
            </a:rPr>
            <a:t>TX Credit Counter</a:t>
          </a:r>
          <a:endParaRPr lang="en-US" sz="1100" b="0" dirty="0">
            <a:latin typeface="Times New Roman" panose="02020603050405020304" pitchFamily="18" charset="0"/>
            <a:cs typeface="Times New Roman" panose="02020603050405020304" pitchFamily="18" charset="0"/>
          </a:endParaRPr>
        </a:p>
      </dgm:t>
    </dgm:pt>
    <dgm:pt modelId="{0FD87663-F0FA-4F47-8063-5818DE418996}" type="parTrans" cxnId="{A2CF2858-0AC2-420E-908B-31A9B64E7F98}">
      <dgm:prSet/>
      <dgm:spPr/>
      <dgm:t>
        <a:bodyPr/>
        <a:lstStyle/>
        <a:p>
          <a:endParaRPr lang="en-US"/>
        </a:p>
      </dgm:t>
    </dgm:pt>
    <dgm:pt modelId="{04053A23-5446-4A62-A621-0B91F0E87708}" type="sibTrans" cxnId="{A2CF2858-0AC2-420E-908B-31A9B64E7F98}">
      <dgm:prSet/>
      <dgm:spPr/>
      <dgm:t>
        <a:bodyPr/>
        <a:lstStyle/>
        <a:p>
          <a:endParaRPr lang="en-US"/>
        </a:p>
      </dgm:t>
    </dgm:pt>
    <dgm:pt modelId="{B42D00DA-3A68-4D80-856A-C41F57E525F8}">
      <dgm:prSet phldrT="[Text]" custT="1"/>
      <dgm:spPr/>
      <dgm:t>
        <a:bodyPr/>
        <a:lstStyle/>
        <a:p>
          <a:pPr>
            <a:buNone/>
          </a:pPr>
          <a:r>
            <a:rPr lang="en-US" sz="900">
              <a:solidFill>
                <a:srgbClr val="1E2761"/>
              </a:solidFill>
              <a:latin typeface="Times New Roman" panose="02020603050405020304" pitchFamily="18" charset="0"/>
              <a:cs typeface="Times New Roman" panose="02020603050405020304" pitchFamily="18" charset="0"/>
            </a:rPr>
            <a:t>Counts CXSTXCRDGNT grants up to 16; one credit consumed per transmitted FLIT</a:t>
          </a:r>
          <a:endParaRPr lang="en-US" sz="900" dirty="0">
            <a:solidFill>
              <a:srgbClr val="1E2761"/>
            </a:solidFill>
            <a:latin typeface="Times New Roman" panose="02020603050405020304" pitchFamily="18" charset="0"/>
            <a:cs typeface="Times New Roman" panose="02020603050405020304" pitchFamily="18" charset="0"/>
          </a:endParaRPr>
        </a:p>
      </dgm:t>
    </dgm:pt>
    <dgm:pt modelId="{194D30A2-7E5B-4B11-9CFE-3C7D2A4DD3B4}" type="parTrans" cxnId="{00083175-4192-4663-8223-CB3EF07BD8B7}">
      <dgm:prSet/>
      <dgm:spPr/>
      <dgm:t>
        <a:bodyPr/>
        <a:lstStyle/>
        <a:p>
          <a:endParaRPr lang="en-US"/>
        </a:p>
      </dgm:t>
    </dgm:pt>
    <dgm:pt modelId="{28B2DA2E-4723-4E7C-904A-F53F92141AF2}" type="sibTrans" cxnId="{00083175-4192-4663-8223-CB3EF07BD8B7}">
      <dgm:prSet/>
      <dgm:spPr/>
      <dgm:t>
        <a:bodyPr/>
        <a:lstStyle/>
        <a:p>
          <a:endParaRPr lang="en-US"/>
        </a:p>
      </dgm:t>
    </dgm:pt>
    <dgm:pt modelId="{C572F834-F33A-4189-A470-B523A86ADA09}">
      <dgm:prSet phldrT="[Text]" custT="1"/>
      <dgm:spPr/>
      <dgm:t>
        <a:bodyPr/>
        <a:lstStyle/>
        <a:p>
          <a:pPr>
            <a:buNone/>
          </a:pPr>
          <a:r>
            <a:rPr lang="en-US" sz="1100" b="0">
              <a:latin typeface="Times New Roman" panose="02020603050405020304" pitchFamily="18" charset="0"/>
              <a:cs typeface="Times New Roman" panose="02020603050405020304" pitchFamily="18" charset="0"/>
            </a:rPr>
            <a:t>FLIT Transmitter</a:t>
          </a:r>
          <a:endParaRPr lang="en-US" sz="1100" b="0" dirty="0">
            <a:latin typeface="Times New Roman" panose="02020603050405020304" pitchFamily="18" charset="0"/>
            <a:cs typeface="Times New Roman" panose="02020603050405020304" pitchFamily="18" charset="0"/>
          </a:endParaRPr>
        </a:p>
      </dgm:t>
    </dgm:pt>
    <dgm:pt modelId="{1C85CA04-570D-4CBA-A506-221A2E18C27A}" type="parTrans" cxnId="{5348EF65-A493-4F43-B08F-3E26C8B088CD}">
      <dgm:prSet/>
      <dgm:spPr/>
      <dgm:t>
        <a:bodyPr/>
        <a:lstStyle/>
        <a:p>
          <a:endParaRPr lang="en-US"/>
        </a:p>
      </dgm:t>
    </dgm:pt>
    <dgm:pt modelId="{3DCFEB92-0445-4DDF-A841-30442DED6FB0}" type="sibTrans" cxnId="{5348EF65-A493-4F43-B08F-3E26C8B088CD}">
      <dgm:prSet/>
      <dgm:spPr/>
      <dgm:t>
        <a:bodyPr/>
        <a:lstStyle/>
        <a:p>
          <a:endParaRPr lang="en-US"/>
        </a:p>
      </dgm:t>
    </dgm:pt>
    <dgm:pt modelId="{9D02684A-D1DF-40FC-B238-1330D6A1A71F}">
      <dgm:prSet phldrT="[Text]" custT="1"/>
      <dgm:spPr/>
      <dgm:t>
        <a:bodyPr/>
        <a:lstStyle/>
        <a:p>
          <a:pPr>
            <a:buNone/>
          </a:pPr>
          <a:r>
            <a:rPr lang="en-US" sz="900">
              <a:solidFill>
                <a:srgbClr val="1E2761"/>
              </a:solidFill>
              <a:latin typeface="Times New Roman" panose="02020603050405020304" pitchFamily="18" charset="0"/>
              <a:cs typeface="Times New Roman" panose="02020603050405020304" pitchFamily="18" charset="0"/>
            </a:rPr>
            <a:t>Drives registered CXSTXVALID / DATA / CNTL only when a FLIT is pending and a credit is available</a:t>
          </a:r>
          <a:endParaRPr lang="en-US" sz="900" dirty="0">
            <a:solidFill>
              <a:srgbClr val="1E2761"/>
            </a:solidFill>
            <a:latin typeface="Times New Roman" panose="02020603050405020304" pitchFamily="18" charset="0"/>
            <a:cs typeface="Times New Roman" panose="02020603050405020304" pitchFamily="18" charset="0"/>
          </a:endParaRPr>
        </a:p>
      </dgm:t>
    </dgm:pt>
    <dgm:pt modelId="{A00FAED5-6627-45FA-B63B-9DD4DB82A1C1}" type="parTrans" cxnId="{3D6F927A-4D50-406E-852F-DB421710256F}">
      <dgm:prSet/>
      <dgm:spPr/>
      <dgm:t>
        <a:bodyPr/>
        <a:lstStyle/>
        <a:p>
          <a:endParaRPr lang="en-US"/>
        </a:p>
      </dgm:t>
    </dgm:pt>
    <dgm:pt modelId="{327881BB-A4F9-4DDC-8643-16493CAB0380}" type="sibTrans" cxnId="{3D6F927A-4D50-406E-852F-DB421710256F}">
      <dgm:prSet/>
      <dgm:spPr/>
      <dgm:t>
        <a:bodyPr/>
        <a:lstStyle/>
        <a:p>
          <a:endParaRPr lang="en-US"/>
        </a:p>
      </dgm:t>
    </dgm:pt>
    <dgm:pt modelId="{1764816E-4097-4A97-BF81-494B01D978A7}" type="pres">
      <dgm:prSet presAssocID="{C0CB9EA7-8E54-4554-9478-C52E782196AA}" presName="Name0" presStyleCnt="0">
        <dgm:presLayoutVars>
          <dgm:dir/>
          <dgm:animLvl val="lvl"/>
          <dgm:resizeHandles/>
        </dgm:presLayoutVars>
      </dgm:prSet>
      <dgm:spPr/>
    </dgm:pt>
    <dgm:pt modelId="{2992D441-577B-491D-8104-339F61ED64CC}" type="pres">
      <dgm:prSet presAssocID="{587DBFA9-E399-4780-B8C8-5835E44FFDAF}" presName="linNode" presStyleCnt="0"/>
      <dgm:spPr/>
    </dgm:pt>
    <dgm:pt modelId="{25F89F97-50D4-4A4E-8E8D-7183F38EC508}" type="pres">
      <dgm:prSet presAssocID="{587DBFA9-E399-4780-B8C8-5835E44FFDAF}" presName="parentShp" presStyleLbl="node1" presStyleIdx="0" presStyleCnt="4">
        <dgm:presLayoutVars>
          <dgm:bulletEnabled val="1"/>
        </dgm:presLayoutVars>
      </dgm:prSet>
      <dgm:spPr/>
    </dgm:pt>
    <dgm:pt modelId="{0BFC3EA6-84C2-461D-B07A-36D241C9725D}" type="pres">
      <dgm:prSet presAssocID="{587DBFA9-E399-4780-B8C8-5835E44FFDAF}" presName="childShp" presStyleLbl="bgAccFollowNode1" presStyleIdx="0" presStyleCnt="4">
        <dgm:presLayoutVars>
          <dgm:bulletEnabled val="1"/>
        </dgm:presLayoutVars>
      </dgm:prSet>
      <dgm:spPr/>
    </dgm:pt>
    <dgm:pt modelId="{8800715A-EA61-43ED-B19B-5849BBE27A49}" type="pres">
      <dgm:prSet presAssocID="{250C3B0D-635A-48A5-A0EC-52D433D293F4}" presName="spacing" presStyleCnt="0"/>
      <dgm:spPr/>
    </dgm:pt>
    <dgm:pt modelId="{D7F9E0D4-11BB-43E1-BB28-319015674D99}" type="pres">
      <dgm:prSet presAssocID="{D60FA8B2-50A5-413C-9408-28591DEAA567}" presName="linNode" presStyleCnt="0"/>
      <dgm:spPr/>
    </dgm:pt>
    <dgm:pt modelId="{DE02EA0E-7599-4846-B043-FD1217C7F6EA}" type="pres">
      <dgm:prSet presAssocID="{D60FA8B2-50A5-413C-9408-28591DEAA567}" presName="parentShp" presStyleLbl="node1" presStyleIdx="1" presStyleCnt="4">
        <dgm:presLayoutVars>
          <dgm:bulletEnabled val="1"/>
        </dgm:presLayoutVars>
      </dgm:prSet>
      <dgm:spPr/>
    </dgm:pt>
    <dgm:pt modelId="{A6588C23-84DC-45FC-B0BE-9C582CDA7B87}" type="pres">
      <dgm:prSet presAssocID="{D60FA8B2-50A5-413C-9408-28591DEAA567}" presName="childShp" presStyleLbl="bgAccFollowNode1" presStyleIdx="1" presStyleCnt="4">
        <dgm:presLayoutVars>
          <dgm:bulletEnabled val="1"/>
        </dgm:presLayoutVars>
      </dgm:prSet>
      <dgm:spPr/>
    </dgm:pt>
    <dgm:pt modelId="{0EC640B7-EF84-42D3-A0FC-7DBF6D1AC73E}" type="pres">
      <dgm:prSet presAssocID="{0E8F797D-5428-4D89-8238-DE4D8976A0E0}" presName="spacing" presStyleCnt="0"/>
      <dgm:spPr/>
    </dgm:pt>
    <dgm:pt modelId="{FE89B3AC-1004-44AA-BFCB-BB2A0A7A4F9C}" type="pres">
      <dgm:prSet presAssocID="{1DA748D1-0299-4A50-B5A4-5D11A6819543}" presName="linNode" presStyleCnt="0"/>
      <dgm:spPr/>
    </dgm:pt>
    <dgm:pt modelId="{5BDA8100-EC44-4978-ACB5-ABFCF6719408}" type="pres">
      <dgm:prSet presAssocID="{1DA748D1-0299-4A50-B5A4-5D11A6819543}" presName="parentShp" presStyleLbl="node1" presStyleIdx="2" presStyleCnt="4">
        <dgm:presLayoutVars>
          <dgm:bulletEnabled val="1"/>
        </dgm:presLayoutVars>
      </dgm:prSet>
      <dgm:spPr/>
    </dgm:pt>
    <dgm:pt modelId="{2C810BC6-397B-47FC-9A17-0B6327A40F78}" type="pres">
      <dgm:prSet presAssocID="{1DA748D1-0299-4A50-B5A4-5D11A6819543}" presName="childShp" presStyleLbl="bgAccFollowNode1" presStyleIdx="2" presStyleCnt="4">
        <dgm:presLayoutVars>
          <dgm:bulletEnabled val="1"/>
        </dgm:presLayoutVars>
      </dgm:prSet>
      <dgm:spPr/>
    </dgm:pt>
    <dgm:pt modelId="{38C465B4-2538-478A-AE6A-EBCF3687A9D6}" type="pres">
      <dgm:prSet presAssocID="{04053A23-5446-4A62-A621-0B91F0E87708}" presName="spacing" presStyleCnt="0"/>
      <dgm:spPr/>
    </dgm:pt>
    <dgm:pt modelId="{1EA1C7D4-E71A-497A-A14B-AED983FA27B8}" type="pres">
      <dgm:prSet presAssocID="{C572F834-F33A-4189-A470-B523A86ADA09}" presName="linNode" presStyleCnt="0"/>
      <dgm:spPr/>
    </dgm:pt>
    <dgm:pt modelId="{3EA53BCA-1223-46E2-81A0-5C1752CFD4A6}" type="pres">
      <dgm:prSet presAssocID="{C572F834-F33A-4189-A470-B523A86ADA09}" presName="parentShp" presStyleLbl="node1" presStyleIdx="3" presStyleCnt="4">
        <dgm:presLayoutVars>
          <dgm:bulletEnabled val="1"/>
        </dgm:presLayoutVars>
      </dgm:prSet>
      <dgm:spPr/>
    </dgm:pt>
    <dgm:pt modelId="{57366C1C-DE19-454D-B5BA-3D8FF24965D7}" type="pres">
      <dgm:prSet presAssocID="{C572F834-F33A-4189-A470-B523A86ADA09}" presName="childShp" presStyleLbl="bgAccFollowNode1" presStyleIdx="3" presStyleCnt="4">
        <dgm:presLayoutVars>
          <dgm:bulletEnabled val="1"/>
        </dgm:presLayoutVars>
      </dgm:prSet>
      <dgm:spPr/>
    </dgm:pt>
  </dgm:ptLst>
  <dgm:cxnLst>
    <dgm:cxn modelId="{10533402-6A6A-4DF3-9632-F1122D90BB80}" type="presOf" srcId="{9D02684A-D1DF-40FC-B238-1330D6A1A71F}" destId="{57366C1C-DE19-454D-B5BA-3D8FF24965D7}" srcOrd="0" destOrd="0" presId="urn:microsoft.com/office/officeart/2005/8/layout/vList6"/>
    <dgm:cxn modelId="{C99FC607-BE0B-4CD8-86EC-3BAA92F5FA05}" type="presOf" srcId="{78D37829-E7DD-4E2B-9C40-EFC0929B2B82}" destId="{0BFC3EA6-84C2-461D-B07A-36D241C9725D}" srcOrd="0" destOrd="0" presId="urn:microsoft.com/office/officeart/2005/8/layout/vList6"/>
    <dgm:cxn modelId="{E1622E0D-958A-414A-A838-5527EB32A4E1}" type="presOf" srcId="{D60FA8B2-50A5-413C-9408-28591DEAA567}" destId="{DE02EA0E-7599-4846-B043-FD1217C7F6EA}" srcOrd="0" destOrd="0" presId="urn:microsoft.com/office/officeart/2005/8/layout/vList6"/>
    <dgm:cxn modelId="{7F400312-ED75-42BA-823A-1525C8FB3A65}" type="presOf" srcId="{B42D00DA-3A68-4D80-856A-C41F57E525F8}" destId="{2C810BC6-397B-47FC-9A17-0B6327A40F78}" srcOrd="0" destOrd="0" presId="urn:microsoft.com/office/officeart/2005/8/layout/vList6"/>
    <dgm:cxn modelId="{90A11E29-B2C7-4455-B20D-93BB74E82532}" srcId="{D60FA8B2-50A5-413C-9408-28591DEAA567}" destId="{AFDE22E2-4165-49A7-86B9-D09F1E76A3F7}" srcOrd="0" destOrd="0" parTransId="{E1C6C9E4-D8EA-4FC9-993F-11B16BD40349}" sibTransId="{C22AEB32-68E0-4225-9076-CB056509BC07}"/>
    <dgm:cxn modelId="{1D87B82D-E6B4-4D09-B0FF-8B98421B2A20}" srcId="{C0CB9EA7-8E54-4554-9478-C52E782196AA}" destId="{587DBFA9-E399-4780-B8C8-5835E44FFDAF}" srcOrd="0" destOrd="0" parTransId="{FA9B13A3-2E0D-4BEC-BD0C-5056051139F9}" sibTransId="{250C3B0D-635A-48A5-A0EC-52D433D293F4}"/>
    <dgm:cxn modelId="{5348EF65-A493-4F43-B08F-3E26C8B088CD}" srcId="{C0CB9EA7-8E54-4554-9478-C52E782196AA}" destId="{C572F834-F33A-4189-A470-B523A86ADA09}" srcOrd="3" destOrd="0" parTransId="{1C85CA04-570D-4CBA-A506-221A2E18C27A}" sibTransId="{3DCFEB92-0445-4DDF-A841-30442DED6FB0}"/>
    <dgm:cxn modelId="{00083175-4192-4663-8223-CB3EF07BD8B7}" srcId="{1DA748D1-0299-4A50-B5A4-5D11A6819543}" destId="{B42D00DA-3A68-4D80-856A-C41F57E525F8}" srcOrd="0" destOrd="0" parTransId="{194D30A2-7E5B-4B11-9CFE-3C7D2A4DD3B4}" sibTransId="{28B2DA2E-4723-4E7C-904A-F53F92141AF2}"/>
    <dgm:cxn modelId="{A2CF2858-0AC2-420E-908B-31A9B64E7F98}" srcId="{C0CB9EA7-8E54-4554-9478-C52E782196AA}" destId="{1DA748D1-0299-4A50-B5A4-5D11A6819543}" srcOrd="2" destOrd="0" parTransId="{0FD87663-F0FA-4F47-8063-5818DE418996}" sibTransId="{04053A23-5446-4A62-A621-0B91F0E87708}"/>
    <dgm:cxn modelId="{3D6F927A-4D50-406E-852F-DB421710256F}" srcId="{C572F834-F33A-4189-A470-B523A86ADA09}" destId="{9D02684A-D1DF-40FC-B238-1330D6A1A71F}" srcOrd="0" destOrd="0" parTransId="{A00FAED5-6627-45FA-B63B-9DD4DB82A1C1}" sibTransId="{327881BB-A4F9-4DDC-8643-16493CAB0380}"/>
    <dgm:cxn modelId="{D6C0F97C-0EEE-4854-BEE9-B8A31A2E8537}" srcId="{587DBFA9-E399-4780-B8C8-5835E44FFDAF}" destId="{78D37829-E7DD-4E2B-9C40-EFC0929B2B82}" srcOrd="0" destOrd="0" parTransId="{FB5D4021-0DBC-476F-81AB-C06003D5969A}" sibTransId="{6FF33F86-815E-4AC2-9BFE-BE675DE29A47}"/>
    <dgm:cxn modelId="{7F275DB7-89A7-4561-91D2-C35CC29C8076}" type="presOf" srcId="{AFDE22E2-4165-49A7-86B9-D09F1E76A3F7}" destId="{A6588C23-84DC-45FC-B0BE-9C582CDA7B87}" srcOrd="0" destOrd="0" presId="urn:microsoft.com/office/officeart/2005/8/layout/vList6"/>
    <dgm:cxn modelId="{772557BD-585E-42B9-9F2C-91FB0D9D9B54}" srcId="{C0CB9EA7-8E54-4554-9478-C52E782196AA}" destId="{D60FA8B2-50A5-413C-9408-28591DEAA567}" srcOrd="1" destOrd="0" parTransId="{FCC1F11B-22C5-4417-B0A5-C271AC32C65F}" sibTransId="{0E8F797D-5428-4D89-8238-DE4D8976A0E0}"/>
    <dgm:cxn modelId="{B0AC8ECF-3155-4670-A132-9D4718AB168D}" type="presOf" srcId="{587DBFA9-E399-4780-B8C8-5835E44FFDAF}" destId="{25F89F97-50D4-4A4E-8E8D-7183F38EC508}" srcOrd="0" destOrd="0" presId="urn:microsoft.com/office/officeart/2005/8/layout/vList6"/>
    <dgm:cxn modelId="{06E870D0-5EB9-4C59-98E1-748C9E962B4E}" type="presOf" srcId="{C572F834-F33A-4189-A470-B523A86ADA09}" destId="{3EA53BCA-1223-46E2-81A0-5C1752CFD4A6}" srcOrd="0" destOrd="0" presId="urn:microsoft.com/office/officeart/2005/8/layout/vList6"/>
    <dgm:cxn modelId="{F83E92DE-50D7-40F4-A0E0-30CBCA126B42}" type="presOf" srcId="{1DA748D1-0299-4A50-B5A4-5D11A6819543}" destId="{5BDA8100-EC44-4978-ACB5-ABFCF6719408}" srcOrd="0" destOrd="0" presId="urn:microsoft.com/office/officeart/2005/8/layout/vList6"/>
    <dgm:cxn modelId="{7382DDFF-1ABF-468F-B1BD-D58B323CAEF9}" type="presOf" srcId="{C0CB9EA7-8E54-4554-9478-C52E782196AA}" destId="{1764816E-4097-4A97-BF81-494B01D978A7}" srcOrd="0" destOrd="0" presId="urn:microsoft.com/office/officeart/2005/8/layout/vList6"/>
    <dgm:cxn modelId="{6AFA7542-63F8-47D8-BF92-720B7BA62617}" type="presParOf" srcId="{1764816E-4097-4A97-BF81-494B01D978A7}" destId="{2992D441-577B-491D-8104-339F61ED64CC}" srcOrd="0" destOrd="0" presId="urn:microsoft.com/office/officeart/2005/8/layout/vList6"/>
    <dgm:cxn modelId="{BDC86CA3-F567-40AC-96F7-FFA4F9785982}" type="presParOf" srcId="{2992D441-577B-491D-8104-339F61ED64CC}" destId="{25F89F97-50D4-4A4E-8E8D-7183F38EC508}" srcOrd="0" destOrd="0" presId="urn:microsoft.com/office/officeart/2005/8/layout/vList6"/>
    <dgm:cxn modelId="{6AE23DD7-CED1-4124-9AFC-83DF65B5C373}" type="presParOf" srcId="{2992D441-577B-491D-8104-339F61ED64CC}" destId="{0BFC3EA6-84C2-461D-B07A-36D241C9725D}" srcOrd="1" destOrd="0" presId="urn:microsoft.com/office/officeart/2005/8/layout/vList6"/>
    <dgm:cxn modelId="{4E79BC87-4F8D-4584-ACA5-8FA79CE85900}" type="presParOf" srcId="{1764816E-4097-4A97-BF81-494B01D978A7}" destId="{8800715A-EA61-43ED-B19B-5849BBE27A49}" srcOrd="1" destOrd="0" presId="urn:microsoft.com/office/officeart/2005/8/layout/vList6"/>
    <dgm:cxn modelId="{E6336796-DDAE-4B7F-8681-2A275E4E21E2}" type="presParOf" srcId="{1764816E-4097-4A97-BF81-494B01D978A7}" destId="{D7F9E0D4-11BB-43E1-BB28-319015674D99}" srcOrd="2" destOrd="0" presId="urn:microsoft.com/office/officeart/2005/8/layout/vList6"/>
    <dgm:cxn modelId="{EA0885C2-8CF3-4AA3-8FE7-993DD9FC624E}" type="presParOf" srcId="{D7F9E0D4-11BB-43E1-BB28-319015674D99}" destId="{DE02EA0E-7599-4846-B043-FD1217C7F6EA}" srcOrd="0" destOrd="0" presId="urn:microsoft.com/office/officeart/2005/8/layout/vList6"/>
    <dgm:cxn modelId="{D6504E1B-37C9-4432-94E3-2422D8B4F099}" type="presParOf" srcId="{D7F9E0D4-11BB-43E1-BB28-319015674D99}" destId="{A6588C23-84DC-45FC-B0BE-9C582CDA7B87}" srcOrd="1" destOrd="0" presId="urn:microsoft.com/office/officeart/2005/8/layout/vList6"/>
    <dgm:cxn modelId="{298E2153-6F3F-4957-B334-14CE57A3BD38}" type="presParOf" srcId="{1764816E-4097-4A97-BF81-494B01D978A7}" destId="{0EC640B7-EF84-42D3-A0FC-7DBF6D1AC73E}" srcOrd="3" destOrd="0" presId="urn:microsoft.com/office/officeart/2005/8/layout/vList6"/>
    <dgm:cxn modelId="{C7400F1B-270D-4579-808D-19F409A7055B}" type="presParOf" srcId="{1764816E-4097-4A97-BF81-494B01D978A7}" destId="{FE89B3AC-1004-44AA-BFCB-BB2A0A7A4F9C}" srcOrd="4" destOrd="0" presId="urn:microsoft.com/office/officeart/2005/8/layout/vList6"/>
    <dgm:cxn modelId="{11CBAC5A-3A55-4466-80A0-7B3289D8B1C0}" type="presParOf" srcId="{FE89B3AC-1004-44AA-BFCB-BB2A0A7A4F9C}" destId="{5BDA8100-EC44-4978-ACB5-ABFCF6719408}" srcOrd="0" destOrd="0" presId="urn:microsoft.com/office/officeart/2005/8/layout/vList6"/>
    <dgm:cxn modelId="{0D56CDEC-750A-4ACA-80A6-60F17F783664}" type="presParOf" srcId="{FE89B3AC-1004-44AA-BFCB-BB2A0A7A4F9C}" destId="{2C810BC6-397B-47FC-9A17-0B6327A40F78}" srcOrd="1" destOrd="0" presId="urn:microsoft.com/office/officeart/2005/8/layout/vList6"/>
    <dgm:cxn modelId="{B1056107-B93D-4240-8009-C926C3EB9D74}" type="presParOf" srcId="{1764816E-4097-4A97-BF81-494B01D978A7}" destId="{38C465B4-2538-478A-AE6A-EBCF3687A9D6}" srcOrd="5" destOrd="0" presId="urn:microsoft.com/office/officeart/2005/8/layout/vList6"/>
    <dgm:cxn modelId="{7F76A0C9-2B46-4F16-AC5B-62F70715D7A8}" type="presParOf" srcId="{1764816E-4097-4A97-BF81-494B01D978A7}" destId="{1EA1C7D4-E71A-497A-A14B-AED983FA27B8}" srcOrd="6" destOrd="0" presId="urn:microsoft.com/office/officeart/2005/8/layout/vList6"/>
    <dgm:cxn modelId="{3A9D8E7D-283C-4B10-8940-7ED24DB320E5}" type="presParOf" srcId="{1EA1C7D4-E71A-497A-A14B-AED983FA27B8}" destId="{3EA53BCA-1223-46E2-81A0-5C1752CFD4A6}" srcOrd="0" destOrd="0" presId="urn:microsoft.com/office/officeart/2005/8/layout/vList6"/>
    <dgm:cxn modelId="{88687C98-096B-44C6-9A68-2F5B425CE5AA}" type="presParOf" srcId="{1EA1C7D4-E71A-497A-A14B-AED983FA27B8}" destId="{57366C1C-DE19-454D-B5BA-3D8FF24965D7}" srcOrd="1" destOrd="0" presId="urn:microsoft.com/office/officeart/2005/8/layout/v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497AAF4-4166-44F3-B41D-7ADF125095AC}"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2582BC46-E232-481A-9C06-FAFE940F83BB}">
      <dgm:prSet phldrT="[Text]" custT="1"/>
      <dgm:spPr/>
      <dgm:t>
        <a:bodyPr/>
        <a:lstStyle/>
        <a:p>
          <a:pPr>
            <a:buNone/>
          </a:pPr>
          <a:r>
            <a:rPr lang="en-US" sz="1000" b="0">
              <a:solidFill>
                <a:schemeClr val="bg1"/>
              </a:solidFill>
              <a:latin typeface="Times New Roman" panose="02020603050405020304" pitchFamily="18" charset="0"/>
              <a:cs typeface="Times New Roman" panose="02020603050405020304" pitchFamily="18" charset="0"/>
            </a:rPr>
            <a:t>IDLE</a:t>
          </a:r>
          <a:endParaRPr lang="en-US" sz="1000" b="0" dirty="0">
            <a:solidFill>
              <a:schemeClr val="bg1"/>
            </a:solidFill>
            <a:latin typeface="Times New Roman" panose="02020603050405020304" pitchFamily="18" charset="0"/>
            <a:cs typeface="Times New Roman" panose="02020603050405020304" pitchFamily="18" charset="0"/>
          </a:endParaRPr>
        </a:p>
      </dgm:t>
    </dgm:pt>
    <dgm:pt modelId="{968288CC-8935-4A0A-BA6E-4B70FA7E8AD6}" type="parTrans" cxnId="{AE211433-B65A-4B7E-84A4-33A3204794B9}">
      <dgm:prSet/>
      <dgm:spPr/>
      <dgm:t>
        <a:bodyPr/>
        <a:lstStyle/>
        <a:p>
          <a:endParaRPr lang="en-US"/>
        </a:p>
      </dgm:t>
    </dgm:pt>
    <dgm:pt modelId="{5604CB5C-22D8-43F3-AA78-52C2BC39FAE4}" type="sibTrans" cxnId="{AE211433-B65A-4B7E-84A4-33A3204794B9}">
      <dgm:prSet/>
      <dgm:spPr/>
      <dgm:t>
        <a:bodyPr/>
        <a:lstStyle/>
        <a:p>
          <a:endParaRPr lang="en-US"/>
        </a:p>
      </dgm:t>
    </dgm:pt>
    <dgm:pt modelId="{76F97C03-08B4-49C4-8B06-12C8E94081CB}">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Waits for a Configuration header; drops any other word</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60E169D8-B51E-42DF-B77E-D6245AE7CA8A}" type="parTrans" cxnId="{9F9C9E78-0454-4143-91E8-8B2C86A87B6D}">
      <dgm:prSet/>
      <dgm:spPr/>
      <dgm:t>
        <a:bodyPr/>
        <a:lstStyle/>
        <a:p>
          <a:endParaRPr lang="en-US"/>
        </a:p>
      </dgm:t>
    </dgm:pt>
    <dgm:pt modelId="{133AFC37-175C-4F10-94F6-42B0287E34BC}" type="sibTrans" cxnId="{9F9C9E78-0454-4143-91E8-8B2C86A87B6D}">
      <dgm:prSet/>
      <dgm:spPr/>
      <dgm:t>
        <a:bodyPr/>
        <a:lstStyle/>
        <a:p>
          <a:endParaRPr lang="en-US"/>
        </a:p>
      </dgm:t>
    </dgm:pt>
    <dgm:pt modelId="{08BF887D-4E4A-497E-A69B-D5C1B0980EC2}">
      <dgm:prSet phldrT="[Text]" custT="1"/>
      <dgm:spPr/>
      <dgm:t>
        <a:bodyPr/>
        <a:lstStyle/>
        <a:p>
          <a:pPr>
            <a:buNone/>
          </a:pPr>
          <a:r>
            <a:rPr lang="en-US" sz="1000" b="0">
              <a:solidFill>
                <a:schemeClr val="bg1"/>
              </a:solidFill>
              <a:latin typeface="Times New Roman" panose="02020603050405020304" pitchFamily="18" charset="0"/>
              <a:cs typeface="Times New Roman" panose="02020603050405020304" pitchFamily="18" charset="0"/>
            </a:rPr>
            <a:t>CFG HDR</a:t>
          </a:r>
          <a:endParaRPr lang="en-US" sz="1000" b="0" dirty="0">
            <a:solidFill>
              <a:schemeClr val="bg1"/>
            </a:solidFill>
            <a:latin typeface="Times New Roman" panose="02020603050405020304" pitchFamily="18" charset="0"/>
            <a:cs typeface="Times New Roman" panose="02020603050405020304" pitchFamily="18" charset="0"/>
          </a:endParaRPr>
        </a:p>
      </dgm:t>
    </dgm:pt>
    <dgm:pt modelId="{DEE623BC-EC9B-4101-9022-388C1C18DDFC}" type="parTrans" cxnId="{892CE4F3-E71F-4191-9C9F-E4F093E8E666}">
      <dgm:prSet/>
      <dgm:spPr/>
      <dgm:t>
        <a:bodyPr/>
        <a:lstStyle/>
        <a:p>
          <a:endParaRPr lang="en-US"/>
        </a:p>
      </dgm:t>
    </dgm:pt>
    <dgm:pt modelId="{BC7F0093-1191-488E-9211-CFFF45C4B3AC}" type="sibTrans" cxnId="{892CE4F3-E71F-4191-9C9F-E4F093E8E666}">
      <dgm:prSet/>
      <dgm:spPr/>
      <dgm:t>
        <a:bodyPr/>
        <a:lstStyle/>
        <a:p>
          <a:endParaRPr lang="en-US"/>
        </a:p>
      </dgm:t>
    </dgm:pt>
    <dgm:pt modelId="{845ACA10-77CD-455C-A5A0-A46BDA813DCF}">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Global register → CDM 0x00, then device entries → 0x01+</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AAA1BCE0-3534-407A-9016-FDCAF9F6637E}" type="parTrans" cxnId="{4C393BC5-74A3-45C9-8487-B451C90E21FF}">
      <dgm:prSet/>
      <dgm:spPr/>
      <dgm:t>
        <a:bodyPr/>
        <a:lstStyle/>
        <a:p>
          <a:endParaRPr lang="en-US"/>
        </a:p>
      </dgm:t>
    </dgm:pt>
    <dgm:pt modelId="{32C215D3-C479-49EC-BC0E-8881E7DDEC48}" type="sibTrans" cxnId="{4C393BC5-74A3-45C9-8487-B451C90E21FF}">
      <dgm:prSet/>
      <dgm:spPr/>
      <dgm:t>
        <a:bodyPr/>
        <a:lstStyle/>
        <a:p>
          <a:endParaRPr lang="en-US"/>
        </a:p>
      </dgm:t>
    </dgm:pt>
    <dgm:pt modelId="{10DB8F95-506B-4B58-ABDE-07B6CE8E6251}">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direct_cdm_write=1, w_en=1</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970D5377-BE29-40B6-B359-45B41A618CCA}" type="parTrans" cxnId="{2F40C074-B3F1-4D1B-985B-87B3B1DA8598}">
      <dgm:prSet/>
      <dgm:spPr/>
      <dgm:t>
        <a:bodyPr/>
        <a:lstStyle/>
        <a:p>
          <a:endParaRPr lang="en-US"/>
        </a:p>
      </dgm:t>
    </dgm:pt>
    <dgm:pt modelId="{5816503D-1A72-4825-9214-ECE1D002201E}" type="sibTrans" cxnId="{2F40C074-B3F1-4D1B-985B-87B3B1DA8598}">
      <dgm:prSet/>
      <dgm:spPr/>
      <dgm:t>
        <a:bodyPr/>
        <a:lstStyle/>
        <a:p>
          <a:endParaRPr lang="en-US"/>
        </a:p>
      </dgm:t>
    </dgm:pt>
    <dgm:pt modelId="{375F7198-1050-4880-B9ED-60FFBFF40057}">
      <dgm:prSet phldrT="[Text]" custT="1"/>
      <dgm:spPr/>
      <dgm:t>
        <a:bodyPr/>
        <a:lstStyle/>
        <a:p>
          <a:pPr>
            <a:buNone/>
          </a:pPr>
          <a:r>
            <a:rPr lang="en-US" sz="1000" b="0">
              <a:solidFill>
                <a:schemeClr val="bg1"/>
              </a:solidFill>
              <a:latin typeface="Times New Roman" panose="02020603050405020304" pitchFamily="18" charset="0"/>
              <a:cs typeface="Times New Roman" panose="02020603050405020304" pitchFamily="18" charset="0"/>
            </a:rPr>
            <a:t>LINK UP</a:t>
          </a:r>
          <a:endParaRPr lang="en-US" sz="1000" b="0" dirty="0">
            <a:solidFill>
              <a:schemeClr val="bg1"/>
            </a:solidFill>
            <a:latin typeface="Times New Roman" panose="02020603050405020304" pitchFamily="18" charset="0"/>
            <a:cs typeface="Times New Roman" panose="02020603050405020304" pitchFamily="18" charset="0"/>
          </a:endParaRPr>
        </a:p>
      </dgm:t>
    </dgm:pt>
    <dgm:pt modelId="{EAD3F313-425F-4728-8142-F19678097E9F}" type="parTrans" cxnId="{F822C9C3-482F-45A2-B1B4-E9C15368DC01}">
      <dgm:prSet/>
      <dgm:spPr/>
      <dgm:t>
        <a:bodyPr/>
        <a:lstStyle/>
        <a:p>
          <a:endParaRPr lang="en-US"/>
        </a:p>
      </dgm:t>
    </dgm:pt>
    <dgm:pt modelId="{406BFB44-E643-4C9A-BCE5-57CDF290F933}" type="sibTrans" cxnId="{F822C9C3-482F-45A2-B1B4-E9C15368DC01}">
      <dgm:prSet/>
      <dgm:spPr/>
      <dgm:t>
        <a:bodyPr/>
        <a:lstStyle/>
        <a:p>
          <a:endParaRPr lang="en-US"/>
        </a:p>
      </dgm:t>
    </dgm:pt>
    <dgm:pt modelId="{04EAA028-CA75-441D-9AC3-0A127377751A}">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Consumes the Link-Up TLP; payload words written like data</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8E195479-2187-4686-8CE6-4542CB5B0A75}" type="parTrans" cxnId="{071853F3-207D-4779-A4E4-00F0C6E6CB2C}">
      <dgm:prSet/>
      <dgm:spPr/>
      <dgm:t>
        <a:bodyPr/>
        <a:lstStyle/>
        <a:p>
          <a:endParaRPr lang="en-US"/>
        </a:p>
      </dgm:t>
    </dgm:pt>
    <dgm:pt modelId="{F70BB797-3591-46D5-A26A-9D84484ABD74}" type="sibTrans" cxnId="{071853F3-207D-4779-A4E4-00F0C6E6CB2C}">
      <dgm:prSet/>
      <dgm:spPr/>
      <dgm:t>
        <a:bodyPr/>
        <a:lstStyle/>
        <a:p>
          <a:endParaRPr lang="en-US"/>
        </a:p>
      </dgm:t>
    </dgm:pt>
    <dgm:pt modelId="{0493E1E7-2C11-4F56-929F-3B8CC3C67E5B}">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fifo_en=1, w_en=1 on payload words</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98B225A0-1E5C-4F99-9523-3CCAE892809F}" type="parTrans" cxnId="{3102010D-BD9B-476A-934F-D89FABE5BD58}">
      <dgm:prSet/>
      <dgm:spPr/>
      <dgm:t>
        <a:bodyPr/>
        <a:lstStyle/>
        <a:p>
          <a:endParaRPr lang="en-US"/>
        </a:p>
      </dgm:t>
    </dgm:pt>
    <dgm:pt modelId="{45D0FDDC-BDD0-49F4-888E-A50FEBC067AE}" type="sibTrans" cxnId="{3102010D-BD9B-476A-934F-D89FABE5BD58}">
      <dgm:prSet/>
      <dgm:spPr/>
      <dgm:t>
        <a:bodyPr/>
        <a:lstStyle/>
        <a:p>
          <a:endParaRPr lang="en-US"/>
        </a:p>
      </dgm:t>
    </dgm:pt>
    <dgm:pt modelId="{4418A05F-8845-4971-81B2-555DCEFEC916}">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fifo_en=1 on dropped words</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3A45CF0A-9714-4643-89FF-CAE003F6C5CD}" type="parTrans" cxnId="{3A672070-EFDE-45B9-B0A1-126767FF209A}">
      <dgm:prSet/>
      <dgm:spPr/>
      <dgm:t>
        <a:bodyPr/>
        <a:lstStyle/>
        <a:p>
          <a:endParaRPr lang="en-US"/>
        </a:p>
      </dgm:t>
    </dgm:pt>
    <dgm:pt modelId="{E85CBD41-9A1A-4DBE-93C1-EFAB7A4CABE3}" type="sibTrans" cxnId="{3A672070-EFDE-45B9-B0A1-126767FF209A}">
      <dgm:prSet/>
      <dgm:spPr/>
      <dgm:t>
        <a:bodyPr/>
        <a:lstStyle/>
        <a:p>
          <a:endParaRPr lang="en-US"/>
        </a:p>
      </dgm:t>
    </dgm:pt>
    <dgm:pt modelId="{B5F91042-3D4C-40B5-A59D-37D347FAF613}">
      <dgm:prSet phldrT="[Text]" custT="1"/>
      <dgm:spPr/>
      <dgm:t>
        <a:bodyPr/>
        <a:lstStyle/>
        <a:p>
          <a:pPr>
            <a:buNone/>
          </a:pPr>
          <a:r>
            <a:rPr lang="en-US" sz="1000" b="0">
              <a:solidFill>
                <a:schemeClr val="bg1"/>
              </a:solidFill>
              <a:latin typeface="Times New Roman" panose="02020603050405020304" pitchFamily="18" charset="0"/>
              <a:cs typeface="Times New Roman" panose="02020603050405020304" pitchFamily="18" charset="0"/>
            </a:rPr>
            <a:t>DATA HDR</a:t>
          </a:r>
          <a:endParaRPr lang="en-US" sz="1000" b="0" dirty="0">
            <a:solidFill>
              <a:schemeClr val="bg1"/>
            </a:solidFill>
            <a:latin typeface="Times New Roman" panose="02020603050405020304" pitchFamily="18" charset="0"/>
            <a:cs typeface="Times New Roman" panose="02020603050405020304" pitchFamily="18" charset="0"/>
          </a:endParaRPr>
        </a:p>
      </dgm:t>
    </dgm:pt>
    <dgm:pt modelId="{A0FFC2BB-C4E5-40CA-8AEA-13D296EB04A5}" type="parTrans" cxnId="{5FDAE67A-B868-47DA-A9FF-A2C93D42AA6E}">
      <dgm:prSet/>
      <dgm:spPr/>
      <dgm:t>
        <a:bodyPr/>
        <a:lstStyle/>
        <a:p>
          <a:endParaRPr lang="en-US"/>
        </a:p>
      </dgm:t>
    </dgm:pt>
    <dgm:pt modelId="{3E3E2FD2-6DB9-4811-8965-1ADB43ABDC0D}" type="sibTrans" cxnId="{5FDAE67A-B868-47DA-A9FF-A2C93D42AA6E}">
      <dgm:prSet/>
      <dgm:spPr/>
      <dgm:t>
        <a:bodyPr/>
        <a:lstStyle/>
        <a:p>
          <a:endParaRPr lang="en-US"/>
        </a:p>
      </dgm:t>
    </dgm:pt>
    <dgm:pt modelId="{6BF78014-5564-4F58-8D02-EED6BA78D9D1}">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Transfer TLPs: payload → ATU / encryption / parity → CDM</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4F8350E0-3D4E-485C-BDC4-45A2576F7E9F}" type="parTrans" cxnId="{1BEBA603-8B7C-43F9-A329-1DC27EF759C2}">
      <dgm:prSet/>
      <dgm:spPr/>
      <dgm:t>
        <a:bodyPr/>
        <a:lstStyle/>
        <a:p>
          <a:endParaRPr lang="en-US"/>
        </a:p>
      </dgm:t>
    </dgm:pt>
    <dgm:pt modelId="{B21914F1-0861-4610-95E2-985746DF7A0C}" type="sibTrans" cxnId="{1BEBA603-8B7C-43F9-A329-1DC27EF759C2}">
      <dgm:prSet/>
      <dgm:spPr/>
      <dgm:t>
        <a:bodyPr/>
        <a:lstStyle/>
        <a:p>
          <a:endParaRPr lang="en-US"/>
        </a:p>
      </dgm:t>
    </dgm:pt>
    <dgm:pt modelId="{65BBF56F-CBDD-427F-9FC5-A6ECD6B999BA}">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w_en=1; Link-Up header → LINK UP</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03EB6E6F-0BD6-469A-9633-4FDAE9E522A5}" type="parTrans" cxnId="{67FBF3AA-9A4E-48C1-81F6-08AD2DE76BF7}">
      <dgm:prSet/>
      <dgm:spPr/>
      <dgm:t>
        <a:bodyPr/>
        <a:lstStyle/>
        <a:p>
          <a:endParaRPr lang="en-US"/>
        </a:p>
      </dgm:t>
    </dgm:pt>
    <dgm:pt modelId="{C216FA31-672F-46C4-8BFE-979417FE4617}" type="sibTrans" cxnId="{67FBF3AA-9A4E-48C1-81F6-08AD2DE76BF7}">
      <dgm:prSet/>
      <dgm:spPr/>
      <dgm:t>
        <a:bodyPr/>
        <a:lstStyle/>
        <a:p>
          <a:endParaRPr lang="en-US"/>
        </a:p>
      </dgm:t>
    </dgm:pt>
    <dgm:pt modelId="{81F28A41-3CDE-4062-A507-679A1FB6725B}">
      <dgm:prSet phldrT="[Text]" custT="1"/>
      <dgm:spPr/>
      <dgm:t>
        <a:bodyPr/>
        <a:lstStyle/>
        <a:p>
          <a:pPr>
            <a:buNone/>
          </a:pPr>
          <a:r>
            <a:rPr lang="en-US" sz="1000" b="0">
              <a:solidFill>
                <a:schemeClr val="bg1"/>
              </a:solidFill>
              <a:latin typeface="Times New Roman" panose="02020603050405020304" pitchFamily="18" charset="0"/>
              <a:cs typeface="Times New Roman" panose="02020603050405020304" pitchFamily="18" charset="0"/>
            </a:rPr>
            <a:t>ERROR</a:t>
          </a:r>
          <a:endParaRPr lang="en-US" sz="1000" b="0" dirty="0">
            <a:solidFill>
              <a:schemeClr val="bg1"/>
            </a:solidFill>
            <a:latin typeface="Times New Roman" panose="02020603050405020304" pitchFamily="18" charset="0"/>
            <a:cs typeface="Times New Roman" panose="02020603050405020304" pitchFamily="18" charset="0"/>
          </a:endParaRPr>
        </a:p>
      </dgm:t>
    </dgm:pt>
    <dgm:pt modelId="{34E8A72B-1FA3-4682-BFDD-E49E171BB337}" type="parTrans" cxnId="{36004170-280A-4163-BB8A-03B33DD00930}">
      <dgm:prSet/>
      <dgm:spPr/>
      <dgm:t>
        <a:bodyPr/>
        <a:lstStyle/>
        <a:p>
          <a:endParaRPr lang="en-US"/>
        </a:p>
      </dgm:t>
    </dgm:pt>
    <dgm:pt modelId="{A6CC9332-D532-4E59-8AC8-C73B2F5376E9}" type="sibTrans" cxnId="{36004170-280A-4163-BB8A-03B33DD00930}">
      <dgm:prSet/>
      <dgm:spPr/>
      <dgm:t>
        <a:bodyPr/>
        <a:lstStyle/>
        <a:p>
          <a:endParaRPr lang="en-US"/>
        </a:p>
      </dgm:t>
    </dgm:pt>
    <dgm:pt modelId="{660A4060-3333-43F6-BC5E-E905E36D7558}">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Invalid ENC_MODE, header type or packet sequence</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32106AA9-1C2F-4B09-BB03-0B81BCB38834}" type="parTrans" cxnId="{84A7264C-3779-4878-943E-83C84F4E2509}">
      <dgm:prSet/>
      <dgm:spPr/>
      <dgm:t>
        <a:bodyPr/>
        <a:lstStyle/>
        <a:p>
          <a:endParaRPr lang="en-US"/>
        </a:p>
      </dgm:t>
    </dgm:pt>
    <dgm:pt modelId="{D557D483-8912-40FB-9207-BB2B84D796EB}" type="sibTrans" cxnId="{84A7264C-3779-4878-943E-83C84F4E2509}">
      <dgm:prSet/>
      <dgm:spPr/>
      <dgm:t>
        <a:bodyPr/>
        <a:lstStyle/>
        <a:p>
          <a:endParaRPr lang="en-US"/>
        </a:p>
      </dgm:t>
    </dgm:pt>
    <dgm:pt modelId="{9A6B563A-45F3-42DA-A136-5A5DFDD24D8D}">
      <dgm:prSet phldrT="[Text]" custT="1"/>
      <dgm:spPr/>
      <dgm:t>
        <a:bodyPr/>
        <a:lstStyle/>
        <a:p>
          <a:pPr>
            <a:buNone/>
          </a:pPr>
          <a:r>
            <a:rPr lang="en-US" sz="1200">
              <a:solidFill>
                <a:srgbClr val="1E2761"/>
              </a:solidFill>
              <a:latin typeface="Times New Roman" panose="02020603050405020304" pitchFamily="18" charset="0"/>
              <a:cs typeface="Times New Roman" panose="02020603050405020304" pitchFamily="18" charset="0"/>
            </a:rPr>
            <a:t>error_valid=1 for one cycle → IDLE</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806609BC-E7DA-4640-9F8D-DAA7BC027258}" type="parTrans" cxnId="{0A28101B-4E6C-4EDA-9F2E-0F1CD442D4F2}">
      <dgm:prSet/>
      <dgm:spPr/>
      <dgm:t>
        <a:bodyPr/>
        <a:lstStyle/>
        <a:p>
          <a:endParaRPr lang="en-US"/>
        </a:p>
      </dgm:t>
    </dgm:pt>
    <dgm:pt modelId="{E4C635E7-ED51-4ADE-A9E7-AEC54C1F6FAC}" type="sibTrans" cxnId="{0A28101B-4E6C-4EDA-9F2E-0F1CD442D4F2}">
      <dgm:prSet/>
      <dgm:spPr/>
      <dgm:t>
        <a:bodyPr/>
        <a:lstStyle/>
        <a:p>
          <a:endParaRPr lang="en-US"/>
        </a:p>
      </dgm:t>
    </dgm:pt>
    <dgm:pt modelId="{20FCF45B-FD2D-4245-AC5E-28807BE00CBF}" type="pres">
      <dgm:prSet presAssocID="{A497AAF4-4166-44F3-B41D-7ADF125095AC}" presName="linearFlow" presStyleCnt="0">
        <dgm:presLayoutVars>
          <dgm:dir/>
          <dgm:animLvl val="lvl"/>
          <dgm:resizeHandles val="exact"/>
        </dgm:presLayoutVars>
      </dgm:prSet>
      <dgm:spPr/>
    </dgm:pt>
    <dgm:pt modelId="{BDEFE608-7C6C-4FBD-BA4B-D68EA71E3677}" type="pres">
      <dgm:prSet presAssocID="{2582BC46-E232-481A-9C06-FAFE940F83BB}" presName="composite" presStyleCnt="0"/>
      <dgm:spPr/>
    </dgm:pt>
    <dgm:pt modelId="{7EEAEA3C-198E-4428-91F5-5D40AC471D03}" type="pres">
      <dgm:prSet presAssocID="{2582BC46-E232-481A-9C06-FAFE940F83BB}" presName="parentText" presStyleLbl="alignNode1" presStyleIdx="0" presStyleCnt="5">
        <dgm:presLayoutVars>
          <dgm:chMax val="1"/>
          <dgm:bulletEnabled val="1"/>
        </dgm:presLayoutVars>
      </dgm:prSet>
      <dgm:spPr/>
    </dgm:pt>
    <dgm:pt modelId="{F05F49B7-E57A-4430-8446-DFC1C1F638EA}" type="pres">
      <dgm:prSet presAssocID="{2582BC46-E232-481A-9C06-FAFE940F83BB}" presName="descendantText" presStyleLbl="alignAcc1" presStyleIdx="0" presStyleCnt="5">
        <dgm:presLayoutVars>
          <dgm:bulletEnabled val="1"/>
        </dgm:presLayoutVars>
      </dgm:prSet>
      <dgm:spPr/>
    </dgm:pt>
    <dgm:pt modelId="{FDAA26FA-2F38-4C34-8837-5D578CEB621B}" type="pres">
      <dgm:prSet presAssocID="{5604CB5C-22D8-43F3-AA78-52C2BC39FAE4}" presName="sp" presStyleCnt="0"/>
      <dgm:spPr/>
    </dgm:pt>
    <dgm:pt modelId="{BF661CA9-1358-41AA-83EA-EBB25BC901D9}" type="pres">
      <dgm:prSet presAssocID="{08BF887D-4E4A-497E-A69B-D5C1B0980EC2}" presName="composite" presStyleCnt="0"/>
      <dgm:spPr/>
    </dgm:pt>
    <dgm:pt modelId="{1E631251-D50F-4103-BFBF-990C9568DF11}" type="pres">
      <dgm:prSet presAssocID="{08BF887D-4E4A-497E-A69B-D5C1B0980EC2}" presName="parentText" presStyleLbl="alignNode1" presStyleIdx="1" presStyleCnt="5">
        <dgm:presLayoutVars>
          <dgm:chMax val="1"/>
          <dgm:bulletEnabled val="1"/>
        </dgm:presLayoutVars>
      </dgm:prSet>
      <dgm:spPr/>
    </dgm:pt>
    <dgm:pt modelId="{84D39791-37A5-4786-8C16-C3F8789281C3}" type="pres">
      <dgm:prSet presAssocID="{08BF887D-4E4A-497E-A69B-D5C1B0980EC2}" presName="descendantText" presStyleLbl="alignAcc1" presStyleIdx="1" presStyleCnt="5">
        <dgm:presLayoutVars>
          <dgm:bulletEnabled val="1"/>
        </dgm:presLayoutVars>
      </dgm:prSet>
      <dgm:spPr/>
    </dgm:pt>
    <dgm:pt modelId="{D4F0E12F-8F4F-484E-A59C-62B02BC895E1}" type="pres">
      <dgm:prSet presAssocID="{BC7F0093-1191-488E-9211-CFFF45C4B3AC}" presName="sp" presStyleCnt="0"/>
      <dgm:spPr/>
    </dgm:pt>
    <dgm:pt modelId="{26B34F77-E883-4215-897A-87EB0CB9D032}" type="pres">
      <dgm:prSet presAssocID="{375F7198-1050-4880-B9ED-60FFBFF40057}" presName="composite" presStyleCnt="0"/>
      <dgm:spPr/>
    </dgm:pt>
    <dgm:pt modelId="{E7E0AF17-56E0-410F-9CE5-0C1A889F3C58}" type="pres">
      <dgm:prSet presAssocID="{375F7198-1050-4880-B9ED-60FFBFF40057}" presName="parentText" presStyleLbl="alignNode1" presStyleIdx="2" presStyleCnt="5">
        <dgm:presLayoutVars>
          <dgm:chMax val="1"/>
          <dgm:bulletEnabled val="1"/>
        </dgm:presLayoutVars>
      </dgm:prSet>
      <dgm:spPr/>
    </dgm:pt>
    <dgm:pt modelId="{209C89DD-2555-4ACD-B62E-C40608D078AF}" type="pres">
      <dgm:prSet presAssocID="{375F7198-1050-4880-B9ED-60FFBFF40057}" presName="descendantText" presStyleLbl="alignAcc1" presStyleIdx="2" presStyleCnt="5">
        <dgm:presLayoutVars>
          <dgm:bulletEnabled val="1"/>
        </dgm:presLayoutVars>
      </dgm:prSet>
      <dgm:spPr/>
    </dgm:pt>
    <dgm:pt modelId="{4F1E35CF-4133-44FB-9FF6-2D00E3F7D646}" type="pres">
      <dgm:prSet presAssocID="{406BFB44-E643-4C9A-BCE5-57CDF290F933}" presName="sp" presStyleCnt="0"/>
      <dgm:spPr/>
    </dgm:pt>
    <dgm:pt modelId="{37F3C621-476D-4DC1-BEDC-40F6B982196B}" type="pres">
      <dgm:prSet presAssocID="{B5F91042-3D4C-40B5-A59D-37D347FAF613}" presName="composite" presStyleCnt="0"/>
      <dgm:spPr/>
    </dgm:pt>
    <dgm:pt modelId="{9AEABF67-0F5F-4110-AEBC-7EC940420F45}" type="pres">
      <dgm:prSet presAssocID="{B5F91042-3D4C-40B5-A59D-37D347FAF613}" presName="parentText" presStyleLbl="alignNode1" presStyleIdx="3" presStyleCnt="5">
        <dgm:presLayoutVars>
          <dgm:chMax val="1"/>
          <dgm:bulletEnabled val="1"/>
        </dgm:presLayoutVars>
      </dgm:prSet>
      <dgm:spPr/>
    </dgm:pt>
    <dgm:pt modelId="{E638C40D-F786-40C7-81A9-EFB374C2939C}" type="pres">
      <dgm:prSet presAssocID="{B5F91042-3D4C-40B5-A59D-37D347FAF613}" presName="descendantText" presStyleLbl="alignAcc1" presStyleIdx="3" presStyleCnt="5">
        <dgm:presLayoutVars>
          <dgm:bulletEnabled val="1"/>
        </dgm:presLayoutVars>
      </dgm:prSet>
      <dgm:spPr/>
    </dgm:pt>
    <dgm:pt modelId="{624A2994-783A-4726-BA71-6808676B3382}" type="pres">
      <dgm:prSet presAssocID="{3E3E2FD2-6DB9-4811-8965-1ADB43ABDC0D}" presName="sp" presStyleCnt="0"/>
      <dgm:spPr/>
    </dgm:pt>
    <dgm:pt modelId="{CEDBFA2F-9A53-4185-8C68-4FE1003BE6D9}" type="pres">
      <dgm:prSet presAssocID="{81F28A41-3CDE-4062-A507-679A1FB6725B}" presName="composite" presStyleCnt="0"/>
      <dgm:spPr/>
    </dgm:pt>
    <dgm:pt modelId="{16F7BE88-8E8A-4CFD-80F2-89CD3B9C1FAE}" type="pres">
      <dgm:prSet presAssocID="{81F28A41-3CDE-4062-A507-679A1FB6725B}" presName="parentText" presStyleLbl="alignNode1" presStyleIdx="4" presStyleCnt="5">
        <dgm:presLayoutVars>
          <dgm:chMax val="1"/>
          <dgm:bulletEnabled val="1"/>
        </dgm:presLayoutVars>
      </dgm:prSet>
      <dgm:spPr/>
    </dgm:pt>
    <dgm:pt modelId="{25B04A7F-920C-454F-BB75-FD6E48F42E45}" type="pres">
      <dgm:prSet presAssocID="{81F28A41-3CDE-4062-A507-679A1FB6725B}" presName="descendantText" presStyleLbl="alignAcc1" presStyleIdx="4" presStyleCnt="5">
        <dgm:presLayoutVars>
          <dgm:bulletEnabled val="1"/>
        </dgm:presLayoutVars>
      </dgm:prSet>
      <dgm:spPr/>
    </dgm:pt>
  </dgm:ptLst>
  <dgm:cxnLst>
    <dgm:cxn modelId="{DCBE6402-18C6-45A5-9734-CE9337B10824}" type="presOf" srcId="{4418A05F-8845-4971-81B2-555DCEFEC916}" destId="{F05F49B7-E57A-4430-8446-DFC1C1F638EA}" srcOrd="0" destOrd="1" presId="urn:microsoft.com/office/officeart/2005/8/layout/chevron2"/>
    <dgm:cxn modelId="{1BEBA603-8B7C-43F9-A329-1DC27EF759C2}" srcId="{B5F91042-3D4C-40B5-A59D-37D347FAF613}" destId="{6BF78014-5564-4F58-8D02-EED6BA78D9D1}" srcOrd="0" destOrd="0" parTransId="{4F8350E0-3D4E-485C-BDC4-45A2576F7E9F}" sibTransId="{B21914F1-0861-4610-95E2-985746DF7A0C}"/>
    <dgm:cxn modelId="{13D7F10A-5153-4B84-B2E1-F7A35690A8BF}" type="presOf" srcId="{08BF887D-4E4A-497E-A69B-D5C1B0980EC2}" destId="{1E631251-D50F-4103-BFBF-990C9568DF11}" srcOrd="0" destOrd="0" presId="urn:microsoft.com/office/officeart/2005/8/layout/chevron2"/>
    <dgm:cxn modelId="{3102010D-BD9B-476A-934F-D89FABE5BD58}" srcId="{375F7198-1050-4880-B9ED-60FFBFF40057}" destId="{0493E1E7-2C11-4F56-929F-3B8CC3C67E5B}" srcOrd="1" destOrd="0" parTransId="{98B225A0-1E5C-4F99-9523-3CCAE892809F}" sibTransId="{45D0FDDC-BDD0-49F4-888E-A50FEBC067AE}"/>
    <dgm:cxn modelId="{0A28101B-4E6C-4EDA-9F2E-0F1CD442D4F2}" srcId="{81F28A41-3CDE-4062-A507-679A1FB6725B}" destId="{9A6B563A-45F3-42DA-A136-5A5DFDD24D8D}" srcOrd="1" destOrd="0" parTransId="{806609BC-E7DA-4640-9F8D-DAA7BC027258}" sibTransId="{E4C635E7-ED51-4ADE-A9E7-AEC54C1F6FAC}"/>
    <dgm:cxn modelId="{872F4726-2B2A-4ED7-B6B3-54E7BF7C8192}" type="presOf" srcId="{0493E1E7-2C11-4F56-929F-3B8CC3C67E5B}" destId="{209C89DD-2555-4ACD-B62E-C40608D078AF}" srcOrd="0" destOrd="1" presId="urn:microsoft.com/office/officeart/2005/8/layout/chevron2"/>
    <dgm:cxn modelId="{AE211433-B65A-4B7E-84A4-33A3204794B9}" srcId="{A497AAF4-4166-44F3-B41D-7ADF125095AC}" destId="{2582BC46-E232-481A-9C06-FAFE940F83BB}" srcOrd="0" destOrd="0" parTransId="{968288CC-8935-4A0A-BA6E-4B70FA7E8AD6}" sibTransId="{5604CB5C-22D8-43F3-AA78-52C2BC39FAE4}"/>
    <dgm:cxn modelId="{D2D64C36-CA47-4310-8D1C-CF03D55DA9A7}" type="presOf" srcId="{A497AAF4-4166-44F3-B41D-7ADF125095AC}" destId="{20FCF45B-FD2D-4245-AC5E-28807BE00CBF}" srcOrd="0" destOrd="0" presId="urn:microsoft.com/office/officeart/2005/8/layout/chevron2"/>
    <dgm:cxn modelId="{7D94275B-DA36-4465-BB97-5094C25A3497}" type="presOf" srcId="{375F7198-1050-4880-B9ED-60FFBFF40057}" destId="{E7E0AF17-56E0-410F-9CE5-0C1A889F3C58}" srcOrd="0" destOrd="0" presId="urn:microsoft.com/office/officeart/2005/8/layout/chevron2"/>
    <dgm:cxn modelId="{1EBC4B42-BC43-4F22-B97E-9C1856F9340A}" type="presOf" srcId="{B5F91042-3D4C-40B5-A59D-37D347FAF613}" destId="{9AEABF67-0F5F-4110-AEBC-7EC940420F45}" srcOrd="0" destOrd="0" presId="urn:microsoft.com/office/officeart/2005/8/layout/chevron2"/>
    <dgm:cxn modelId="{4D859967-BD2B-46B4-9F29-FB5EFB57F662}" type="presOf" srcId="{6BF78014-5564-4F58-8D02-EED6BA78D9D1}" destId="{E638C40D-F786-40C7-81A9-EFB374C2939C}" srcOrd="0" destOrd="0" presId="urn:microsoft.com/office/officeart/2005/8/layout/chevron2"/>
    <dgm:cxn modelId="{51EFC668-5977-4942-A8CF-FB3F5585773B}" type="presOf" srcId="{76F97C03-08B4-49C4-8B06-12C8E94081CB}" destId="{F05F49B7-E57A-4430-8446-DFC1C1F638EA}" srcOrd="0" destOrd="0" presId="urn:microsoft.com/office/officeart/2005/8/layout/chevron2"/>
    <dgm:cxn modelId="{84A7264C-3779-4878-943E-83C84F4E2509}" srcId="{81F28A41-3CDE-4062-A507-679A1FB6725B}" destId="{660A4060-3333-43F6-BC5E-E905E36D7558}" srcOrd="0" destOrd="0" parTransId="{32106AA9-1C2F-4B09-BB03-0B81BCB38834}" sibTransId="{D557D483-8912-40FB-9207-BB2B84D796EB}"/>
    <dgm:cxn modelId="{3A672070-EFDE-45B9-B0A1-126767FF209A}" srcId="{2582BC46-E232-481A-9C06-FAFE940F83BB}" destId="{4418A05F-8845-4971-81B2-555DCEFEC916}" srcOrd="1" destOrd="0" parTransId="{3A45CF0A-9714-4643-89FF-CAE003F6C5CD}" sibTransId="{E85CBD41-9A1A-4DBE-93C1-EFAB7A4CABE3}"/>
    <dgm:cxn modelId="{36004170-280A-4163-BB8A-03B33DD00930}" srcId="{A497AAF4-4166-44F3-B41D-7ADF125095AC}" destId="{81F28A41-3CDE-4062-A507-679A1FB6725B}" srcOrd="4" destOrd="0" parTransId="{34E8A72B-1FA3-4682-BFDD-E49E171BB337}" sibTransId="{A6CC9332-D532-4E59-8AC8-C73B2F5376E9}"/>
    <dgm:cxn modelId="{2F40C074-B3F1-4D1B-985B-87B3B1DA8598}" srcId="{08BF887D-4E4A-497E-A69B-D5C1B0980EC2}" destId="{10DB8F95-506B-4B58-ABDE-07B6CE8E6251}" srcOrd="1" destOrd="0" parTransId="{970D5377-BE29-40B6-B359-45B41A618CCA}" sibTransId="{5816503D-1A72-4825-9214-ECE1D002201E}"/>
    <dgm:cxn modelId="{9F9C9E78-0454-4143-91E8-8B2C86A87B6D}" srcId="{2582BC46-E232-481A-9C06-FAFE940F83BB}" destId="{76F97C03-08B4-49C4-8B06-12C8E94081CB}" srcOrd="0" destOrd="0" parTransId="{60E169D8-B51E-42DF-B77E-D6245AE7CA8A}" sibTransId="{133AFC37-175C-4F10-94F6-42B0287E34BC}"/>
    <dgm:cxn modelId="{5FDAE67A-B868-47DA-A9FF-A2C93D42AA6E}" srcId="{A497AAF4-4166-44F3-B41D-7ADF125095AC}" destId="{B5F91042-3D4C-40B5-A59D-37D347FAF613}" srcOrd="3" destOrd="0" parTransId="{A0FFC2BB-C4E5-40CA-8AEA-13D296EB04A5}" sibTransId="{3E3E2FD2-6DB9-4811-8965-1ADB43ABDC0D}"/>
    <dgm:cxn modelId="{AB4E1385-1F7F-4981-974E-D516124FE16B}" type="presOf" srcId="{04EAA028-CA75-441D-9AC3-0A127377751A}" destId="{209C89DD-2555-4ACD-B62E-C40608D078AF}" srcOrd="0" destOrd="0" presId="urn:microsoft.com/office/officeart/2005/8/layout/chevron2"/>
    <dgm:cxn modelId="{638B4294-D295-4F1C-A4C6-7ABD9F09555B}" type="presOf" srcId="{81F28A41-3CDE-4062-A507-679A1FB6725B}" destId="{16F7BE88-8E8A-4CFD-80F2-89CD3B9C1FAE}" srcOrd="0" destOrd="0" presId="urn:microsoft.com/office/officeart/2005/8/layout/chevron2"/>
    <dgm:cxn modelId="{0D16009E-7F57-45D8-B703-B132607BE687}" type="presOf" srcId="{10DB8F95-506B-4B58-ABDE-07B6CE8E6251}" destId="{84D39791-37A5-4786-8C16-C3F8789281C3}" srcOrd="0" destOrd="1" presId="urn:microsoft.com/office/officeart/2005/8/layout/chevron2"/>
    <dgm:cxn modelId="{CA791FA1-7E16-4BF3-A9CF-9E5F32F7CBBB}" type="presOf" srcId="{65BBF56F-CBDD-427F-9FC5-A6ECD6B999BA}" destId="{E638C40D-F786-40C7-81A9-EFB374C2939C}" srcOrd="0" destOrd="1" presId="urn:microsoft.com/office/officeart/2005/8/layout/chevron2"/>
    <dgm:cxn modelId="{BBD23DA8-3835-4DA3-9CAB-5B28F9518FA1}" type="presOf" srcId="{845ACA10-77CD-455C-A5A0-A46BDA813DCF}" destId="{84D39791-37A5-4786-8C16-C3F8789281C3}" srcOrd="0" destOrd="0" presId="urn:microsoft.com/office/officeart/2005/8/layout/chevron2"/>
    <dgm:cxn modelId="{67FBF3AA-9A4E-48C1-81F6-08AD2DE76BF7}" srcId="{B5F91042-3D4C-40B5-A59D-37D347FAF613}" destId="{65BBF56F-CBDD-427F-9FC5-A6ECD6B999BA}" srcOrd="1" destOrd="0" parTransId="{03EB6E6F-0BD6-469A-9633-4FDAE9E522A5}" sibTransId="{C216FA31-672F-46C4-8BFE-979417FE4617}"/>
    <dgm:cxn modelId="{A8592DBB-9124-4DED-A7B7-A086AB7A7EF3}" type="presOf" srcId="{9A6B563A-45F3-42DA-A136-5A5DFDD24D8D}" destId="{25B04A7F-920C-454F-BB75-FD6E48F42E45}" srcOrd="0" destOrd="1" presId="urn:microsoft.com/office/officeart/2005/8/layout/chevron2"/>
    <dgm:cxn modelId="{F822C9C3-482F-45A2-B1B4-E9C15368DC01}" srcId="{A497AAF4-4166-44F3-B41D-7ADF125095AC}" destId="{375F7198-1050-4880-B9ED-60FFBFF40057}" srcOrd="2" destOrd="0" parTransId="{EAD3F313-425F-4728-8142-F19678097E9F}" sibTransId="{406BFB44-E643-4C9A-BCE5-57CDF290F933}"/>
    <dgm:cxn modelId="{4C393BC5-74A3-45C9-8487-B451C90E21FF}" srcId="{08BF887D-4E4A-497E-A69B-D5C1B0980EC2}" destId="{845ACA10-77CD-455C-A5A0-A46BDA813DCF}" srcOrd="0" destOrd="0" parTransId="{AAA1BCE0-3534-407A-9016-FDCAF9F6637E}" sibTransId="{32C215D3-C479-49EC-BC0E-8881E7DDEC48}"/>
    <dgm:cxn modelId="{A2E5D9D7-5A33-48C9-A989-D42E74DB0566}" type="presOf" srcId="{660A4060-3333-43F6-BC5E-E905E36D7558}" destId="{25B04A7F-920C-454F-BB75-FD6E48F42E45}" srcOrd="0" destOrd="0" presId="urn:microsoft.com/office/officeart/2005/8/layout/chevron2"/>
    <dgm:cxn modelId="{071853F3-207D-4779-A4E4-00F0C6E6CB2C}" srcId="{375F7198-1050-4880-B9ED-60FFBFF40057}" destId="{04EAA028-CA75-441D-9AC3-0A127377751A}" srcOrd="0" destOrd="0" parTransId="{8E195479-2187-4686-8CE6-4542CB5B0A75}" sibTransId="{F70BB797-3591-46D5-A26A-9D84484ABD74}"/>
    <dgm:cxn modelId="{892CE4F3-E71F-4191-9C9F-E4F093E8E666}" srcId="{A497AAF4-4166-44F3-B41D-7ADF125095AC}" destId="{08BF887D-4E4A-497E-A69B-D5C1B0980EC2}" srcOrd="1" destOrd="0" parTransId="{DEE623BC-EC9B-4101-9022-388C1C18DDFC}" sibTransId="{BC7F0093-1191-488E-9211-CFFF45C4B3AC}"/>
    <dgm:cxn modelId="{FFAF93FB-D50F-41D3-A5BE-170F9F281463}" type="presOf" srcId="{2582BC46-E232-481A-9C06-FAFE940F83BB}" destId="{7EEAEA3C-198E-4428-91F5-5D40AC471D03}" srcOrd="0" destOrd="0" presId="urn:microsoft.com/office/officeart/2005/8/layout/chevron2"/>
    <dgm:cxn modelId="{51D927CC-49BA-47F1-990E-5998F35EEB03}" type="presParOf" srcId="{20FCF45B-FD2D-4245-AC5E-28807BE00CBF}" destId="{BDEFE608-7C6C-4FBD-BA4B-D68EA71E3677}" srcOrd="0" destOrd="0" presId="urn:microsoft.com/office/officeart/2005/8/layout/chevron2"/>
    <dgm:cxn modelId="{12DEA46C-07E1-4372-A837-F5407B304211}" type="presParOf" srcId="{BDEFE608-7C6C-4FBD-BA4B-D68EA71E3677}" destId="{7EEAEA3C-198E-4428-91F5-5D40AC471D03}" srcOrd="0" destOrd="0" presId="urn:microsoft.com/office/officeart/2005/8/layout/chevron2"/>
    <dgm:cxn modelId="{5930B324-D51E-4E9E-83C2-C4FF93874CF4}" type="presParOf" srcId="{BDEFE608-7C6C-4FBD-BA4B-D68EA71E3677}" destId="{F05F49B7-E57A-4430-8446-DFC1C1F638EA}" srcOrd="1" destOrd="0" presId="urn:microsoft.com/office/officeart/2005/8/layout/chevron2"/>
    <dgm:cxn modelId="{C4850FF5-D1FC-4E3E-846C-454BBED76420}" type="presParOf" srcId="{20FCF45B-FD2D-4245-AC5E-28807BE00CBF}" destId="{FDAA26FA-2F38-4C34-8837-5D578CEB621B}" srcOrd="1" destOrd="0" presId="urn:microsoft.com/office/officeart/2005/8/layout/chevron2"/>
    <dgm:cxn modelId="{3E83F4E6-3214-4C86-BCEB-EC63DBD197D3}" type="presParOf" srcId="{20FCF45B-FD2D-4245-AC5E-28807BE00CBF}" destId="{BF661CA9-1358-41AA-83EA-EBB25BC901D9}" srcOrd="2" destOrd="0" presId="urn:microsoft.com/office/officeart/2005/8/layout/chevron2"/>
    <dgm:cxn modelId="{FD49A833-DB57-4EEE-9399-10EAE18FF371}" type="presParOf" srcId="{BF661CA9-1358-41AA-83EA-EBB25BC901D9}" destId="{1E631251-D50F-4103-BFBF-990C9568DF11}" srcOrd="0" destOrd="0" presId="urn:microsoft.com/office/officeart/2005/8/layout/chevron2"/>
    <dgm:cxn modelId="{068F2E9D-62E8-4027-91DB-46CA2597F9C6}" type="presParOf" srcId="{BF661CA9-1358-41AA-83EA-EBB25BC901D9}" destId="{84D39791-37A5-4786-8C16-C3F8789281C3}" srcOrd="1" destOrd="0" presId="urn:microsoft.com/office/officeart/2005/8/layout/chevron2"/>
    <dgm:cxn modelId="{1ED15FD6-A24F-4928-BFC8-0AAF670D808F}" type="presParOf" srcId="{20FCF45B-FD2D-4245-AC5E-28807BE00CBF}" destId="{D4F0E12F-8F4F-484E-A59C-62B02BC895E1}" srcOrd="3" destOrd="0" presId="urn:microsoft.com/office/officeart/2005/8/layout/chevron2"/>
    <dgm:cxn modelId="{66209EA3-7D67-49E1-8822-58FB00611F08}" type="presParOf" srcId="{20FCF45B-FD2D-4245-AC5E-28807BE00CBF}" destId="{26B34F77-E883-4215-897A-87EB0CB9D032}" srcOrd="4" destOrd="0" presId="urn:microsoft.com/office/officeart/2005/8/layout/chevron2"/>
    <dgm:cxn modelId="{04197162-20AD-435C-986B-D5D3625876AC}" type="presParOf" srcId="{26B34F77-E883-4215-897A-87EB0CB9D032}" destId="{E7E0AF17-56E0-410F-9CE5-0C1A889F3C58}" srcOrd="0" destOrd="0" presId="urn:microsoft.com/office/officeart/2005/8/layout/chevron2"/>
    <dgm:cxn modelId="{F1873962-70AA-4619-A484-EAA17B6050C0}" type="presParOf" srcId="{26B34F77-E883-4215-897A-87EB0CB9D032}" destId="{209C89DD-2555-4ACD-B62E-C40608D078AF}" srcOrd="1" destOrd="0" presId="urn:microsoft.com/office/officeart/2005/8/layout/chevron2"/>
    <dgm:cxn modelId="{EF799CC1-0F14-440E-9FF5-A28EFB8F585A}" type="presParOf" srcId="{20FCF45B-FD2D-4245-AC5E-28807BE00CBF}" destId="{4F1E35CF-4133-44FB-9FF6-2D00E3F7D646}" srcOrd="5" destOrd="0" presId="urn:microsoft.com/office/officeart/2005/8/layout/chevron2"/>
    <dgm:cxn modelId="{BF5ABDF4-0E16-4413-AFA5-28CD37946EC2}" type="presParOf" srcId="{20FCF45B-FD2D-4245-AC5E-28807BE00CBF}" destId="{37F3C621-476D-4DC1-BEDC-40F6B982196B}" srcOrd="6" destOrd="0" presId="urn:microsoft.com/office/officeart/2005/8/layout/chevron2"/>
    <dgm:cxn modelId="{998AFD77-5957-42F7-B006-230AB578667D}" type="presParOf" srcId="{37F3C621-476D-4DC1-BEDC-40F6B982196B}" destId="{9AEABF67-0F5F-4110-AEBC-7EC940420F45}" srcOrd="0" destOrd="0" presId="urn:microsoft.com/office/officeart/2005/8/layout/chevron2"/>
    <dgm:cxn modelId="{866FA3FD-543B-4085-9AAB-1FB5687CDED5}" type="presParOf" srcId="{37F3C621-476D-4DC1-BEDC-40F6B982196B}" destId="{E638C40D-F786-40C7-81A9-EFB374C2939C}" srcOrd="1" destOrd="0" presId="urn:microsoft.com/office/officeart/2005/8/layout/chevron2"/>
    <dgm:cxn modelId="{50C8D347-CAA5-4C56-9C2B-A019D93E80A0}" type="presParOf" srcId="{20FCF45B-FD2D-4245-AC5E-28807BE00CBF}" destId="{624A2994-783A-4726-BA71-6808676B3382}" srcOrd="7" destOrd="0" presId="urn:microsoft.com/office/officeart/2005/8/layout/chevron2"/>
    <dgm:cxn modelId="{7C1121EE-2995-4D48-A434-638494349B0C}" type="presParOf" srcId="{20FCF45B-FD2D-4245-AC5E-28807BE00CBF}" destId="{CEDBFA2F-9A53-4185-8C68-4FE1003BE6D9}" srcOrd="8" destOrd="0" presId="urn:microsoft.com/office/officeart/2005/8/layout/chevron2"/>
    <dgm:cxn modelId="{DB389A79-A1ED-4BCB-BB59-87C5BCE0CFBE}" type="presParOf" srcId="{CEDBFA2F-9A53-4185-8C68-4FE1003BE6D9}" destId="{16F7BE88-8E8A-4CFD-80F2-89CD3B9C1FAE}" srcOrd="0" destOrd="0" presId="urn:microsoft.com/office/officeart/2005/8/layout/chevron2"/>
    <dgm:cxn modelId="{62292164-97C8-4476-895F-BD3A7D7836A9}" type="presParOf" srcId="{CEDBFA2F-9A53-4185-8C68-4FE1003BE6D9}" destId="{25B04A7F-920C-454F-BB75-FD6E48F42E45}"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52100C8-DE46-4AA0-81C6-255B835B5DC9}" type="doc">
      <dgm:prSet loTypeId="urn:microsoft.com/office/officeart/2005/8/layout/process3" loCatId="process" qsTypeId="urn:microsoft.com/office/officeart/2005/8/quickstyle/simple5#5" qsCatId="simple" csTypeId="urn:microsoft.com/office/officeart/2005/8/colors/accent1_2#2" csCatId="accent1" phldr="1"/>
      <dgm:spPr/>
      <dgm:t>
        <a:bodyPr/>
        <a:lstStyle/>
        <a:p>
          <a:endParaRPr lang="en-US"/>
        </a:p>
      </dgm:t>
    </dgm:pt>
    <dgm:pt modelId="{D76E9974-C6F8-40F5-8DC1-9292E56590B2}">
      <dgm:prSet/>
      <dgm:spPr/>
      <dgm:t>
        <a:bodyPr/>
        <a:lstStyle/>
        <a:p>
          <a:r>
            <a:rPr lang="en-US">
              <a:latin typeface="Times New Roman" panose="02020603050405020304" pitchFamily="18" charset="0"/>
              <a:cs typeface="Times New Roman" panose="02020603050405020304" pitchFamily="18" charset="0"/>
            </a:rPr>
            <a:t>Asynchronous FIFO</a:t>
          </a:r>
          <a:endParaRPr lang="en-US" dirty="0">
            <a:latin typeface="Times New Roman" panose="02020603050405020304" pitchFamily="18" charset="0"/>
            <a:cs typeface="Times New Roman" panose="02020603050405020304" pitchFamily="18" charset="0"/>
          </a:endParaRPr>
        </a:p>
      </dgm:t>
    </dgm:pt>
    <dgm:pt modelId="{CA0DF663-6B29-432F-A07C-23788B8F895F}" type="parTrans" cxnId="{8723C2CC-92E4-4B68-BF54-AE5FE44EABDD}">
      <dgm:prSet/>
      <dgm:spPr/>
      <dgm:t>
        <a:bodyPr/>
        <a:lstStyle/>
        <a:p>
          <a:endParaRPr lang="en-US"/>
        </a:p>
      </dgm:t>
    </dgm:pt>
    <dgm:pt modelId="{FA208C1A-281A-4345-BC7A-2F9CE7969FB0}" type="sibTrans" cxnId="{8723C2CC-92E4-4B68-BF54-AE5FE44EABDD}">
      <dgm:prSet/>
      <dgm:spPr/>
      <dgm:t>
        <a:bodyPr/>
        <a:lstStyle/>
        <a:p>
          <a:endParaRPr lang="en-US"/>
        </a:p>
      </dgm:t>
    </dgm:pt>
    <dgm:pt modelId="{CF5EAFF3-8806-4657-8B01-6DD15DF7330C}">
      <dgm:prSet custT="1"/>
      <dgm:spPr/>
      <dgm:t>
        <a:bodyPr/>
        <a:lstStyle/>
        <a:p>
          <a:r>
            <a:rPr lang="en-US" sz="1200">
              <a:latin typeface="Times New Roman" panose="02020603050405020304" pitchFamily="18" charset="0"/>
              <a:cs typeface="Times New Roman" panose="02020603050405020304" pitchFamily="18" charset="0"/>
            </a:rPr>
            <a:t>Safe transfer of 32-bit TLP words from the 37 MHz CXS domain → 25 MHz System domain.</a:t>
          </a:r>
          <a:endParaRPr lang="en-US" sz="1200" dirty="0">
            <a:latin typeface="Times New Roman" panose="02020603050405020304" pitchFamily="18" charset="0"/>
            <a:cs typeface="Times New Roman" panose="02020603050405020304" pitchFamily="18" charset="0"/>
          </a:endParaRPr>
        </a:p>
      </dgm:t>
    </dgm:pt>
    <dgm:pt modelId="{7C434D0A-C1C6-42FA-8E38-741442CE01B5}" type="parTrans" cxnId="{C8BB076D-9F58-402B-A9B4-5C6323AE3EF3}">
      <dgm:prSet/>
      <dgm:spPr/>
      <dgm:t>
        <a:bodyPr/>
        <a:lstStyle/>
        <a:p>
          <a:endParaRPr lang="en-US"/>
        </a:p>
      </dgm:t>
    </dgm:pt>
    <dgm:pt modelId="{D8E53934-5D54-4FAC-9BF4-E2F15E79EA3B}" type="sibTrans" cxnId="{C8BB076D-9F58-402B-A9B4-5C6323AE3EF3}">
      <dgm:prSet/>
      <dgm:spPr/>
      <dgm:t>
        <a:bodyPr/>
        <a:lstStyle/>
        <a:p>
          <a:endParaRPr lang="en-US"/>
        </a:p>
      </dgm:t>
    </dgm:pt>
    <dgm:pt modelId="{8E5BE796-364C-4E68-9C33-5D4441F77362}">
      <dgm:prSet/>
      <dgm:spPr/>
      <dgm:t>
        <a:bodyPr/>
        <a:lstStyle/>
        <a:p>
          <a:r>
            <a:rPr lang="en-US">
              <a:latin typeface="Times New Roman" panose="02020603050405020304" pitchFamily="18" charset="0"/>
              <a:cs typeface="Times New Roman" panose="02020603050405020304" pitchFamily="18" charset="0"/>
            </a:rPr>
            <a:t>Toggle Synchronizer</a:t>
          </a:r>
          <a:endParaRPr lang="en-US" dirty="0">
            <a:latin typeface="Times New Roman" panose="02020603050405020304" pitchFamily="18" charset="0"/>
            <a:cs typeface="Times New Roman" panose="02020603050405020304" pitchFamily="18" charset="0"/>
          </a:endParaRPr>
        </a:p>
      </dgm:t>
    </dgm:pt>
    <dgm:pt modelId="{58AF6691-646C-4BF0-8DFF-A6DA90AB43D9}" type="parTrans" cxnId="{EBCA6866-E28E-4385-B7A5-D976106EFB63}">
      <dgm:prSet/>
      <dgm:spPr/>
      <dgm:t>
        <a:bodyPr/>
        <a:lstStyle/>
        <a:p>
          <a:endParaRPr lang="en-US"/>
        </a:p>
      </dgm:t>
    </dgm:pt>
    <dgm:pt modelId="{2E4D6E7F-982E-461D-9DA4-3803D974B061}" type="sibTrans" cxnId="{EBCA6866-E28E-4385-B7A5-D976106EFB63}">
      <dgm:prSet/>
      <dgm:spPr/>
      <dgm:t>
        <a:bodyPr/>
        <a:lstStyle/>
        <a:p>
          <a:endParaRPr lang="en-US"/>
        </a:p>
      </dgm:t>
    </dgm:pt>
    <dgm:pt modelId="{3D7B6D96-9DAC-4CCF-8286-FF49A63AE6F4}">
      <dgm:prSet custT="1"/>
      <dgm:spPr/>
      <dgm:t>
        <a:bodyPr/>
        <a:lstStyle/>
        <a:p>
          <a:pPr>
            <a:buSzPct val="100000"/>
            <a:buFont typeface="Arial" panose="020B0604020202020204" pitchFamily="34" charset="0"/>
            <a:buChar char="•"/>
          </a:pPr>
          <a:r>
            <a:rPr lang="en-US" sz="1200">
              <a:latin typeface="Times New Roman" panose="02020603050405020304" pitchFamily="18" charset="0"/>
              <a:cs typeface="Times New Roman" panose="02020603050405020304" pitchFamily="18" charset="0"/>
            </a:rPr>
            <a:t>Carries the one-cycle error pulse from the System domain → CXS domain.</a:t>
          </a:r>
          <a:endParaRPr lang="en-US" sz="1200" dirty="0">
            <a:latin typeface="Times New Roman" panose="02020603050405020304" pitchFamily="18" charset="0"/>
            <a:cs typeface="Times New Roman" panose="02020603050405020304" pitchFamily="18" charset="0"/>
          </a:endParaRPr>
        </a:p>
      </dgm:t>
    </dgm:pt>
    <dgm:pt modelId="{13274551-4495-43C2-8E13-E720094EC858}" type="parTrans" cxnId="{5FCDF906-BECF-45EB-8162-54CA183C4022}">
      <dgm:prSet/>
      <dgm:spPr/>
      <dgm:t>
        <a:bodyPr/>
        <a:lstStyle/>
        <a:p>
          <a:endParaRPr lang="en-US"/>
        </a:p>
      </dgm:t>
    </dgm:pt>
    <dgm:pt modelId="{478B2097-5ED7-460D-94F1-F06571788A07}" type="sibTrans" cxnId="{5FCDF906-BECF-45EB-8162-54CA183C4022}">
      <dgm:prSet/>
      <dgm:spPr/>
      <dgm:t>
        <a:bodyPr/>
        <a:lstStyle/>
        <a:p>
          <a:endParaRPr lang="en-US"/>
        </a:p>
      </dgm:t>
    </dgm:pt>
    <dgm:pt modelId="{50880755-5091-4AD2-A8D3-64EAB9152FF8}">
      <dgm:prSet custT="1"/>
      <dgm:spPr/>
      <dgm:t>
        <a:bodyPr/>
        <a:lstStyle/>
        <a:p>
          <a:r>
            <a:rPr lang="en-US" sz="1200">
              <a:latin typeface="Times New Roman" panose="02020603050405020304" pitchFamily="18" charset="0"/>
              <a:cs typeface="Times New Roman" panose="02020603050405020304" pitchFamily="18" charset="0"/>
            </a:rPr>
            <a:t>Depth 8, Gray-coded read/write pointers</a:t>
          </a:r>
          <a:endParaRPr lang="en-US" sz="1200" dirty="0">
            <a:latin typeface="Times New Roman" panose="02020603050405020304" pitchFamily="18" charset="0"/>
            <a:cs typeface="Times New Roman" panose="02020603050405020304" pitchFamily="18" charset="0"/>
          </a:endParaRPr>
        </a:p>
      </dgm:t>
    </dgm:pt>
    <dgm:pt modelId="{23755F8D-E2F3-48D0-B86C-88A94028440B}" type="sibTrans" cxnId="{4C4C19F2-180A-4E90-91F8-A45A2CD2D889}">
      <dgm:prSet/>
      <dgm:spPr/>
      <dgm:t>
        <a:bodyPr/>
        <a:lstStyle/>
        <a:p>
          <a:endParaRPr lang="en-US"/>
        </a:p>
      </dgm:t>
    </dgm:pt>
    <dgm:pt modelId="{CCAFF2C8-3C01-4FFC-B7B8-5646CE37D1B2}" type="parTrans" cxnId="{4C4C19F2-180A-4E90-91F8-A45A2CD2D889}">
      <dgm:prSet/>
      <dgm:spPr/>
      <dgm:t>
        <a:bodyPr/>
        <a:lstStyle/>
        <a:p>
          <a:endParaRPr lang="en-US"/>
        </a:p>
      </dgm:t>
    </dgm:pt>
    <dgm:pt modelId="{3A2A51C6-4610-4C41-99E6-8E617126F043}">
      <dgm:prSet custT="1"/>
      <dgm:spPr/>
      <dgm:t>
        <a:bodyPr/>
        <a:lstStyle/>
        <a:p>
          <a:r>
            <a:rPr lang="en-US" sz="1200">
              <a:latin typeface="Times New Roman" panose="02020603050405020304" pitchFamily="18" charset="0"/>
              <a:cs typeface="Times New Roman" panose="02020603050405020304" pitchFamily="18" charset="0"/>
            </a:rPr>
            <a:t>2-FF pointer synchronizers; full/empty generated in their own domains</a:t>
          </a:r>
          <a:endParaRPr lang="en-US" sz="1200" dirty="0">
            <a:latin typeface="Times New Roman" panose="02020603050405020304" pitchFamily="18" charset="0"/>
            <a:cs typeface="Times New Roman" panose="02020603050405020304" pitchFamily="18" charset="0"/>
          </a:endParaRPr>
        </a:p>
      </dgm:t>
    </dgm:pt>
    <dgm:pt modelId="{C69837C6-5D59-4F51-BF55-C9168BEC3F02}" type="sibTrans" cxnId="{1A6278E7-EEAE-49AA-85CE-F4A3F1961D4F}">
      <dgm:prSet/>
      <dgm:spPr/>
      <dgm:t>
        <a:bodyPr/>
        <a:lstStyle/>
        <a:p>
          <a:endParaRPr lang="en-US"/>
        </a:p>
      </dgm:t>
    </dgm:pt>
    <dgm:pt modelId="{5478249C-3F98-4411-9716-8B15D0A45A0D}" type="parTrans" cxnId="{1A6278E7-EEAE-49AA-85CE-F4A3F1961D4F}">
      <dgm:prSet/>
      <dgm:spPr/>
      <dgm:t>
        <a:bodyPr/>
        <a:lstStyle/>
        <a:p>
          <a:endParaRPr lang="en-US"/>
        </a:p>
      </dgm:t>
    </dgm:pt>
    <dgm:pt modelId="{8E3C9265-EA39-413D-BDA3-94BF5AB184DE}">
      <dgm:prSet custT="1"/>
      <dgm:spPr/>
      <dgm:t>
        <a:bodyPr/>
        <a:lstStyle/>
        <a:p>
          <a:r>
            <a:rPr lang="en-US" sz="1200">
              <a:latin typeface="Times New Roman" panose="02020603050405020304" pitchFamily="18" charset="0"/>
              <a:cs typeface="Times New Roman" panose="02020603050405020304" pitchFamily="18" charset="0"/>
            </a:rPr>
            <a:t>Prevents data loss between different clock rates</a:t>
          </a:r>
          <a:endParaRPr lang="en-US" sz="1200" dirty="0">
            <a:latin typeface="Times New Roman" panose="02020603050405020304" pitchFamily="18" charset="0"/>
            <a:cs typeface="Times New Roman" panose="02020603050405020304" pitchFamily="18" charset="0"/>
          </a:endParaRPr>
        </a:p>
      </dgm:t>
    </dgm:pt>
    <dgm:pt modelId="{89B84D0B-EB47-4F53-BBD7-5A5E8B90D483}" type="sibTrans" cxnId="{A3A04720-6117-4162-A750-D8F594E02719}">
      <dgm:prSet/>
      <dgm:spPr/>
      <dgm:t>
        <a:bodyPr/>
        <a:lstStyle/>
        <a:p>
          <a:endParaRPr lang="en-US"/>
        </a:p>
      </dgm:t>
    </dgm:pt>
    <dgm:pt modelId="{95ED1A9E-A3F6-4DA3-9373-8DC466F279B6}" type="parTrans" cxnId="{A3A04720-6117-4162-A750-D8F594E02719}">
      <dgm:prSet/>
      <dgm:spPr/>
      <dgm:t>
        <a:bodyPr/>
        <a:lstStyle/>
        <a:p>
          <a:endParaRPr lang="en-US"/>
        </a:p>
      </dgm:t>
    </dgm:pt>
    <dgm:pt modelId="{4D80C65D-06EE-44F7-93DC-881436859C63}">
      <dgm:prSet custT="1"/>
      <dgm:spPr/>
      <dgm:t>
        <a:bodyPr/>
        <a:lstStyle/>
        <a:p>
          <a:pPr>
            <a:buFont typeface="Arial" panose="020B0604020202020204" pitchFamily="34" charset="0"/>
            <a:buChar char="•"/>
          </a:pPr>
          <a:r>
            <a:rPr lang="en-US" sz="1200">
              <a:latin typeface="Times New Roman" panose="02020603050405020304" pitchFamily="18" charset="0"/>
              <a:cs typeface="Times New Roman" panose="02020603050405020304" pitchFamily="18" charset="0"/>
            </a:rPr>
            <a:t>Pulse → toggle flop → 2-FF synchronizer → edge detect</a:t>
          </a:r>
          <a:endParaRPr lang="en-US" sz="1200" dirty="0">
            <a:latin typeface="Times New Roman" panose="02020603050405020304" pitchFamily="18" charset="0"/>
            <a:cs typeface="Times New Roman" panose="02020603050405020304" pitchFamily="18" charset="0"/>
          </a:endParaRPr>
        </a:p>
      </dgm:t>
    </dgm:pt>
    <dgm:pt modelId="{3DB4B65B-DBA6-4D9D-9BC2-6FB9EB7C06DD}" type="parTrans" cxnId="{8E3809BA-B37C-489B-99FF-59DB3D73B909}">
      <dgm:prSet/>
      <dgm:spPr/>
      <dgm:t>
        <a:bodyPr/>
        <a:lstStyle/>
        <a:p>
          <a:endParaRPr lang="en-US"/>
        </a:p>
      </dgm:t>
    </dgm:pt>
    <dgm:pt modelId="{147E6983-BC71-419C-A7E2-585FCF7DB94E}" type="sibTrans" cxnId="{8E3809BA-B37C-489B-99FF-59DB3D73B909}">
      <dgm:prSet/>
      <dgm:spPr/>
      <dgm:t>
        <a:bodyPr/>
        <a:lstStyle/>
        <a:p>
          <a:endParaRPr lang="en-US"/>
        </a:p>
      </dgm:t>
    </dgm:pt>
    <dgm:pt modelId="{879D7B82-FDDC-4430-B83E-163F6210733A}">
      <dgm:prSet custT="1"/>
      <dgm:spPr/>
      <dgm:t>
        <a:bodyPr/>
        <a:lstStyle/>
        <a:p>
          <a:pPr>
            <a:buFont typeface="Arial" panose="020B0604020202020204" pitchFamily="34" charset="0"/>
            <a:buChar char="•"/>
          </a:pPr>
          <a:r>
            <a:rPr lang="en-US" sz="1200">
              <a:latin typeface="Times New Roman" panose="02020603050405020304" pitchFamily="18" charset="0"/>
              <a:cs typeface="Times New Roman" panose="02020603050405020304" pitchFamily="18" charset="0"/>
            </a:rPr>
            <a:t>Error code held stable, so the encoder samples it safely</a:t>
          </a:r>
          <a:endParaRPr lang="en-US" sz="1200" dirty="0">
            <a:latin typeface="Times New Roman" panose="02020603050405020304" pitchFamily="18" charset="0"/>
            <a:cs typeface="Times New Roman" panose="02020603050405020304" pitchFamily="18" charset="0"/>
          </a:endParaRPr>
        </a:p>
      </dgm:t>
    </dgm:pt>
    <dgm:pt modelId="{C9AE52EE-2877-49F9-9575-DF33EF87B9DA}" type="parTrans" cxnId="{4C149F5B-F835-46BA-A214-154311BD8B03}">
      <dgm:prSet/>
      <dgm:spPr/>
      <dgm:t>
        <a:bodyPr/>
        <a:lstStyle/>
        <a:p>
          <a:endParaRPr lang="en-US"/>
        </a:p>
      </dgm:t>
    </dgm:pt>
    <dgm:pt modelId="{766004B8-DE32-4533-9C41-58E7030BF68C}" type="sibTrans" cxnId="{4C149F5B-F835-46BA-A214-154311BD8B03}">
      <dgm:prSet/>
      <dgm:spPr/>
      <dgm:t>
        <a:bodyPr/>
        <a:lstStyle/>
        <a:p>
          <a:endParaRPr lang="en-US"/>
        </a:p>
      </dgm:t>
    </dgm:pt>
    <dgm:pt modelId="{54EA4E44-5E00-4520-B01F-801273F1DE65}" type="pres">
      <dgm:prSet presAssocID="{952100C8-DE46-4AA0-81C6-255B835B5DC9}" presName="linearFlow" presStyleCnt="0">
        <dgm:presLayoutVars>
          <dgm:dir/>
          <dgm:animLvl val="lvl"/>
          <dgm:resizeHandles val="exact"/>
        </dgm:presLayoutVars>
      </dgm:prSet>
      <dgm:spPr/>
    </dgm:pt>
    <dgm:pt modelId="{55E72F47-B327-46DB-A974-BEEC9EF00AB2}" type="pres">
      <dgm:prSet presAssocID="{D76E9974-C6F8-40F5-8DC1-9292E56590B2}" presName="composite" presStyleCnt="0"/>
      <dgm:spPr/>
    </dgm:pt>
    <dgm:pt modelId="{1103B58E-3C02-4A60-B1A4-734BF21BAC24}" type="pres">
      <dgm:prSet presAssocID="{D76E9974-C6F8-40F5-8DC1-9292E56590B2}" presName="parTx" presStyleLbl="node1" presStyleIdx="0" presStyleCnt="2">
        <dgm:presLayoutVars>
          <dgm:chMax val="0"/>
          <dgm:chPref val="0"/>
          <dgm:bulletEnabled val="1"/>
        </dgm:presLayoutVars>
      </dgm:prSet>
      <dgm:spPr/>
    </dgm:pt>
    <dgm:pt modelId="{E51C8D6F-EFB3-4DC0-BD9B-BBFD2E18D5C6}" type="pres">
      <dgm:prSet presAssocID="{D76E9974-C6F8-40F5-8DC1-9292E56590B2}" presName="parSh" presStyleLbl="node1" presStyleIdx="0" presStyleCnt="2"/>
      <dgm:spPr/>
    </dgm:pt>
    <dgm:pt modelId="{009BC3D3-CC39-45A2-B77B-68ABB4094C99}" type="pres">
      <dgm:prSet presAssocID="{D76E9974-C6F8-40F5-8DC1-9292E56590B2}" presName="desTx" presStyleLbl="fgAcc1" presStyleIdx="0" presStyleCnt="2">
        <dgm:presLayoutVars>
          <dgm:bulletEnabled val="1"/>
        </dgm:presLayoutVars>
      </dgm:prSet>
      <dgm:spPr/>
    </dgm:pt>
    <dgm:pt modelId="{A5C863C1-3E94-47FB-98C6-34B197FA4C7A}" type="pres">
      <dgm:prSet presAssocID="{FA208C1A-281A-4345-BC7A-2F9CE7969FB0}" presName="sibTrans" presStyleLbl="sibTrans2D1" presStyleIdx="0" presStyleCnt="1"/>
      <dgm:spPr/>
    </dgm:pt>
    <dgm:pt modelId="{D5DBA31F-CDD4-4765-9F19-BCE9D3E49259}" type="pres">
      <dgm:prSet presAssocID="{FA208C1A-281A-4345-BC7A-2F9CE7969FB0}" presName="connTx" presStyleLbl="sibTrans2D1" presStyleIdx="0" presStyleCnt="1"/>
      <dgm:spPr/>
    </dgm:pt>
    <dgm:pt modelId="{BF79C3FA-6460-467D-A747-1C033C0DCDD4}" type="pres">
      <dgm:prSet presAssocID="{8E5BE796-364C-4E68-9C33-5D4441F77362}" presName="composite" presStyleCnt="0"/>
      <dgm:spPr/>
    </dgm:pt>
    <dgm:pt modelId="{A89BD499-F8CE-4F5A-9BE3-FC8ADA2EBA4B}" type="pres">
      <dgm:prSet presAssocID="{8E5BE796-364C-4E68-9C33-5D4441F77362}" presName="parTx" presStyleLbl="node1" presStyleIdx="0" presStyleCnt="2">
        <dgm:presLayoutVars>
          <dgm:chMax val="0"/>
          <dgm:chPref val="0"/>
          <dgm:bulletEnabled val="1"/>
        </dgm:presLayoutVars>
      </dgm:prSet>
      <dgm:spPr/>
    </dgm:pt>
    <dgm:pt modelId="{083402C0-C91A-4AB2-BE0D-2DA7FD13F750}" type="pres">
      <dgm:prSet presAssocID="{8E5BE796-364C-4E68-9C33-5D4441F77362}" presName="parSh" presStyleLbl="node1" presStyleIdx="1" presStyleCnt="2"/>
      <dgm:spPr/>
    </dgm:pt>
    <dgm:pt modelId="{42BB05AA-495E-490B-A415-AA34521D721D}" type="pres">
      <dgm:prSet presAssocID="{8E5BE796-364C-4E68-9C33-5D4441F77362}" presName="desTx" presStyleLbl="fgAcc1" presStyleIdx="1" presStyleCnt="2">
        <dgm:presLayoutVars>
          <dgm:bulletEnabled val="1"/>
        </dgm:presLayoutVars>
      </dgm:prSet>
      <dgm:spPr/>
    </dgm:pt>
  </dgm:ptLst>
  <dgm:cxnLst>
    <dgm:cxn modelId="{8C10A503-6B22-4774-B3F0-6D18B74AF97C}" type="presOf" srcId="{879D7B82-FDDC-4430-B83E-163F6210733A}" destId="{42BB05AA-495E-490B-A415-AA34521D721D}" srcOrd="0" destOrd="2" presId="urn:microsoft.com/office/officeart/2005/8/layout/process3"/>
    <dgm:cxn modelId="{5FCDF906-BECF-45EB-8162-54CA183C4022}" srcId="{8E5BE796-364C-4E68-9C33-5D4441F77362}" destId="{3D7B6D96-9DAC-4CCF-8286-FF49A63AE6F4}" srcOrd="0" destOrd="0" parTransId="{13274551-4495-43C2-8E13-E720094EC858}" sibTransId="{478B2097-5ED7-460D-94F1-F06571788A07}"/>
    <dgm:cxn modelId="{C16D5113-9F02-4BF3-9642-3E0E35CAB526}" type="presOf" srcId="{FA208C1A-281A-4345-BC7A-2F9CE7969FB0}" destId="{A5C863C1-3E94-47FB-98C6-34B197FA4C7A}" srcOrd="0" destOrd="0" presId="urn:microsoft.com/office/officeart/2005/8/layout/process3"/>
    <dgm:cxn modelId="{88877C18-C0BA-48E9-824D-5DBBD8F3369C}" type="presOf" srcId="{FA208C1A-281A-4345-BC7A-2F9CE7969FB0}" destId="{D5DBA31F-CDD4-4765-9F19-BCE9D3E49259}" srcOrd="1" destOrd="0" presId="urn:microsoft.com/office/officeart/2005/8/layout/process3"/>
    <dgm:cxn modelId="{D0C61E1A-6232-40CB-96B8-5F0EA6608568}" type="presOf" srcId="{3A2A51C6-4610-4C41-99E6-8E617126F043}" destId="{009BC3D3-CC39-45A2-B77B-68ABB4094C99}" srcOrd="0" destOrd="2" presId="urn:microsoft.com/office/officeart/2005/8/layout/process3"/>
    <dgm:cxn modelId="{63A21F1D-95BF-4068-AFBA-D9A2EFFAD8CE}" type="presOf" srcId="{952100C8-DE46-4AA0-81C6-255B835B5DC9}" destId="{54EA4E44-5E00-4520-B01F-801273F1DE65}" srcOrd="0" destOrd="0" presId="urn:microsoft.com/office/officeart/2005/8/layout/process3"/>
    <dgm:cxn modelId="{A3A04720-6117-4162-A750-D8F594E02719}" srcId="{D76E9974-C6F8-40F5-8DC1-9292E56590B2}" destId="{8E3C9265-EA39-413D-BDA3-94BF5AB184DE}" srcOrd="3" destOrd="0" parTransId="{95ED1A9E-A3F6-4DA3-9373-8DC466F279B6}" sibTransId="{89B84D0B-EB47-4F53-BBD7-5A5E8B90D483}"/>
    <dgm:cxn modelId="{2B7A3D36-9EC1-4C75-B531-D65EABC18CB7}" type="presOf" srcId="{8E5BE796-364C-4E68-9C33-5D4441F77362}" destId="{A89BD499-F8CE-4F5A-9BE3-FC8ADA2EBA4B}" srcOrd="0" destOrd="0" presId="urn:microsoft.com/office/officeart/2005/8/layout/process3"/>
    <dgm:cxn modelId="{FD39A738-0F0C-4CB2-9BEF-C9AE5F256CDC}" type="presOf" srcId="{D76E9974-C6F8-40F5-8DC1-9292E56590B2}" destId="{E51C8D6F-EFB3-4DC0-BD9B-BBFD2E18D5C6}" srcOrd="1" destOrd="0" presId="urn:microsoft.com/office/officeart/2005/8/layout/process3"/>
    <dgm:cxn modelId="{4C149F5B-F835-46BA-A214-154311BD8B03}" srcId="{8E5BE796-364C-4E68-9C33-5D4441F77362}" destId="{879D7B82-FDDC-4430-B83E-163F6210733A}" srcOrd="2" destOrd="0" parTransId="{C9AE52EE-2877-49F9-9575-DF33EF87B9DA}" sibTransId="{766004B8-DE32-4533-9C41-58E7030BF68C}"/>
    <dgm:cxn modelId="{5650435C-9B59-4E7B-944F-C78A52E97770}" type="presOf" srcId="{50880755-5091-4AD2-A8D3-64EAB9152FF8}" destId="{009BC3D3-CC39-45A2-B77B-68ABB4094C99}" srcOrd="0" destOrd="1" presId="urn:microsoft.com/office/officeart/2005/8/layout/process3"/>
    <dgm:cxn modelId="{94464B41-1EFF-445F-9E5A-A8BC79F10BFD}" type="presOf" srcId="{CF5EAFF3-8806-4657-8B01-6DD15DF7330C}" destId="{009BC3D3-CC39-45A2-B77B-68ABB4094C99}" srcOrd="0" destOrd="0" presId="urn:microsoft.com/office/officeart/2005/8/layout/process3"/>
    <dgm:cxn modelId="{EBCA6866-E28E-4385-B7A5-D976106EFB63}" srcId="{952100C8-DE46-4AA0-81C6-255B835B5DC9}" destId="{8E5BE796-364C-4E68-9C33-5D4441F77362}" srcOrd="1" destOrd="0" parTransId="{58AF6691-646C-4BF0-8DFF-A6DA90AB43D9}" sibTransId="{2E4D6E7F-982E-461D-9DA4-3803D974B061}"/>
    <dgm:cxn modelId="{C8BB076D-9F58-402B-A9B4-5C6323AE3EF3}" srcId="{D76E9974-C6F8-40F5-8DC1-9292E56590B2}" destId="{CF5EAFF3-8806-4657-8B01-6DD15DF7330C}" srcOrd="0" destOrd="0" parTransId="{7C434D0A-C1C6-42FA-8E38-741442CE01B5}" sibTransId="{D8E53934-5D54-4FAC-9BF4-E2F15E79EA3B}"/>
    <dgm:cxn modelId="{42A8977F-4407-4563-954E-6674EC76B1EA}" type="presOf" srcId="{8E5BE796-364C-4E68-9C33-5D4441F77362}" destId="{083402C0-C91A-4AB2-BE0D-2DA7FD13F750}" srcOrd="1" destOrd="0" presId="urn:microsoft.com/office/officeart/2005/8/layout/process3"/>
    <dgm:cxn modelId="{55EC1D82-88AA-4DAE-B3D3-C1DDF075FA7B}" type="presOf" srcId="{8E3C9265-EA39-413D-BDA3-94BF5AB184DE}" destId="{009BC3D3-CC39-45A2-B77B-68ABB4094C99}" srcOrd="0" destOrd="3" presId="urn:microsoft.com/office/officeart/2005/8/layout/process3"/>
    <dgm:cxn modelId="{1289EB8B-37A9-45AB-B849-A8A18C05EC5B}" type="presOf" srcId="{3D7B6D96-9DAC-4CCF-8286-FF49A63AE6F4}" destId="{42BB05AA-495E-490B-A415-AA34521D721D}" srcOrd="0" destOrd="0" presId="urn:microsoft.com/office/officeart/2005/8/layout/process3"/>
    <dgm:cxn modelId="{DD7D6291-D1D1-44D6-8C83-3815DF34B9A1}" type="presOf" srcId="{D76E9974-C6F8-40F5-8DC1-9292E56590B2}" destId="{1103B58E-3C02-4A60-B1A4-734BF21BAC24}" srcOrd="0" destOrd="0" presId="urn:microsoft.com/office/officeart/2005/8/layout/process3"/>
    <dgm:cxn modelId="{8E3809BA-B37C-489B-99FF-59DB3D73B909}" srcId="{8E5BE796-364C-4E68-9C33-5D4441F77362}" destId="{4D80C65D-06EE-44F7-93DC-881436859C63}" srcOrd="1" destOrd="0" parTransId="{3DB4B65B-DBA6-4D9D-9BC2-6FB9EB7C06DD}" sibTransId="{147E6983-BC71-419C-A7E2-585FCF7DB94E}"/>
    <dgm:cxn modelId="{8723C2CC-92E4-4B68-BF54-AE5FE44EABDD}" srcId="{952100C8-DE46-4AA0-81C6-255B835B5DC9}" destId="{D76E9974-C6F8-40F5-8DC1-9292E56590B2}" srcOrd="0" destOrd="0" parTransId="{CA0DF663-6B29-432F-A07C-23788B8F895F}" sibTransId="{FA208C1A-281A-4345-BC7A-2F9CE7969FB0}"/>
    <dgm:cxn modelId="{A90256E6-BDE4-4A63-B95F-6CF81F8C2B5B}" type="presOf" srcId="{4D80C65D-06EE-44F7-93DC-881436859C63}" destId="{42BB05AA-495E-490B-A415-AA34521D721D}" srcOrd="0" destOrd="1" presId="urn:microsoft.com/office/officeart/2005/8/layout/process3"/>
    <dgm:cxn modelId="{1A6278E7-EEAE-49AA-85CE-F4A3F1961D4F}" srcId="{D76E9974-C6F8-40F5-8DC1-9292E56590B2}" destId="{3A2A51C6-4610-4C41-99E6-8E617126F043}" srcOrd="2" destOrd="0" parTransId="{5478249C-3F98-4411-9716-8B15D0A45A0D}" sibTransId="{C69837C6-5D59-4F51-BF55-C9168BEC3F02}"/>
    <dgm:cxn modelId="{4C4C19F2-180A-4E90-91F8-A45A2CD2D889}" srcId="{D76E9974-C6F8-40F5-8DC1-9292E56590B2}" destId="{50880755-5091-4AD2-A8D3-64EAB9152FF8}" srcOrd="1" destOrd="0" parTransId="{CCAFF2C8-3C01-4FFC-B7B8-5646CE37D1B2}" sibTransId="{23755F8D-E2F3-48D0-B86C-88A94028440B}"/>
    <dgm:cxn modelId="{9D601E6C-AF9D-4638-9A00-857D17283502}" type="presParOf" srcId="{54EA4E44-5E00-4520-B01F-801273F1DE65}" destId="{55E72F47-B327-46DB-A974-BEEC9EF00AB2}" srcOrd="0" destOrd="0" presId="urn:microsoft.com/office/officeart/2005/8/layout/process3"/>
    <dgm:cxn modelId="{33AF1A85-815C-45DD-9FAD-03A548589E3D}" type="presParOf" srcId="{55E72F47-B327-46DB-A974-BEEC9EF00AB2}" destId="{1103B58E-3C02-4A60-B1A4-734BF21BAC24}" srcOrd="0" destOrd="0" presId="urn:microsoft.com/office/officeart/2005/8/layout/process3"/>
    <dgm:cxn modelId="{915DD44E-725B-4CD9-A320-F50D5C078DA3}" type="presParOf" srcId="{55E72F47-B327-46DB-A974-BEEC9EF00AB2}" destId="{E51C8D6F-EFB3-4DC0-BD9B-BBFD2E18D5C6}" srcOrd="1" destOrd="0" presId="urn:microsoft.com/office/officeart/2005/8/layout/process3"/>
    <dgm:cxn modelId="{245232D7-700C-4F27-9BF6-3824027D1FEC}" type="presParOf" srcId="{55E72F47-B327-46DB-A974-BEEC9EF00AB2}" destId="{009BC3D3-CC39-45A2-B77B-68ABB4094C99}" srcOrd="2" destOrd="0" presId="urn:microsoft.com/office/officeart/2005/8/layout/process3"/>
    <dgm:cxn modelId="{0A75FAE9-9EDA-4759-B720-0FD3C8507D01}" type="presParOf" srcId="{54EA4E44-5E00-4520-B01F-801273F1DE65}" destId="{A5C863C1-3E94-47FB-98C6-34B197FA4C7A}" srcOrd="1" destOrd="0" presId="urn:microsoft.com/office/officeart/2005/8/layout/process3"/>
    <dgm:cxn modelId="{7F80052A-A5F6-4372-A4B4-AFD532CD6899}" type="presParOf" srcId="{A5C863C1-3E94-47FB-98C6-34B197FA4C7A}" destId="{D5DBA31F-CDD4-4765-9F19-BCE9D3E49259}" srcOrd="0" destOrd="0" presId="urn:microsoft.com/office/officeart/2005/8/layout/process3"/>
    <dgm:cxn modelId="{C83EFFAA-94D7-42BB-A51B-D2ECC2F41F5C}" type="presParOf" srcId="{54EA4E44-5E00-4520-B01F-801273F1DE65}" destId="{BF79C3FA-6460-467D-A747-1C033C0DCDD4}" srcOrd="2" destOrd="0" presId="urn:microsoft.com/office/officeart/2005/8/layout/process3"/>
    <dgm:cxn modelId="{9FE8CF35-FA95-4DBC-85E2-0A65353C9CD2}" type="presParOf" srcId="{BF79C3FA-6460-467D-A747-1C033C0DCDD4}" destId="{A89BD499-F8CE-4F5A-9BE3-FC8ADA2EBA4B}" srcOrd="0" destOrd="0" presId="urn:microsoft.com/office/officeart/2005/8/layout/process3"/>
    <dgm:cxn modelId="{B5A8F370-AD84-400D-88DA-592ECC24B9F7}" type="presParOf" srcId="{BF79C3FA-6460-467D-A747-1C033C0DCDD4}" destId="{083402C0-C91A-4AB2-BE0D-2DA7FD13F750}" srcOrd="1" destOrd="0" presId="urn:microsoft.com/office/officeart/2005/8/layout/process3"/>
    <dgm:cxn modelId="{61841CE2-C433-4C12-AE23-A2FF1EE76640}" type="presParOf" srcId="{BF79C3FA-6460-467D-A747-1C033C0DCDD4}" destId="{42BB05AA-495E-490B-A415-AA34521D721D}"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8A14C725-258B-4030-B292-9300D40AD7AF}" type="doc">
      <dgm:prSet loTypeId="urn:microsoft.com/office/officeart/2005/8/layout/process2" loCatId="process" qsTypeId="urn:microsoft.com/office/officeart/2005/8/quickstyle/simple1" qsCatId="simple" csTypeId="urn:microsoft.com/office/officeart/2005/8/colors/accent1_2" csCatId="accent1" phldr="1"/>
      <dgm:spPr/>
    </dgm:pt>
    <dgm:pt modelId="{D23FE703-604B-4925-AA13-B3CF14EF17D3}">
      <dgm:prSet custT="1"/>
      <dgm:spPr/>
      <dgm:t>
        <a:bodyPr/>
        <a:lstStyle/>
        <a:p>
          <a:pPr>
            <a:buNone/>
          </a:pPr>
          <a:r>
            <a:rPr lang="en-US" sz="1100" b="1">
              <a:latin typeface="Times New Roman" panose="02020603050405020304" pitchFamily="18" charset="0"/>
              <a:cs typeface="Times New Roman" panose="02020603050405020304" pitchFamily="18" charset="0"/>
            </a:rPr>
            <a:t>Packet Formatter</a:t>
          </a:r>
          <a:endParaRPr lang="en-US" sz="1100" dirty="0">
            <a:latin typeface="Times New Roman" panose="02020603050405020304" pitchFamily="18" charset="0"/>
            <a:cs typeface="Times New Roman" panose="02020603050405020304" pitchFamily="18" charset="0"/>
          </a:endParaRPr>
        </a:p>
      </dgm:t>
    </dgm:pt>
    <dgm:pt modelId="{2170B5CB-7960-41A7-BEAA-0259AB17196B}" type="parTrans" cxnId="{2BA76263-16BB-4DC9-AA7C-E04A7972B8F2}">
      <dgm:prSet/>
      <dgm:spPr/>
      <dgm:t>
        <a:bodyPr/>
        <a:lstStyle/>
        <a:p>
          <a:endParaRPr lang="en-US"/>
        </a:p>
      </dgm:t>
    </dgm:pt>
    <dgm:pt modelId="{49280FC6-FCA5-44E8-A614-DFA1CB213B72}" type="sibTrans" cxnId="{2BA76263-16BB-4DC9-AA7C-E04A7972B8F2}">
      <dgm:prSet/>
      <dgm:spPr/>
      <dgm:t>
        <a:bodyPr/>
        <a:lstStyle/>
        <a:p>
          <a:endParaRPr lang="en-US"/>
        </a:p>
      </dgm:t>
    </dgm:pt>
    <dgm:pt modelId="{A09A79CA-7A59-4E54-B2E9-3EDACEEC63FD}">
      <dgm:prSet custT="1"/>
      <dgm:spPr/>
      <dgm:t>
        <a:bodyPr/>
        <a:lstStyle/>
        <a:p>
          <a:pPr>
            <a:buNone/>
          </a:pPr>
          <a:r>
            <a:rPr lang="en-US" sz="1100" b="1">
              <a:latin typeface="Times New Roman" panose="02020603050405020304" pitchFamily="18" charset="0"/>
              <a:cs typeface="Times New Roman" panose="02020603050405020304" pitchFamily="18" charset="0"/>
            </a:rPr>
            <a:t>CDC / Asynchronous FIFO</a:t>
          </a:r>
          <a:endParaRPr lang="en-US" sz="1100" dirty="0">
            <a:latin typeface="Times New Roman" panose="02020603050405020304" pitchFamily="18" charset="0"/>
            <a:cs typeface="Times New Roman" panose="02020603050405020304" pitchFamily="18" charset="0"/>
          </a:endParaRPr>
        </a:p>
      </dgm:t>
    </dgm:pt>
    <dgm:pt modelId="{793FCF26-B661-4351-B302-44535D8C909B}" type="parTrans" cxnId="{47B58D5C-CECF-422D-930F-74A9ED32AB52}">
      <dgm:prSet/>
      <dgm:spPr/>
      <dgm:t>
        <a:bodyPr/>
        <a:lstStyle/>
        <a:p>
          <a:endParaRPr lang="en-US"/>
        </a:p>
      </dgm:t>
    </dgm:pt>
    <dgm:pt modelId="{6072AA47-03F7-449F-AD5E-9F765E104A8E}" type="sibTrans" cxnId="{47B58D5C-CECF-422D-930F-74A9ED32AB52}">
      <dgm:prSet/>
      <dgm:spPr/>
      <dgm:t>
        <a:bodyPr/>
        <a:lstStyle/>
        <a:p>
          <a:endParaRPr lang="en-US"/>
        </a:p>
      </dgm:t>
    </dgm:pt>
    <dgm:pt modelId="{2BBAA2C4-C8A7-42AB-9FFF-D52D0DA7C97E}">
      <dgm:prSet custT="1"/>
      <dgm:spPr/>
      <dgm:t>
        <a:bodyPr/>
        <a:lstStyle/>
        <a:p>
          <a:pPr>
            <a:buNone/>
          </a:pPr>
          <a:r>
            <a:rPr lang="en-US" sz="1100" b="1">
              <a:latin typeface="Times New Roman" panose="02020603050405020304" pitchFamily="18" charset="0"/>
              <a:cs typeface="Times New Roman" panose="02020603050405020304" pitchFamily="18" charset="0"/>
            </a:rPr>
            <a:t>Encryption + Parity</a:t>
          </a:r>
          <a:endParaRPr lang="en-US" sz="1100" dirty="0">
            <a:latin typeface="Times New Roman" panose="02020603050405020304" pitchFamily="18" charset="0"/>
            <a:cs typeface="Times New Roman" panose="02020603050405020304" pitchFamily="18" charset="0"/>
          </a:endParaRPr>
        </a:p>
      </dgm:t>
    </dgm:pt>
    <dgm:pt modelId="{EDCF0F31-9E83-4088-A52F-69A717EBCF83}" type="parTrans" cxnId="{F41D06E4-51D7-4916-84CD-B73347BADD02}">
      <dgm:prSet/>
      <dgm:spPr/>
      <dgm:t>
        <a:bodyPr/>
        <a:lstStyle/>
        <a:p>
          <a:endParaRPr lang="en-US"/>
        </a:p>
      </dgm:t>
    </dgm:pt>
    <dgm:pt modelId="{20A86531-7F30-41C1-9808-BCFB71F4E74C}" type="sibTrans" cxnId="{F41D06E4-51D7-4916-84CD-B73347BADD02}">
      <dgm:prSet/>
      <dgm:spPr/>
      <dgm:t>
        <a:bodyPr/>
        <a:lstStyle/>
        <a:p>
          <a:endParaRPr lang="en-US"/>
        </a:p>
      </dgm:t>
    </dgm:pt>
    <dgm:pt modelId="{CEF06755-0B9A-4700-9657-D0AFDA22953B}">
      <dgm:prSet custT="1"/>
      <dgm:spPr/>
      <dgm:t>
        <a:bodyPr/>
        <a:lstStyle/>
        <a:p>
          <a:pPr>
            <a:buNone/>
          </a:pPr>
          <a:r>
            <a:rPr lang="en-US" sz="1100" b="1">
              <a:latin typeface="Times New Roman" panose="02020603050405020304" pitchFamily="18" charset="0"/>
              <a:cs typeface="Times New Roman" panose="02020603050405020304" pitchFamily="18" charset="0"/>
            </a:rPr>
            <a:t>CXS RX + FLIT FIFO</a:t>
          </a:r>
          <a:endParaRPr lang="en-US" sz="1100" dirty="0">
            <a:latin typeface="Times New Roman" panose="02020603050405020304" pitchFamily="18" charset="0"/>
            <a:cs typeface="Times New Roman" panose="02020603050405020304" pitchFamily="18" charset="0"/>
          </a:endParaRPr>
        </a:p>
      </dgm:t>
    </dgm:pt>
    <dgm:pt modelId="{6FC1A8D6-0017-480B-9C3A-719C3FECCBA7}" type="parTrans" cxnId="{F0E3652C-D76A-402F-B624-C52ED22A6B1B}">
      <dgm:prSet/>
      <dgm:spPr/>
      <dgm:t>
        <a:bodyPr/>
        <a:lstStyle/>
        <a:p>
          <a:endParaRPr lang="en-US"/>
        </a:p>
      </dgm:t>
    </dgm:pt>
    <dgm:pt modelId="{80A42439-3F80-4D5B-9161-1A1E21C4627E}" type="sibTrans" cxnId="{F0E3652C-D76A-402F-B624-C52ED22A6B1B}">
      <dgm:prSet/>
      <dgm:spPr/>
      <dgm:t>
        <a:bodyPr/>
        <a:lstStyle/>
        <a:p>
          <a:endParaRPr lang="en-US"/>
        </a:p>
      </dgm:t>
    </dgm:pt>
    <dgm:pt modelId="{21E470E7-09E8-46F1-9FD1-29131FDF5405}">
      <dgm:prSet custT="1"/>
      <dgm:spPr/>
      <dgm:t>
        <a:bodyPr/>
        <a:lstStyle/>
        <a:p>
          <a:pPr>
            <a:buNone/>
          </a:pPr>
          <a:r>
            <a:rPr lang="en-US" sz="1100" b="1">
              <a:latin typeface="Times New Roman" panose="02020603050405020304" pitchFamily="18" charset="0"/>
              <a:cs typeface="Times New Roman" panose="02020603050405020304" pitchFamily="18" charset="0"/>
            </a:rPr>
            <a:t>Control Unit</a:t>
          </a:r>
          <a:endParaRPr lang="en-US" sz="1100" dirty="0">
            <a:latin typeface="Times New Roman" panose="02020603050405020304" pitchFamily="18" charset="0"/>
            <a:cs typeface="Times New Roman" panose="02020603050405020304" pitchFamily="18" charset="0"/>
          </a:endParaRPr>
        </a:p>
      </dgm:t>
    </dgm:pt>
    <dgm:pt modelId="{48E1DC3D-F1F7-47AE-A825-1296B963A32D}" type="parTrans" cxnId="{426AE2B7-38A6-4C4A-BC0B-E737B3E181B2}">
      <dgm:prSet/>
      <dgm:spPr/>
      <dgm:t>
        <a:bodyPr/>
        <a:lstStyle/>
        <a:p>
          <a:endParaRPr lang="en-US"/>
        </a:p>
      </dgm:t>
    </dgm:pt>
    <dgm:pt modelId="{0ACC0D43-758E-422D-8A03-8DB75666B1A0}" type="sibTrans" cxnId="{426AE2B7-38A6-4C4A-BC0B-E737B3E181B2}">
      <dgm:prSet/>
      <dgm:spPr/>
      <dgm:t>
        <a:bodyPr/>
        <a:lstStyle/>
        <a:p>
          <a:endParaRPr lang="en-US"/>
        </a:p>
      </dgm:t>
    </dgm:pt>
    <dgm:pt modelId="{5A2D20CF-5E7A-4D31-8407-4CF7CCB53DE6}">
      <dgm:prSet custT="1"/>
      <dgm:spPr/>
      <dgm:t>
        <a:bodyPr/>
        <a:lstStyle/>
        <a:p>
          <a:pPr>
            <a:buNone/>
          </a:pPr>
          <a:r>
            <a:rPr lang="en-US" sz="1100" b="1">
              <a:latin typeface="Times New Roman" panose="02020603050405020304" pitchFamily="18" charset="0"/>
              <a:cs typeface="Times New Roman" panose="02020603050405020304" pitchFamily="18" charset="0"/>
            </a:rPr>
            <a:t>ATU</a:t>
          </a:r>
          <a:endParaRPr lang="en-US" sz="1100" dirty="0">
            <a:latin typeface="Times New Roman" panose="02020603050405020304" pitchFamily="18" charset="0"/>
            <a:cs typeface="Times New Roman" panose="02020603050405020304" pitchFamily="18" charset="0"/>
          </a:endParaRPr>
        </a:p>
      </dgm:t>
    </dgm:pt>
    <dgm:pt modelId="{E8FA05FD-707D-494E-9E26-20F1DEE7D2EF}" type="parTrans" cxnId="{3EF2E8CF-31CF-40D5-9BF7-2068DCE9492A}">
      <dgm:prSet/>
      <dgm:spPr/>
      <dgm:t>
        <a:bodyPr/>
        <a:lstStyle/>
        <a:p>
          <a:endParaRPr lang="en-US"/>
        </a:p>
      </dgm:t>
    </dgm:pt>
    <dgm:pt modelId="{B47522DE-76A3-4F62-A111-4F0D27750897}" type="sibTrans" cxnId="{3EF2E8CF-31CF-40D5-9BF7-2068DCE9492A}">
      <dgm:prSet/>
      <dgm:spPr/>
      <dgm:t>
        <a:bodyPr/>
        <a:lstStyle/>
        <a:p>
          <a:endParaRPr lang="en-US"/>
        </a:p>
      </dgm:t>
    </dgm:pt>
    <dgm:pt modelId="{610ADA6E-B21A-41E2-A0C5-7468C21A2B64}">
      <dgm:prSet custT="1"/>
      <dgm:spPr/>
      <dgm:t>
        <a:bodyPr/>
        <a:lstStyle/>
        <a:p>
          <a:pPr>
            <a:buNone/>
          </a:pPr>
          <a:r>
            <a:rPr lang="en-US" sz="1100" b="1">
              <a:latin typeface="Times New Roman" panose="02020603050405020304" pitchFamily="18" charset="0"/>
              <a:cs typeface="Times New Roman" panose="02020603050405020304" pitchFamily="18" charset="0"/>
            </a:rPr>
            <a:t>Central Data Memory</a:t>
          </a:r>
          <a:endParaRPr lang="en-US" sz="1100" dirty="0">
            <a:latin typeface="Times New Roman" panose="02020603050405020304" pitchFamily="18" charset="0"/>
            <a:cs typeface="Times New Roman" panose="02020603050405020304" pitchFamily="18" charset="0"/>
          </a:endParaRPr>
        </a:p>
      </dgm:t>
    </dgm:pt>
    <dgm:pt modelId="{D579C5C3-F99B-4745-8815-D24787966684}" type="parTrans" cxnId="{AE21DF34-2F4A-430D-92FC-26E6902F03A8}">
      <dgm:prSet/>
      <dgm:spPr/>
      <dgm:t>
        <a:bodyPr/>
        <a:lstStyle/>
        <a:p>
          <a:endParaRPr lang="en-US"/>
        </a:p>
      </dgm:t>
    </dgm:pt>
    <dgm:pt modelId="{768F070B-D48E-4B31-BEFE-ACC03F80FB32}" type="sibTrans" cxnId="{AE21DF34-2F4A-430D-92FC-26E6902F03A8}">
      <dgm:prSet/>
      <dgm:spPr/>
      <dgm:t>
        <a:bodyPr/>
        <a:lstStyle/>
        <a:p>
          <a:endParaRPr lang="en-US"/>
        </a:p>
      </dgm:t>
    </dgm:pt>
    <dgm:pt modelId="{0D039CCC-E8F8-4D63-8136-76F645254D9F}">
      <dgm:prSet custT="1"/>
      <dgm:spPr/>
      <dgm:t>
        <a:bodyPr/>
        <a:lstStyle/>
        <a:p>
          <a:pPr>
            <a:buNone/>
          </a:pPr>
          <a:r>
            <a:rPr lang="en-US" sz="1100" b="1">
              <a:latin typeface="Times New Roman" panose="02020603050405020304" pitchFamily="18" charset="0"/>
              <a:cs typeface="Times New Roman" panose="02020603050405020304" pitchFamily="18" charset="0"/>
            </a:rPr>
            <a:t>Packet Encoder + CXS TX</a:t>
          </a:r>
          <a:endParaRPr lang="en-US" sz="1100" dirty="0">
            <a:latin typeface="Times New Roman" panose="02020603050405020304" pitchFamily="18" charset="0"/>
            <a:cs typeface="Times New Roman" panose="02020603050405020304" pitchFamily="18" charset="0"/>
          </a:endParaRPr>
        </a:p>
      </dgm:t>
    </dgm:pt>
    <dgm:pt modelId="{97D20CEF-7AFB-40CE-B68F-DAB71AC963C3}" type="parTrans" cxnId="{7F212122-02F0-43B9-B8D2-EFD42462C12F}">
      <dgm:prSet/>
      <dgm:spPr/>
      <dgm:t>
        <a:bodyPr/>
        <a:lstStyle/>
        <a:p>
          <a:endParaRPr lang="en-US"/>
        </a:p>
      </dgm:t>
    </dgm:pt>
    <dgm:pt modelId="{1DBF64CA-E848-4587-81AF-3B482B23D05F}" type="sibTrans" cxnId="{7F212122-02F0-43B9-B8D2-EFD42462C12F}">
      <dgm:prSet/>
      <dgm:spPr/>
      <dgm:t>
        <a:bodyPr/>
        <a:lstStyle/>
        <a:p>
          <a:endParaRPr lang="en-US"/>
        </a:p>
      </dgm:t>
    </dgm:pt>
    <dgm:pt modelId="{03DBD784-7597-4C99-B96F-E0F0688524B2}" type="pres">
      <dgm:prSet presAssocID="{8A14C725-258B-4030-B292-9300D40AD7AF}" presName="linearFlow" presStyleCnt="0">
        <dgm:presLayoutVars>
          <dgm:resizeHandles val="exact"/>
        </dgm:presLayoutVars>
      </dgm:prSet>
      <dgm:spPr/>
    </dgm:pt>
    <dgm:pt modelId="{DA85CECA-B47B-4AC3-B71F-3270DC00B3C3}" type="pres">
      <dgm:prSet presAssocID="{CEF06755-0B9A-4700-9657-D0AFDA22953B}" presName="node" presStyleLbl="node1" presStyleIdx="0" presStyleCnt="8">
        <dgm:presLayoutVars>
          <dgm:bulletEnabled val="1"/>
        </dgm:presLayoutVars>
      </dgm:prSet>
      <dgm:spPr/>
    </dgm:pt>
    <dgm:pt modelId="{AAE297F5-E414-4C16-8D02-D93561D76E4B}" type="pres">
      <dgm:prSet presAssocID="{80A42439-3F80-4D5B-9161-1A1E21C4627E}" presName="sibTrans" presStyleLbl="sibTrans2D1" presStyleIdx="0" presStyleCnt="7"/>
      <dgm:spPr/>
    </dgm:pt>
    <dgm:pt modelId="{63FECCBE-2077-4AFC-B9E7-B1C68C969FAC}" type="pres">
      <dgm:prSet presAssocID="{80A42439-3F80-4D5B-9161-1A1E21C4627E}" presName="connectorText" presStyleLbl="sibTrans2D1" presStyleIdx="0" presStyleCnt="7"/>
      <dgm:spPr/>
    </dgm:pt>
    <dgm:pt modelId="{22A06CE7-71FD-4A3E-8AA0-B0BF43360726}" type="pres">
      <dgm:prSet presAssocID="{D23FE703-604B-4925-AA13-B3CF14EF17D3}" presName="node" presStyleLbl="node1" presStyleIdx="1" presStyleCnt="8">
        <dgm:presLayoutVars>
          <dgm:bulletEnabled val="1"/>
        </dgm:presLayoutVars>
      </dgm:prSet>
      <dgm:spPr/>
    </dgm:pt>
    <dgm:pt modelId="{9EAE36D1-8898-429B-A077-72F3F6CC1EEF}" type="pres">
      <dgm:prSet presAssocID="{49280FC6-FCA5-44E8-A614-DFA1CB213B72}" presName="sibTrans" presStyleLbl="sibTrans2D1" presStyleIdx="1" presStyleCnt="7"/>
      <dgm:spPr/>
    </dgm:pt>
    <dgm:pt modelId="{41EB3015-48E1-4B94-B5CE-2137210FA193}" type="pres">
      <dgm:prSet presAssocID="{49280FC6-FCA5-44E8-A614-DFA1CB213B72}" presName="connectorText" presStyleLbl="sibTrans2D1" presStyleIdx="1" presStyleCnt="7"/>
      <dgm:spPr/>
    </dgm:pt>
    <dgm:pt modelId="{8AD7772D-ADC1-4804-BA53-EB944761E580}" type="pres">
      <dgm:prSet presAssocID="{A09A79CA-7A59-4E54-B2E9-3EDACEEC63FD}" presName="node" presStyleLbl="node1" presStyleIdx="2" presStyleCnt="8">
        <dgm:presLayoutVars>
          <dgm:bulletEnabled val="1"/>
        </dgm:presLayoutVars>
      </dgm:prSet>
      <dgm:spPr/>
    </dgm:pt>
    <dgm:pt modelId="{1BC99E1D-AC4A-40EA-A0B6-F95C8180936A}" type="pres">
      <dgm:prSet presAssocID="{6072AA47-03F7-449F-AD5E-9F765E104A8E}" presName="sibTrans" presStyleLbl="sibTrans2D1" presStyleIdx="2" presStyleCnt="7"/>
      <dgm:spPr/>
    </dgm:pt>
    <dgm:pt modelId="{F7CFAB2C-7702-4260-9389-0BB9C803FA09}" type="pres">
      <dgm:prSet presAssocID="{6072AA47-03F7-449F-AD5E-9F765E104A8E}" presName="connectorText" presStyleLbl="sibTrans2D1" presStyleIdx="2" presStyleCnt="7"/>
      <dgm:spPr/>
    </dgm:pt>
    <dgm:pt modelId="{04FEF770-4FA3-49F1-B40C-94AF5528AB63}" type="pres">
      <dgm:prSet presAssocID="{21E470E7-09E8-46F1-9FD1-29131FDF5405}" presName="node" presStyleLbl="node1" presStyleIdx="3" presStyleCnt="8">
        <dgm:presLayoutVars>
          <dgm:bulletEnabled val="1"/>
        </dgm:presLayoutVars>
      </dgm:prSet>
      <dgm:spPr/>
    </dgm:pt>
    <dgm:pt modelId="{92C8DFCA-D1E0-417F-A686-D9FC0385CCBD}" type="pres">
      <dgm:prSet presAssocID="{0ACC0D43-758E-422D-8A03-8DB75666B1A0}" presName="sibTrans" presStyleLbl="sibTrans2D1" presStyleIdx="3" presStyleCnt="7"/>
      <dgm:spPr/>
    </dgm:pt>
    <dgm:pt modelId="{066AF965-FFB6-4165-B52F-960640510DA8}" type="pres">
      <dgm:prSet presAssocID="{0ACC0D43-758E-422D-8A03-8DB75666B1A0}" presName="connectorText" presStyleLbl="sibTrans2D1" presStyleIdx="3" presStyleCnt="7"/>
      <dgm:spPr/>
    </dgm:pt>
    <dgm:pt modelId="{A21DDB2C-3D52-4CBE-B695-D35904610A55}" type="pres">
      <dgm:prSet presAssocID="{2BBAA2C4-C8A7-42AB-9FFF-D52D0DA7C97E}" presName="node" presStyleLbl="node1" presStyleIdx="4" presStyleCnt="8">
        <dgm:presLayoutVars>
          <dgm:bulletEnabled val="1"/>
        </dgm:presLayoutVars>
      </dgm:prSet>
      <dgm:spPr/>
    </dgm:pt>
    <dgm:pt modelId="{7B043563-BB29-4C24-9B83-DDD46A0E5F83}" type="pres">
      <dgm:prSet presAssocID="{20A86531-7F30-41C1-9808-BCFB71F4E74C}" presName="sibTrans" presStyleLbl="sibTrans2D1" presStyleIdx="4" presStyleCnt="7"/>
      <dgm:spPr/>
    </dgm:pt>
    <dgm:pt modelId="{97A9AA41-DE84-49FA-9321-D3AB3D313FF5}" type="pres">
      <dgm:prSet presAssocID="{20A86531-7F30-41C1-9808-BCFB71F4E74C}" presName="connectorText" presStyleLbl="sibTrans2D1" presStyleIdx="4" presStyleCnt="7"/>
      <dgm:spPr/>
    </dgm:pt>
    <dgm:pt modelId="{30EB8C55-69CE-44C7-A4F0-6CD3073EC855}" type="pres">
      <dgm:prSet presAssocID="{5A2D20CF-5E7A-4D31-8407-4CF7CCB53DE6}" presName="node" presStyleLbl="node1" presStyleIdx="5" presStyleCnt="8">
        <dgm:presLayoutVars>
          <dgm:bulletEnabled val="1"/>
        </dgm:presLayoutVars>
      </dgm:prSet>
      <dgm:spPr/>
    </dgm:pt>
    <dgm:pt modelId="{F36AD347-3B70-4415-AD7C-B2E31B184B05}" type="pres">
      <dgm:prSet presAssocID="{B47522DE-76A3-4F62-A111-4F0D27750897}" presName="sibTrans" presStyleLbl="sibTrans2D1" presStyleIdx="5" presStyleCnt="7"/>
      <dgm:spPr/>
    </dgm:pt>
    <dgm:pt modelId="{E28FCBA7-C573-4603-877B-8536BFD456AB}" type="pres">
      <dgm:prSet presAssocID="{B47522DE-76A3-4F62-A111-4F0D27750897}" presName="connectorText" presStyleLbl="sibTrans2D1" presStyleIdx="5" presStyleCnt="7"/>
      <dgm:spPr/>
    </dgm:pt>
    <dgm:pt modelId="{14E450D8-C657-42A3-B035-BCB31151C7C3}" type="pres">
      <dgm:prSet presAssocID="{610ADA6E-B21A-41E2-A0C5-7468C21A2B64}" presName="node" presStyleLbl="node1" presStyleIdx="6" presStyleCnt="8">
        <dgm:presLayoutVars>
          <dgm:bulletEnabled val="1"/>
        </dgm:presLayoutVars>
      </dgm:prSet>
      <dgm:spPr/>
    </dgm:pt>
    <dgm:pt modelId="{853C280A-8C96-435C-A0B6-1965EFD56927}" type="pres">
      <dgm:prSet presAssocID="{768F070B-D48E-4B31-BEFE-ACC03F80FB32}" presName="sibTrans" presStyleLbl="sibTrans2D1" presStyleIdx="6" presStyleCnt="7"/>
      <dgm:spPr/>
    </dgm:pt>
    <dgm:pt modelId="{43704DC0-5F67-40A9-B0B9-99F20200AD98}" type="pres">
      <dgm:prSet presAssocID="{768F070B-D48E-4B31-BEFE-ACC03F80FB32}" presName="connectorText" presStyleLbl="sibTrans2D1" presStyleIdx="6" presStyleCnt="7"/>
      <dgm:spPr/>
    </dgm:pt>
    <dgm:pt modelId="{70E6639B-1389-440E-A27A-3EAE3C642B0D}" type="pres">
      <dgm:prSet presAssocID="{0D039CCC-E8F8-4D63-8136-76F645254D9F}" presName="node" presStyleLbl="node1" presStyleIdx="7" presStyleCnt="8">
        <dgm:presLayoutVars>
          <dgm:bulletEnabled val="1"/>
        </dgm:presLayoutVars>
      </dgm:prSet>
      <dgm:spPr/>
    </dgm:pt>
  </dgm:ptLst>
  <dgm:cxnLst>
    <dgm:cxn modelId="{FC27BB0A-4E47-49D6-92F4-FB1B6A44C0D9}" type="presOf" srcId="{49280FC6-FCA5-44E8-A614-DFA1CB213B72}" destId="{41EB3015-48E1-4B94-B5CE-2137210FA193}" srcOrd="1" destOrd="0" presId="urn:microsoft.com/office/officeart/2005/8/layout/process2"/>
    <dgm:cxn modelId="{5ED91112-F350-40E4-99FD-7916CA1AAB46}" type="presOf" srcId="{0D039CCC-E8F8-4D63-8136-76F645254D9F}" destId="{70E6639B-1389-440E-A27A-3EAE3C642B0D}" srcOrd="0" destOrd="0" presId="urn:microsoft.com/office/officeart/2005/8/layout/process2"/>
    <dgm:cxn modelId="{7F212122-02F0-43B9-B8D2-EFD42462C12F}" srcId="{8A14C725-258B-4030-B292-9300D40AD7AF}" destId="{0D039CCC-E8F8-4D63-8136-76F645254D9F}" srcOrd="7" destOrd="0" parTransId="{97D20CEF-7AFB-40CE-B68F-DAB71AC963C3}" sibTransId="{1DBF64CA-E848-4587-81AF-3B482B23D05F}"/>
    <dgm:cxn modelId="{2AD81E2B-3FDD-4F62-8407-9B248557AFC4}" type="presOf" srcId="{610ADA6E-B21A-41E2-A0C5-7468C21A2B64}" destId="{14E450D8-C657-42A3-B035-BCB31151C7C3}" srcOrd="0" destOrd="0" presId="urn:microsoft.com/office/officeart/2005/8/layout/process2"/>
    <dgm:cxn modelId="{F0E3652C-D76A-402F-B624-C52ED22A6B1B}" srcId="{8A14C725-258B-4030-B292-9300D40AD7AF}" destId="{CEF06755-0B9A-4700-9657-D0AFDA22953B}" srcOrd="0" destOrd="0" parTransId="{6FC1A8D6-0017-480B-9C3A-719C3FECCBA7}" sibTransId="{80A42439-3F80-4D5B-9161-1A1E21C4627E}"/>
    <dgm:cxn modelId="{C134F42D-C71F-4F3F-A9AF-DF217F51F7B6}" type="presOf" srcId="{B47522DE-76A3-4F62-A111-4F0D27750897}" destId="{E28FCBA7-C573-4603-877B-8536BFD456AB}" srcOrd="1" destOrd="0" presId="urn:microsoft.com/office/officeart/2005/8/layout/process2"/>
    <dgm:cxn modelId="{AE21DF34-2F4A-430D-92FC-26E6902F03A8}" srcId="{8A14C725-258B-4030-B292-9300D40AD7AF}" destId="{610ADA6E-B21A-41E2-A0C5-7468C21A2B64}" srcOrd="6" destOrd="0" parTransId="{D579C5C3-F99B-4745-8815-D24787966684}" sibTransId="{768F070B-D48E-4B31-BEFE-ACC03F80FB32}"/>
    <dgm:cxn modelId="{81982637-1296-4ED2-B8A3-4AD97B9DEB01}" type="presOf" srcId="{8A14C725-258B-4030-B292-9300D40AD7AF}" destId="{03DBD784-7597-4C99-B96F-E0F0688524B2}" srcOrd="0" destOrd="0" presId="urn:microsoft.com/office/officeart/2005/8/layout/process2"/>
    <dgm:cxn modelId="{69B42E40-484C-484D-88D8-E1A67F4666D5}" type="presOf" srcId="{2BBAA2C4-C8A7-42AB-9FFF-D52D0DA7C97E}" destId="{A21DDB2C-3D52-4CBE-B695-D35904610A55}" srcOrd="0" destOrd="0" presId="urn:microsoft.com/office/officeart/2005/8/layout/process2"/>
    <dgm:cxn modelId="{47B58D5C-CECF-422D-930F-74A9ED32AB52}" srcId="{8A14C725-258B-4030-B292-9300D40AD7AF}" destId="{A09A79CA-7A59-4E54-B2E9-3EDACEEC63FD}" srcOrd="2" destOrd="0" parTransId="{793FCF26-B661-4351-B302-44535D8C909B}" sibTransId="{6072AA47-03F7-449F-AD5E-9F765E104A8E}"/>
    <dgm:cxn modelId="{D149EF5E-8775-4A3F-8C74-575D3858F96D}" type="presOf" srcId="{B47522DE-76A3-4F62-A111-4F0D27750897}" destId="{F36AD347-3B70-4415-AD7C-B2E31B184B05}" srcOrd="0" destOrd="0" presId="urn:microsoft.com/office/officeart/2005/8/layout/process2"/>
    <dgm:cxn modelId="{2BA76263-16BB-4DC9-AA7C-E04A7972B8F2}" srcId="{8A14C725-258B-4030-B292-9300D40AD7AF}" destId="{D23FE703-604B-4925-AA13-B3CF14EF17D3}" srcOrd="1" destOrd="0" parTransId="{2170B5CB-7960-41A7-BEAA-0259AB17196B}" sibTransId="{49280FC6-FCA5-44E8-A614-DFA1CB213B72}"/>
    <dgm:cxn modelId="{DAC91865-EA0F-4B35-85AF-2F067D4B02C6}" type="presOf" srcId="{5A2D20CF-5E7A-4D31-8407-4CF7CCB53DE6}" destId="{30EB8C55-69CE-44C7-A4F0-6CD3073EC855}" srcOrd="0" destOrd="0" presId="urn:microsoft.com/office/officeart/2005/8/layout/process2"/>
    <dgm:cxn modelId="{083BAE54-E189-4D1F-A1CC-860BACE12A48}" type="presOf" srcId="{6072AA47-03F7-449F-AD5E-9F765E104A8E}" destId="{1BC99E1D-AC4A-40EA-A0B6-F95C8180936A}" srcOrd="0" destOrd="0" presId="urn:microsoft.com/office/officeart/2005/8/layout/process2"/>
    <dgm:cxn modelId="{485ABD74-4B2D-4EB9-A44B-3948CA374447}" type="presOf" srcId="{80A42439-3F80-4D5B-9161-1A1E21C4627E}" destId="{AAE297F5-E414-4C16-8D02-D93561D76E4B}" srcOrd="0" destOrd="0" presId="urn:microsoft.com/office/officeart/2005/8/layout/process2"/>
    <dgm:cxn modelId="{8BC7BB76-4C72-4340-BDF7-18FDD24C9D3F}" type="presOf" srcId="{0ACC0D43-758E-422D-8A03-8DB75666B1A0}" destId="{066AF965-FFB6-4165-B52F-960640510DA8}" srcOrd="1" destOrd="0" presId="urn:microsoft.com/office/officeart/2005/8/layout/process2"/>
    <dgm:cxn modelId="{FA725B7F-DF58-48AF-9B3A-8BD36FE3C48D}" type="presOf" srcId="{6072AA47-03F7-449F-AD5E-9F765E104A8E}" destId="{F7CFAB2C-7702-4260-9389-0BB9C803FA09}" srcOrd="1" destOrd="0" presId="urn:microsoft.com/office/officeart/2005/8/layout/process2"/>
    <dgm:cxn modelId="{38E8E981-4FFD-455A-8A74-A5E7B07209F2}" type="presOf" srcId="{21E470E7-09E8-46F1-9FD1-29131FDF5405}" destId="{04FEF770-4FA3-49F1-B40C-94AF5528AB63}" srcOrd="0" destOrd="0" presId="urn:microsoft.com/office/officeart/2005/8/layout/process2"/>
    <dgm:cxn modelId="{553D8E89-C0B9-4030-B76B-7C415488D233}" type="presOf" srcId="{CEF06755-0B9A-4700-9657-D0AFDA22953B}" destId="{DA85CECA-B47B-4AC3-B71F-3270DC00B3C3}" srcOrd="0" destOrd="0" presId="urn:microsoft.com/office/officeart/2005/8/layout/process2"/>
    <dgm:cxn modelId="{C7CB9B8D-32E6-4CC3-85D6-5FBAB772D846}" type="presOf" srcId="{49280FC6-FCA5-44E8-A614-DFA1CB213B72}" destId="{9EAE36D1-8898-429B-A077-72F3F6CC1EEF}" srcOrd="0" destOrd="0" presId="urn:microsoft.com/office/officeart/2005/8/layout/process2"/>
    <dgm:cxn modelId="{E2609599-0792-4EF7-AE21-DF56460F895E}" type="presOf" srcId="{768F070B-D48E-4B31-BEFE-ACC03F80FB32}" destId="{43704DC0-5F67-40A9-B0B9-99F20200AD98}" srcOrd="1" destOrd="0" presId="urn:microsoft.com/office/officeart/2005/8/layout/process2"/>
    <dgm:cxn modelId="{8BD8D0AC-F485-493D-9FC3-1E9CC7E3EDE8}" type="presOf" srcId="{20A86531-7F30-41C1-9808-BCFB71F4E74C}" destId="{97A9AA41-DE84-49FA-9321-D3AB3D313FF5}" srcOrd="1" destOrd="0" presId="urn:microsoft.com/office/officeart/2005/8/layout/process2"/>
    <dgm:cxn modelId="{426AE2B7-38A6-4C4A-BC0B-E737B3E181B2}" srcId="{8A14C725-258B-4030-B292-9300D40AD7AF}" destId="{21E470E7-09E8-46F1-9FD1-29131FDF5405}" srcOrd="3" destOrd="0" parTransId="{48E1DC3D-F1F7-47AE-A825-1296B963A32D}" sibTransId="{0ACC0D43-758E-422D-8A03-8DB75666B1A0}"/>
    <dgm:cxn modelId="{2393B5CB-27B5-4FF5-81AF-F7BE366F58DC}" type="presOf" srcId="{20A86531-7F30-41C1-9808-BCFB71F4E74C}" destId="{7B043563-BB29-4C24-9B83-DDD46A0E5F83}" srcOrd="0" destOrd="0" presId="urn:microsoft.com/office/officeart/2005/8/layout/process2"/>
    <dgm:cxn modelId="{3EF2E8CF-31CF-40D5-9BF7-2068DCE9492A}" srcId="{8A14C725-258B-4030-B292-9300D40AD7AF}" destId="{5A2D20CF-5E7A-4D31-8407-4CF7CCB53DE6}" srcOrd="5" destOrd="0" parTransId="{E8FA05FD-707D-494E-9E26-20F1DEE7D2EF}" sibTransId="{B47522DE-76A3-4F62-A111-4F0D27750897}"/>
    <dgm:cxn modelId="{F41D06E4-51D7-4916-84CD-B73347BADD02}" srcId="{8A14C725-258B-4030-B292-9300D40AD7AF}" destId="{2BBAA2C4-C8A7-42AB-9FFF-D52D0DA7C97E}" srcOrd="4" destOrd="0" parTransId="{EDCF0F31-9E83-4088-A52F-69A717EBCF83}" sibTransId="{20A86531-7F30-41C1-9808-BCFB71F4E74C}"/>
    <dgm:cxn modelId="{A40924E8-80CD-46B4-A4B5-DE62ADB94B52}" type="presOf" srcId="{A09A79CA-7A59-4E54-B2E9-3EDACEEC63FD}" destId="{8AD7772D-ADC1-4804-BA53-EB944761E580}" srcOrd="0" destOrd="0" presId="urn:microsoft.com/office/officeart/2005/8/layout/process2"/>
    <dgm:cxn modelId="{41CC54E8-83E1-43C3-9EF3-9214FF27C3B6}" type="presOf" srcId="{0ACC0D43-758E-422D-8A03-8DB75666B1A0}" destId="{92C8DFCA-D1E0-417F-A686-D9FC0385CCBD}" srcOrd="0" destOrd="0" presId="urn:microsoft.com/office/officeart/2005/8/layout/process2"/>
    <dgm:cxn modelId="{5456A0E8-6132-4965-A5A1-000DFD98843A}" type="presOf" srcId="{D23FE703-604B-4925-AA13-B3CF14EF17D3}" destId="{22A06CE7-71FD-4A3E-8AA0-B0BF43360726}" srcOrd="0" destOrd="0" presId="urn:microsoft.com/office/officeart/2005/8/layout/process2"/>
    <dgm:cxn modelId="{AD4281F0-10DF-49E4-BAE1-9697218364BA}" type="presOf" srcId="{80A42439-3F80-4D5B-9161-1A1E21C4627E}" destId="{63FECCBE-2077-4AFC-B9E7-B1C68C969FAC}" srcOrd="1" destOrd="0" presId="urn:microsoft.com/office/officeart/2005/8/layout/process2"/>
    <dgm:cxn modelId="{03F045FD-358C-42C3-B051-DD3348F8F560}" type="presOf" srcId="{768F070B-D48E-4B31-BEFE-ACC03F80FB32}" destId="{853C280A-8C96-435C-A0B6-1965EFD56927}" srcOrd="0" destOrd="0" presId="urn:microsoft.com/office/officeart/2005/8/layout/process2"/>
    <dgm:cxn modelId="{8D17FFA2-654E-46D9-8AA9-518F9853680D}" type="presParOf" srcId="{03DBD784-7597-4C99-B96F-E0F0688524B2}" destId="{DA85CECA-B47B-4AC3-B71F-3270DC00B3C3}" srcOrd="0" destOrd="0" presId="urn:microsoft.com/office/officeart/2005/8/layout/process2"/>
    <dgm:cxn modelId="{736A4840-02AD-47A7-B336-4517D9BDCA09}" type="presParOf" srcId="{03DBD784-7597-4C99-B96F-E0F0688524B2}" destId="{AAE297F5-E414-4C16-8D02-D93561D76E4B}" srcOrd="1" destOrd="0" presId="urn:microsoft.com/office/officeart/2005/8/layout/process2"/>
    <dgm:cxn modelId="{001AC0EB-585C-444B-A61B-042672A5C0E4}" type="presParOf" srcId="{AAE297F5-E414-4C16-8D02-D93561D76E4B}" destId="{63FECCBE-2077-4AFC-B9E7-B1C68C969FAC}" srcOrd="0" destOrd="0" presId="urn:microsoft.com/office/officeart/2005/8/layout/process2"/>
    <dgm:cxn modelId="{AD9CEFB5-60A7-4E18-A540-4BB4C0355DE4}" type="presParOf" srcId="{03DBD784-7597-4C99-B96F-E0F0688524B2}" destId="{22A06CE7-71FD-4A3E-8AA0-B0BF43360726}" srcOrd="2" destOrd="0" presId="urn:microsoft.com/office/officeart/2005/8/layout/process2"/>
    <dgm:cxn modelId="{2B529C25-D950-4993-8E30-088315E62D4A}" type="presParOf" srcId="{03DBD784-7597-4C99-B96F-E0F0688524B2}" destId="{9EAE36D1-8898-429B-A077-72F3F6CC1EEF}" srcOrd="3" destOrd="0" presId="urn:microsoft.com/office/officeart/2005/8/layout/process2"/>
    <dgm:cxn modelId="{FAEDE4AD-3DAC-493C-AC95-BA6DEACE0CFB}" type="presParOf" srcId="{9EAE36D1-8898-429B-A077-72F3F6CC1EEF}" destId="{41EB3015-48E1-4B94-B5CE-2137210FA193}" srcOrd="0" destOrd="0" presId="urn:microsoft.com/office/officeart/2005/8/layout/process2"/>
    <dgm:cxn modelId="{407D0F48-32A5-408B-985A-B4FD66652C43}" type="presParOf" srcId="{03DBD784-7597-4C99-B96F-E0F0688524B2}" destId="{8AD7772D-ADC1-4804-BA53-EB944761E580}" srcOrd="4" destOrd="0" presId="urn:microsoft.com/office/officeart/2005/8/layout/process2"/>
    <dgm:cxn modelId="{A6BDA1F4-E839-4A1A-B2F5-A9D3A0FB4B71}" type="presParOf" srcId="{03DBD784-7597-4C99-B96F-E0F0688524B2}" destId="{1BC99E1D-AC4A-40EA-A0B6-F95C8180936A}" srcOrd="5" destOrd="0" presId="urn:microsoft.com/office/officeart/2005/8/layout/process2"/>
    <dgm:cxn modelId="{98561711-DA81-4070-9CA4-AF38F7CEBED1}" type="presParOf" srcId="{1BC99E1D-AC4A-40EA-A0B6-F95C8180936A}" destId="{F7CFAB2C-7702-4260-9389-0BB9C803FA09}" srcOrd="0" destOrd="0" presId="urn:microsoft.com/office/officeart/2005/8/layout/process2"/>
    <dgm:cxn modelId="{05293E92-3B48-4BE0-BC7E-173CD7251084}" type="presParOf" srcId="{03DBD784-7597-4C99-B96F-E0F0688524B2}" destId="{04FEF770-4FA3-49F1-B40C-94AF5528AB63}" srcOrd="6" destOrd="0" presId="urn:microsoft.com/office/officeart/2005/8/layout/process2"/>
    <dgm:cxn modelId="{8AC31184-3452-4FC7-B204-232485C2837A}" type="presParOf" srcId="{03DBD784-7597-4C99-B96F-E0F0688524B2}" destId="{92C8DFCA-D1E0-417F-A686-D9FC0385CCBD}" srcOrd="7" destOrd="0" presId="urn:microsoft.com/office/officeart/2005/8/layout/process2"/>
    <dgm:cxn modelId="{561C3525-9D0A-439A-8417-49455AC375C2}" type="presParOf" srcId="{92C8DFCA-D1E0-417F-A686-D9FC0385CCBD}" destId="{066AF965-FFB6-4165-B52F-960640510DA8}" srcOrd="0" destOrd="0" presId="urn:microsoft.com/office/officeart/2005/8/layout/process2"/>
    <dgm:cxn modelId="{0763A2C9-697D-47BB-A7DD-80F259E34D58}" type="presParOf" srcId="{03DBD784-7597-4C99-B96F-E0F0688524B2}" destId="{A21DDB2C-3D52-4CBE-B695-D35904610A55}" srcOrd="8" destOrd="0" presId="urn:microsoft.com/office/officeart/2005/8/layout/process2"/>
    <dgm:cxn modelId="{775FFE17-0615-4F66-925F-453AE1D71FC9}" type="presParOf" srcId="{03DBD784-7597-4C99-B96F-E0F0688524B2}" destId="{7B043563-BB29-4C24-9B83-DDD46A0E5F83}" srcOrd="9" destOrd="0" presId="urn:microsoft.com/office/officeart/2005/8/layout/process2"/>
    <dgm:cxn modelId="{0BF3A274-9B44-47C6-92C8-D9C17CBEB052}" type="presParOf" srcId="{7B043563-BB29-4C24-9B83-DDD46A0E5F83}" destId="{97A9AA41-DE84-49FA-9321-D3AB3D313FF5}" srcOrd="0" destOrd="0" presId="urn:microsoft.com/office/officeart/2005/8/layout/process2"/>
    <dgm:cxn modelId="{C7D0DC81-91C9-49E8-8C48-0583491B2FD1}" type="presParOf" srcId="{03DBD784-7597-4C99-B96F-E0F0688524B2}" destId="{30EB8C55-69CE-44C7-A4F0-6CD3073EC855}" srcOrd="10" destOrd="0" presId="urn:microsoft.com/office/officeart/2005/8/layout/process2"/>
    <dgm:cxn modelId="{586B9779-7C5C-48E8-990A-0CA808CFA4C6}" type="presParOf" srcId="{03DBD784-7597-4C99-B96F-E0F0688524B2}" destId="{F36AD347-3B70-4415-AD7C-B2E31B184B05}" srcOrd="11" destOrd="0" presId="urn:microsoft.com/office/officeart/2005/8/layout/process2"/>
    <dgm:cxn modelId="{030B3396-5D97-415E-94E9-290A64840EDE}" type="presParOf" srcId="{F36AD347-3B70-4415-AD7C-B2E31B184B05}" destId="{E28FCBA7-C573-4603-877B-8536BFD456AB}" srcOrd="0" destOrd="0" presId="urn:microsoft.com/office/officeart/2005/8/layout/process2"/>
    <dgm:cxn modelId="{61737809-A709-4834-9CEE-81CEC3FA4B37}" type="presParOf" srcId="{03DBD784-7597-4C99-B96F-E0F0688524B2}" destId="{14E450D8-C657-42A3-B035-BCB31151C7C3}" srcOrd="12" destOrd="0" presId="urn:microsoft.com/office/officeart/2005/8/layout/process2"/>
    <dgm:cxn modelId="{FCD4ABC4-E1F9-4734-BC56-56ABC4CD92FC}" type="presParOf" srcId="{03DBD784-7597-4C99-B96F-E0F0688524B2}" destId="{853C280A-8C96-435C-A0B6-1965EFD56927}" srcOrd="13" destOrd="0" presId="urn:microsoft.com/office/officeart/2005/8/layout/process2"/>
    <dgm:cxn modelId="{93BBDD36-7493-4E9D-93A2-95B67EAB3B79}" type="presParOf" srcId="{853C280A-8C96-435C-A0B6-1965EFD56927}" destId="{43704DC0-5F67-40A9-B0B9-99F20200AD98}" srcOrd="0" destOrd="0" presId="urn:microsoft.com/office/officeart/2005/8/layout/process2"/>
    <dgm:cxn modelId="{32DE4AB5-5E36-4AD8-867B-EEA99A209567}" type="presParOf" srcId="{03DBD784-7597-4C99-B96F-E0F0688524B2}" destId="{70E6639B-1389-440E-A27A-3EAE3C642B0D}" srcOrd="1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8BF07-C71E-467F-9FB5-8F4EB5FADFA0}">
      <dsp:nvSpPr>
        <dsp:cNvPr id="0" name=""/>
        <dsp:cNvSpPr/>
      </dsp:nvSpPr>
      <dsp:spPr>
        <a:xfrm>
          <a:off x="4785656" y="679621"/>
          <a:ext cx="1432241" cy="1432314"/>
        </a:xfrm>
        <a:prstGeom prst="ellipse">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09CF40-E589-4609-8AB5-35177CD6BC7E}">
      <dsp:nvSpPr>
        <dsp:cNvPr id="0" name=""/>
        <dsp:cNvSpPr/>
      </dsp:nvSpPr>
      <dsp:spPr>
        <a:xfrm>
          <a:off x="4833562" y="727373"/>
          <a:ext cx="1337045" cy="133681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a:t>Storing</a:t>
          </a:r>
          <a:endParaRPr lang="en-US" sz="1600" b="1" kern="1200" dirty="0"/>
        </a:p>
      </dsp:txBody>
      <dsp:txXfrm>
        <a:off x="5024568" y="918382"/>
        <a:ext cx="955032" cy="954792"/>
      </dsp:txXfrm>
    </dsp:sp>
    <dsp:sp modelId="{A1FCC95A-8C82-4448-B9E2-36DA616DDD78}">
      <dsp:nvSpPr>
        <dsp:cNvPr id="0" name=""/>
        <dsp:cNvSpPr/>
      </dsp:nvSpPr>
      <dsp:spPr>
        <a:xfrm rot="2700000">
          <a:off x="3299356" y="679521"/>
          <a:ext cx="1432264" cy="1432264"/>
        </a:xfrm>
        <a:prstGeom prst="teardrop">
          <a:avLst>
            <a:gd name="adj" fmla="val 10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12CE89-0B49-42EA-AF66-E3717E9B4297}">
      <dsp:nvSpPr>
        <dsp:cNvPr id="0" name=""/>
        <dsp:cNvSpPr/>
      </dsp:nvSpPr>
      <dsp:spPr>
        <a:xfrm>
          <a:off x="3353415" y="727373"/>
          <a:ext cx="1337045" cy="133681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a:t>Parity</a:t>
          </a:r>
          <a:endParaRPr lang="en-US" sz="1600" kern="1200" dirty="0"/>
        </a:p>
      </dsp:txBody>
      <dsp:txXfrm>
        <a:off x="3544421" y="918382"/>
        <a:ext cx="955032" cy="954792"/>
      </dsp:txXfrm>
    </dsp:sp>
    <dsp:sp modelId="{E4962A0A-DFAD-4249-B2CE-5963F243EF6A}">
      <dsp:nvSpPr>
        <dsp:cNvPr id="0" name=""/>
        <dsp:cNvSpPr/>
      </dsp:nvSpPr>
      <dsp:spPr>
        <a:xfrm rot="2700000">
          <a:off x="1825351" y="679521"/>
          <a:ext cx="1432264" cy="1432264"/>
        </a:xfrm>
        <a:prstGeom prst="teardrop">
          <a:avLst>
            <a:gd name="adj" fmla="val 10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54E8AD-D6F4-44D5-93A3-51108CB89D87}">
      <dsp:nvSpPr>
        <dsp:cNvPr id="0" name=""/>
        <dsp:cNvSpPr/>
      </dsp:nvSpPr>
      <dsp:spPr>
        <a:xfrm>
          <a:off x="1873268" y="727373"/>
          <a:ext cx="1337045" cy="133681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a:t>Encryption</a:t>
          </a:r>
          <a:endParaRPr lang="en-US" sz="1600" kern="1200" dirty="0"/>
        </a:p>
      </dsp:txBody>
      <dsp:txXfrm>
        <a:off x="2064275" y="918382"/>
        <a:ext cx="955032" cy="954792"/>
      </dsp:txXfrm>
    </dsp:sp>
    <dsp:sp modelId="{38EFC76C-5A8F-44DC-9760-F51F746588A8}">
      <dsp:nvSpPr>
        <dsp:cNvPr id="0" name=""/>
        <dsp:cNvSpPr/>
      </dsp:nvSpPr>
      <dsp:spPr>
        <a:xfrm rot="2700000">
          <a:off x="345205" y="679521"/>
          <a:ext cx="1432264" cy="1432264"/>
        </a:xfrm>
        <a:prstGeom prst="teardrop">
          <a:avLst>
            <a:gd name="adj" fmla="val 10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C3C89B-CE1D-4F85-BE1F-C9EE55283FF5}">
      <dsp:nvSpPr>
        <dsp:cNvPr id="0" name=""/>
        <dsp:cNvSpPr/>
      </dsp:nvSpPr>
      <dsp:spPr>
        <a:xfrm>
          <a:off x="393122" y="727373"/>
          <a:ext cx="1337045" cy="133681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a:t>Receiving</a:t>
          </a:r>
          <a:endParaRPr lang="en-US" sz="1600" b="1" kern="1200" dirty="0"/>
        </a:p>
      </dsp:txBody>
      <dsp:txXfrm>
        <a:off x="584128" y="918382"/>
        <a:ext cx="955032" cy="9547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3D075-B81E-4B59-A186-4E09371BAC4B}">
      <dsp:nvSpPr>
        <dsp:cNvPr id="0" name=""/>
        <dsp:cNvSpPr/>
      </dsp:nvSpPr>
      <dsp:spPr>
        <a:xfrm>
          <a:off x="88902" y="771649"/>
          <a:ext cx="1296348" cy="4272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a:t>Incoming FLITs</a:t>
          </a:r>
          <a:endParaRPr lang="en-US" sz="1600" kern="1200" dirty="0"/>
        </a:p>
      </dsp:txBody>
      <dsp:txXfrm>
        <a:off x="88902" y="771649"/>
        <a:ext cx="1296348" cy="427205"/>
      </dsp:txXfrm>
    </dsp:sp>
    <dsp:sp modelId="{066C68C2-73A1-478B-AF64-52B3596557EC}">
      <dsp:nvSpPr>
        <dsp:cNvPr id="0" name=""/>
        <dsp:cNvSpPr/>
      </dsp:nvSpPr>
      <dsp:spPr>
        <a:xfrm>
          <a:off x="87429" y="641719"/>
          <a:ext cx="103118" cy="10311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8CB0C2-25A7-41F4-A2F8-AD40E0182692}">
      <dsp:nvSpPr>
        <dsp:cNvPr id="0" name=""/>
        <dsp:cNvSpPr/>
      </dsp:nvSpPr>
      <dsp:spPr>
        <a:xfrm>
          <a:off x="159612" y="497353"/>
          <a:ext cx="103118" cy="10311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099179-74BC-41CB-8C4B-6C1D7EADE47F}">
      <dsp:nvSpPr>
        <dsp:cNvPr id="0" name=""/>
        <dsp:cNvSpPr/>
      </dsp:nvSpPr>
      <dsp:spPr>
        <a:xfrm>
          <a:off x="332851" y="526226"/>
          <a:ext cx="162043" cy="162043"/>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693B16-AE82-42FB-BC4B-6A3DAE214D2B}">
      <dsp:nvSpPr>
        <dsp:cNvPr id="0" name=""/>
        <dsp:cNvSpPr/>
      </dsp:nvSpPr>
      <dsp:spPr>
        <a:xfrm>
          <a:off x="477217" y="367424"/>
          <a:ext cx="103118" cy="103118"/>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1A6140-05E9-4F98-9F7A-0B5BF2F57554}">
      <dsp:nvSpPr>
        <dsp:cNvPr id="0" name=""/>
        <dsp:cNvSpPr/>
      </dsp:nvSpPr>
      <dsp:spPr>
        <a:xfrm>
          <a:off x="664893" y="309677"/>
          <a:ext cx="103118" cy="103118"/>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FE86FB-BFBD-4ADE-B86C-796325F2833C}">
      <dsp:nvSpPr>
        <dsp:cNvPr id="0" name=""/>
        <dsp:cNvSpPr/>
      </dsp:nvSpPr>
      <dsp:spPr>
        <a:xfrm>
          <a:off x="895879" y="410734"/>
          <a:ext cx="103118" cy="10311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310377-E442-40F3-99A8-5B86A75E257D}">
      <dsp:nvSpPr>
        <dsp:cNvPr id="0" name=""/>
        <dsp:cNvSpPr/>
      </dsp:nvSpPr>
      <dsp:spPr>
        <a:xfrm>
          <a:off x="1040245" y="482917"/>
          <a:ext cx="162043" cy="162043"/>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ACED0C-96CB-4CA1-95C8-0F152BFC642C}">
      <dsp:nvSpPr>
        <dsp:cNvPr id="0" name=""/>
        <dsp:cNvSpPr/>
      </dsp:nvSpPr>
      <dsp:spPr>
        <a:xfrm>
          <a:off x="1242357" y="641719"/>
          <a:ext cx="103118" cy="103118"/>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63EEF1-52A9-4049-BCEF-AC424DFF895A}">
      <dsp:nvSpPr>
        <dsp:cNvPr id="0" name=""/>
        <dsp:cNvSpPr/>
      </dsp:nvSpPr>
      <dsp:spPr>
        <a:xfrm>
          <a:off x="1328977" y="800522"/>
          <a:ext cx="103118" cy="103118"/>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0EC5D0-6D43-46D2-9245-D99330136064}">
      <dsp:nvSpPr>
        <dsp:cNvPr id="0" name=""/>
        <dsp:cNvSpPr/>
      </dsp:nvSpPr>
      <dsp:spPr>
        <a:xfrm>
          <a:off x="578273" y="497353"/>
          <a:ext cx="265162" cy="265162"/>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A98304-3CD7-4494-99C7-D1CA16B49053}">
      <dsp:nvSpPr>
        <dsp:cNvPr id="0" name=""/>
        <dsp:cNvSpPr/>
      </dsp:nvSpPr>
      <dsp:spPr>
        <a:xfrm>
          <a:off x="15246" y="1045944"/>
          <a:ext cx="103118" cy="10311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341ACA-3601-456E-A5D5-89E5E7BBAAA4}">
      <dsp:nvSpPr>
        <dsp:cNvPr id="0" name=""/>
        <dsp:cNvSpPr/>
      </dsp:nvSpPr>
      <dsp:spPr>
        <a:xfrm>
          <a:off x="101865" y="1175874"/>
          <a:ext cx="162043" cy="162043"/>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D892F0-6FE3-46E2-8DC9-4E071370BCF7}">
      <dsp:nvSpPr>
        <dsp:cNvPr id="0" name=""/>
        <dsp:cNvSpPr/>
      </dsp:nvSpPr>
      <dsp:spPr>
        <a:xfrm>
          <a:off x="318414" y="1291367"/>
          <a:ext cx="235699" cy="235699"/>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307AD2-4D80-4015-8CC6-9E43C09F5E7B}">
      <dsp:nvSpPr>
        <dsp:cNvPr id="0" name=""/>
        <dsp:cNvSpPr/>
      </dsp:nvSpPr>
      <dsp:spPr>
        <a:xfrm>
          <a:off x="621583" y="1479042"/>
          <a:ext cx="103118" cy="103118"/>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91FCA-1EFC-4E2B-A118-6912597699A3}">
      <dsp:nvSpPr>
        <dsp:cNvPr id="0" name=""/>
        <dsp:cNvSpPr/>
      </dsp:nvSpPr>
      <dsp:spPr>
        <a:xfrm>
          <a:off x="679330" y="1291367"/>
          <a:ext cx="162043" cy="162043"/>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B2583-6756-4750-8463-55A6F171DEDF}">
      <dsp:nvSpPr>
        <dsp:cNvPr id="0" name=""/>
        <dsp:cNvSpPr/>
      </dsp:nvSpPr>
      <dsp:spPr>
        <a:xfrm>
          <a:off x="823696" y="1493479"/>
          <a:ext cx="103118" cy="10311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066DEE-5608-468C-B4ED-CE2C9660B4C6}">
      <dsp:nvSpPr>
        <dsp:cNvPr id="0" name=""/>
        <dsp:cNvSpPr/>
      </dsp:nvSpPr>
      <dsp:spPr>
        <a:xfrm>
          <a:off x="953625" y="1262493"/>
          <a:ext cx="235699" cy="23569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43E42-7D8F-4A15-9CA6-E304DA063DF4}">
      <dsp:nvSpPr>
        <dsp:cNvPr id="0" name=""/>
        <dsp:cNvSpPr/>
      </dsp:nvSpPr>
      <dsp:spPr>
        <a:xfrm>
          <a:off x="1271230" y="1204747"/>
          <a:ext cx="162043" cy="162043"/>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49A7C9-3CC2-495D-8692-C808E2BEDD06}">
      <dsp:nvSpPr>
        <dsp:cNvPr id="0" name=""/>
        <dsp:cNvSpPr/>
      </dsp:nvSpPr>
      <dsp:spPr>
        <a:xfrm>
          <a:off x="1433274" y="525986"/>
          <a:ext cx="475898" cy="908542"/>
        </a:xfrm>
        <a:prstGeom prst="chevron">
          <a:avLst>
            <a:gd name="adj" fmla="val 6231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5A39F18-7032-4A26-94E0-678370AA7B70}">
      <dsp:nvSpPr>
        <dsp:cNvPr id="0" name=""/>
        <dsp:cNvSpPr/>
      </dsp:nvSpPr>
      <dsp:spPr>
        <a:xfrm>
          <a:off x="1909173" y="526428"/>
          <a:ext cx="1297905" cy="908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l" defTabSz="533400">
            <a:lnSpc>
              <a:spcPct val="100000"/>
            </a:lnSpc>
            <a:spcBef>
              <a:spcPts val="0"/>
            </a:spcBef>
            <a:spcAft>
              <a:spcPts val="0"/>
            </a:spcAft>
            <a:buFontTx/>
            <a:buNone/>
          </a:pPr>
          <a:r>
            <a:rPr lang="en-US" sz="1200" b="0" i="0" kern="1200">
              <a:solidFill>
                <a:srgbClr val="000000"/>
              </a:solidFill>
              <a:latin typeface="Calibri" panose="020F0502020204030204" pitchFamily="34" charset="0"/>
            </a:rPr>
            <a:t>CXS RX + FLIT FIFO</a:t>
          </a:r>
        </a:p>
        <a:p>
          <a:pPr marL="0" lvl="0" indent="0" algn="l" defTabSz="533400">
            <a:lnSpc>
              <a:spcPct val="100000"/>
            </a:lnSpc>
            <a:spcBef>
              <a:spcPts val="0"/>
            </a:spcBef>
            <a:spcAft>
              <a:spcPts val="0"/>
            </a:spcAft>
            <a:buFontTx/>
            <a:buNone/>
          </a:pPr>
          <a:r>
            <a:rPr lang="en-US" sz="1200" b="0" i="0" kern="1200">
              <a:solidFill>
                <a:srgbClr val="000000"/>
              </a:solidFill>
              <a:latin typeface="Calibri" panose="020F0502020204030204" pitchFamily="34" charset="0"/>
            </a:rPr>
            <a:t>Buffers FLITs, credit-based flow control</a:t>
          </a:r>
          <a:endParaRPr lang="en-US" sz="1200" b="0" i="0" kern="1200" dirty="0">
            <a:solidFill>
              <a:srgbClr val="000000"/>
            </a:solidFill>
            <a:latin typeface="Calibri" panose="020F0502020204030204" pitchFamily="34" charset="0"/>
          </a:endParaRPr>
        </a:p>
      </dsp:txBody>
      <dsp:txXfrm>
        <a:off x="1909173" y="526428"/>
        <a:ext cx="1297905" cy="908534"/>
      </dsp:txXfrm>
    </dsp:sp>
    <dsp:sp modelId="{C06ED2B1-1E49-41E1-96AF-AAF54FBC6D2C}">
      <dsp:nvSpPr>
        <dsp:cNvPr id="0" name=""/>
        <dsp:cNvSpPr/>
      </dsp:nvSpPr>
      <dsp:spPr>
        <a:xfrm>
          <a:off x="3207079" y="525986"/>
          <a:ext cx="475898" cy="908542"/>
        </a:xfrm>
        <a:prstGeom prst="chevron">
          <a:avLst>
            <a:gd name="adj" fmla="val 6231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703FCD-7422-4A8C-8805-6333F4094639}">
      <dsp:nvSpPr>
        <dsp:cNvPr id="0" name=""/>
        <dsp:cNvSpPr/>
      </dsp:nvSpPr>
      <dsp:spPr>
        <a:xfrm>
          <a:off x="3682978" y="526428"/>
          <a:ext cx="1297905" cy="908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l" defTabSz="533400">
            <a:lnSpc>
              <a:spcPct val="100000"/>
            </a:lnSpc>
            <a:spcBef>
              <a:spcPts val="0"/>
            </a:spcBef>
            <a:spcAft>
              <a:spcPts val="0"/>
            </a:spcAft>
            <a:buFontTx/>
            <a:buNone/>
          </a:pPr>
          <a:r>
            <a:rPr lang="en-US" sz="1200" b="0" i="0" kern="1200">
              <a:solidFill>
                <a:srgbClr val="000000"/>
              </a:solidFill>
              <a:latin typeface="Calibri" panose="020F0502020204030204" pitchFamily="34" charset="0"/>
            </a:rPr>
            <a:t>Packet Formatter</a:t>
          </a:r>
        </a:p>
        <a:p>
          <a:pPr marL="0" lvl="0" indent="0" algn="l" defTabSz="533400">
            <a:lnSpc>
              <a:spcPct val="100000"/>
            </a:lnSpc>
            <a:spcBef>
              <a:spcPts val="0"/>
            </a:spcBef>
            <a:spcAft>
              <a:spcPts val="0"/>
            </a:spcAft>
            <a:buFontTx/>
            <a:buNone/>
          </a:pPr>
          <a:r>
            <a:rPr lang="en-US" sz="1200" b="0" i="0" kern="1200">
              <a:solidFill>
                <a:srgbClr val="000000"/>
              </a:solidFill>
              <a:latin typeface="Calibri" panose="020F0502020204030204" pitchFamily="34" charset="0"/>
            </a:rPr>
            <a:t>CXSCNTL decode → valid 32-bit TLP words</a:t>
          </a:r>
          <a:endParaRPr lang="en-US" sz="1200" b="0" i="0" kern="1200" dirty="0">
            <a:solidFill>
              <a:srgbClr val="000000"/>
            </a:solidFill>
            <a:latin typeface="Calibri" panose="020F0502020204030204" pitchFamily="34" charset="0"/>
          </a:endParaRPr>
        </a:p>
      </dsp:txBody>
      <dsp:txXfrm>
        <a:off x="3682978" y="526428"/>
        <a:ext cx="1297905" cy="908534"/>
      </dsp:txXfrm>
    </dsp:sp>
    <dsp:sp modelId="{67CC8161-BB6A-4445-AC47-CC81C685EC85}">
      <dsp:nvSpPr>
        <dsp:cNvPr id="0" name=""/>
        <dsp:cNvSpPr/>
      </dsp:nvSpPr>
      <dsp:spPr>
        <a:xfrm>
          <a:off x="4980883" y="525986"/>
          <a:ext cx="475898" cy="908542"/>
        </a:xfrm>
        <a:prstGeom prst="chevron">
          <a:avLst>
            <a:gd name="adj" fmla="val 6231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0D481C-09E9-49F6-B246-1F797D8518E5}">
      <dsp:nvSpPr>
        <dsp:cNvPr id="0" name=""/>
        <dsp:cNvSpPr/>
      </dsp:nvSpPr>
      <dsp:spPr>
        <a:xfrm>
          <a:off x="5456782" y="526428"/>
          <a:ext cx="1297905" cy="908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l" defTabSz="533400">
            <a:lnSpc>
              <a:spcPct val="100000"/>
            </a:lnSpc>
            <a:spcBef>
              <a:spcPts val="0"/>
            </a:spcBef>
            <a:spcAft>
              <a:spcPts val="0"/>
            </a:spcAft>
            <a:buFontTx/>
            <a:buNone/>
          </a:pPr>
          <a:r>
            <a:rPr lang="en-US" sz="1200" b="0" i="0" kern="1200">
              <a:solidFill>
                <a:srgbClr val="000000"/>
              </a:solidFill>
              <a:latin typeface="Calibri" panose="020F0502020204030204" pitchFamily="34" charset="0"/>
            </a:rPr>
            <a:t>Async FIFO</a:t>
          </a:r>
        </a:p>
        <a:p>
          <a:pPr marL="0" lvl="0" indent="0" algn="l" defTabSz="533400">
            <a:lnSpc>
              <a:spcPct val="100000"/>
            </a:lnSpc>
            <a:spcBef>
              <a:spcPts val="0"/>
            </a:spcBef>
            <a:spcAft>
              <a:spcPts val="0"/>
            </a:spcAft>
            <a:buFontTx/>
            <a:buNone/>
          </a:pPr>
          <a:r>
            <a:rPr lang="en-US" sz="1200" b="0" i="0" kern="1200">
              <a:solidFill>
                <a:srgbClr val="000000"/>
              </a:solidFill>
              <a:latin typeface="Calibri" panose="020F0502020204030204" pitchFamily="34" charset="0"/>
            </a:rPr>
            <a:t>CDC buffer: CXS clk → System clk</a:t>
          </a:r>
          <a:endParaRPr lang="en-US" sz="1200" b="0" i="0" kern="1200" dirty="0">
            <a:solidFill>
              <a:srgbClr val="000000"/>
            </a:solidFill>
            <a:latin typeface="Calibri" panose="020F0502020204030204" pitchFamily="34" charset="0"/>
          </a:endParaRPr>
        </a:p>
      </dsp:txBody>
      <dsp:txXfrm>
        <a:off x="5456782" y="526428"/>
        <a:ext cx="1297905" cy="908534"/>
      </dsp:txXfrm>
    </dsp:sp>
    <dsp:sp modelId="{FE58C54D-ECCD-4013-BFE5-708F6ACE58EE}">
      <dsp:nvSpPr>
        <dsp:cNvPr id="0" name=""/>
        <dsp:cNvSpPr/>
      </dsp:nvSpPr>
      <dsp:spPr>
        <a:xfrm>
          <a:off x="6754688" y="525986"/>
          <a:ext cx="475898" cy="908542"/>
        </a:xfrm>
        <a:prstGeom prst="chevron">
          <a:avLst>
            <a:gd name="adj" fmla="val 6231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A22D33A-2DCE-4E88-B73B-770BD077B44C}">
      <dsp:nvSpPr>
        <dsp:cNvPr id="0" name=""/>
        <dsp:cNvSpPr/>
      </dsp:nvSpPr>
      <dsp:spPr>
        <a:xfrm>
          <a:off x="7282503" y="450902"/>
          <a:ext cx="1103220" cy="1103220"/>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a:t>Control Unit</a:t>
          </a:r>
          <a:endParaRPr lang="en-US" sz="1600" kern="1200" dirty="0"/>
        </a:p>
      </dsp:txBody>
      <dsp:txXfrm>
        <a:off x="7444066" y="612465"/>
        <a:ext cx="780094" cy="7800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D4A26-DF03-44E0-90C0-7FE16DEB00A3}">
      <dsp:nvSpPr>
        <dsp:cNvPr id="0" name=""/>
        <dsp:cNvSpPr/>
      </dsp:nvSpPr>
      <dsp:spPr>
        <a:xfrm>
          <a:off x="1286803" y="590282"/>
          <a:ext cx="1612192" cy="531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l" defTabSz="444500">
            <a:lnSpc>
              <a:spcPct val="100000"/>
            </a:lnSpc>
            <a:spcBef>
              <a:spcPts val="0"/>
            </a:spcBef>
            <a:spcAft>
              <a:spcPts val="0"/>
            </a:spcAft>
            <a:buFontTx/>
            <a:buNone/>
          </a:pPr>
          <a:r>
            <a:rPr lang="en-US" sz="1000" b="0" i="0" kern="1200">
              <a:solidFill>
                <a:srgbClr val="000000"/>
              </a:solidFill>
              <a:latin typeface="Calibri" panose="020F0502020204030204" pitchFamily="34" charset="0"/>
            </a:rPr>
            <a:t>ATU + Encryption + Parity</a:t>
          </a:r>
        </a:p>
        <a:p>
          <a:pPr marL="0" lvl="0" indent="0" algn="l" defTabSz="444500">
            <a:lnSpc>
              <a:spcPct val="100000"/>
            </a:lnSpc>
            <a:spcBef>
              <a:spcPts val="0"/>
            </a:spcBef>
            <a:spcAft>
              <a:spcPts val="0"/>
            </a:spcAft>
            <a:buFontTx/>
            <a:buNone/>
          </a:pPr>
          <a:r>
            <a:rPr lang="en-US" sz="1000" b="0" i="0" kern="1200">
              <a:solidFill>
                <a:srgbClr val="000000"/>
              </a:solidFill>
              <a:latin typeface="Calibri" panose="020F0502020204030204" pitchFamily="34" charset="0"/>
            </a:rPr>
            <a:t>Translates address, encrypts payload, appends parity</a:t>
          </a:r>
          <a:endParaRPr lang="en-US" sz="1000" b="0" i="0" kern="1200" dirty="0">
            <a:solidFill>
              <a:srgbClr val="000000"/>
            </a:solidFill>
            <a:latin typeface="Calibri" panose="020F0502020204030204" pitchFamily="34" charset="0"/>
          </a:endParaRPr>
        </a:p>
      </dsp:txBody>
      <dsp:txXfrm>
        <a:off x="1286803" y="590282"/>
        <a:ext cx="1612192" cy="531290"/>
      </dsp:txXfrm>
    </dsp:sp>
    <dsp:sp modelId="{56956B0C-A52F-4D18-B3A5-9A044355D7F7}">
      <dsp:nvSpPr>
        <dsp:cNvPr id="0" name=""/>
        <dsp:cNvSpPr/>
      </dsp:nvSpPr>
      <dsp:spPr>
        <a:xfrm>
          <a:off x="1284971" y="428696"/>
          <a:ext cx="128242" cy="12824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076EF9-67D6-4ACA-B8F9-C06F1D72CEA0}">
      <dsp:nvSpPr>
        <dsp:cNvPr id="0" name=""/>
        <dsp:cNvSpPr/>
      </dsp:nvSpPr>
      <dsp:spPr>
        <a:xfrm>
          <a:off x="1374741" y="249157"/>
          <a:ext cx="128242" cy="12824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4AFA6C-A619-4AE8-BC66-CEEE69D62EA3}">
      <dsp:nvSpPr>
        <dsp:cNvPr id="0" name=""/>
        <dsp:cNvSpPr/>
      </dsp:nvSpPr>
      <dsp:spPr>
        <a:xfrm>
          <a:off x="1590188" y="285065"/>
          <a:ext cx="201524" cy="20152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B33716-A694-4C07-97B9-5235BA67F503}">
      <dsp:nvSpPr>
        <dsp:cNvPr id="0" name=""/>
        <dsp:cNvSpPr/>
      </dsp:nvSpPr>
      <dsp:spPr>
        <a:xfrm>
          <a:off x="1769728" y="87571"/>
          <a:ext cx="128242" cy="128242"/>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8699B4-84C6-4C3C-9D67-C1DF3D646DC3}">
      <dsp:nvSpPr>
        <dsp:cNvPr id="0" name=""/>
        <dsp:cNvSpPr/>
      </dsp:nvSpPr>
      <dsp:spPr>
        <a:xfrm>
          <a:off x="2003129" y="15755"/>
          <a:ext cx="128242" cy="128242"/>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4B248F-FAFD-4467-A204-75A98BE5970C}">
      <dsp:nvSpPr>
        <dsp:cNvPr id="0" name=""/>
        <dsp:cNvSpPr/>
      </dsp:nvSpPr>
      <dsp:spPr>
        <a:xfrm>
          <a:off x="2290393" y="141433"/>
          <a:ext cx="128242" cy="12824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9D6872-0A5D-4928-8BAB-71F1709943FF}">
      <dsp:nvSpPr>
        <dsp:cNvPr id="0" name=""/>
        <dsp:cNvSpPr/>
      </dsp:nvSpPr>
      <dsp:spPr>
        <a:xfrm>
          <a:off x="2469932" y="231203"/>
          <a:ext cx="201524" cy="201524"/>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6F582B-F955-4DC2-8917-1D439D9A3AEA}">
      <dsp:nvSpPr>
        <dsp:cNvPr id="0" name=""/>
        <dsp:cNvSpPr/>
      </dsp:nvSpPr>
      <dsp:spPr>
        <a:xfrm>
          <a:off x="2721288" y="428696"/>
          <a:ext cx="128242" cy="12824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7C42E7-DDA0-40B6-9E02-38A7A19A7653}">
      <dsp:nvSpPr>
        <dsp:cNvPr id="0" name=""/>
        <dsp:cNvSpPr/>
      </dsp:nvSpPr>
      <dsp:spPr>
        <a:xfrm>
          <a:off x="2829011" y="626190"/>
          <a:ext cx="128242" cy="128242"/>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F52567-6319-4AFD-8D96-02F9EFAB9362}">
      <dsp:nvSpPr>
        <dsp:cNvPr id="0" name=""/>
        <dsp:cNvSpPr/>
      </dsp:nvSpPr>
      <dsp:spPr>
        <a:xfrm>
          <a:off x="1895406" y="249157"/>
          <a:ext cx="329766" cy="329766"/>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BFB5F1-4782-4A27-8DFF-CC6DE6E8A2A7}">
      <dsp:nvSpPr>
        <dsp:cNvPr id="0" name=""/>
        <dsp:cNvSpPr/>
      </dsp:nvSpPr>
      <dsp:spPr>
        <a:xfrm>
          <a:off x="1195201" y="931407"/>
          <a:ext cx="128242" cy="12824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5DEC05-2F75-4981-AC14-7249BD13BFC3}">
      <dsp:nvSpPr>
        <dsp:cNvPr id="0" name=""/>
        <dsp:cNvSpPr/>
      </dsp:nvSpPr>
      <dsp:spPr>
        <a:xfrm>
          <a:off x="1302925" y="1092993"/>
          <a:ext cx="201524" cy="201524"/>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6B692F-FCB3-4477-AEFB-804B1AF63466}">
      <dsp:nvSpPr>
        <dsp:cNvPr id="0" name=""/>
        <dsp:cNvSpPr/>
      </dsp:nvSpPr>
      <dsp:spPr>
        <a:xfrm>
          <a:off x="1572234" y="1236625"/>
          <a:ext cx="293125" cy="293125"/>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167764-4DC3-46F2-BE44-82DD2CD73ADC}">
      <dsp:nvSpPr>
        <dsp:cNvPr id="0" name=""/>
        <dsp:cNvSpPr/>
      </dsp:nvSpPr>
      <dsp:spPr>
        <a:xfrm>
          <a:off x="1949267" y="1470026"/>
          <a:ext cx="128242" cy="128242"/>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FE7225-B096-42CB-8FFD-EC5BB3ED8B04}">
      <dsp:nvSpPr>
        <dsp:cNvPr id="0" name=""/>
        <dsp:cNvSpPr/>
      </dsp:nvSpPr>
      <dsp:spPr>
        <a:xfrm>
          <a:off x="2021083" y="1236625"/>
          <a:ext cx="201524" cy="201524"/>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17FDFA-316C-4C36-8094-56A3D0F51284}">
      <dsp:nvSpPr>
        <dsp:cNvPr id="0" name=""/>
        <dsp:cNvSpPr/>
      </dsp:nvSpPr>
      <dsp:spPr>
        <a:xfrm>
          <a:off x="2200623" y="1487980"/>
          <a:ext cx="128242" cy="12824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C8FD4E-0286-487A-83BD-67045791B957}">
      <dsp:nvSpPr>
        <dsp:cNvPr id="0" name=""/>
        <dsp:cNvSpPr/>
      </dsp:nvSpPr>
      <dsp:spPr>
        <a:xfrm>
          <a:off x="2362209" y="1200717"/>
          <a:ext cx="293125" cy="293125"/>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A72891-DBA4-4583-842A-D01E5D67C2D4}">
      <dsp:nvSpPr>
        <dsp:cNvPr id="0" name=""/>
        <dsp:cNvSpPr/>
      </dsp:nvSpPr>
      <dsp:spPr>
        <a:xfrm>
          <a:off x="2757196" y="1128901"/>
          <a:ext cx="201524" cy="20152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6FBBAA-8B9D-4A8A-8FB7-04CAB0A37AAE}">
      <dsp:nvSpPr>
        <dsp:cNvPr id="0" name=""/>
        <dsp:cNvSpPr/>
      </dsp:nvSpPr>
      <dsp:spPr>
        <a:xfrm>
          <a:off x="2958720" y="284766"/>
          <a:ext cx="591847" cy="1129901"/>
        </a:xfrm>
        <a:prstGeom prst="chevron">
          <a:avLst>
            <a:gd name="adj" fmla="val 6231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2D5A58E-F798-4436-BB68-0C5B1027AE1A}">
      <dsp:nvSpPr>
        <dsp:cNvPr id="0" name=""/>
        <dsp:cNvSpPr/>
      </dsp:nvSpPr>
      <dsp:spPr>
        <a:xfrm>
          <a:off x="3550567" y="285315"/>
          <a:ext cx="1614129" cy="1129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l" defTabSz="444500">
            <a:lnSpc>
              <a:spcPct val="100000"/>
            </a:lnSpc>
            <a:spcBef>
              <a:spcPts val="0"/>
            </a:spcBef>
            <a:spcAft>
              <a:spcPts val="0"/>
            </a:spcAft>
            <a:buFontTx/>
            <a:buNone/>
          </a:pPr>
          <a:r>
            <a:rPr lang="en-US" sz="1000" b="0" i="0" kern="1200">
              <a:solidFill>
                <a:srgbClr val="000000"/>
              </a:solidFill>
              <a:latin typeface="Calibri" panose="020F0502020204030204" pitchFamily="34" charset="0"/>
            </a:rPr>
            <a:t>CDM</a:t>
          </a:r>
        </a:p>
        <a:p>
          <a:pPr marL="0" lvl="0" indent="0" algn="l" defTabSz="444500">
            <a:lnSpc>
              <a:spcPct val="100000"/>
            </a:lnSpc>
            <a:spcBef>
              <a:spcPts val="0"/>
            </a:spcBef>
            <a:spcAft>
              <a:spcPts val="0"/>
            </a:spcAft>
            <a:buFontTx/>
            <a:buNone/>
          </a:pPr>
          <a:r>
            <a:rPr lang="en-US" sz="1000" b="0" i="0" kern="1200">
              <a:solidFill>
                <a:srgbClr val="000000"/>
              </a:solidFill>
              <a:latin typeface="Calibri" panose="020F0502020204030204" pitchFamily="34" charset="0"/>
            </a:rPr>
            <a:t>Stores config (direct write) or encrypted payload (ATU address)</a:t>
          </a:r>
          <a:endParaRPr lang="en-US" sz="1000" b="0" i="0" kern="1200" dirty="0">
            <a:solidFill>
              <a:srgbClr val="000000"/>
            </a:solidFill>
            <a:latin typeface="Calibri" panose="020F0502020204030204" pitchFamily="34" charset="0"/>
          </a:endParaRPr>
        </a:p>
      </dsp:txBody>
      <dsp:txXfrm>
        <a:off x="3550567" y="285315"/>
        <a:ext cx="1614129" cy="1129890"/>
      </dsp:txXfrm>
    </dsp:sp>
    <dsp:sp modelId="{A507033C-DA96-4FB6-AB57-9FBC53A77E2C}">
      <dsp:nvSpPr>
        <dsp:cNvPr id="0" name=""/>
        <dsp:cNvSpPr/>
      </dsp:nvSpPr>
      <dsp:spPr>
        <a:xfrm>
          <a:off x="5164696" y="284766"/>
          <a:ext cx="591847" cy="1129901"/>
        </a:xfrm>
        <a:prstGeom prst="chevron">
          <a:avLst>
            <a:gd name="adj" fmla="val 6231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29FE0CA-5284-46B2-9270-FEE66F216410}">
      <dsp:nvSpPr>
        <dsp:cNvPr id="0" name=""/>
        <dsp:cNvSpPr/>
      </dsp:nvSpPr>
      <dsp:spPr>
        <a:xfrm>
          <a:off x="5821109" y="191389"/>
          <a:ext cx="1372009" cy="137200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44500">
            <a:lnSpc>
              <a:spcPct val="100000"/>
            </a:lnSpc>
            <a:spcBef>
              <a:spcPts val="0"/>
            </a:spcBef>
            <a:spcAft>
              <a:spcPts val="0"/>
            </a:spcAft>
            <a:buFontTx/>
            <a:buNone/>
          </a:pPr>
          <a:r>
            <a:rPr lang="en-US" sz="1000" b="0" i="0" kern="1200">
              <a:solidFill>
                <a:srgbClr val="FFFFFF"/>
              </a:solidFill>
              <a:latin typeface="Calibri" panose="020F0502020204030204" pitchFamily="34" charset="0"/>
            </a:rPr>
            <a:t>Error Return + CXS TX</a:t>
          </a:r>
        </a:p>
        <a:p>
          <a:pPr marL="0" lvl="0" indent="0" algn="l" defTabSz="444500">
            <a:lnSpc>
              <a:spcPct val="100000"/>
            </a:lnSpc>
            <a:spcBef>
              <a:spcPts val="0"/>
            </a:spcBef>
            <a:spcAft>
              <a:spcPts val="0"/>
            </a:spcAft>
            <a:buFontTx/>
            <a:buNone/>
          </a:pPr>
          <a:r>
            <a:rPr lang="en-US" sz="1000" b="0" i="0" kern="1200">
              <a:solidFill>
                <a:srgbClr val="FFFFFF"/>
              </a:solidFill>
              <a:latin typeface="Calibri" panose="020F0502020204030204" pitchFamily="34" charset="0"/>
            </a:rPr>
            <a:t>Toggle sync System → CXS clk; response FLIT sent</a:t>
          </a:r>
          <a:endParaRPr lang="en-US" sz="1000" b="0" i="0" kern="1200" dirty="0">
            <a:solidFill>
              <a:srgbClr val="FFFFFF"/>
            </a:solidFill>
            <a:latin typeface="Calibri" panose="020F0502020204030204" pitchFamily="34" charset="0"/>
          </a:endParaRPr>
        </a:p>
      </dsp:txBody>
      <dsp:txXfrm>
        <a:off x="6022035" y="392315"/>
        <a:ext cx="970157" cy="9701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FC3EA6-84C2-461D-B07A-36D241C9725D}">
      <dsp:nvSpPr>
        <dsp:cNvPr id="0" name=""/>
        <dsp:cNvSpPr/>
      </dsp:nvSpPr>
      <dsp:spPr>
        <a:xfrm>
          <a:off x="1515519" y="852"/>
          <a:ext cx="2273278" cy="676284"/>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a:latin typeface="Times New Roman" panose="02020603050405020304" pitchFamily="18" charset="0"/>
              <a:cs typeface="Times New Roman" panose="02020603050405020304" pitchFamily="18" charset="0"/>
            </a:rPr>
            <a:t>Writes the 270-bit FLIT {CXSCNTL, CXSDATA} into the FLIT FIFO when CXSVALID is high and the FIFO is not full</a:t>
          </a:r>
          <a:endParaRPr lang="en-US" sz="900" kern="1200" dirty="0">
            <a:solidFill>
              <a:srgbClr val="1E2761"/>
            </a:solidFill>
            <a:latin typeface="Times New Roman" panose="02020603050405020304" pitchFamily="18" charset="0"/>
            <a:cs typeface="Times New Roman" panose="02020603050405020304" pitchFamily="18" charset="0"/>
          </a:endParaRPr>
        </a:p>
      </dsp:txBody>
      <dsp:txXfrm>
        <a:off x="1515519" y="85388"/>
        <a:ext cx="2019672" cy="507213"/>
      </dsp:txXfrm>
    </dsp:sp>
    <dsp:sp modelId="{25F89F97-50D4-4A4E-8E8D-7183F38EC508}">
      <dsp:nvSpPr>
        <dsp:cNvPr id="0" name=""/>
        <dsp:cNvSpPr/>
      </dsp:nvSpPr>
      <dsp:spPr>
        <a:xfrm>
          <a:off x="0" y="852"/>
          <a:ext cx="1515519" cy="6762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0" kern="1200">
              <a:latin typeface="Times New Roman" panose="02020603050405020304" pitchFamily="18" charset="0"/>
              <a:cs typeface="Times New Roman" panose="02020603050405020304" pitchFamily="18" charset="0"/>
            </a:rPr>
            <a:t>RX Interface</a:t>
          </a:r>
          <a:endParaRPr lang="en-US" sz="1100" b="0" kern="1200" dirty="0">
            <a:latin typeface="Times New Roman" panose="02020603050405020304" pitchFamily="18" charset="0"/>
            <a:cs typeface="Times New Roman" panose="02020603050405020304" pitchFamily="18" charset="0"/>
          </a:endParaRPr>
        </a:p>
      </dsp:txBody>
      <dsp:txXfrm>
        <a:off x="33013" y="33865"/>
        <a:ext cx="1449493" cy="610258"/>
      </dsp:txXfrm>
    </dsp:sp>
    <dsp:sp modelId="{A6588C23-84DC-45FC-B0BE-9C582CDA7B87}">
      <dsp:nvSpPr>
        <dsp:cNvPr id="0" name=""/>
        <dsp:cNvSpPr/>
      </dsp:nvSpPr>
      <dsp:spPr>
        <a:xfrm>
          <a:off x="1515519" y="744765"/>
          <a:ext cx="2273278" cy="676284"/>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a:solidFill>
                <a:srgbClr val="1E2761"/>
              </a:solidFill>
              <a:latin typeface="Times New Roman" panose="02020603050405020304" pitchFamily="18" charset="0"/>
              <a:cs typeface="Times New Roman" panose="02020603050405020304" pitchFamily="18" charset="0"/>
            </a:rPr>
            <a:t>Synchronous 16-entry FIFO on the CXS clock; full/empty from wrap-bit pointers; registered read</a:t>
          </a:r>
          <a:endParaRPr lang="en-US" sz="900" kern="1200" dirty="0">
            <a:solidFill>
              <a:srgbClr val="1E2761"/>
            </a:solidFill>
            <a:latin typeface="Times New Roman" panose="02020603050405020304" pitchFamily="18" charset="0"/>
            <a:cs typeface="Times New Roman" panose="02020603050405020304" pitchFamily="18" charset="0"/>
          </a:endParaRPr>
        </a:p>
      </dsp:txBody>
      <dsp:txXfrm>
        <a:off x="1515519" y="829301"/>
        <a:ext cx="2019672" cy="507213"/>
      </dsp:txXfrm>
    </dsp:sp>
    <dsp:sp modelId="{DE02EA0E-7599-4846-B043-FD1217C7F6EA}">
      <dsp:nvSpPr>
        <dsp:cNvPr id="0" name=""/>
        <dsp:cNvSpPr/>
      </dsp:nvSpPr>
      <dsp:spPr>
        <a:xfrm>
          <a:off x="0" y="744765"/>
          <a:ext cx="1515519" cy="6762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0" kern="1200">
              <a:latin typeface="Times New Roman" panose="02020603050405020304" pitchFamily="18" charset="0"/>
              <a:cs typeface="Times New Roman" panose="02020603050405020304" pitchFamily="18" charset="0"/>
            </a:rPr>
            <a:t>FLIT FIFO</a:t>
          </a:r>
          <a:endParaRPr lang="en-US" sz="1100" b="0" kern="1200" dirty="0">
            <a:latin typeface="Times New Roman" panose="02020603050405020304" pitchFamily="18" charset="0"/>
            <a:cs typeface="Times New Roman" panose="02020603050405020304" pitchFamily="18" charset="0"/>
          </a:endParaRPr>
        </a:p>
      </dsp:txBody>
      <dsp:txXfrm>
        <a:off x="33013" y="777778"/>
        <a:ext cx="1449493" cy="610258"/>
      </dsp:txXfrm>
    </dsp:sp>
    <dsp:sp modelId="{2C810BC6-397B-47FC-9A17-0B6327A40F78}">
      <dsp:nvSpPr>
        <dsp:cNvPr id="0" name=""/>
        <dsp:cNvSpPr/>
      </dsp:nvSpPr>
      <dsp:spPr>
        <a:xfrm>
          <a:off x="1515519" y="1488679"/>
          <a:ext cx="2273278" cy="676284"/>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a:solidFill>
                <a:srgbClr val="1E2761"/>
              </a:solidFill>
              <a:latin typeface="Times New Roman" panose="02020603050405020304" pitchFamily="18" charset="0"/>
              <a:cs typeface="Times New Roman" panose="02020603050405020304" pitchFamily="18" charset="0"/>
            </a:rPr>
            <a:t>Counter starts at the FIFO depth: −1 per write, +1 per read; CXSRXCRDGNT asserted while credits remain</a:t>
          </a:r>
          <a:endParaRPr lang="en-US" sz="900" kern="1200" dirty="0">
            <a:solidFill>
              <a:srgbClr val="1E2761"/>
            </a:solidFill>
            <a:latin typeface="Times New Roman" panose="02020603050405020304" pitchFamily="18" charset="0"/>
            <a:cs typeface="Times New Roman" panose="02020603050405020304" pitchFamily="18" charset="0"/>
          </a:endParaRPr>
        </a:p>
      </dsp:txBody>
      <dsp:txXfrm>
        <a:off x="1515519" y="1573215"/>
        <a:ext cx="2019672" cy="507213"/>
      </dsp:txXfrm>
    </dsp:sp>
    <dsp:sp modelId="{5BDA8100-EC44-4978-ACB5-ABFCF6719408}">
      <dsp:nvSpPr>
        <dsp:cNvPr id="0" name=""/>
        <dsp:cNvSpPr/>
      </dsp:nvSpPr>
      <dsp:spPr>
        <a:xfrm>
          <a:off x="0" y="1488679"/>
          <a:ext cx="1515519" cy="6762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0" kern="1200">
              <a:latin typeface="Times New Roman" panose="02020603050405020304" pitchFamily="18" charset="0"/>
              <a:cs typeface="Times New Roman" panose="02020603050405020304" pitchFamily="18" charset="0"/>
            </a:rPr>
            <a:t>Credit Manager</a:t>
          </a:r>
          <a:endParaRPr lang="en-US" sz="1100" b="0" kern="1200" dirty="0">
            <a:latin typeface="Times New Roman" panose="02020603050405020304" pitchFamily="18" charset="0"/>
            <a:cs typeface="Times New Roman" panose="02020603050405020304" pitchFamily="18" charset="0"/>
          </a:endParaRPr>
        </a:p>
      </dsp:txBody>
      <dsp:txXfrm>
        <a:off x="33013" y="1521692"/>
        <a:ext cx="1449493" cy="610258"/>
      </dsp:txXfrm>
    </dsp:sp>
    <dsp:sp modelId="{57366C1C-DE19-454D-B5BA-3D8FF24965D7}">
      <dsp:nvSpPr>
        <dsp:cNvPr id="0" name=""/>
        <dsp:cNvSpPr/>
      </dsp:nvSpPr>
      <dsp:spPr>
        <a:xfrm>
          <a:off x="1515519" y="2232592"/>
          <a:ext cx="2273278" cy="676284"/>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a:solidFill>
                <a:srgbClr val="1E2761"/>
              </a:solidFill>
              <a:latin typeface="Times New Roman" panose="02020603050405020304" pitchFamily="18" charset="0"/>
              <a:cs typeface="Times New Roman" panose="02020603050405020304" pitchFamily="18" charset="0"/>
            </a:rPr>
            <a:t>Decodes CXSCNTL START/END pointers and writes only valid 32-bit TLP words into the Async FIFO</a:t>
          </a:r>
          <a:endParaRPr lang="en-US" sz="900" kern="1200" dirty="0">
            <a:solidFill>
              <a:srgbClr val="1E2761"/>
            </a:solidFill>
            <a:latin typeface="Times New Roman" panose="02020603050405020304" pitchFamily="18" charset="0"/>
            <a:cs typeface="Times New Roman" panose="02020603050405020304" pitchFamily="18" charset="0"/>
          </a:endParaRPr>
        </a:p>
      </dsp:txBody>
      <dsp:txXfrm>
        <a:off x="1515519" y="2317128"/>
        <a:ext cx="2019672" cy="507213"/>
      </dsp:txXfrm>
    </dsp:sp>
    <dsp:sp modelId="{3EA53BCA-1223-46E2-81A0-5C1752CFD4A6}">
      <dsp:nvSpPr>
        <dsp:cNvPr id="0" name=""/>
        <dsp:cNvSpPr/>
      </dsp:nvSpPr>
      <dsp:spPr>
        <a:xfrm>
          <a:off x="0" y="2232592"/>
          <a:ext cx="1515519" cy="6762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0" kern="1200">
              <a:latin typeface="Times New Roman" panose="02020603050405020304" pitchFamily="18" charset="0"/>
              <a:cs typeface="Times New Roman" panose="02020603050405020304" pitchFamily="18" charset="0"/>
            </a:rPr>
            <a:t>Packet Formatter</a:t>
          </a:r>
          <a:endParaRPr lang="en-US" sz="1100" b="0" kern="1200" dirty="0">
            <a:latin typeface="Times New Roman" panose="02020603050405020304" pitchFamily="18" charset="0"/>
            <a:cs typeface="Times New Roman" panose="02020603050405020304" pitchFamily="18" charset="0"/>
          </a:endParaRPr>
        </a:p>
      </dsp:txBody>
      <dsp:txXfrm>
        <a:off x="33013" y="2265605"/>
        <a:ext cx="1449493" cy="6102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FC3EA6-84C2-461D-B07A-36D241C9725D}">
      <dsp:nvSpPr>
        <dsp:cNvPr id="0" name=""/>
        <dsp:cNvSpPr/>
      </dsp:nvSpPr>
      <dsp:spPr>
        <a:xfrm>
          <a:off x="1515519" y="852"/>
          <a:ext cx="2273278" cy="676284"/>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a:solidFill>
                <a:srgbClr val="1E2761"/>
              </a:solidFill>
              <a:latin typeface="Times New Roman" panose="02020603050405020304" pitchFamily="18" charset="0"/>
              <a:cs typeface="Times New Roman" panose="02020603050405020304" pitchFamily="18" charset="0"/>
            </a:rPr>
            <a:t>On a synchronized error pulse, builds a one-word response FLIT: opcode 0xE0 + 2-bit error code, START0/END0 set</a:t>
          </a:r>
          <a:endParaRPr lang="en-US" sz="900" kern="1200" dirty="0">
            <a:solidFill>
              <a:srgbClr val="1E2761"/>
            </a:solidFill>
            <a:latin typeface="Times New Roman" panose="02020603050405020304" pitchFamily="18" charset="0"/>
            <a:cs typeface="Times New Roman" panose="02020603050405020304" pitchFamily="18" charset="0"/>
          </a:endParaRPr>
        </a:p>
      </dsp:txBody>
      <dsp:txXfrm>
        <a:off x="1515519" y="85388"/>
        <a:ext cx="2019672" cy="507213"/>
      </dsp:txXfrm>
    </dsp:sp>
    <dsp:sp modelId="{25F89F97-50D4-4A4E-8E8D-7183F38EC508}">
      <dsp:nvSpPr>
        <dsp:cNvPr id="0" name=""/>
        <dsp:cNvSpPr/>
      </dsp:nvSpPr>
      <dsp:spPr>
        <a:xfrm>
          <a:off x="0" y="852"/>
          <a:ext cx="1515519" cy="6762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0" kern="1200">
              <a:latin typeface="Times New Roman" panose="02020603050405020304" pitchFamily="18" charset="0"/>
              <a:cs typeface="Times New Roman" panose="02020603050405020304" pitchFamily="18" charset="0"/>
            </a:rPr>
            <a:t>Packet Encoder</a:t>
          </a:r>
          <a:endParaRPr lang="en-US" sz="1100" b="0" kern="1200" dirty="0">
            <a:latin typeface="Times New Roman" panose="02020603050405020304" pitchFamily="18" charset="0"/>
            <a:cs typeface="Times New Roman" panose="02020603050405020304" pitchFamily="18" charset="0"/>
          </a:endParaRPr>
        </a:p>
      </dsp:txBody>
      <dsp:txXfrm>
        <a:off x="33013" y="33865"/>
        <a:ext cx="1449493" cy="610258"/>
      </dsp:txXfrm>
    </dsp:sp>
    <dsp:sp modelId="{A6588C23-84DC-45FC-B0BE-9C582CDA7B87}">
      <dsp:nvSpPr>
        <dsp:cNvPr id="0" name=""/>
        <dsp:cNvSpPr/>
      </dsp:nvSpPr>
      <dsp:spPr>
        <a:xfrm>
          <a:off x="1515519" y="744765"/>
          <a:ext cx="2273278" cy="676284"/>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a:solidFill>
                <a:srgbClr val="1E2761"/>
              </a:solidFill>
              <a:latin typeface="Times New Roman" panose="02020603050405020304" pitchFamily="18" charset="0"/>
              <a:cs typeface="Times New Roman" panose="02020603050405020304" pitchFamily="18" charset="0"/>
            </a:rPr>
            <a:t>Holds one pending FLIT; flit_ready stays low until it is transmitted</a:t>
          </a:r>
          <a:endParaRPr lang="en-US" sz="900" kern="1200" dirty="0">
            <a:solidFill>
              <a:srgbClr val="1E2761"/>
            </a:solidFill>
            <a:latin typeface="Times New Roman" panose="02020603050405020304" pitchFamily="18" charset="0"/>
            <a:cs typeface="Times New Roman" panose="02020603050405020304" pitchFamily="18" charset="0"/>
          </a:endParaRPr>
        </a:p>
      </dsp:txBody>
      <dsp:txXfrm>
        <a:off x="1515519" y="829301"/>
        <a:ext cx="2019672" cy="507213"/>
      </dsp:txXfrm>
    </dsp:sp>
    <dsp:sp modelId="{DE02EA0E-7599-4846-B043-FD1217C7F6EA}">
      <dsp:nvSpPr>
        <dsp:cNvPr id="0" name=""/>
        <dsp:cNvSpPr/>
      </dsp:nvSpPr>
      <dsp:spPr>
        <a:xfrm>
          <a:off x="0" y="744765"/>
          <a:ext cx="1515519" cy="6762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0" kern="1200">
              <a:latin typeface="Times New Roman" panose="02020603050405020304" pitchFamily="18" charset="0"/>
              <a:cs typeface="Times New Roman" panose="02020603050405020304" pitchFamily="18" charset="0"/>
            </a:rPr>
            <a:t>TX Holding Register</a:t>
          </a:r>
          <a:endParaRPr lang="en-US" sz="1100" b="0" kern="1200" dirty="0">
            <a:latin typeface="Times New Roman" panose="02020603050405020304" pitchFamily="18" charset="0"/>
            <a:cs typeface="Times New Roman" panose="02020603050405020304" pitchFamily="18" charset="0"/>
          </a:endParaRPr>
        </a:p>
      </dsp:txBody>
      <dsp:txXfrm>
        <a:off x="33013" y="777778"/>
        <a:ext cx="1449493" cy="610258"/>
      </dsp:txXfrm>
    </dsp:sp>
    <dsp:sp modelId="{2C810BC6-397B-47FC-9A17-0B6327A40F78}">
      <dsp:nvSpPr>
        <dsp:cNvPr id="0" name=""/>
        <dsp:cNvSpPr/>
      </dsp:nvSpPr>
      <dsp:spPr>
        <a:xfrm>
          <a:off x="1515519" y="1488679"/>
          <a:ext cx="2273278" cy="676284"/>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a:solidFill>
                <a:srgbClr val="1E2761"/>
              </a:solidFill>
              <a:latin typeface="Times New Roman" panose="02020603050405020304" pitchFamily="18" charset="0"/>
              <a:cs typeface="Times New Roman" panose="02020603050405020304" pitchFamily="18" charset="0"/>
            </a:rPr>
            <a:t>Counts CXSTXCRDGNT grants up to 16; one credit consumed per transmitted FLIT</a:t>
          </a:r>
          <a:endParaRPr lang="en-US" sz="900" kern="1200" dirty="0">
            <a:solidFill>
              <a:srgbClr val="1E2761"/>
            </a:solidFill>
            <a:latin typeface="Times New Roman" panose="02020603050405020304" pitchFamily="18" charset="0"/>
            <a:cs typeface="Times New Roman" panose="02020603050405020304" pitchFamily="18" charset="0"/>
          </a:endParaRPr>
        </a:p>
      </dsp:txBody>
      <dsp:txXfrm>
        <a:off x="1515519" y="1573215"/>
        <a:ext cx="2019672" cy="507213"/>
      </dsp:txXfrm>
    </dsp:sp>
    <dsp:sp modelId="{5BDA8100-EC44-4978-ACB5-ABFCF6719408}">
      <dsp:nvSpPr>
        <dsp:cNvPr id="0" name=""/>
        <dsp:cNvSpPr/>
      </dsp:nvSpPr>
      <dsp:spPr>
        <a:xfrm>
          <a:off x="0" y="1488679"/>
          <a:ext cx="1515519" cy="6762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0" kern="1200">
              <a:latin typeface="Times New Roman" panose="02020603050405020304" pitchFamily="18" charset="0"/>
              <a:cs typeface="Times New Roman" panose="02020603050405020304" pitchFamily="18" charset="0"/>
            </a:rPr>
            <a:t>TX Credit Counter</a:t>
          </a:r>
          <a:endParaRPr lang="en-US" sz="1100" b="0" kern="1200" dirty="0">
            <a:latin typeface="Times New Roman" panose="02020603050405020304" pitchFamily="18" charset="0"/>
            <a:cs typeface="Times New Roman" panose="02020603050405020304" pitchFamily="18" charset="0"/>
          </a:endParaRPr>
        </a:p>
      </dsp:txBody>
      <dsp:txXfrm>
        <a:off x="33013" y="1521692"/>
        <a:ext cx="1449493" cy="610258"/>
      </dsp:txXfrm>
    </dsp:sp>
    <dsp:sp modelId="{57366C1C-DE19-454D-B5BA-3D8FF24965D7}">
      <dsp:nvSpPr>
        <dsp:cNvPr id="0" name=""/>
        <dsp:cNvSpPr/>
      </dsp:nvSpPr>
      <dsp:spPr>
        <a:xfrm>
          <a:off x="1515519" y="2232592"/>
          <a:ext cx="2273278" cy="676284"/>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a:solidFill>
                <a:srgbClr val="1E2761"/>
              </a:solidFill>
              <a:latin typeface="Times New Roman" panose="02020603050405020304" pitchFamily="18" charset="0"/>
              <a:cs typeface="Times New Roman" panose="02020603050405020304" pitchFamily="18" charset="0"/>
            </a:rPr>
            <a:t>Drives registered CXSTXVALID / DATA / CNTL only when a FLIT is pending and a credit is available</a:t>
          </a:r>
          <a:endParaRPr lang="en-US" sz="900" kern="1200" dirty="0">
            <a:solidFill>
              <a:srgbClr val="1E2761"/>
            </a:solidFill>
            <a:latin typeface="Times New Roman" panose="02020603050405020304" pitchFamily="18" charset="0"/>
            <a:cs typeface="Times New Roman" panose="02020603050405020304" pitchFamily="18" charset="0"/>
          </a:endParaRPr>
        </a:p>
      </dsp:txBody>
      <dsp:txXfrm>
        <a:off x="1515519" y="2317128"/>
        <a:ext cx="2019672" cy="507213"/>
      </dsp:txXfrm>
    </dsp:sp>
    <dsp:sp modelId="{3EA53BCA-1223-46E2-81A0-5C1752CFD4A6}">
      <dsp:nvSpPr>
        <dsp:cNvPr id="0" name=""/>
        <dsp:cNvSpPr/>
      </dsp:nvSpPr>
      <dsp:spPr>
        <a:xfrm>
          <a:off x="0" y="2232592"/>
          <a:ext cx="1515519" cy="6762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0" kern="1200">
              <a:latin typeface="Times New Roman" panose="02020603050405020304" pitchFamily="18" charset="0"/>
              <a:cs typeface="Times New Roman" panose="02020603050405020304" pitchFamily="18" charset="0"/>
            </a:rPr>
            <a:t>FLIT Transmitter</a:t>
          </a:r>
          <a:endParaRPr lang="en-US" sz="1100" b="0" kern="1200" dirty="0">
            <a:latin typeface="Times New Roman" panose="02020603050405020304" pitchFamily="18" charset="0"/>
            <a:cs typeface="Times New Roman" panose="02020603050405020304" pitchFamily="18" charset="0"/>
          </a:endParaRPr>
        </a:p>
      </dsp:txBody>
      <dsp:txXfrm>
        <a:off x="33013" y="2265605"/>
        <a:ext cx="1449493" cy="6102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AEA3C-198E-4428-91F5-5D40AC471D03}">
      <dsp:nvSpPr>
        <dsp:cNvPr id="0" name=""/>
        <dsp:cNvSpPr/>
      </dsp:nvSpPr>
      <dsp:spPr>
        <a:xfrm rot="5400000">
          <a:off x="-135607" y="138097"/>
          <a:ext cx="904050" cy="63283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a:solidFill>
                <a:schemeClr val="bg1"/>
              </a:solidFill>
              <a:latin typeface="Times New Roman" panose="02020603050405020304" pitchFamily="18" charset="0"/>
              <a:cs typeface="Times New Roman" panose="02020603050405020304" pitchFamily="18" charset="0"/>
            </a:rPr>
            <a:t>IDLE</a:t>
          </a:r>
          <a:endParaRPr lang="en-US" sz="1000" b="0" kern="1200" dirty="0">
            <a:solidFill>
              <a:schemeClr val="bg1"/>
            </a:solidFill>
            <a:latin typeface="Times New Roman" panose="02020603050405020304" pitchFamily="18" charset="0"/>
            <a:cs typeface="Times New Roman" panose="02020603050405020304" pitchFamily="18" charset="0"/>
          </a:endParaRPr>
        </a:p>
      </dsp:txBody>
      <dsp:txXfrm rot="-5400000">
        <a:off x="1" y="318908"/>
        <a:ext cx="632835" cy="271215"/>
      </dsp:txXfrm>
    </dsp:sp>
    <dsp:sp modelId="{F05F49B7-E57A-4430-8446-DFC1C1F638EA}">
      <dsp:nvSpPr>
        <dsp:cNvPr id="0" name=""/>
        <dsp:cNvSpPr/>
      </dsp:nvSpPr>
      <dsp:spPr>
        <a:xfrm rot="5400000">
          <a:off x="2666250" y="-2030924"/>
          <a:ext cx="587632" cy="46544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Waits for a Configuration header; drops any other word</a:t>
          </a:r>
          <a:endParaRPr lang="en-US" sz="1200" kern="1200" dirty="0">
            <a:solidFill>
              <a:srgbClr val="1E2761"/>
            </a:solidFill>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fifo_en=1 on dropped words</a:t>
          </a:r>
          <a:endParaRPr lang="en-US" sz="1200" kern="1200" dirty="0">
            <a:solidFill>
              <a:srgbClr val="1E2761"/>
            </a:solidFill>
            <a:latin typeface="Times New Roman" panose="02020603050405020304" pitchFamily="18" charset="0"/>
            <a:cs typeface="Times New Roman" panose="02020603050405020304" pitchFamily="18" charset="0"/>
          </a:endParaRPr>
        </a:p>
      </dsp:txBody>
      <dsp:txXfrm rot="-5400000">
        <a:off x="632835" y="31177"/>
        <a:ext cx="4625776" cy="530260"/>
      </dsp:txXfrm>
    </dsp:sp>
    <dsp:sp modelId="{1E631251-D50F-4103-BFBF-990C9568DF11}">
      <dsp:nvSpPr>
        <dsp:cNvPr id="0" name=""/>
        <dsp:cNvSpPr/>
      </dsp:nvSpPr>
      <dsp:spPr>
        <a:xfrm rot="5400000">
          <a:off x="-135607" y="922469"/>
          <a:ext cx="904050" cy="63283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a:solidFill>
                <a:schemeClr val="bg1"/>
              </a:solidFill>
              <a:latin typeface="Times New Roman" panose="02020603050405020304" pitchFamily="18" charset="0"/>
              <a:cs typeface="Times New Roman" panose="02020603050405020304" pitchFamily="18" charset="0"/>
            </a:rPr>
            <a:t>CFG HDR</a:t>
          </a:r>
          <a:endParaRPr lang="en-US" sz="1000" b="0" kern="1200" dirty="0">
            <a:solidFill>
              <a:schemeClr val="bg1"/>
            </a:solidFill>
            <a:latin typeface="Times New Roman" panose="02020603050405020304" pitchFamily="18" charset="0"/>
            <a:cs typeface="Times New Roman" panose="02020603050405020304" pitchFamily="18" charset="0"/>
          </a:endParaRPr>
        </a:p>
      </dsp:txBody>
      <dsp:txXfrm rot="-5400000">
        <a:off x="1" y="1103280"/>
        <a:ext cx="632835" cy="271215"/>
      </dsp:txXfrm>
    </dsp:sp>
    <dsp:sp modelId="{84D39791-37A5-4786-8C16-C3F8789281C3}">
      <dsp:nvSpPr>
        <dsp:cNvPr id="0" name=""/>
        <dsp:cNvSpPr/>
      </dsp:nvSpPr>
      <dsp:spPr>
        <a:xfrm rot="5400000">
          <a:off x="2666250" y="-1246552"/>
          <a:ext cx="587632" cy="46544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Global register → CDM 0x00, then device entries → 0x01+</a:t>
          </a:r>
          <a:endParaRPr lang="en-US" sz="1200" kern="1200" dirty="0">
            <a:solidFill>
              <a:srgbClr val="1E2761"/>
            </a:solidFill>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direct_cdm_write=1, w_en=1</a:t>
          </a:r>
          <a:endParaRPr lang="en-US" sz="1200" kern="1200" dirty="0">
            <a:solidFill>
              <a:srgbClr val="1E2761"/>
            </a:solidFill>
            <a:latin typeface="Times New Roman" panose="02020603050405020304" pitchFamily="18" charset="0"/>
            <a:cs typeface="Times New Roman" panose="02020603050405020304" pitchFamily="18" charset="0"/>
          </a:endParaRPr>
        </a:p>
      </dsp:txBody>
      <dsp:txXfrm rot="-5400000">
        <a:off x="632835" y="815549"/>
        <a:ext cx="4625776" cy="530260"/>
      </dsp:txXfrm>
    </dsp:sp>
    <dsp:sp modelId="{E7E0AF17-56E0-410F-9CE5-0C1A889F3C58}">
      <dsp:nvSpPr>
        <dsp:cNvPr id="0" name=""/>
        <dsp:cNvSpPr/>
      </dsp:nvSpPr>
      <dsp:spPr>
        <a:xfrm rot="5400000">
          <a:off x="-135607" y="1706841"/>
          <a:ext cx="904050" cy="63283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a:solidFill>
                <a:schemeClr val="bg1"/>
              </a:solidFill>
              <a:latin typeface="Times New Roman" panose="02020603050405020304" pitchFamily="18" charset="0"/>
              <a:cs typeface="Times New Roman" panose="02020603050405020304" pitchFamily="18" charset="0"/>
            </a:rPr>
            <a:t>LINK UP</a:t>
          </a:r>
          <a:endParaRPr lang="en-US" sz="1000" b="0" kern="1200" dirty="0">
            <a:solidFill>
              <a:schemeClr val="bg1"/>
            </a:solidFill>
            <a:latin typeface="Times New Roman" panose="02020603050405020304" pitchFamily="18" charset="0"/>
            <a:cs typeface="Times New Roman" panose="02020603050405020304" pitchFamily="18" charset="0"/>
          </a:endParaRPr>
        </a:p>
      </dsp:txBody>
      <dsp:txXfrm rot="-5400000">
        <a:off x="1" y="1887652"/>
        <a:ext cx="632835" cy="271215"/>
      </dsp:txXfrm>
    </dsp:sp>
    <dsp:sp modelId="{209C89DD-2555-4ACD-B62E-C40608D078AF}">
      <dsp:nvSpPr>
        <dsp:cNvPr id="0" name=""/>
        <dsp:cNvSpPr/>
      </dsp:nvSpPr>
      <dsp:spPr>
        <a:xfrm rot="5400000">
          <a:off x="2666250" y="-462180"/>
          <a:ext cx="587632" cy="46544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Consumes the Link-Up TLP; payload words written like data</a:t>
          </a:r>
          <a:endParaRPr lang="en-US" sz="1200" kern="1200" dirty="0">
            <a:solidFill>
              <a:srgbClr val="1E2761"/>
            </a:solidFill>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fifo_en=1, w_en=1 on payload words</a:t>
          </a:r>
          <a:endParaRPr lang="en-US" sz="1200" kern="1200" dirty="0">
            <a:solidFill>
              <a:srgbClr val="1E2761"/>
            </a:solidFill>
            <a:latin typeface="Times New Roman" panose="02020603050405020304" pitchFamily="18" charset="0"/>
            <a:cs typeface="Times New Roman" panose="02020603050405020304" pitchFamily="18" charset="0"/>
          </a:endParaRPr>
        </a:p>
      </dsp:txBody>
      <dsp:txXfrm rot="-5400000">
        <a:off x="632835" y="1599921"/>
        <a:ext cx="4625776" cy="530260"/>
      </dsp:txXfrm>
    </dsp:sp>
    <dsp:sp modelId="{9AEABF67-0F5F-4110-AEBC-7EC940420F45}">
      <dsp:nvSpPr>
        <dsp:cNvPr id="0" name=""/>
        <dsp:cNvSpPr/>
      </dsp:nvSpPr>
      <dsp:spPr>
        <a:xfrm rot="5400000">
          <a:off x="-135607" y="2491213"/>
          <a:ext cx="904050" cy="63283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a:solidFill>
                <a:schemeClr val="bg1"/>
              </a:solidFill>
              <a:latin typeface="Times New Roman" panose="02020603050405020304" pitchFamily="18" charset="0"/>
              <a:cs typeface="Times New Roman" panose="02020603050405020304" pitchFamily="18" charset="0"/>
            </a:rPr>
            <a:t>DATA HDR</a:t>
          </a:r>
          <a:endParaRPr lang="en-US" sz="1000" b="0" kern="1200" dirty="0">
            <a:solidFill>
              <a:schemeClr val="bg1"/>
            </a:solidFill>
            <a:latin typeface="Times New Roman" panose="02020603050405020304" pitchFamily="18" charset="0"/>
            <a:cs typeface="Times New Roman" panose="02020603050405020304" pitchFamily="18" charset="0"/>
          </a:endParaRPr>
        </a:p>
      </dsp:txBody>
      <dsp:txXfrm rot="-5400000">
        <a:off x="1" y="2672024"/>
        <a:ext cx="632835" cy="271215"/>
      </dsp:txXfrm>
    </dsp:sp>
    <dsp:sp modelId="{E638C40D-F786-40C7-81A9-EFB374C2939C}">
      <dsp:nvSpPr>
        <dsp:cNvPr id="0" name=""/>
        <dsp:cNvSpPr/>
      </dsp:nvSpPr>
      <dsp:spPr>
        <a:xfrm rot="5400000">
          <a:off x="2666095" y="322345"/>
          <a:ext cx="587941" cy="46544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Transfer TLPs: payload → ATU / encryption / parity → CDM</a:t>
          </a:r>
          <a:endParaRPr lang="en-US" sz="1200" kern="1200" dirty="0">
            <a:solidFill>
              <a:srgbClr val="1E2761"/>
            </a:solidFill>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w_en=1; Link-Up header → LINK UP</a:t>
          </a:r>
          <a:endParaRPr lang="en-US" sz="1200" kern="1200" dirty="0">
            <a:solidFill>
              <a:srgbClr val="1E2761"/>
            </a:solidFill>
            <a:latin typeface="Times New Roman" panose="02020603050405020304" pitchFamily="18" charset="0"/>
            <a:cs typeface="Times New Roman" panose="02020603050405020304" pitchFamily="18" charset="0"/>
          </a:endParaRPr>
        </a:p>
      </dsp:txBody>
      <dsp:txXfrm rot="-5400000">
        <a:off x="632835" y="2384307"/>
        <a:ext cx="4625761" cy="530539"/>
      </dsp:txXfrm>
    </dsp:sp>
    <dsp:sp modelId="{16F7BE88-8E8A-4CFD-80F2-89CD3B9C1FAE}">
      <dsp:nvSpPr>
        <dsp:cNvPr id="0" name=""/>
        <dsp:cNvSpPr/>
      </dsp:nvSpPr>
      <dsp:spPr>
        <a:xfrm rot="5400000">
          <a:off x="-135607" y="3275585"/>
          <a:ext cx="904050" cy="63283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a:solidFill>
                <a:schemeClr val="bg1"/>
              </a:solidFill>
              <a:latin typeface="Times New Roman" panose="02020603050405020304" pitchFamily="18" charset="0"/>
              <a:cs typeface="Times New Roman" panose="02020603050405020304" pitchFamily="18" charset="0"/>
            </a:rPr>
            <a:t>ERROR</a:t>
          </a:r>
          <a:endParaRPr lang="en-US" sz="1000" b="0" kern="1200" dirty="0">
            <a:solidFill>
              <a:schemeClr val="bg1"/>
            </a:solidFill>
            <a:latin typeface="Times New Roman" panose="02020603050405020304" pitchFamily="18" charset="0"/>
            <a:cs typeface="Times New Roman" panose="02020603050405020304" pitchFamily="18" charset="0"/>
          </a:endParaRPr>
        </a:p>
      </dsp:txBody>
      <dsp:txXfrm rot="-5400000">
        <a:off x="1" y="3456396"/>
        <a:ext cx="632835" cy="271215"/>
      </dsp:txXfrm>
    </dsp:sp>
    <dsp:sp modelId="{25B04A7F-920C-454F-BB75-FD6E48F42E45}">
      <dsp:nvSpPr>
        <dsp:cNvPr id="0" name=""/>
        <dsp:cNvSpPr/>
      </dsp:nvSpPr>
      <dsp:spPr>
        <a:xfrm rot="5400000">
          <a:off x="2666250" y="1106563"/>
          <a:ext cx="587632" cy="465446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Invalid ENC_MODE, header type or packet sequence</a:t>
          </a:r>
          <a:endParaRPr lang="en-US" sz="1200" kern="1200" dirty="0">
            <a:solidFill>
              <a:srgbClr val="1E2761"/>
            </a:solidFill>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None/>
          </a:pPr>
          <a:r>
            <a:rPr lang="en-US" sz="1200" kern="1200">
              <a:solidFill>
                <a:srgbClr val="1E2761"/>
              </a:solidFill>
              <a:latin typeface="Times New Roman" panose="02020603050405020304" pitchFamily="18" charset="0"/>
              <a:cs typeface="Times New Roman" panose="02020603050405020304" pitchFamily="18" charset="0"/>
            </a:rPr>
            <a:t>error_valid=1 for one cycle → IDLE</a:t>
          </a:r>
          <a:endParaRPr lang="en-US" sz="1200" kern="1200" dirty="0">
            <a:solidFill>
              <a:srgbClr val="1E2761"/>
            </a:solidFill>
            <a:latin typeface="Times New Roman" panose="02020603050405020304" pitchFamily="18" charset="0"/>
            <a:cs typeface="Times New Roman" panose="02020603050405020304" pitchFamily="18" charset="0"/>
          </a:endParaRPr>
        </a:p>
      </dsp:txBody>
      <dsp:txXfrm rot="-5400000">
        <a:off x="632835" y="3168664"/>
        <a:ext cx="4625776" cy="5302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1C8D6F-EFB3-4DC0-BD9B-BBFD2E18D5C6}">
      <dsp:nvSpPr>
        <dsp:cNvPr id="0" name=""/>
        <dsp:cNvSpPr/>
      </dsp:nvSpPr>
      <dsp:spPr>
        <a:xfrm>
          <a:off x="3508" y="47330"/>
          <a:ext cx="3011818" cy="1733983"/>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0472" tIns="220472" rIns="220472" bIns="118110" numCol="1" spcCol="1270" anchor="t" anchorCtr="0">
          <a:noAutofit/>
        </a:bodyPr>
        <a:lstStyle/>
        <a:p>
          <a:pPr marL="0" lvl="0" indent="0" algn="l" defTabSz="1377950">
            <a:lnSpc>
              <a:spcPct val="90000"/>
            </a:lnSpc>
            <a:spcBef>
              <a:spcPct val="0"/>
            </a:spcBef>
            <a:spcAft>
              <a:spcPct val="35000"/>
            </a:spcAft>
            <a:buNone/>
          </a:pPr>
          <a:r>
            <a:rPr lang="en-US" sz="3100" kern="1200">
              <a:latin typeface="Times New Roman" panose="02020603050405020304" pitchFamily="18" charset="0"/>
              <a:cs typeface="Times New Roman" panose="02020603050405020304" pitchFamily="18" charset="0"/>
            </a:rPr>
            <a:t>Asynchronous FIFO</a:t>
          </a:r>
          <a:endParaRPr lang="en-US" sz="3100" kern="1200" dirty="0">
            <a:latin typeface="Times New Roman" panose="02020603050405020304" pitchFamily="18" charset="0"/>
            <a:cs typeface="Times New Roman" panose="02020603050405020304" pitchFamily="18" charset="0"/>
          </a:endParaRPr>
        </a:p>
      </dsp:txBody>
      <dsp:txXfrm>
        <a:off x="3508" y="47330"/>
        <a:ext cx="3011818" cy="1155988"/>
      </dsp:txXfrm>
    </dsp:sp>
    <dsp:sp modelId="{009BC3D3-CC39-45A2-B77B-68ABB4094C99}">
      <dsp:nvSpPr>
        <dsp:cNvPr id="0" name=""/>
        <dsp:cNvSpPr/>
      </dsp:nvSpPr>
      <dsp:spPr>
        <a:xfrm>
          <a:off x="620387" y="1203318"/>
          <a:ext cx="3011818" cy="178560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Times New Roman" panose="02020603050405020304" pitchFamily="18" charset="0"/>
              <a:cs typeface="Times New Roman" panose="02020603050405020304" pitchFamily="18" charset="0"/>
            </a:rPr>
            <a:t>Safe transfer of 32-bit TLP words from the 37 MHz CXS domain → 25 MHz System domain.</a:t>
          </a: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Char char="•"/>
          </a:pPr>
          <a:r>
            <a:rPr lang="en-US" sz="1200" kern="1200">
              <a:latin typeface="Times New Roman" panose="02020603050405020304" pitchFamily="18" charset="0"/>
              <a:cs typeface="Times New Roman" panose="02020603050405020304" pitchFamily="18" charset="0"/>
            </a:rPr>
            <a:t>Depth 8, Gray-coded read/write pointers</a:t>
          </a: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Char char="•"/>
          </a:pPr>
          <a:r>
            <a:rPr lang="en-US" sz="1200" kern="1200">
              <a:latin typeface="Times New Roman" panose="02020603050405020304" pitchFamily="18" charset="0"/>
              <a:cs typeface="Times New Roman" panose="02020603050405020304" pitchFamily="18" charset="0"/>
            </a:rPr>
            <a:t>2-FF pointer synchronizers; full/empty generated in their own domains</a:t>
          </a: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Char char="•"/>
          </a:pPr>
          <a:r>
            <a:rPr lang="en-US" sz="1200" kern="1200">
              <a:latin typeface="Times New Roman" panose="02020603050405020304" pitchFamily="18" charset="0"/>
              <a:cs typeface="Times New Roman" panose="02020603050405020304" pitchFamily="18" charset="0"/>
            </a:rPr>
            <a:t>Prevents data loss between different clock rates</a:t>
          </a:r>
          <a:endParaRPr lang="en-US" sz="1200" kern="1200" dirty="0">
            <a:latin typeface="Times New Roman" panose="02020603050405020304" pitchFamily="18" charset="0"/>
            <a:cs typeface="Times New Roman" panose="02020603050405020304" pitchFamily="18" charset="0"/>
          </a:endParaRPr>
        </a:p>
      </dsp:txBody>
      <dsp:txXfrm>
        <a:off x="672685" y="1255616"/>
        <a:ext cx="2907222" cy="1681004"/>
      </dsp:txXfrm>
    </dsp:sp>
    <dsp:sp modelId="{A5C863C1-3E94-47FB-98C6-34B197FA4C7A}">
      <dsp:nvSpPr>
        <dsp:cNvPr id="0" name=""/>
        <dsp:cNvSpPr/>
      </dsp:nvSpPr>
      <dsp:spPr>
        <a:xfrm>
          <a:off x="3471908" y="250396"/>
          <a:ext cx="967951" cy="74985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3471908" y="400367"/>
        <a:ext cx="742995" cy="449913"/>
      </dsp:txXfrm>
    </dsp:sp>
    <dsp:sp modelId="{083402C0-C91A-4AB2-BE0D-2DA7FD13F750}">
      <dsp:nvSpPr>
        <dsp:cNvPr id="0" name=""/>
        <dsp:cNvSpPr/>
      </dsp:nvSpPr>
      <dsp:spPr>
        <a:xfrm>
          <a:off x="4841650" y="47330"/>
          <a:ext cx="3011818" cy="1733983"/>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0472" tIns="220472" rIns="220472" bIns="118110" numCol="1" spcCol="1270" anchor="t" anchorCtr="0">
          <a:noAutofit/>
        </a:bodyPr>
        <a:lstStyle/>
        <a:p>
          <a:pPr marL="0" lvl="0" indent="0" algn="l" defTabSz="1377950">
            <a:lnSpc>
              <a:spcPct val="90000"/>
            </a:lnSpc>
            <a:spcBef>
              <a:spcPct val="0"/>
            </a:spcBef>
            <a:spcAft>
              <a:spcPct val="35000"/>
            </a:spcAft>
            <a:buNone/>
          </a:pPr>
          <a:r>
            <a:rPr lang="en-US" sz="3100" kern="1200">
              <a:latin typeface="Times New Roman" panose="02020603050405020304" pitchFamily="18" charset="0"/>
              <a:cs typeface="Times New Roman" panose="02020603050405020304" pitchFamily="18" charset="0"/>
            </a:rPr>
            <a:t>Toggle Synchronizer</a:t>
          </a:r>
          <a:endParaRPr lang="en-US" sz="3100" kern="1200" dirty="0">
            <a:latin typeface="Times New Roman" panose="02020603050405020304" pitchFamily="18" charset="0"/>
            <a:cs typeface="Times New Roman" panose="02020603050405020304" pitchFamily="18" charset="0"/>
          </a:endParaRPr>
        </a:p>
      </dsp:txBody>
      <dsp:txXfrm>
        <a:off x="4841650" y="47330"/>
        <a:ext cx="3011818" cy="1155988"/>
      </dsp:txXfrm>
    </dsp:sp>
    <dsp:sp modelId="{42BB05AA-495E-490B-A415-AA34521D721D}">
      <dsp:nvSpPr>
        <dsp:cNvPr id="0" name=""/>
        <dsp:cNvSpPr/>
      </dsp:nvSpPr>
      <dsp:spPr>
        <a:xfrm>
          <a:off x="5458529" y="1203318"/>
          <a:ext cx="3011818" cy="178560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SzPct val="100000"/>
            <a:buFont typeface="Arial" panose="020B0604020202020204" pitchFamily="34" charset="0"/>
            <a:buChar char="•"/>
          </a:pPr>
          <a:r>
            <a:rPr lang="en-US" sz="1200" kern="1200">
              <a:latin typeface="Times New Roman" panose="02020603050405020304" pitchFamily="18" charset="0"/>
              <a:cs typeface="Times New Roman" panose="02020603050405020304" pitchFamily="18" charset="0"/>
            </a:rPr>
            <a:t>Carries the one-cycle error pulse from the System domain → CXS domain.</a:t>
          </a: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kern="1200">
              <a:latin typeface="Times New Roman" panose="02020603050405020304" pitchFamily="18" charset="0"/>
              <a:cs typeface="Times New Roman" panose="02020603050405020304" pitchFamily="18" charset="0"/>
            </a:rPr>
            <a:t>Pulse → toggle flop → 2-FF synchronizer → edge detect</a:t>
          </a: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Font typeface="Arial" panose="020B0604020202020204" pitchFamily="34" charset="0"/>
            <a:buChar char="•"/>
          </a:pPr>
          <a:r>
            <a:rPr lang="en-US" sz="1200" kern="1200">
              <a:latin typeface="Times New Roman" panose="02020603050405020304" pitchFamily="18" charset="0"/>
              <a:cs typeface="Times New Roman" panose="02020603050405020304" pitchFamily="18" charset="0"/>
            </a:rPr>
            <a:t>Error code held stable, so the encoder samples it safely</a:t>
          </a:r>
          <a:endParaRPr lang="en-US" sz="1200" kern="1200" dirty="0">
            <a:latin typeface="Times New Roman" panose="02020603050405020304" pitchFamily="18" charset="0"/>
            <a:cs typeface="Times New Roman" panose="02020603050405020304" pitchFamily="18" charset="0"/>
          </a:endParaRPr>
        </a:p>
      </dsp:txBody>
      <dsp:txXfrm>
        <a:off x="5510827" y="1255616"/>
        <a:ext cx="2907222" cy="16810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85CECA-B47B-4AC3-B71F-3270DC00B3C3}">
      <dsp:nvSpPr>
        <dsp:cNvPr id="0" name=""/>
        <dsp:cNvSpPr/>
      </dsp:nvSpPr>
      <dsp:spPr>
        <a:xfrm>
          <a:off x="265517" y="2975"/>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latin typeface="Times New Roman" panose="02020603050405020304" pitchFamily="18" charset="0"/>
              <a:cs typeface="Times New Roman" panose="02020603050405020304" pitchFamily="18" charset="0"/>
            </a:rPr>
            <a:t>CXS RX + FLIT FIFO</a:t>
          </a:r>
          <a:endParaRPr lang="en-US" sz="1100" kern="1200" dirty="0">
            <a:latin typeface="Times New Roman" panose="02020603050405020304" pitchFamily="18" charset="0"/>
            <a:cs typeface="Times New Roman" panose="02020603050405020304" pitchFamily="18" charset="0"/>
          </a:endParaRPr>
        </a:p>
      </dsp:txBody>
      <dsp:txXfrm>
        <a:off x="275852" y="13310"/>
        <a:ext cx="1390825" cy="332203"/>
      </dsp:txXfrm>
    </dsp:sp>
    <dsp:sp modelId="{AAE297F5-E414-4C16-8D02-D93561D76E4B}">
      <dsp:nvSpPr>
        <dsp:cNvPr id="0" name=""/>
        <dsp:cNvSpPr/>
      </dsp:nvSpPr>
      <dsp:spPr>
        <a:xfrm rot="5400000">
          <a:off x="905101" y="364671"/>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377904"/>
        <a:ext cx="95275" cy="92629"/>
      </dsp:txXfrm>
    </dsp:sp>
    <dsp:sp modelId="{22A06CE7-71FD-4A3E-8AA0-B0BF43360726}">
      <dsp:nvSpPr>
        <dsp:cNvPr id="0" name=""/>
        <dsp:cNvSpPr/>
      </dsp:nvSpPr>
      <dsp:spPr>
        <a:xfrm>
          <a:off x="265517" y="532286"/>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latin typeface="Times New Roman" panose="02020603050405020304" pitchFamily="18" charset="0"/>
              <a:cs typeface="Times New Roman" panose="02020603050405020304" pitchFamily="18" charset="0"/>
            </a:rPr>
            <a:t>Packet Formatter</a:t>
          </a:r>
          <a:endParaRPr lang="en-US" sz="1100" kern="1200" dirty="0">
            <a:latin typeface="Times New Roman" panose="02020603050405020304" pitchFamily="18" charset="0"/>
            <a:cs typeface="Times New Roman" panose="02020603050405020304" pitchFamily="18" charset="0"/>
          </a:endParaRPr>
        </a:p>
      </dsp:txBody>
      <dsp:txXfrm>
        <a:off x="275852" y="542621"/>
        <a:ext cx="1390825" cy="332203"/>
      </dsp:txXfrm>
    </dsp:sp>
    <dsp:sp modelId="{9EAE36D1-8898-429B-A077-72F3F6CC1EEF}">
      <dsp:nvSpPr>
        <dsp:cNvPr id="0" name=""/>
        <dsp:cNvSpPr/>
      </dsp:nvSpPr>
      <dsp:spPr>
        <a:xfrm rot="5400000">
          <a:off x="905101" y="893981"/>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907214"/>
        <a:ext cx="95275" cy="92629"/>
      </dsp:txXfrm>
    </dsp:sp>
    <dsp:sp modelId="{8AD7772D-ADC1-4804-BA53-EB944761E580}">
      <dsp:nvSpPr>
        <dsp:cNvPr id="0" name=""/>
        <dsp:cNvSpPr/>
      </dsp:nvSpPr>
      <dsp:spPr>
        <a:xfrm>
          <a:off x="265517" y="1061597"/>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latin typeface="Times New Roman" panose="02020603050405020304" pitchFamily="18" charset="0"/>
              <a:cs typeface="Times New Roman" panose="02020603050405020304" pitchFamily="18" charset="0"/>
            </a:rPr>
            <a:t>CDC / Asynchronous FIFO</a:t>
          </a:r>
          <a:endParaRPr lang="en-US" sz="1100" kern="1200" dirty="0">
            <a:latin typeface="Times New Roman" panose="02020603050405020304" pitchFamily="18" charset="0"/>
            <a:cs typeface="Times New Roman" panose="02020603050405020304" pitchFamily="18" charset="0"/>
          </a:endParaRPr>
        </a:p>
      </dsp:txBody>
      <dsp:txXfrm>
        <a:off x="275852" y="1071932"/>
        <a:ext cx="1390825" cy="332203"/>
      </dsp:txXfrm>
    </dsp:sp>
    <dsp:sp modelId="{1BC99E1D-AC4A-40EA-A0B6-F95C8180936A}">
      <dsp:nvSpPr>
        <dsp:cNvPr id="0" name=""/>
        <dsp:cNvSpPr/>
      </dsp:nvSpPr>
      <dsp:spPr>
        <a:xfrm rot="5400000">
          <a:off x="905101" y="1423292"/>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1436525"/>
        <a:ext cx="95275" cy="92629"/>
      </dsp:txXfrm>
    </dsp:sp>
    <dsp:sp modelId="{04FEF770-4FA3-49F1-B40C-94AF5528AB63}">
      <dsp:nvSpPr>
        <dsp:cNvPr id="0" name=""/>
        <dsp:cNvSpPr/>
      </dsp:nvSpPr>
      <dsp:spPr>
        <a:xfrm>
          <a:off x="265517" y="1590907"/>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latin typeface="Times New Roman" panose="02020603050405020304" pitchFamily="18" charset="0"/>
              <a:cs typeface="Times New Roman" panose="02020603050405020304" pitchFamily="18" charset="0"/>
            </a:rPr>
            <a:t>Control Unit</a:t>
          </a:r>
          <a:endParaRPr lang="en-US" sz="1100" kern="1200" dirty="0">
            <a:latin typeface="Times New Roman" panose="02020603050405020304" pitchFamily="18" charset="0"/>
            <a:cs typeface="Times New Roman" panose="02020603050405020304" pitchFamily="18" charset="0"/>
          </a:endParaRPr>
        </a:p>
      </dsp:txBody>
      <dsp:txXfrm>
        <a:off x="275852" y="1601242"/>
        <a:ext cx="1390825" cy="332203"/>
      </dsp:txXfrm>
    </dsp:sp>
    <dsp:sp modelId="{92C8DFCA-D1E0-417F-A686-D9FC0385CCBD}">
      <dsp:nvSpPr>
        <dsp:cNvPr id="0" name=""/>
        <dsp:cNvSpPr/>
      </dsp:nvSpPr>
      <dsp:spPr>
        <a:xfrm rot="5400000">
          <a:off x="905101" y="1952603"/>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1965836"/>
        <a:ext cx="95275" cy="92629"/>
      </dsp:txXfrm>
    </dsp:sp>
    <dsp:sp modelId="{A21DDB2C-3D52-4CBE-B695-D35904610A55}">
      <dsp:nvSpPr>
        <dsp:cNvPr id="0" name=""/>
        <dsp:cNvSpPr/>
      </dsp:nvSpPr>
      <dsp:spPr>
        <a:xfrm>
          <a:off x="265517" y="2120218"/>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latin typeface="Times New Roman" panose="02020603050405020304" pitchFamily="18" charset="0"/>
              <a:cs typeface="Times New Roman" panose="02020603050405020304" pitchFamily="18" charset="0"/>
            </a:rPr>
            <a:t>Encryption + Parity</a:t>
          </a:r>
          <a:endParaRPr lang="en-US" sz="1100" kern="1200" dirty="0">
            <a:latin typeface="Times New Roman" panose="02020603050405020304" pitchFamily="18" charset="0"/>
            <a:cs typeface="Times New Roman" panose="02020603050405020304" pitchFamily="18" charset="0"/>
          </a:endParaRPr>
        </a:p>
      </dsp:txBody>
      <dsp:txXfrm>
        <a:off x="275852" y="2130553"/>
        <a:ext cx="1390825" cy="332203"/>
      </dsp:txXfrm>
    </dsp:sp>
    <dsp:sp modelId="{7B043563-BB29-4C24-9B83-DDD46A0E5F83}">
      <dsp:nvSpPr>
        <dsp:cNvPr id="0" name=""/>
        <dsp:cNvSpPr/>
      </dsp:nvSpPr>
      <dsp:spPr>
        <a:xfrm rot="5400000">
          <a:off x="905101" y="2481914"/>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2495147"/>
        <a:ext cx="95275" cy="92629"/>
      </dsp:txXfrm>
    </dsp:sp>
    <dsp:sp modelId="{30EB8C55-69CE-44C7-A4F0-6CD3073EC855}">
      <dsp:nvSpPr>
        <dsp:cNvPr id="0" name=""/>
        <dsp:cNvSpPr/>
      </dsp:nvSpPr>
      <dsp:spPr>
        <a:xfrm>
          <a:off x="265517" y="2649529"/>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latin typeface="Times New Roman" panose="02020603050405020304" pitchFamily="18" charset="0"/>
              <a:cs typeface="Times New Roman" panose="02020603050405020304" pitchFamily="18" charset="0"/>
            </a:rPr>
            <a:t>ATU</a:t>
          </a:r>
          <a:endParaRPr lang="en-US" sz="1100" kern="1200" dirty="0">
            <a:latin typeface="Times New Roman" panose="02020603050405020304" pitchFamily="18" charset="0"/>
            <a:cs typeface="Times New Roman" panose="02020603050405020304" pitchFamily="18" charset="0"/>
          </a:endParaRPr>
        </a:p>
      </dsp:txBody>
      <dsp:txXfrm>
        <a:off x="275852" y="2659864"/>
        <a:ext cx="1390825" cy="332203"/>
      </dsp:txXfrm>
    </dsp:sp>
    <dsp:sp modelId="{F36AD347-3B70-4415-AD7C-B2E31B184B05}">
      <dsp:nvSpPr>
        <dsp:cNvPr id="0" name=""/>
        <dsp:cNvSpPr/>
      </dsp:nvSpPr>
      <dsp:spPr>
        <a:xfrm rot="5400000">
          <a:off x="905101" y="3011224"/>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3024457"/>
        <a:ext cx="95275" cy="92629"/>
      </dsp:txXfrm>
    </dsp:sp>
    <dsp:sp modelId="{14E450D8-C657-42A3-B035-BCB31151C7C3}">
      <dsp:nvSpPr>
        <dsp:cNvPr id="0" name=""/>
        <dsp:cNvSpPr/>
      </dsp:nvSpPr>
      <dsp:spPr>
        <a:xfrm>
          <a:off x="265517" y="3178839"/>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latin typeface="Times New Roman" panose="02020603050405020304" pitchFamily="18" charset="0"/>
              <a:cs typeface="Times New Roman" panose="02020603050405020304" pitchFamily="18" charset="0"/>
            </a:rPr>
            <a:t>Central Data Memory</a:t>
          </a:r>
          <a:endParaRPr lang="en-US" sz="1100" kern="1200" dirty="0">
            <a:latin typeface="Times New Roman" panose="02020603050405020304" pitchFamily="18" charset="0"/>
            <a:cs typeface="Times New Roman" panose="02020603050405020304" pitchFamily="18" charset="0"/>
          </a:endParaRPr>
        </a:p>
      </dsp:txBody>
      <dsp:txXfrm>
        <a:off x="275852" y="3189174"/>
        <a:ext cx="1390825" cy="332203"/>
      </dsp:txXfrm>
    </dsp:sp>
    <dsp:sp modelId="{853C280A-8C96-435C-A0B6-1965EFD56927}">
      <dsp:nvSpPr>
        <dsp:cNvPr id="0" name=""/>
        <dsp:cNvSpPr/>
      </dsp:nvSpPr>
      <dsp:spPr>
        <a:xfrm rot="5400000">
          <a:off x="905101" y="3540535"/>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3553768"/>
        <a:ext cx="95275" cy="92629"/>
      </dsp:txXfrm>
    </dsp:sp>
    <dsp:sp modelId="{70E6639B-1389-440E-A27A-3EAE3C642B0D}">
      <dsp:nvSpPr>
        <dsp:cNvPr id="0" name=""/>
        <dsp:cNvSpPr/>
      </dsp:nvSpPr>
      <dsp:spPr>
        <a:xfrm>
          <a:off x="265517" y="3708150"/>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latin typeface="Times New Roman" panose="02020603050405020304" pitchFamily="18" charset="0"/>
              <a:cs typeface="Times New Roman" panose="02020603050405020304" pitchFamily="18" charset="0"/>
            </a:rPr>
            <a:t>Packet Encoder + CXS TX</a:t>
          </a:r>
          <a:endParaRPr lang="en-US" sz="1100" kern="1200" dirty="0">
            <a:latin typeface="Times New Roman" panose="02020603050405020304" pitchFamily="18" charset="0"/>
            <a:cs typeface="Times New Roman" panose="02020603050405020304" pitchFamily="18" charset="0"/>
          </a:endParaRPr>
        </a:p>
      </dsp:txBody>
      <dsp:txXfrm>
        <a:off x="275852" y="3718485"/>
        <a:ext cx="1390825" cy="332203"/>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441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221794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1600854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721627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1921540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736115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1359-FDAD-9BF5-92CE-1D293F3DE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83055-8CBC-A54C-2705-DE24D4C0F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B7DC1-83DE-1AC0-44E6-24A51B9D15F6}"/>
              </a:ext>
            </a:extLst>
          </p:cNvPr>
          <p:cNvSpPr>
            <a:spLocks noGrp="1"/>
          </p:cNvSpPr>
          <p:nvPr>
            <p:ph type="body" idx="1"/>
          </p:nvPr>
        </p:nvSpPr>
        <p:spPr/>
        <p:txBody>
          <a:bodyPr/>
          <a:lstStyle/>
          <a:p>
            <a:r>
              <a:rPr lang="en-US"/>
              <a:t>TODO: My top-level block diagram: cxs_if (CLK_CXS), asynchronous FIFO + error toggle synchronizer (CDC), system_wrapper (CLK_SYS) (Source: draw.io diagram)</a:t>
            </a:r>
            <a:endParaRPr lang="en-US" dirty="0"/>
          </a:p>
        </p:txBody>
      </p:sp>
      <p:sp>
        <p:nvSpPr>
          <p:cNvPr id="4" name="Slide Number Placeholder 3">
            <a:extLst>
              <a:ext uri="{FF2B5EF4-FFF2-40B4-BE49-F238E27FC236}">
                <a16:creationId xmlns:a16="http://schemas.microsoft.com/office/drawing/2014/main" id="{8BAAAFF7-7E9D-3482-EE55-FDFC05D0242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48810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20E43-D35D-3709-EE3C-59D9A4ABE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5A38B-85CF-2D61-09F9-D37F46562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0BF10-B7CC-807C-6143-9EF9716597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1E9E7C-F25D-259C-B869-0F4D99E0147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31524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196698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83388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CXS RX path: rx_interface → flit_fifo → packet_formatter → async FIFO, with credit_manager driving CXSRXCRDGNT (Source: draw.io diagram)</a:t>
            </a:r>
          </a:p>
        </p:txBody>
      </p:sp>
    </p:spTree>
    <p:extLst>
      <p:ext uri="{BB962C8B-B14F-4D97-AF65-F5344CB8AC3E}">
        <p14:creationId xmlns:p14="http://schemas.microsoft.com/office/powerpoint/2010/main" val="324526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CXS TX path: error pulse → packet_encoder → tx_interface (holding register + TX credit counter) → CXSTX signals (Source: draw.io diagram)</a:t>
            </a:r>
          </a:p>
        </p:txBody>
      </p:sp>
    </p:spTree>
    <p:extLst>
      <p:ext uri="{BB962C8B-B14F-4D97-AF65-F5344CB8AC3E}">
        <p14:creationId xmlns:p14="http://schemas.microsoft.com/office/powerpoint/2010/main" val="1331586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packet_formatter: IDLE → CAPTURE → STREAM FSM and CXSCNTL field decode (START / START_PTR / END / END_ERROR / END_PTR) (Source: draw.io diagram)</a:t>
            </a:r>
          </a:p>
        </p:txBody>
      </p:sp>
    </p:spTree>
    <p:extLst>
      <p:ext uri="{BB962C8B-B14F-4D97-AF65-F5344CB8AC3E}">
        <p14:creationId xmlns:p14="http://schemas.microsoft.com/office/powerpoint/2010/main" val="3586029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Control unit internal view: header decode, word / config counters, FSM, CDM write outputs, error code register (Source: draw.io diagram)</a:t>
            </a:r>
          </a:p>
        </p:txBody>
      </p:sp>
    </p:spTree>
    <p:extLst>
      <p:ext uri="{BB962C8B-B14F-4D97-AF65-F5344CB8AC3E}">
        <p14:creationId xmlns:p14="http://schemas.microsoft.com/office/powerpoint/2010/main" val="3586029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Control unit FSM: S_IDLE, S_CFG_HDR, S_LINK_UP, S_DATA_HDR, S_ERROR with transition conditions (Source: draw.io state diagram)</a:t>
            </a:r>
          </a:p>
        </p:txBody>
      </p:sp>
    </p:spTree>
    <p:extLst>
      <p:ext uri="{BB962C8B-B14F-4D97-AF65-F5344CB8AC3E}">
        <p14:creationId xmlns:p14="http://schemas.microsoft.com/office/powerpoint/2010/main" val="3155631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3388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8DAFA-2ECC-B8EC-A00D-7FDF46793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929E9-B52C-074F-44B4-F4E0B6BFD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96F84-F983-AF0E-1C44-3596F705CD94}"/>
              </a:ext>
            </a:extLst>
          </p:cNvPr>
          <p:cNvSpPr>
            <a:spLocks noGrp="1"/>
          </p:cNvSpPr>
          <p:nvPr>
            <p:ph type="body" idx="1"/>
          </p:nvPr>
        </p:nvSpPr>
        <p:spPr/>
        <p:txBody>
          <a:bodyPr/>
          <a:lstStyle/>
          <a:p>
            <a:r>
              <a:rPr lang="en-US"/>
              <a:t>CHECK: the ATU captures the base address on every direct CDM write, including device entries, so the effective base comes from the last configuration word written.</a:t>
            </a:r>
            <a:endParaRPr lang="en-US" dirty="0"/>
          </a:p>
        </p:txBody>
      </p:sp>
      <p:sp>
        <p:nvSpPr>
          <p:cNvPr id="4" name="Slide Number Placeholder 3">
            <a:extLst>
              <a:ext uri="{FF2B5EF4-FFF2-40B4-BE49-F238E27FC236}">
                <a16:creationId xmlns:a16="http://schemas.microsoft.com/office/drawing/2014/main" id="{A7C4F6B2-D037-E132-EC3E-349D2AE8275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5790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42208462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CDC diagram: 32-bit async FIFO (CXS → SYS) and error toggle + 2-FF synchronizer + edge detect (SYS → CXS) (Source: draw.io diagram)</a:t>
            </a:r>
          </a:p>
        </p:txBody>
      </p:sp>
    </p:spTree>
    <p:extLst>
      <p:ext uri="{BB962C8B-B14F-4D97-AF65-F5344CB8AC3E}">
        <p14:creationId xmlns:p14="http://schemas.microsoft.com/office/powerpoint/2010/main" val="4346442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3B7C3-26A6-E74B-AB57-0B2A9A182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841DF-4A59-AEA4-0690-7D484FBE6D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4DA5F-E974-FD26-E17E-9E283C1FB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051352-11A9-4ACD-E893-42A47944607B}"/>
              </a:ext>
            </a:extLst>
          </p:cNvPr>
          <p:cNvSpPr>
            <a:spLocks noGrp="1"/>
          </p:cNvSpPr>
          <p:nvPr>
            <p:ph type="sldNum" sz="quarter" idx="10"/>
          </p:nvPr>
        </p:nvSpPr>
        <p:spPr/>
        <p:txBody>
          <a:bodyPr/>
          <a:lstStyle/>
          <a:p>
            <a:fld id="{F7021451-1387-4CA6-816F-3879F97B5CBC}" type="slidenum">
              <a:rPr lang="en-US">
                <a:solidFill>
                  <a:prstClr val="black"/>
                </a:solidFill>
                <a:latin typeface="Calibri" panose="020F0502020204030204"/>
              </a:rPr>
              <a:pPr/>
              <a:t>19</a:t>
            </a:fld>
            <a:endParaRPr lang="en-US">
              <a:solidFill>
                <a:prstClr val="black"/>
              </a:solidFill>
              <a:latin typeface="Calibri" panose="020F0502020204030204"/>
            </a:endParaRPr>
          </a:p>
        </p:txBody>
      </p:sp>
    </p:spTree>
    <p:extLst>
      <p:ext uri="{BB962C8B-B14F-4D97-AF65-F5344CB8AC3E}">
        <p14:creationId xmlns:p14="http://schemas.microsoft.com/office/powerpoint/2010/main" val="1554902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3987104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008591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6C939-0F39-740D-B5FA-5E00920BC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82A3C-269A-14EA-6B03-FA0276E96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72F00-B6F5-9C9E-5F59-154219E221AF}"/>
              </a:ext>
            </a:extLst>
          </p:cNvPr>
          <p:cNvSpPr>
            <a:spLocks noGrp="1"/>
          </p:cNvSpPr>
          <p:nvPr>
            <p:ph type="body" idx="1"/>
          </p:nvPr>
        </p:nvSpPr>
        <p:spPr/>
        <p:txBody>
          <a:bodyPr/>
          <a:lstStyle/>
          <a:p>
            <a:r>
              <a:rPr lang="en-US"/>
              <a:t>TODO: packet_formatter_tb waveform: FLIT capture, CXSCNTL decode, async FIFO writes (Source: QuestaSim waveform)</a:t>
            </a:r>
          </a:p>
          <a:p>
            <a:r>
              <a:rPr lang="en-US"/>
              <a:t>TODO: packet_formatter_tb transcript (Source: QuestaSim transcript)</a:t>
            </a:r>
          </a:p>
          <a:p>
            <a:r>
              <a:rPr lang="en-US"/>
              <a:t>TODO: async_fifo_tb transcript: read / write comparisons (Source: QuestaSim transcript)</a:t>
            </a:r>
          </a:p>
          <a:p>
            <a:r>
              <a:rPr lang="en-US"/>
              <a:t>Re-run to confirm on the current RTL (ADDR_WIDTH = 8 and the latest packet_formatter) before presenting these results.</a:t>
            </a:r>
            <a:endParaRPr lang="en-US" dirty="0"/>
          </a:p>
        </p:txBody>
      </p:sp>
      <p:sp>
        <p:nvSpPr>
          <p:cNvPr id="4" name="Slide Number Placeholder 3">
            <a:extLst>
              <a:ext uri="{FF2B5EF4-FFF2-40B4-BE49-F238E27FC236}">
                <a16:creationId xmlns:a16="http://schemas.microsoft.com/office/drawing/2014/main" id="{7FDE2522-7E03-3B88-A777-13C65C4F5828}"/>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5802717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2599-B7E3-115D-DD6F-FD522C0E3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EE1DF-9C30-F60C-8DCD-860D94EE8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8AABD-E17D-30C7-7A8A-56D0CDD3D1AB}"/>
              </a:ext>
            </a:extLst>
          </p:cNvPr>
          <p:cNvSpPr>
            <a:spLocks noGrp="1"/>
          </p:cNvSpPr>
          <p:nvPr>
            <p:ph type="body" idx="1"/>
          </p:nvPr>
        </p:nvSpPr>
        <p:spPr/>
        <p:txBody>
          <a:bodyPr/>
          <a:lstStyle/>
          <a:p>
            <a:r>
              <a:rPr lang="en-US"/>
              <a:t>TODO: control_unit_tb waveform: configuration, Link-Up and transfer writes (Source: QuestaSim waveform)</a:t>
            </a:r>
          </a:p>
          <a:p>
            <a:r>
              <a:rPr lang="en-US"/>
              <a:t>TODO: control_unit_tb transcript (13 tests) (Source: QuestaSim transcript)</a:t>
            </a:r>
          </a:p>
          <a:p>
            <a:r>
              <a:rPr lang="en-US"/>
              <a:t>TODO: encryption_unit_tb and parity_unit_tb summaries (12/12, 8/8) (Source: QuestaSim transcript)</a:t>
            </a:r>
          </a:p>
          <a:p>
            <a:r>
              <a:rPr lang="en-US"/>
              <a:t>Re-run to confirm on the current RTL (ADDR_WIDTH = 8 and the latest packet_formatter) before presenting these results.</a:t>
            </a:r>
            <a:endParaRPr lang="en-US" dirty="0"/>
          </a:p>
        </p:txBody>
      </p:sp>
      <p:sp>
        <p:nvSpPr>
          <p:cNvPr id="4" name="Slide Number Placeholder 3">
            <a:extLst>
              <a:ext uri="{FF2B5EF4-FFF2-40B4-BE49-F238E27FC236}">
                <a16:creationId xmlns:a16="http://schemas.microsoft.com/office/drawing/2014/main" id="{ED49C31D-33F6-4D01-8899-4A745AC1C60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8215024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Re-run to confirm on the current RTL (ADDR_WIDTH = 8 and the latest packet_formatter) before presenting these results.</a:t>
            </a:r>
          </a:p>
        </p:txBody>
      </p:sp>
    </p:spTree>
    <p:extLst>
      <p:ext uri="{BB962C8B-B14F-4D97-AF65-F5344CB8AC3E}">
        <p14:creationId xmlns:p14="http://schemas.microsoft.com/office/powerpoint/2010/main" val="4320393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UVM waveform: reset and configuration TLP reception (Source: QuestaSim waveform (enc_sys_uvm))</a:t>
            </a:r>
          </a:p>
          <a:p>
            <a:r>
              <a:rPr lang="en-US"/>
              <a:t>TODO: UVM waveform: CDM writes at 0x00 and 0x01+ (Source: QuestaSim waveform (enc_sys_uvm))</a:t>
            </a:r>
          </a:p>
          <a:p>
            <a:r>
              <a:rPr lang="en-US"/>
              <a:t>TODO: UVM waveform: invalid ENC_MODE → S_ERROR, error_valid pulse (Source: QuestaSim waveform (enc_sys_uvm))</a:t>
            </a:r>
          </a:p>
        </p:txBody>
      </p:sp>
    </p:spTree>
    <p:extLst>
      <p:ext uri="{BB962C8B-B14F-4D97-AF65-F5344CB8AC3E}">
        <p14:creationId xmlns:p14="http://schemas.microsoft.com/office/powerpoint/2010/main" val="6379583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UVM waveform: Transfer TLP → ATU address, encrypted + parity CDM write (Source: QuestaSim waveform (enc_sys_uvm))</a:t>
            </a:r>
          </a:p>
          <a:p>
            <a:r>
              <a:rPr lang="en-US"/>
              <a:t>TODO: UVM waveform: TWO_TLP_ONE_FLIT, words 0–3 and 4–7 (Source: QuestaSim waveform (enc_sys_uvm))</a:t>
            </a:r>
          </a:p>
        </p:txBody>
      </p:sp>
    </p:spTree>
    <p:extLst>
      <p:ext uri="{BB962C8B-B14F-4D97-AF65-F5344CB8AC3E}">
        <p14:creationId xmlns:p14="http://schemas.microsoft.com/office/powerpoint/2010/main" val="3811774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UVM waveform: ERR_TX_FLIT — response FLIT (opcode 0xE0) on CXSTXDATA (Source: QuestaSim waveform (enc_sys_uvm))</a:t>
            </a:r>
          </a:p>
          <a:p>
            <a:r>
              <a:rPr lang="en-US"/>
              <a:t>TODO: UVM waveform: TX_CREDIT_STALL — FLIT held until CXSTXCRDGNT (Source: QuestaSim waveform (enc_sys_uvm))</a:t>
            </a:r>
          </a:p>
        </p:txBody>
      </p:sp>
    </p:spTree>
    <p:extLst>
      <p:ext uri="{BB962C8B-B14F-4D97-AF65-F5344CB8AC3E}">
        <p14:creationId xmlns:p14="http://schemas.microsoft.com/office/powerpoint/2010/main" val="194374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TODO: Results summary: unit testbench transcripts and UVM report (0 UVM_ERROR / UVM_FATAL) (Source: QuestaSim transcript)</a:t>
            </a:r>
          </a:p>
          <a:p>
            <a:r>
              <a:rPr lang="en-US"/>
              <a:t>Re-run to confirm on the current RTL (ADDR_WIDTH = 8 and the latest packet_formatter) before presenting these results.</a:t>
            </a:r>
          </a:p>
        </p:txBody>
      </p:sp>
    </p:spTree>
    <p:extLst>
      <p:ext uri="{BB962C8B-B14F-4D97-AF65-F5344CB8AC3E}">
        <p14:creationId xmlns:p14="http://schemas.microsoft.com/office/powerpoint/2010/main" val="32607703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0050394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CFEB6-DBD7-F63E-8F41-599EE790E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4C3D2-72B6-0F64-A060-5E9E7B4BD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45D8DA-A2F1-834D-56B4-82E9EF8CF27E}"/>
              </a:ext>
            </a:extLst>
          </p:cNvPr>
          <p:cNvSpPr>
            <a:spLocks noGrp="1"/>
          </p:cNvSpPr>
          <p:nvPr>
            <p:ph type="body" idx="1"/>
          </p:nvPr>
        </p:nvSpPr>
        <p:spPr/>
        <p:txBody>
          <a:bodyPr/>
          <a:lstStyle/>
          <a:p>
            <a:r>
              <a:rPr lang="en-US"/>
              <a:t>TODO: SpyGlass lint summary report (Source: SpyGlass)</a:t>
            </a:r>
            <a:endParaRPr lang="en-US" dirty="0"/>
          </a:p>
        </p:txBody>
      </p:sp>
      <p:sp>
        <p:nvSpPr>
          <p:cNvPr id="4" name="Slide Number Placeholder 3">
            <a:extLst>
              <a:ext uri="{FF2B5EF4-FFF2-40B4-BE49-F238E27FC236}">
                <a16:creationId xmlns:a16="http://schemas.microsoft.com/office/drawing/2014/main" id="{F33BFDEF-6B4C-1407-518B-7C9415417CD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15225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DCC4A-089C-3232-627F-4840FBCF8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48214-65CE-6714-718D-E2884C1A8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928A7-8CD0-40BF-3C9F-91B47CF3DC11}"/>
              </a:ext>
            </a:extLst>
          </p:cNvPr>
          <p:cNvSpPr>
            <a:spLocks noGrp="1"/>
          </p:cNvSpPr>
          <p:nvPr>
            <p:ph type="body" idx="1"/>
          </p:nvPr>
        </p:nvSpPr>
        <p:spPr/>
        <p:txBody>
          <a:bodyPr/>
          <a:lstStyle/>
          <a:p>
            <a:r>
              <a:rPr lang="en-US"/>
              <a:t>TODO: Design Compiler setup timing report (critical path) (Source: Design Compiler report_timing)</a:t>
            </a:r>
          </a:p>
          <a:p>
            <a:r>
              <a:rPr lang="en-US"/>
              <a:t>TODO: Design Compiler hold timing report (Source: Design Compiler report_timing -delay_type min)</a:t>
            </a:r>
            <a:endParaRPr lang="en-US" dirty="0"/>
          </a:p>
        </p:txBody>
      </p:sp>
      <p:sp>
        <p:nvSpPr>
          <p:cNvPr id="4" name="Slide Number Placeholder 3">
            <a:extLst>
              <a:ext uri="{FF2B5EF4-FFF2-40B4-BE49-F238E27FC236}">
                <a16:creationId xmlns:a16="http://schemas.microsoft.com/office/drawing/2014/main" id="{E9E50891-1020-1032-AACC-6AB92090DC0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48527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30338061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Re-run to confirm on the current RTL (ADDR_WIDTH = 8 and the latest packet_formatter) before presenting these results.</a:t>
            </a:r>
          </a:p>
        </p:txBody>
      </p:sp>
    </p:spTree>
    <p:extLst>
      <p:ext uri="{BB962C8B-B14F-4D97-AF65-F5344CB8AC3E}">
        <p14:creationId xmlns:p14="http://schemas.microsoft.com/office/powerpoint/2010/main" val="26188181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307508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slow">
    <p:push dir="u"/>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6.png"/><Relationship Id="rId7" Type="http://schemas.openxmlformats.org/officeDocument/2006/relationships/diagramQuickStyle" Target="../diagrams/quickStyle4.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Layout" Target="../diagrams/layout4.xml"/><Relationship Id="rId5" Type="http://schemas.openxmlformats.org/officeDocument/2006/relationships/diagramData" Target="../diagrams/data4.xml"/><Relationship Id="rId4" Type="http://schemas.microsoft.com/office/2007/relationships/hdphoto" Target="../media/hdphoto1.wdp"/><Relationship Id="rId9" Type="http://schemas.microsoft.com/office/2007/relationships/diagramDrawing" Target="../diagrams/drawing4.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6.png"/><Relationship Id="rId7" Type="http://schemas.openxmlformats.org/officeDocument/2006/relationships/diagramQuickStyle" Target="../diagrams/quickStyle5.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4" Type="http://schemas.microsoft.com/office/2007/relationships/hdphoto" Target="../media/hdphoto1.wdp"/><Relationship Id="rId9" Type="http://schemas.microsoft.com/office/2007/relationships/diagramDrawing" Target="../diagrams/drawing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6.png"/><Relationship Id="rId7" Type="http://schemas.openxmlformats.org/officeDocument/2006/relationships/diagramQuickStyle" Target="../diagrams/quickStyle6.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Layout" Target="../diagrams/layout6.xml"/><Relationship Id="rId5" Type="http://schemas.openxmlformats.org/officeDocument/2006/relationships/diagramData" Target="../diagrams/data6.xml"/><Relationship Id="rId4" Type="http://schemas.microsoft.com/office/2007/relationships/hdphoto" Target="../media/hdphoto1.wdp"/><Relationship Id="rId9" Type="http://schemas.microsoft.com/office/2007/relationships/diagramDrawing" Target="../diagrams/drawing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9.sv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0">
              <a:srgbClr val="1E2761"/>
            </a:gs>
            <a:gs pos="0">
              <a:srgbClr val="1E2761"/>
            </a:gs>
            <a:gs pos="0">
              <a:srgbClr val="1E2761"/>
            </a:gs>
          </a:gsLst>
          <a:path path="rect">
            <a:fillToRect l="100000" t="100000"/>
          </a:path>
        </a:gradFill>
        <a:effectLst/>
      </p:bgPr>
    </p:bg>
    <p:spTree>
      <p:nvGrpSpPr>
        <p:cNvPr id="1" name="">
          <a:extLst>
            <a:ext uri="{FF2B5EF4-FFF2-40B4-BE49-F238E27FC236}">
              <a16:creationId xmlns:a16="http://schemas.microsoft.com/office/drawing/2014/main" id="{38C16D48-6EC9-8DD5-3C1A-EF6E44524E4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5588FA4-8786-2C22-CCDC-A262969E6942}"/>
              </a:ext>
            </a:extLst>
          </p:cNvPr>
          <p:cNvPicPr>
            <a:picLocks noChangeAspect="1"/>
          </p:cNvPicPr>
          <p:nvPr/>
        </p:nvPicPr>
        <p:blipFill>
          <a:blip r:embed="rId3"/>
          <a:stretch>
            <a:fillRect/>
          </a:stretch>
        </p:blipFill>
        <p:spPr>
          <a:xfrm>
            <a:off x="7497930" y="0"/>
            <a:ext cx="1646069" cy="967300"/>
          </a:xfrm>
          <a:prstGeom prst="rect">
            <a:avLst/>
          </a:prstGeom>
          <a:ln>
            <a:noFill/>
          </a:ln>
          <a:effectLst>
            <a:outerShdw blurRad="190500" algn="tl" rotWithShape="0">
              <a:srgbClr val="000000">
                <a:alpha val="70000"/>
              </a:srgbClr>
            </a:outerShdw>
          </a:effectLst>
        </p:spPr>
      </p:pic>
      <p:sp>
        <p:nvSpPr>
          <p:cNvPr id="6" name="Shape 2">
            <a:extLst>
              <a:ext uri="{FF2B5EF4-FFF2-40B4-BE49-F238E27FC236}">
                <a16:creationId xmlns:a16="http://schemas.microsoft.com/office/drawing/2014/main" id="{C4BC81EF-AB7A-C7E1-515F-51F30D84B557}"/>
              </a:ext>
            </a:extLst>
          </p:cNvPr>
          <p:cNvSpPr/>
          <p:nvPr/>
        </p:nvSpPr>
        <p:spPr>
          <a:xfrm>
            <a:off x="1568048" y="3256855"/>
            <a:ext cx="6007903" cy="62168"/>
          </a:xfrm>
          <a:prstGeom prst="rect">
            <a:avLst/>
          </a:prstGeom>
          <a:solidFill>
            <a:srgbClr val="00C2A8"/>
          </a:solidFill>
          <a:ln/>
        </p:spPr>
        <p:txBody>
          <a:bodyPr/>
          <a:lstStyle/>
          <a:p>
            <a:endParaRPr lang="en-US"/>
          </a:p>
        </p:txBody>
      </p:sp>
      <p:sp>
        <p:nvSpPr>
          <p:cNvPr id="8" name="Text 3">
            <a:extLst>
              <a:ext uri="{FF2B5EF4-FFF2-40B4-BE49-F238E27FC236}">
                <a16:creationId xmlns:a16="http://schemas.microsoft.com/office/drawing/2014/main" id="{18D05FF6-87A5-7CC7-FAC2-62821EAA6ABF}"/>
              </a:ext>
            </a:extLst>
          </p:cNvPr>
          <p:cNvSpPr txBox="1"/>
          <p:nvPr/>
        </p:nvSpPr>
        <p:spPr>
          <a:xfrm>
            <a:off x="54433" y="1126150"/>
            <a:ext cx="8753779" cy="1554480"/>
          </a:xfrm>
          <a:prstGeom prst="rect">
            <a:avLst/>
          </a:prstGeom>
          <a:noFill/>
          <a:ln/>
        </p:spPr>
        <p:txBody>
          <a:bodyPr wrap="square" lIns="0" tIns="0" rIns="0" bIns="0" rtlCol="0" anchor="ctr"/>
          <a:lstStyle/>
          <a:p>
            <a:pPr marL="0" indent="0" algn="ctr">
              <a:lnSpc>
                <a:spcPct val="105000"/>
              </a:lnSpc>
              <a:buNone/>
            </a:pPr>
            <a:r>
              <a:rPr lang="en-US" sz="3200" b="1" dirty="0">
                <a:solidFill>
                  <a:srgbClr val="FFFFFF"/>
                </a:solidFill>
                <a:latin typeface="Times New Roman" panose="02020603050405020304" pitchFamily="18" charset="0"/>
                <a:ea typeface="Cambria" pitchFamily="34" charset="-122"/>
                <a:cs typeface="Times New Roman" panose="02020603050405020304" pitchFamily="18" charset="0"/>
              </a:rPr>
              <a:t>CXS BRIDGE Encryption &amp; Data Management System</a:t>
            </a:r>
          </a:p>
        </p:txBody>
      </p:sp>
      <p:sp>
        <p:nvSpPr>
          <p:cNvPr id="2" name="TextBox 1">
            <a:extLst>
              <a:ext uri="{FF2B5EF4-FFF2-40B4-BE49-F238E27FC236}">
                <a16:creationId xmlns:a16="http://schemas.microsoft.com/office/drawing/2014/main" id="{3EB03F52-11C2-69B1-C930-68020A0CCE52}"/>
              </a:ext>
            </a:extLst>
          </p:cNvPr>
          <p:cNvSpPr txBox="1"/>
          <p:nvPr/>
        </p:nvSpPr>
        <p:spPr>
          <a:xfrm>
            <a:off x="2660901" y="2811153"/>
            <a:ext cx="3540841" cy="400110"/>
          </a:xfrm>
          <a:prstGeom prst="rect">
            <a:avLst/>
          </a:prstGeom>
          <a:noFill/>
        </p:spPr>
        <p:txBody>
          <a:bodyPr wrap="none" rtlCol="0">
            <a:spAutoFit/>
          </a:bodyPr>
          <a:lstStyle/>
          <a:p>
            <a:r>
              <a:rPr lang="en-US" sz="2000" dirty="0">
                <a:solidFill>
                  <a:schemeClr val="bg2"/>
                </a:solidFill>
              </a:rPr>
              <a:t>Supervised by: En. Menna Samir</a:t>
            </a:r>
          </a:p>
        </p:txBody>
      </p:sp>
      <p:sp>
        <p:nvSpPr>
          <p:cNvPr id="3" name="TextBox 2">
            <a:extLst>
              <a:ext uri="{FF2B5EF4-FFF2-40B4-BE49-F238E27FC236}">
                <a16:creationId xmlns:a16="http://schemas.microsoft.com/office/drawing/2014/main" id="{0443A1AA-0D7E-43DE-1BEB-E79C5C521BCC}"/>
              </a:ext>
            </a:extLst>
          </p:cNvPr>
          <p:cNvSpPr txBox="1"/>
          <p:nvPr/>
        </p:nvSpPr>
        <p:spPr>
          <a:xfrm>
            <a:off x="2375316" y="2556945"/>
            <a:ext cx="4294894" cy="369332"/>
          </a:xfrm>
          <a:prstGeom prst="rect">
            <a:avLst/>
          </a:prstGeom>
          <a:noFill/>
        </p:spPr>
        <p:txBody>
          <a:bodyPr wrap="none" rtlCol="0">
            <a:spAutoFit/>
          </a:bodyPr>
          <a:lstStyle/>
          <a:p>
            <a:r>
              <a:rPr lang="en-US" dirty="0">
                <a:solidFill>
                  <a:schemeClr val="bg2"/>
                </a:solidFill>
              </a:rPr>
              <a:t>Program: Digital Design Internship, Si-Vision</a:t>
            </a:r>
          </a:p>
        </p:txBody>
      </p:sp>
    </p:spTree>
    <p:extLst>
      <p:ext uri="{BB962C8B-B14F-4D97-AF65-F5344CB8AC3E}">
        <p14:creationId xmlns:p14="http://schemas.microsoft.com/office/powerpoint/2010/main" val="3685929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5D0532D-1DCA-0D52-AB7D-CD4A82301D9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BFED281D-EFE2-8270-7EBC-0F09ADCFBE2E}"/>
              </a:ext>
            </a:extLst>
          </p:cNvPr>
          <p:cNvSpPr/>
          <p:nvPr/>
        </p:nvSpPr>
        <p:spPr>
          <a:xfrm>
            <a:off x="0" y="-4873"/>
            <a:ext cx="4510007" cy="5143500"/>
          </a:xfrm>
          <a:prstGeom prst="rect">
            <a:avLst/>
          </a:prstGeom>
          <a:solidFill>
            <a:srgbClr val="1E27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A69DA4A-D690-6D1C-2CFD-854B12F37CD5}"/>
              </a:ext>
            </a:extLst>
          </p:cNvPr>
          <p:cNvSpPr txBox="1"/>
          <p:nvPr/>
        </p:nvSpPr>
        <p:spPr>
          <a:xfrm>
            <a:off x="1138991" y="487110"/>
            <a:ext cx="3172575" cy="2540623"/>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3000" b="1" kern="1200" dirty="0">
                <a:solidFill>
                  <a:srgbClr val="FFFFFF"/>
                </a:solidFill>
                <a:latin typeface="Times New Roman" panose="02020603050405020304" pitchFamily="18" charset="0"/>
                <a:ea typeface="+mj-ea"/>
                <a:cs typeface="Times New Roman" panose="02020603050405020304" pitchFamily="18" charset="0"/>
              </a:rPr>
              <a:t>CONTENT</a:t>
            </a:r>
          </a:p>
        </p:txBody>
      </p:sp>
      <p:sp>
        <p:nvSpPr>
          <p:cNvPr id="19" name="TextBox 18">
            <a:extLst>
              <a:ext uri="{FF2B5EF4-FFF2-40B4-BE49-F238E27FC236}">
                <a16:creationId xmlns:a16="http://schemas.microsoft.com/office/drawing/2014/main" id="{D537107C-52F6-561F-0BFB-233B2CF38C47}"/>
              </a:ext>
            </a:extLst>
          </p:cNvPr>
          <p:cNvSpPr txBox="1"/>
          <p:nvPr/>
        </p:nvSpPr>
        <p:spPr>
          <a:xfrm>
            <a:off x="4877368" y="487110"/>
            <a:ext cx="3646835" cy="4159535"/>
          </a:xfrm>
          <a:prstGeom prst="rect">
            <a:avLst/>
          </a:prstGeom>
        </p:spPr>
        <p:txBody>
          <a:bodyPr vert="horz" lIns="91440" tIns="45720" rIns="91440" bIns="45720" rtlCol="0" anchor="ctr">
            <a:normAutofit/>
          </a:bodyPr>
          <a:lstStyle/>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Introduction &amp; Objectives</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System Overview</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High-Level Architecture</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CXS Interface (RX)</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CXS Interface (TX)</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Packet Formatter &amp; CXSCNTL</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Control Unit &amp; FSM</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Encryption &amp; Parity</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ATU &amp; Central Data Memory (CDM)</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Clock Domain Crossing (CDC)</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Verification Strategy &amp; Test Cases</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Linting Results (SpyGlass)</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Synthesis Timing Results</a:t>
            </a:r>
          </a:p>
          <a:p>
            <a:pPr marL="400050" indent="-285750">
              <a:lnSpc>
                <a:spcPct val="90000"/>
              </a:lnSpc>
              <a:spcAft>
                <a:spcPts val="600"/>
              </a:spcAft>
              <a:buSzPct val="100000"/>
              <a:buFont typeface="Arial" panose="020B0604020202020204" pitchFamily="34" charset="0"/>
              <a:buChar char="•"/>
            </a:pPr>
            <a:r>
              <a:rPr lang="en-US" sz="1500">
                <a:solidFill>
                  <a:srgbClr val="000000"/>
                </a:solidFill>
                <a:latin typeface="Times New Roman" panose="02020603050405020304" pitchFamily="18" charset="0"/>
                <a:cs typeface="Times New Roman" panose="02020603050405020304" pitchFamily="18" charset="0"/>
              </a:rPr>
              <a:t>Conclusion</a:t>
            </a:r>
            <a:endParaRPr lang="en-US" sz="15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8131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36B57CDF-A232-AC18-9A4A-1BD30ABF9EA7}"/>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2390B356-7877-8B0B-829D-FB4EB06914CB}"/>
              </a:ext>
            </a:extLst>
          </p:cNvPr>
          <p:cNvSpPr txBox="1"/>
          <p:nvPr/>
        </p:nvSpPr>
        <p:spPr>
          <a:xfrm>
            <a:off x="715598" y="517183"/>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1</a:t>
            </a:r>
            <a:endParaRPr lang="en-US" sz="11000" dirty="0"/>
          </a:p>
        </p:txBody>
      </p:sp>
      <p:sp>
        <p:nvSpPr>
          <p:cNvPr id="6" name="Shape 2">
            <a:extLst>
              <a:ext uri="{FF2B5EF4-FFF2-40B4-BE49-F238E27FC236}">
                <a16:creationId xmlns:a16="http://schemas.microsoft.com/office/drawing/2014/main" id="{A526BD67-C352-21F6-D2C5-71B8207482CC}"/>
              </a:ext>
            </a:extLst>
          </p:cNvPr>
          <p:cNvSpPr/>
          <p:nvPr/>
        </p:nvSpPr>
        <p:spPr>
          <a:xfrm>
            <a:off x="622609" y="2090610"/>
            <a:ext cx="1554480" cy="45720"/>
          </a:xfrm>
          <a:prstGeom prst="rect">
            <a:avLst/>
          </a:prstGeom>
          <a:solidFill>
            <a:srgbClr val="00C2A8"/>
          </a:solidFill>
          <a:ln/>
        </p:spPr>
        <p:txBody>
          <a:bodyPr/>
          <a:lstStyle/>
          <a:p>
            <a:endParaRPr lang="en-US"/>
          </a:p>
        </p:txBody>
      </p:sp>
      <p:sp>
        <p:nvSpPr>
          <p:cNvPr id="8" name="Text 3">
            <a:extLst>
              <a:ext uri="{FF2B5EF4-FFF2-40B4-BE49-F238E27FC236}">
                <a16:creationId xmlns:a16="http://schemas.microsoft.com/office/drawing/2014/main" id="{D0CD1D9C-01BF-9873-FADF-F920A426D81A}"/>
              </a:ext>
            </a:extLst>
          </p:cNvPr>
          <p:cNvSpPr txBox="1"/>
          <p:nvPr/>
        </p:nvSpPr>
        <p:spPr>
          <a:xfrm>
            <a:off x="622609" y="2090610"/>
            <a:ext cx="3532202" cy="155448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Introduction &amp; Objectives</a:t>
            </a:r>
          </a:p>
        </p:txBody>
      </p:sp>
      <p:pic>
        <p:nvPicPr>
          <p:cNvPr id="9" name="Picture 8">
            <a:extLst>
              <a:ext uri="{FF2B5EF4-FFF2-40B4-BE49-F238E27FC236}">
                <a16:creationId xmlns:a16="http://schemas.microsoft.com/office/drawing/2014/main" id="{6E1C1A67-D049-D170-44D8-BA80E26E48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9028" y="1057428"/>
            <a:ext cx="3048464" cy="302864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28501236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25154D7-B63F-9460-DA80-864F8985D31B}"/>
            </a:ext>
          </a:extLst>
        </p:cNvPr>
        <p:cNvGrpSpPr/>
        <p:nvPr/>
      </p:nvGrpSpPr>
      <p:grpSpPr>
        <a:xfrm>
          <a:off x="0" y="0"/>
          <a:ext cx="0" cy="0"/>
          <a:chOff x="0" y="0"/>
          <a:chExt cx="0" cy="0"/>
        </a:xfrm>
      </p:grpSpPr>
      <p:sp>
        <p:nvSpPr>
          <p:cNvPr id="15" name="Text 0"/>
          <p:cNvSpPr txBox="1"/>
          <p:nvPr/>
        </p:nvSpPr>
        <p:spPr>
          <a:xfrm>
            <a:off x="480448" y="325399"/>
            <a:ext cx="6361930" cy="640080"/>
          </a:xfrm>
          <a:prstGeom prst="rect">
            <a:avLst/>
          </a:prstGeom>
          <a:noFill/>
          <a:ln/>
        </p:spPr>
        <p:txBody>
          <a:bodyPr wrap="square" lIns="0" tIns="0" rIns="0" bIns="0" rtlCol="0" anchor="ctr"/>
          <a:lstStyle/>
          <a:p>
            <a:r>
              <a:rPr lang="en-US" sz="3200" b="1" dirty="0">
                <a:solidFill>
                  <a:srgbClr val="1E2761"/>
                </a:solidFill>
                <a:latin typeface="Times New Roman" panose="02020603050405020304" pitchFamily="18" charset="0"/>
                <a:ea typeface="Cambria" pitchFamily="34" charset="-122"/>
                <a:cs typeface="Times New Roman" panose="02020603050405020304" pitchFamily="18" charset="0"/>
              </a:rPr>
              <a:t>Design Objectives</a:t>
            </a:r>
          </a:p>
        </p:txBody>
      </p:sp>
      <p:sp>
        <p:nvSpPr>
          <p:cNvPr id="2" name="TextBox 1">
            <a:extLst>
              <a:ext uri="{FF2B5EF4-FFF2-40B4-BE49-F238E27FC236}">
                <a16:creationId xmlns:a16="http://schemas.microsoft.com/office/drawing/2014/main" id="{EE894087-5DE2-44A1-5255-C38E1D63ADB6}"/>
              </a:ext>
            </a:extLst>
          </p:cNvPr>
          <p:cNvSpPr txBox="1"/>
          <p:nvPr/>
        </p:nvSpPr>
        <p:spPr>
          <a:xfrm>
            <a:off x="398706" y="1105589"/>
            <a:ext cx="8043521" cy="1477328"/>
          </a:xfrm>
          <a:prstGeom prst="rect">
            <a:avLst/>
          </a:prstGeom>
          <a:noFill/>
        </p:spPr>
        <p:txBody>
          <a:bodyPr wrap="square" rtlCol="0">
            <a:spAutoFit/>
          </a:bodyPr>
          <a:lstStyle/>
          <a:p>
            <a:pPr marL="285750" indent="-285750">
              <a:buSzPct val="100000"/>
              <a:buFont typeface="Arial" panose="020B0604020202020204" pitchFamily="34" charset="0"/>
              <a:buChar char="•"/>
            </a:pPr>
            <a:r>
              <a:rPr lang="en-US">
                <a:solidFill>
                  <a:srgbClr val="000000"/>
                </a:solidFill>
                <a:latin typeface="Times New Roman" panose="02020603050405020304" pitchFamily="18" charset="0"/>
                <a:cs typeface="Times New Roman" panose="02020603050405020304" pitchFamily="18" charset="0"/>
              </a:rPr>
              <a:t>Modular, scalable, parameterised SystemVerilog architecture</a:t>
            </a:r>
          </a:p>
          <a:p>
            <a:pPr marL="285750" indent="-285750">
              <a:buSzPct val="100000"/>
              <a:buFont typeface="Arial" panose="020B0604020202020204" pitchFamily="34" charset="0"/>
              <a:buChar char="•"/>
            </a:pPr>
            <a:r>
              <a:rPr lang="en-US">
                <a:solidFill>
                  <a:srgbClr val="000000"/>
                </a:solidFill>
                <a:latin typeface="Times New Roman" panose="02020603050405020304" pitchFamily="18" charset="0"/>
                <a:cs typeface="Times New Roman" panose="02020603050405020304" pitchFamily="18" charset="0"/>
              </a:rPr>
              <a:t>Reliable CXS RX/TX interface with credit-based flow control</a:t>
            </a:r>
          </a:p>
          <a:p>
            <a:pPr marL="285750" indent="-285750">
              <a:buSzPct val="100000"/>
              <a:buFont typeface="Arial" panose="020B0604020202020204" pitchFamily="34" charset="0"/>
              <a:buChar char="•"/>
            </a:pPr>
            <a:r>
              <a:rPr lang="en-US">
                <a:solidFill>
                  <a:srgbClr val="000000"/>
                </a:solidFill>
                <a:latin typeface="Times New Roman" panose="02020603050405020304" pitchFamily="18" charset="0"/>
                <a:cs typeface="Times New Roman" panose="02020603050405020304" pitchFamily="18" charset="0"/>
              </a:rPr>
              <a:t>CXSCNTL decoding (2 packets per FLIT) and safe CDC operation</a:t>
            </a:r>
          </a:p>
          <a:p>
            <a:pPr marL="285750" indent="-285750">
              <a:buSzPct val="100000"/>
              <a:buFont typeface="Arial" panose="020B0604020202020204" pitchFamily="34" charset="0"/>
              <a:buChar char="•"/>
            </a:pPr>
            <a:r>
              <a:rPr lang="en-US">
                <a:solidFill>
                  <a:srgbClr val="000000"/>
                </a:solidFill>
                <a:latin typeface="Times New Roman" panose="02020603050405020304" pitchFamily="18" charset="0"/>
                <a:cs typeface="Times New Roman" panose="02020603050405020304" pitchFamily="18" charset="0"/>
              </a:rPr>
              <a:t>Encryption, parity, address translation and CDM storage</a:t>
            </a:r>
          </a:p>
          <a:p>
            <a:pPr marL="285750" indent="-285750">
              <a:buSzPct val="100000"/>
              <a:buFont typeface="Arial" panose="020B0604020202020204" pitchFamily="34" charset="0"/>
              <a:buChar char="•"/>
            </a:pPr>
            <a:r>
              <a:rPr lang="en-US">
                <a:solidFill>
                  <a:srgbClr val="000000"/>
                </a:solidFill>
                <a:latin typeface="Times New Roman" panose="02020603050405020304" pitchFamily="18" charset="0"/>
                <a:cs typeface="Times New Roman" panose="02020603050405020304" pitchFamily="18" charset="0"/>
              </a:rPr>
              <a:t>Verifiable design: unit-level testbenches and a UVM system environment</a:t>
            </a:r>
            <a:endParaRPr lang="en-US" dirty="0">
              <a:solidFill>
                <a:srgbClr val="000000"/>
              </a:solidFill>
              <a:latin typeface="Times New Roman" panose="02020603050405020304" pitchFamily="18" charset="0"/>
              <a:cs typeface="Times New Roman" panose="02020603050405020304" pitchFamily="18" charset="0"/>
            </a:endParaRPr>
          </a:p>
        </p:txBody>
      </p:sp>
      <p:graphicFrame>
        <p:nvGraphicFramePr>
          <p:cNvPr id="10" name="Diagram 9">
            <a:extLst>
              <a:ext uri="{FF2B5EF4-FFF2-40B4-BE49-F238E27FC236}">
                <a16:creationId xmlns:a16="http://schemas.microsoft.com/office/drawing/2014/main" id="{1D5D5AED-669F-B728-EE91-A60184DBCFF8}"/>
              </a:ext>
            </a:extLst>
          </p:cNvPr>
          <p:cNvGraphicFramePr/>
          <p:nvPr>
            <p:extLst>
              <p:ext uri="{D42A27DB-BD31-4B8C-83A1-F6EECF244321}">
                <p14:modId xmlns:p14="http://schemas.microsoft.com/office/powerpoint/2010/main" val="2100137011"/>
              </p:ext>
            </p:extLst>
          </p:nvPr>
        </p:nvGraphicFramePr>
        <p:xfrm>
          <a:off x="1201994" y="2190135"/>
          <a:ext cx="6266472" cy="27913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14073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346FD28D-43CD-E175-7490-25A21025AC57}"/>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0FF43234-4D7A-B3F1-BD1A-7A884E0E13CF}"/>
              </a:ext>
            </a:extLst>
          </p:cNvPr>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2</a:t>
            </a:r>
            <a:endParaRPr lang="en-US" sz="11000" dirty="0"/>
          </a:p>
        </p:txBody>
      </p:sp>
      <p:sp>
        <p:nvSpPr>
          <p:cNvPr id="6" name="Shape 2">
            <a:extLst>
              <a:ext uri="{FF2B5EF4-FFF2-40B4-BE49-F238E27FC236}">
                <a16:creationId xmlns:a16="http://schemas.microsoft.com/office/drawing/2014/main" id="{8C83252D-8E20-C129-FFFF-8BA2A64DC007}"/>
              </a:ext>
            </a:extLst>
          </p:cNvPr>
          <p:cNvSpPr/>
          <p:nvPr/>
        </p:nvSpPr>
        <p:spPr>
          <a:xfrm>
            <a:off x="295879" y="1758393"/>
            <a:ext cx="1554480" cy="45720"/>
          </a:xfrm>
          <a:prstGeom prst="rect">
            <a:avLst/>
          </a:prstGeom>
          <a:solidFill>
            <a:srgbClr val="00C2A8"/>
          </a:solidFill>
          <a:ln/>
        </p:spPr>
        <p:txBody>
          <a:bodyPr/>
          <a:lstStyle/>
          <a:p>
            <a:endParaRPr lang="en-US"/>
          </a:p>
        </p:txBody>
      </p:sp>
      <p:sp>
        <p:nvSpPr>
          <p:cNvPr id="8" name="Text 3">
            <a:extLst>
              <a:ext uri="{FF2B5EF4-FFF2-40B4-BE49-F238E27FC236}">
                <a16:creationId xmlns:a16="http://schemas.microsoft.com/office/drawing/2014/main" id="{6D467C7D-76A5-4522-C532-A67D387C89FE}"/>
              </a:ext>
            </a:extLst>
          </p:cNvPr>
          <p:cNvSpPr txBox="1"/>
          <p:nvPr/>
        </p:nvSpPr>
        <p:spPr>
          <a:xfrm>
            <a:off x="295879" y="2009890"/>
            <a:ext cx="4820227" cy="155448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High-Level </a:t>
            </a:r>
            <a:r>
              <a:rPr lang="en-US" sz="4000" b="1">
                <a:solidFill>
                  <a:srgbClr val="FFFFFF"/>
                </a:solidFill>
                <a:latin typeface="Cambria" pitchFamily="34" charset="0"/>
                <a:ea typeface="Cambria" pitchFamily="34" charset="-122"/>
                <a:cs typeface="Cambria" pitchFamily="34" charset="-120"/>
              </a:rPr>
              <a:t>Architecture &amp; System </a:t>
            </a:r>
            <a:r>
              <a:rPr lang="en-US" sz="4000" b="1" dirty="0">
                <a:solidFill>
                  <a:srgbClr val="FFFFFF"/>
                </a:solidFill>
                <a:latin typeface="Cambria" pitchFamily="34" charset="0"/>
                <a:ea typeface="Cambria" pitchFamily="34" charset="-122"/>
                <a:cs typeface="Cambria" pitchFamily="34" charset="-120"/>
              </a:rPr>
              <a:t>Overview</a:t>
            </a:r>
          </a:p>
        </p:txBody>
      </p:sp>
      <p:pic>
        <p:nvPicPr>
          <p:cNvPr id="4" name="Picture 3">
            <a:extLst>
              <a:ext uri="{FF2B5EF4-FFF2-40B4-BE49-F238E27FC236}">
                <a16:creationId xmlns:a16="http://schemas.microsoft.com/office/drawing/2014/main" id="{E8034CF6-2DC1-BD13-5B05-8E9CC0516C34}"/>
              </a:ext>
            </a:extLst>
          </p:cNvPr>
          <p:cNvPicPr>
            <a:picLocks noChangeAspect="1"/>
          </p:cNvPicPr>
          <p:nvPr/>
        </p:nvPicPr>
        <p:blipFill>
          <a:blip r:embed="rId3"/>
          <a:stretch>
            <a:fillRect/>
          </a:stretch>
        </p:blipFill>
        <p:spPr>
          <a:xfrm>
            <a:off x="5295306" y="1162554"/>
            <a:ext cx="3226085" cy="281839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133121795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0AD5A19-73BC-B829-CF86-75A6EAACB9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F0FFEB-CFB9-3808-BC35-F1A5C53827E8}"/>
              </a:ext>
            </a:extLst>
          </p:cNvPr>
          <p:cNvSpPr txBox="1"/>
          <p:nvPr/>
        </p:nvSpPr>
        <p:spPr>
          <a:xfrm>
            <a:off x="380504" y="218057"/>
            <a:ext cx="7886700" cy="480060"/>
          </a:xfrm>
          <a:prstGeom prst="rect">
            <a:avLst/>
          </a:prstGeom>
          <a:noFill/>
          <a:ln/>
        </p:spPr>
        <p:txBody>
          <a:bodyPr wrap="square" lIns="0" tIns="0" rIns="0" bIns="0" rtlCol="0" anchor="ctr"/>
          <a:lstStyle/>
          <a:p>
            <a:r>
              <a:rPr lang="en-US" sz="2400" b="1" dirty="0">
                <a:solidFill>
                  <a:srgbClr val="1E2761"/>
                </a:solidFill>
                <a:latin typeface="Cambria" pitchFamily="34" charset="0"/>
                <a:ea typeface="Cambria" pitchFamily="34" charset="-122"/>
                <a:cs typeface="Cambria" pitchFamily="34" charset="-120"/>
              </a:rPr>
              <a:t>System</a:t>
            </a:r>
            <a:r>
              <a:rPr lang="en-US" sz="2250" b="1" dirty="0">
                <a:solidFill>
                  <a:srgbClr val="1E2761"/>
                </a:solidFill>
                <a:latin typeface="Cambria" pitchFamily="34" charset="0"/>
                <a:ea typeface="Cambria" pitchFamily="34" charset="-122"/>
                <a:cs typeface="Cambria" pitchFamily="34" charset="-120"/>
              </a:rPr>
              <a:t> Architecture</a:t>
            </a:r>
          </a:p>
        </p:txBody>
      </p:sp>
      <p:sp>
        <p:nvSpPr>
          <p:cNvPr id="7" name="TextBox 6">
            <a:extLst>
              <a:ext uri="{FF2B5EF4-FFF2-40B4-BE49-F238E27FC236}">
                <a16:creationId xmlns:a16="http://schemas.microsoft.com/office/drawing/2014/main" id="{1A563316-B517-3761-16A3-804860415FB4}"/>
              </a:ext>
            </a:extLst>
          </p:cNvPr>
          <p:cNvSpPr txBox="1"/>
          <p:nvPr/>
        </p:nvSpPr>
        <p:spPr>
          <a:xfrm>
            <a:off x="446048" y="4531492"/>
            <a:ext cx="7946107" cy="523220"/>
          </a:xfrm>
          <a:prstGeom prst="rect">
            <a:avLst/>
          </a:prstGeom>
          <a:noFill/>
        </p:spPr>
        <p:txBody>
          <a:bodyPr wrap="square" rtlCol="0">
            <a:spAutoFit/>
          </a:bodyPr>
          <a:lstStyle/>
          <a:p>
            <a:r>
              <a:rPr lang="en-US" sz="1400">
                <a:solidFill>
                  <a:srgbClr val="1E2761"/>
                </a:solidFill>
                <a:latin typeface="Calibri" panose="020F0502020204030204" pitchFamily="34" charset="0"/>
              </a:rPr>
              <a:t>Top-level block diagram: CXS Interface (CLK_CXS), Asynchronous FIFO and error synchronizer (CDC), System Wrapper (CLK_SYS) with Control Unit, ATU, Encryption, Parity and CDM.</a:t>
            </a:r>
            <a:endParaRPr lang="en-US" sz="1400" dirty="0">
              <a:solidFill>
                <a:srgbClr val="1E2761"/>
              </a:solidFill>
              <a:latin typeface="Calibri" panose="020F0502020204030204" pitchFamily="34" charset="0"/>
            </a:endParaRPr>
          </a:p>
        </p:txBody>
      </p:sp>
      <p:sp>
        <p:nvSpPr>
          <p:cNvPr id="3" name="PLACEHOLDER">
            <a:extLst>
              <a:ext uri="{FF2B5EF4-FFF2-40B4-BE49-F238E27FC236}">
                <a16:creationId xmlns:a16="http://schemas.microsoft.com/office/drawing/2014/main" id="{43BB6587-960F-A11C-6F27-8530B224CADC}"/>
              </a:ext>
            </a:extLst>
          </p:cNvPr>
          <p:cNvSpPr/>
          <p:nvPr/>
        </p:nvSpPr>
        <p:spPr>
          <a:xfrm>
            <a:off x="505455" y="698117"/>
            <a:ext cx="7886700" cy="3840931"/>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My top-level block diagram: cxs_if (CLK_CXS), asynchronous FIFO + error toggle synchronizer (CDC), system_wrapper (CLK_SYS)</a:t>
            </a:r>
          </a:p>
          <a:p>
            <a:pPr algn="ctr"/>
            <a:r>
              <a:rPr lang="en-US" sz="1000" i="1">
                <a:solidFill>
                  <a:srgbClr val="3C3939"/>
                </a:solidFill>
                <a:latin typeface="Times New Roman" panose="02020603050405020304" pitchFamily="18" charset="0"/>
              </a:rPr>
              <a:t>Source: draw.io diagram</a:t>
            </a:r>
          </a:p>
        </p:txBody>
      </p:sp>
    </p:spTree>
    <p:extLst>
      <p:ext uri="{BB962C8B-B14F-4D97-AF65-F5344CB8AC3E}">
        <p14:creationId xmlns:p14="http://schemas.microsoft.com/office/powerpoint/2010/main" val="12885012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B23FA94-D689-0AEE-5F6E-CD04E0A866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B8AFF3-EE8E-62BE-2433-A10B97EF5E7E}"/>
              </a:ext>
            </a:extLst>
          </p:cNvPr>
          <p:cNvSpPr txBox="1"/>
          <p:nvPr/>
        </p:nvSpPr>
        <p:spPr>
          <a:xfrm>
            <a:off x="379210" y="361830"/>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System Main Blocks</a:t>
            </a:r>
          </a:p>
        </p:txBody>
      </p:sp>
      <p:grpSp>
        <p:nvGrpSpPr>
          <p:cNvPr id="74" name="Group 73">
            <a:extLst>
              <a:ext uri="{FF2B5EF4-FFF2-40B4-BE49-F238E27FC236}">
                <a16:creationId xmlns:a16="http://schemas.microsoft.com/office/drawing/2014/main" id="{217F085A-5984-632D-FEEB-92EC28B10A6D}"/>
              </a:ext>
            </a:extLst>
          </p:cNvPr>
          <p:cNvGrpSpPr/>
          <p:nvPr/>
        </p:nvGrpSpPr>
        <p:grpSpPr>
          <a:xfrm>
            <a:off x="1988375" y="1847670"/>
            <a:ext cx="1677171" cy="1752302"/>
            <a:chOff x="2084994" y="1595064"/>
            <a:chExt cx="1529858" cy="1262138"/>
          </a:xfrm>
        </p:grpSpPr>
        <p:sp>
          <p:nvSpPr>
            <p:cNvPr id="21" name="Freeform: Shape 20">
              <a:extLst>
                <a:ext uri="{FF2B5EF4-FFF2-40B4-BE49-F238E27FC236}">
                  <a16:creationId xmlns:a16="http://schemas.microsoft.com/office/drawing/2014/main" id="{25C227B7-C992-C9B4-AABC-B05F2F2D49B2}"/>
                </a:ext>
              </a:extLst>
            </p:cNvPr>
            <p:cNvSpPr/>
            <p:nvPr/>
          </p:nvSpPr>
          <p:spPr>
            <a:xfrm>
              <a:off x="2084994" y="1595064"/>
              <a:ext cx="1529858" cy="1262137"/>
            </a:xfrm>
            <a:custGeom>
              <a:avLst/>
              <a:gdLst>
                <a:gd name="csX0" fmla="*/ 36427 w 1980555"/>
                <a:gd name="csY0" fmla="*/ 0 h 1262137"/>
                <a:gd name="csX1" fmla="*/ 1944129 w 1980555"/>
                <a:gd name="csY1" fmla="*/ 0 h 1262137"/>
                <a:gd name="csX2" fmla="*/ 1980555 w 1980555"/>
                <a:gd name="csY2" fmla="*/ 36304 h 1262137"/>
                <a:gd name="csX3" fmla="*/ 1980555 w 1980555"/>
                <a:gd name="csY3" fmla="*/ 1225834 h 1262137"/>
                <a:gd name="csX4" fmla="*/ 1944129 w 1980555"/>
                <a:gd name="csY4" fmla="*/ 1262137 h 1262137"/>
                <a:gd name="csX5" fmla="*/ 36427 w 1980555"/>
                <a:gd name="csY5" fmla="*/ 1262137 h 1262137"/>
                <a:gd name="csX6" fmla="*/ 0 w 1980555"/>
                <a:gd name="csY6" fmla="*/ 1225834 h 1262137"/>
                <a:gd name="csX7" fmla="*/ 0 w 1980555"/>
                <a:gd name="csY7" fmla="*/ 36304 h 1262137"/>
                <a:gd name="csX8" fmla="*/ 36427 w 1980555"/>
                <a:gd name="csY8" fmla="*/ 0 h 1262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555" h="1262137">
                  <a:moveTo>
                    <a:pt x="36427" y="0"/>
                  </a:moveTo>
                  <a:lnTo>
                    <a:pt x="1944129" y="0"/>
                  </a:lnTo>
                  <a:cubicBezTo>
                    <a:pt x="1964244" y="0"/>
                    <a:pt x="1980555" y="16254"/>
                    <a:pt x="1980555" y="36304"/>
                  </a:cubicBezTo>
                  <a:lnTo>
                    <a:pt x="1980555" y="1225834"/>
                  </a:lnTo>
                  <a:cubicBezTo>
                    <a:pt x="1980555" y="1245881"/>
                    <a:pt x="1964244" y="1262137"/>
                    <a:pt x="1944129" y="1262137"/>
                  </a:cubicBezTo>
                  <a:lnTo>
                    <a:pt x="36427" y="1262137"/>
                  </a:lnTo>
                  <a:cubicBezTo>
                    <a:pt x="16309" y="1262137"/>
                    <a:pt x="0" y="1245881"/>
                    <a:pt x="0" y="1225834"/>
                  </a:cubicBezTo>
                  <a:lnTo>
                    <a:pt x="0" y="36304"/>
                  </a:lnTo>
                  <a:cubicBezTo>
                    <a:pt x="0" y="16254"/>
                    <a:pt x="16309" y="0"/>
                    <a:pt x="36427" y="0"/>
                  </a:cubicBezTo>
                </a:path>
              </a:pathLst>
            </a:custGeom>
            <a:solidFill>
              <a:srgbClr val="FFFFFF"/>
            </a:solidFill>
            <a:ln w="4740" cap="flat">
              <a:solidFill>
                <a:schemeClr val="accent1"/>
              </a:solidFill>
              <a:prstDash val="solid"/>
              <a:miter/>
            </a:ln>
          </p:spPr>
          <p:txBody>
            <a:bodyPr/>
            <a:lstStyle/>
            <a:p>
              <a:endParaRPr lang="ar-EG"/>
            </a:p>
          </p:txBody>
        </p:sp>
        <p:sp>
          <p:nvSpPr>
            <p:cNvPr id="23" name="Freeform: Shape 22">
              <a:extLst>
                <a:ext uri="{FF2B5EF4-FFF2-40B4-BE49-F238E27FC236}">
                  <a16:creationId xmlns:a16="http://schemas.microsoft.com/office/drawing/2014/main" id="{276A2F91-06A0-6FE1-505F-C430C98690B8}"/>
                </a:ext>
              </a:extLst>
            </p:cNvPr>
            <p:cNvSpPr/>
            <p:nvPr/>
          </p:nvSpPr>
          <p:spPr>
            <a:xfrm>
              <a:off x="2084994" y="1595065"/>
              <a:ext cx="1529858" cy="1262137"/>
            </a:xfrm>
            <a:custGeom>
              <a:avLst/>
              <a:gdLst>
                <a:gd name="csX0" fmla="*/ 10670 w 1980555"/>
                <a:gd name="csY0" fmla="*/ 10634 h 1262137"/>
                <a:gd name="csX1" fmla="*/ 36427 w 1980555"/>
                <a:gd name="csY1" fmla="*/ 0 h 1262137"/>
                <a:gd name="csX2" fmla="*/ 1944129 w 1980555"/>
                <a:gd name="csY2" fmla="*/ 0 h 1262137"/>
                <a:gd name="csX3" fmla="*/ 1980555 w 1980555"/>
                <a:gd name="csY3" fmla="*/ 36304 h 1262137"/>
                <a:gd name="csX4" fmla="*/ 1980555 w 1980555"/>
                <a:gd name="csY4" fmla="*/ 1225834 h 1262137"/>
                <a:gd name="csX5" fmla="*/ 1944129 w 1980555"/>
                <a:gd name="csY5" fmla="*/ 1262137 h 1262137"/>
                <a:gd name="csX6" fmla="*/ 36427 w 1980555"/>
                <a:gd name="csY6" fmla="*/ 1262137 h 1262137"/>
                <a:gd name="csX7" fmla="*/ 0 w 1980555"/>
                <a:gd name="csY7" fmla="*/ 1225834 h 1262137"/>
                <a:gd name="csX8" fmla="*/ 0 w 1980555"/>
                <a:gd name="csY8" fmla="*/ 36304 h 1262137"/>
                <a:gd name="csX9" fmla="*/ 10670 w 1980555"/>
                <a:gd name="csY9" fmla="*/ 10634 h 1262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555" h="1262137">
                  <a:moveTo>
                    <a:pt x="10670" y="10634"/>
                  </a:moveTo>
                  <a:cubicBezTo>
                    <a:pt x="17501" y="3826"/>
                    <a:pt x="26766" y="0"/>
                    <a:pt x="36427" y="0"/>
                  </a:cubicBezTo>
                  <a:lnTo>
                    <a:pt x="1944129" y="0"/>
                  </a:lnTo>
                  <a:cubicBezTo>
                    <a:pt x="1964244" y="0"/>
                    <a:pt x="1980555" y="16254"/>
                    <a:pt x="1980555" y="36304"/>
                  </a:cubicBezTo>
                  <a:lnTo>
                    <a:pt x="1980555" y="1225834"/>
                  </a:lnTo>
                  <a:cubicBezTo>
                    <a:pt x="1980555" y="1245881"/>
                    <a:pt x="1964244" y="1262137"/>
                    <a:pt x="1944129" y="1262137"/>
                  </a:cubicBezTo>
                  <a:lnTo>
                    <a:pt x="36427" y="1262137"/>
                  </a:lnTo>
                  <a:cubicBezTo>
                    <a:pt x="16309" y="1262137"/>
                    <a:pt x="0" y="1245881"/>
                    <a:pt x="0" y="1225834"/>
                  </a:cubicBezTo>
                  <a:lnTo>
                    <a:pt x="0" y="36304"/>
                  </a:lnTo>
                  <a:cubicBezTo>
                    <a:pt x="0" y="26676"/>
                    <a:pt x="3839" y="17442"/>
                    <a:pt x="10670" y="10634"/>
                  </a:cubicBezTo>
                </a:path>
              </a:pathLst>
            </a:custGeom>
            <a:noFill/>
            <a:ln w="28438" cap="flat">
              <a:solidFill>
                <a:schemeClr val="accent1"/>
              </a:solidFill>
              <a:prstDash val="solid"/>
              <a:miter/>
            </a:ln>
          </p:spPr>
          <p:txBody>
            <a:bodyPr/>
            <a:lstStyle/>
            <a:p>
              <a:endParaRPr lang="ar-EG"/>
            </a:p>
          </p:txBody>
        </p:sp>
        <p:sp>
          <p:nvSpPr>
            <p:cNvPr id="64" name="Freeform: Shape 63">
              <a:extLst>
                <a:ext uri="{FF2B5EF4-FFF2-40B4-BE49-F238E27FC236}">
                  <a16:creationId xmlns:a16="http://schemas.microsoft.com/office/drawing/2014/main" id="{87C6FCB4-7817-5B78-9401-D488F4CB89BE}"/>
                </a:ext>
              </a:extLst>
            </p:cNvPr>
            <p:cNvSpPr/>
            <p:nvPr/>
          </p:nvSpPr>
          <p:spPr>
            <a:xfrm>
              <a:off x="2096025" y="1608015"/>
              <a:ext cx="1507792" cy="256843"/>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dirty="0"/>
            </a:p>
          </p:txBody>
        </p:sp>
        <p:sp>
          <p:nvSpPr>
            <p:cNvPr id="66" name="Text 1">
              <a:extLst>
                <a:ext uri="{FF2B5EF4-FFF2-40B4-BE49-F238E27FC236}">
                  <a16:creationId xmlns:a16="http://schemas.microsoft.com/office/drawing/2014/main" id="{87E82B4B-CB64-B084-A0C6-9E61802A79A3}"/>
                </a:ext>
              </a:extLst>
            </p:cNvPr>
            <p:cNvSpPr/>
            <p:nvPr/>
          </p:nvSpPr>
          <p:spPr>
            <a:xfrm>
              <a:off x="2117589" y="1682193"/>
              <a:ext cx="1346960" cy="162669"/>
            </a:xfrm>
            <a:prstGeom prst="rect">
              <a:avLst/>
            </a:prstGeom>
            <a:noFill/>
            <a:ln/>
          </p:spPr>
          <p:txBody>
            <a:bodyPr wrap="none" lIns="0" tIns="0" rIns="0" bIns="0" rtlCol="0" anchor="t"/>
            <a:lstStyle/>
            <a:p>
              <a:pPr>
                <a:lnSpc>
                  <a:spcPct val="104000"/>
                </a:lnSpc>
              </a:pPr>
              <a:r>
                <a:rPr lang="en-US" sz="1100" b="1" dirty="0">
                  <a:solidFill>
                    <a:srgbClr val="00C2A8"/>
                  </a:solidFill>
                  <a:latin typeface="Times New Roman" panose="02020603050405020304" pitchFamily="18" charset="0"/>
                  <a:ea typeface="Raleway" pitchFamily="34" charset="-122"/>
                  <a:cs typeface="Times New Roman" panose="02020603050405020304" pitchFamily="18" charset="0"/>
                </a:rPr>
                <a:t>             Control Unit</a:t>
              </a:r>
            </a:p>
          </p:txBody>
        </p:sp>
      </p:grpSp>
      <p:grpSp>
        <p:nvGrpSpPr>
          <p:cNvPr id="75" name="Group 74">
            <a:extLst>
              <a:ext uri="{FF2B5EF4-FFF2-40B4-BE49-F238E27FC236}">
                <a16:creationId xmlns:a16="http://schemas.microsoft.com/office/drawing/2014/main" id="{8727DEAA-400A-F3FB-3DCB-23F7C5E6BE3F}"/>
              </a:ext>
            </a:extLst>
          </p:cNvPr>
          <p:cNvGrpSpPr/>
          <p:nvPr/>
        </p:nvGrpSpPr>
        <p:grpSpPr>
          <a:xfrm>
            <a:off x="3730260" y="1847671"/>
            <a:ext cx="1677171" cy="1752301"/>
            <a:chOff x="3673882" y="1438870"/>
            <a:chExt cx="1529858" cy="1418332"/>
          </a:xfrm>
        </p:grpSpPr>
        <p:sp>
          <p:nvSpPr>
            <p:cNvPr id="32" name="Freeform: Shape 31">
              <a:extLst>
                <a:ext uri="{FF2B5EF4-FFF2-40B4-BE49-F238E27FC236}">
                  <a16:creationId xmlns:a16="http://schemas.microsoft.com/office/drawing/2014/main" id="{5FE5D782-799F-1C32-CE44-B67EBF65624E}"/>
                </a:ext>
              </a:extLst>
            </p:cNvPr>
            <p:cNvSpPr/>
            <p:nvPr/>
          </p:nvSpPr>
          <p:spPr>
            <a:xfrm>
              <a:off x="3673882" y="1438870"/>
              <a:ext cx="1529858" cy="1418332"/>
            </a:xfrm>
            <a:custGeom>
              <a:avLst/>
              <a:gdLst>
                <a:gd name="csX0" fmla="*/ 36427 w 1980555"/>
                <a:gd name="csY0" fmla="*/ 0 h 1418332"/>
                <a:gd name="csX1" fmla="*/ 1944129 w 1980555"/>
                <a:gd name="csY1" fmla="*/ 0 h 1418332"/>
                <a:gd name="csX2" fmla="*/ 1980555 w 1980555"/>
                <a:gd name="csY2" fmla="*/ 36416 h 1418332"/>
                <a:gd name="csX3" fmla="*/ 1980555 w 1980555"/>
                <a:gd name="csY3" fmla="*/ 1381917 h 1418332"/>
                <a:gd name="csX4" fmla="*/ 1944129 w 1980555"/>
                <a:gd name="csY4" fmla="*/ 1418332 h 1418332"/>
                <a:gd name="csX5" fmla="*/ 36427 w 1980555"/>
                <a:gd name="csY5" fmla="*/ 1418332 h 1418332"/>
                <a:gd name="csX6" fmla="*/ 0 w 1980555"/>
                <a:gd name="csY6" fmla="*/ 1381917 h 1418332"/>
                <a:gd name="csX7" fmla="*/ 0 w 1980555"/>
                <a:gd name="csY7" fmla="*/ 36416 h 1418332"/>
                <a:gd name="csX8" fmla="*/ 36427 w 1980555"/>
                <a:gd name="csY8" fmla="*/ 0 h 1418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555" h="1418332">
                  <a:moveTo>
                    <a:pt x="36427" y="0"/>
                  </a:moveTo>
                  <a:lnTo>
                    <a:pt x="1944129" y="0"/>
                  </a:lnTo>
                  <a:cubicBezTo>
                    <a:pt x="1964244" y="0"/>
                    <a:pt x="1980555" y="16304"/>
                    <a:pt x="1980555" y="36416"/>
                  </a:cubicBezTo>
                  <a:lnTo>
                    <a:pt x="1980555" y="1381917"/>
                  </a:lnTo>
                  <a:cubicBezTo>
                    <a:pt x="1980555" y="1402026"/>
                    <a:pt x="1964244" y="1418332"/>
                    <a:pt x="1944129" y="1418332"/>
                  </a:cubicBezTo>
                  <a:lnTo>
                    <a:pt x="36427" y="1418332"/>
                  </a:lnTo>
                  <a:cubicBezTo>
                    <a:pt x="16309" y="1418332"/>
                    <a:pt x="0" y="1402026"/>
                    <a:pt x="0" y="1381917"/>
                  </a:cubicBezTo>
                  <a:lnTo>
                    <a:pt x="0" y="36416"/>
                  </a:lnTo>
                  <a:cubicBezTo>
                    <a:pt x="0" y="16304"/>
                    <a:pt x="16309" y="0"/>
                    <a:pt x="36427" y="0"/>
                  </a:cubicBezTo>
                </a:path>
              </a:pathLst>
            </a:custGeom>
            <a:solidFill>
              <a:srgbClr val="FFFFFF"/>
            </a:solidFill>
            <a:ln w="4740" cap="flat">
              <a:solidFill>
                <a:schemeClr val="accent1"/>
              </a:solidFill>
              <a:prstDash val="solid"/>
              <a:miter/>
            </a:ln>
          </p:spPr>
          <p:txBody>
            <a:bodyPr/>
            <a:lstStyle/>
            <a:p>
              <a:endParaRPr lang="ar-EG"/>
            </a:p>
          </p:txBody>
        </p:sp>
        <p:sp>
          <p:nvSpPr>
            <p:cNvPr id="33" name="Freeform: Shape 32">
              <a:extLst>
                <a:ext uri="{FF2B5EF4-FFF2-40B4-BE49-F238E27FC236}">
                  <a16:creationId xmlns:a16="http://schemas.microsoft.com/office/drawing/2014/main" id="{63DC03D3-4771-A960-7897-E0CA01324F67}"/>
                </a:ext>
              </a:extLst>
            </p:cNvPr>
            <p:cNvSpPr/>
            <p:nvPr/>
          </p:nvSpPr>
          <p:spPr>
            <a:xfrm>
              <a:off x="3673882" y="1438870"/>
              <a:ext cx="1529858" cy="1418332"/>
            </a:xfrm>
            <a:custGeom>
              <a:avLst/>
              <a:gdLst>
                <a:gd name="csX0" fmla="*/ 10670 w 1980555"/>
                <a:gd name="csY0" fmla="*/ 10667 h 1418332"/>
                <a:gd name="csX1" fmla="*/ 36427 w 1980555"/>
                <a:gd name="csY1" fmla="*/ 0 h 1418332"/>
                <a:gd name="csX2" fmla="*/ 1944129 w 1980555"/>
                <a:gd name="csY2" fmla="*/ 0 h 1418332"/>
                <a:gd name="csX3" fmla="*/ 1980555 w 1980555"/>
                <a:gd name="csY3" fmla="*/ 36416 h 1418332"/>
                <a:gd name="csX4" fmla="*/ 1980555 w 1980555"/>
                <a:gd name="csY4" fmla="*/ 1381917 h 1418332"/>
                <a:gd name="csX5" fmla="*/ 1944129 w 1980555"/>
                <a:gd name="csY5" fmla="*/ 1418332 h 1418332"/>
                <a:gd name="csX6" fmla="*/ 36427 w 1980555"/>
                <a:gd name="csY6" fmla="*/ 1418332 h 1418332"/>
                <a:gd name="csX7" fmla="*/ 0 w 1980555"/>
                <a:gd name="csY7" fmla="*/ 1381917 h 1418332"/>
                <a:gd name="csX8" fmla="*/ 0 w 1980555"/>
                <a:gd name="csY8" fmla="*/ 36416 h 1418332"/>
                <a:gd name="csX9" fmla="*/ 10670 w 1980555"/>
                <a:gd name="csY9" fmla="*/ 10667 h 1418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555" h="1418332">
                  <a:moveTo>
                    <a:pt x="10670" y="10667"/>
                  </a:moveTo>
                  <a:cubicBezTo>
                    <a:pt x="17501" y="3837"/>
                    <a:pt x="26766" y="0"/>
                    <a:pt x="36427" y="0"/>
                  </a:cubicBezTo>
                  <a:lnTo>
                    <a:pt x="1944129" y="0"/>
                  </a:lnTo>
                  <a:cubicBezTo>
                    <a:pt x="1964244" y="0"/>
                    <a:pt x="1980555" y="16304"/>
                    <a:pt x="1980555" y="36416"/>
                  </a:cubicBezTo>
                  <a:lnTo>
                    <a:pt x="1980555" y="1381917"/>
                  </a:lnTo>
                  <a:cubicBezTo>
                    <a:pt x="1980555" y="1402026"/>
                    <a:pt x="1964244" y="1418332"/>
                    <a:pt x="1944129" y="1418332"/>
                  </a:cubicBezTo>
                  <a:lnTo>
                    <a:pt x="36427" y="1418332"/>
                  </a:lnTo>
                  <a:cubicBezTo>
                    <a:pt x="16309" y="1418332"/>
                    <a:pt x="0" y="1402026"/>
                    <a:pt x="0" y="1381917"/>
                  </a:cubicBezTo>
                  <a:lnTo>
                    <a:pt x="0" y="36416"/>
                  </a:lnTo>
                  <a:cubicBezTo>
                    <a:pt x="0" y="26758"/>
                    <a:pt x="3839" y="17496"/>
                    <a:pt x="10670" y="10667"/>
                  </a:cubicBezTo>
                </a:path>
              </a:pathLst>
            </a:custGeom>
            <a:noFill/>
            <a:ln w="28438" cap="flat">
              <a:solidFill>
                <a:schemeClr val="accent1"/>
              </a:solidFill>
              <a:prstDash val="solid"/>
              <a:miter/>
            </a:ln>
          </p:spPr>
          <p:txBody>
            <a:bodyPr/>
            <a:lstStyle/>
            <a:p>
              <a:endParaRPr lang="ar-EG"/>
            </a:p>
          </p:txBody>
        </p:sp>
        <p:sp>
          <p:nvSpPr>
            <p:cNvPr id="52" name="Freeform: Shape 51">
              <a:extLst>
                <a:ext uri="{FF2B5EF4-FFF2-40B4-BE49-F238E27FC236}">
                  <a16:creationId xmlns:a16="http://schemas.microsoft.com/office/drawing/2014/main" id="{73C75BFD-7864-32A0-911F-22487A39B7DE}"/>
                </a:ext>
              </a:extLst>
            </p:cNvPr>
            <p:cNvSpPr/>
            <p:nvPr/>
          </p:nvSpPr>
          <p:spPr>
            <a:xfrm>
              <a:off x="3684017" y="1742051"/>
              <a:ext cx="1507792" cy="245337"/>
            </a:xfrm>
            <a:custGeom>
              <a:avLst/>
              <a:gdLst>
                <a:gd name="csX0" fmla="*/ 1951989 w 1951989"/>
                <a:gd name="csY0" fmla="*/ 0 h 4744"/>
                <a:gd name="csX1" fmla="*/ 1951989 w 1951989"/>
                <a:gd name="csY1" fmla="*/ 0 h 4744"/>
                <a:gd name="csX2" fmla="*/ 0 w 1951989"/>
                <a:gd name="csY2" fmla="*/ 0 h 4744"/>
                <a:gd name="csX3" fmla="*/ 0 w 1951989"/>
                <a:gd name="csY3" fmla="*/ 0 h 4744"/>
              </a:gdLst>
              <a:ahLst/>
              <a:cxnLst>
                <a:cxn ang="0">
                  <a:pos x="csX0" y="csY0"/>
                </a:cxn>
                <a:cxn ang="0">
                  <a:pos x="csX1" y="csY1"/>
                </a:cxn>
                <a:cxn ang="0">
                  <a:pos x="csX2" y="csY2"/>
                </a:cxn>
                <a:cxn ang="0">
                  <a:pos x="csX3" y="csY3"/>
                </a:cxn>
              </a:cxnLst>
              <a:rect l="l" t="t" r="r" b="b"/>
              <a:pathLst>
                <a:path w="1951989" h="4744">
                  <a:moveTo>
                    <a:pt x="1951989" y="0"/>
                  </a:moveTo>
                  <a:lnTo>
                    <a:pt x="1951989" y="0"/>
                  </a:lnTo>
                  <a:lnTo>
                    <a:pt x="0" y="0"/>
                  </a:lnTo>
                  <a:lnTo>
                    <a:pt x="0" y="0"/>
                  </a:lnTo>
                </a:path>
              </a:pathLst>
            </a:custGeom>
            <a:noFill/>
            <a:ln w="9479" cap="flat">
              <a:solidFill>
                <a:schemeClr val="accent1"/>
              </a:solidFill>
              <a:prstDash val="solid"/>
              <a:miter/>
            </a:ln>
          </p:spPr>
          <p:txBody>
            <a:bodyPr/>
            <a:lstStyle/>
            <a:p>
              <a:endParaRPr lang="ar-EG"/>
            </a:p>
          </p:txBody>
        </p:sp>
        <p:sp>
          <p:nvSpPr>
            <p:cNvPr id="54" name="Text 1">
              <a:extLst>
                <a:ext uri="{FF2B5EF4-FFF2-40B4-BE49-F238E27FC236}">
                  <a16:creationId xmlns:a16="http://schemas.microsoft.com/office/drawing/2014/main" id="{AC3046C6-56A5-6A46-B9E0-B052673983A7}"/>
                </a:ext>
              </a:extLst>
            </p:cNvPr>
            <p:cNvSpPr/>
            <p:nvPr/>
          </p:nvSpPr>
          <p:spPr>
            <a:xfrm>
              <a:off x="3762584" y="1505275"/>
              <a:ext cx="1346961" cy="162669"/>
            </a:xfrm>
            <a:prstGeom prst="rect">
              <a:avLst/>
            </a:prstGeom>
            <a:noFill/>
            <a:ln/>
          </p:spPr>
          <p:txBody>
            <a:bodyPr wrap="none" lIns="0" tIns="0" rIns="0" bIns="0" rtlCol="0" anchor="t"/>
            <a:lstStyle/>
            <a:p>
              <a:pPr>
                <a:lnSpc>
                  <a:spcPct val="104000"/>
                </a:lnSpc>
              </a:pPr>
              <a:endParaRPr lang="en-US" sz="1013" dirty="0">
                <a:solidFill>
                  <a:srgbClr val="00C2A8"/>
                </a:solidFill>
                <a:latin typeface="Raleway" pitchFamily="34" charset="0"/>
                <a:ea typeface="Raleway" pitchFamily="34" charset="-122"/>
                <a:cs typeface="Raleway" pitchFamily="34" charset="-120"/>
              </a:endParaRPr>
            </a:p>
          </p:txBody>
        </p:sp>
        <p:sp>
          <p:nvSpPr>
            <p:cNvPr id="68" name="Freeform: Shape 67">
              <a:extLst>
                <a:ext uri="{FF2B5EF4-FFF2-40B4-BE49-F238E27FC236}">
                  <a16:creationId xmlns:a16="http://schemas.microsoft.com/office/drawing/2014/main" id="{E8DAB7F7-F1A7-A540-2A1E-02F5F969545C}"/>
                </a:ext>
              </a:extLst>
            </p:cNvPr>
            <p:cNvSpPr/>
            <p:nvPr/>
          </p:nvSpPr>
          <p:spPr>
            <a:xfrm>
              <a:off x="3684016" y="1451982"/>
              <a:ext cx="1507792" cy="290069"/>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a:p>
          </p:txBody>
        </p:sp>
        <p:sp>
          <p:nvSpPr>
            <p:cNvPr id="70" name="Text 1">
              <a:extLst>
                <a:ext uri="{FF2B5EF4-FFF2-40B4-BE49-F238E27FC236}">
                  <a16:creationId xmlns:a16="http://schemas.microsoft.com/office/drawing/2014/main" id="{4217B006-D521-CF74-1900-080F9F3F9D89}"/>
                </a:ext>
              </a:extLst>
            </p:cNvPr>
            <p:cNvSpPr/>
            <p:nvPr/>
          </p:nvSpPr>
          <p:spPr>
            <a:xfrm>
              <a:off x="3844849" y="1518052"/>
              <a:ext cx="1346960" cy="162669"/>
            </a:xfrm>
            <a:prstGeom prst="rect">
              <a:avLst/>
            </a:prstGeom>
            <a:noFill/>
            <a:ln/>
          </p:spPr>
          <p:txBody>
            <a:bodyPr wrap="none" lIns="0" tIns="0" rIns="0" bIns="0" rtlCol="0" anchor="t"/>
            <a:lstStyle/>
            <a:p>
              <a:pPr>
                <a:lnSpc>
                  <a:spcPct val="104000"/>
                </a:lnSpc>
              </a:pPr>
              <a:r>
                <a:rPr lang="en-US" sz="1100" b="1" dirty="0">
                  <a:solidFill>
                    <a:srgbClr val="00C2A8"/>
                  </a:solidFill>
                  <a:latin typeface="Times New Roman" panose="02020603050405020304" pitchFamily="18" charset="0"/>
                  <a:ea typeface="Raleway" pitchFamily="34" charset="-122"/>
                  <a:cs typeface="Times New Roman" panose="02020603050405020304" pitchFamily="18" charset="0"/>
                </a:rPr>
                <a:t>Data Protection Path</a:t>
              </a:r>
            </a:p>
          </p:txBody>
        </p:sp>
      </p:grpSp>
      <p:grpSp>
        <p:nvGrpSpPr>
          <p:cNvPr id="76" name="Group 75">
            <a:extLst>
              <a:ext uri="{FF2B5EF4-FFF2-40B4-BE49-F238E27FC236}">
                <a16:creationId xmlns:a16="http://schemas.microsoft.com/office/drawing/2014/main" id="{BDB5B25E-D000-6E36-6484-AC5BBC674467}"/>
              </a:ext>
            </a:extLst>
          </p:cNvPr>
          <p:cNvGrpSpPr/>
          <p:nvPr/>
        </p:nvGrpSpPr>
        <p:grpSpPr>
          <a:xfrm>
            <a:off x="5472146" y="1847671"/>
            <a:ext cx="1677233" cy="1752302"/>
            <a:chOff x="5262771" y="1282749"/>
            <a:chExt cx="1529915" cy="1574453"/>
          </a:xfrm>
        </p:grpSpPr>
        <p:sp>
          <p:nvSpPr>
            <p:cNvPr id="38" name="Freeform: Shape 37">
              <a:extLst>
                <a:ext uri="{FF2B5EF4-FFF2-40B4-BE49-F238E27FC236}">
                  <a16:creationId xmlns:a16="http://schemas.microsoft.com/office/drawing/2014/main" id="{484FE639-8147-0D87-603D-F837FA1B4124}"/>
                </a:ext>
              </a:extLst>
            </p:cNvPr>
            <p:cNvSpPr/>
            <p:nvPr/>
          </p:nvSpPr>
          <p:spPr>
            <a:xfrm>
              <a:off x="5262771" y="1282749"/>
              <a:ext cx="1529915" cy="1574453"/>
            </a:xfrm>
            <a:custGeom>
              <a:avLst/>
              <a:gdLst>
                <a:gd name="csX0" fmla="*/ 36428 w 1980629"/>
                <a:gd name="csY0" fmla="*/ 0 h 1574453"/>
                <a:gd name="csX1" fmla="*/ 1944202 w 1980629"/>
                <a:gd name="csY1" fmla="*/ 0 h 1574453"/>
                <a:gd name="csX2" fmla="*/ 1980629 w 1980629"/>
                <a:gd name="csY2" fmla="*/ 36394 h 1574453"/>
                <a:gd name="csX3" fmla="*/ 1980629 w 1980629"/>
                <a:gd name="csY3" fmla="*/ 1538060 h 1574453"/>
                <a:gd name="csX4" fmla="*/ 1944202 w 1980629"/>
                <a:gd name="csY4" fmla="*/ 1574453 h 1574453"/>
                <a:gd name="csX5" fmla="*/ 36428 w 1980629"/>
                <a:gd name="csY5" fmla="*/ 1574453 h 1574453"/>
                <a:gd name="csX6" fmla="*/ 0 w 1980629"/>
                <a:gd name="csY6" fmla="*/ 1538060 h 1574453"/>
                <a:gd name="csX7" fmla="*/ 0 w 1980629"/>
                <a:gd name="csY7" fmla="*/ 36394 h 1574453"/>
                <a:gd name="csX8" fmla="*/ 36428 w 1980629"/>
                <a:gd name="csY8" fmla="*/ 0 h 157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629" h="1574453">
                  <a:moveTo>
                    <a:pt x="36428" y="0"/>
                  </a:moveTo>
                  <a:lnTo>
                    <a:pt x="1944202" y="0"/>
                  </a:lnTo>
                  <a:cubicBezTo>
                    <a:pt x="1964317" y="0"/>
                    <a:pt x="1980629" y="16294"/>
                    <a:pt x="1980629" y="36394"/>
                  </a:cubicBezTo>
                  <a:lnTo>
                    <a:pt x="1980629" y="1538060"/>
                  </a:lnTo>
                  <a:cubicBezTo>
                    <a:pt x="1980629" y="1558157"/>
                    <a:pt x="1964317" y="1574453"/>
                    <a:pt x="1944202" y="1574453"/>
                  </a:cubicBezTo>
                  <a:lnTo>
                    <a:pt x="36428" y="1574453"/>
                  </a:lnTo>
                  <a:cubicBezTo>
                    <a:pt x="16309" y="1574453"/>
                    <a:pt x="0" y="1558157"/>
                    <a:pt x="0" y="1538060"/>
                  </a:cubicBezTo>
                  <a:lnTo>
                    <a:pt x="0" y="36394"/>
                  </a:lnTo>
                  <a:cubicBezTo>
                    <a:pt x="0" y="16294"/>
                    <a:pt x="16309" y="0"/>
                    <a:pt x="36428" y="0"/>
                  </a:cubicBezTo>
                </a:path>
              </a:pathLst>
            </a:custGeom>
            <a:solidFill>
              <a:srgbClr val="FFFFFF"/>
            </a:solidFill>
            <a:ln w="4740" cap="flat">
              <a:solidFill>
                <a:schemeClr val="accent1"/>
              </a:solidFill>
              <a:prstDash val="solid"/>
              <a:miter/>
            </a:ln>
          </p:spPr>
          <p:txBody>
            <a:bodyPr/>
            <a:lstStyle/>
            <a:p>
              <a:endParaRPr lang="ar-EG"/>
            </a:p>
          </p:txBody>
        </p:sp>
        <p:sp>
          <p:nvSpPr>
            <p:cNvPr id="39" name="Freeform: Shape 38">
              <a:extLst>
                <a:ext uri="{FF2B5EF4-FFF2-40B4-BE49-F238E27FC236}">
                  <a16:creationId xmlns:a16="http://schemas.microsoft.com/office/drawing/2014/main" id="{13AB325F-C91E-8971-8370-5BF0C05545AE}"/>
                </a:ext>
              </a:extLst>
            </p:cNvPr>
            <p:cNvSpPr/>
            <p:nvPr/>
          </p:nvSpPr>
          <p:spPr>
            <a:xfrm>
              <a:off x="5262771" y="1282749"/>
              <a:ext cx="1529915" cy="1574453"/>
            </a:xfrm>
            <a:custGeom>
              <a:avLst/>
              <a:gdLst>
                <a:gd name="csX0" fmla="*/ 10670 w 1980629"/>
                <a:gd name="csY0" fmla="*/ 10660 h 1574453"/>
                <a:gd name="csX1" fmla="*/ 36428 w 1980629"/>
                <a:gd name="csY1" fmla="*/ 0 h 1574453"/>
                <a:gd name="csX2" fmla="*/ 1944202 w 1980629"/>
                <a:gd name="csY2" fmla="*/ 0 h 1574453"/>
                <a:gd name="csX3" fmla="*/ 1980629 w 1980629"/>
                <a:gd name="csY3" fmla="*/ 36394 h 1574453"/>
                <a:gd name="csX4" fmla="*/ 1980629 w 1980629"/>
                <a:gd name="csY4" fmla="*/ 1538060 h 1574453"/>
                <a:gd name="csX5" fmla="*/ 1944202 w 1980629"/>
                <a:gd name="csY5" fmla="*/ 1574453 h 1574453"/>
                <a:gd name="csX6" fmla="*/ 36428 w 1980629"/>
                <a:gd name="csY6" fmla="*/ 1574453 h 1574453"/>
                <a:gd name="csX7" fmla="*/ 0 w 1980629"/>
                <a:gd name="csY7" fmla="*/ 1538060 h 1574453"/>
                <a:gd name="csX8" fmla="*/ 0 w 1980629"/>
                <a:gd name="csY8" fmla="*/ 36394 h 1574453"/>
                <a:gd name="csX9" fmla="*/ 10670 w 1980629"/>
                <a:gd name="csY9" fmla="*/ 10660 h 157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629" h="1574453">
                  <a:moveTo>
                    <a:pt x="10670" y="10660"/>
                  </a:moveTo>
                  <a:cubicBezTo>
                    <a:pt x="17502" y="3835"/>
                    <a:pt x="26767" y="0"/>
                    <a:pt x="36428" y="0"/>
                  </a:cubicBezTo>
                  <a:lnTo>
                    <a:pt x="1944202" y="0"/>
                  </a:lnTo>
                  <a:cubicBezTo>
                    <a:pt x="1964317" y="0"/>
                    <a:pt x="1980629" y="16294"/>
                    <a:pt x="1980629" y="36394"/>
                  </a:cubicBezTo>
                  <a:lnTo>
                    <a:pt x="1980629" y="1538060"/>
                  </a:lnTo>
                  <a:cubicBezTo>
                    <a:pt x="1980629" y="1558157"/>
                    <a:pt x="1964317" y="1574453"/>
                    <a:pt x="1944202" y="1574453"/>
                  </a:cubicBezTo>
                  <a:lnTo>
                    <a:pt x="36428" y="1574453"/>
                  </a:lnTo>
                  <a:cubicBezTo>
                    <a:pt x="16309" y="1574453"/>
                    <a:pt x="0" y="1558157"/>
                    <a:pt x="0" y="1538060"/>
                  </a:cubicBezTo>
                  <a:lnTo>
                    <a:pt x="0" y="36394"/>
                  </a:lnTo>
                  <a:cubicBezTo>
                    <a:pt x="0" y="26742"/>
                    <a:pt x="3839" y="17485"/>
                    <a:pt x="10670" y="10660"/>
                  </a:cubicBezTo>
                </a:path>
              </a:pathLst>
            </a:custGeom>
            <a:noFill/>
            <a:ln w="28438" cap="flat">
              <a:solidFill>
                <a:schemeClr val="accent1"/>
              </a:solidFill>
              <a:prstDash val="solid"/>
              <a:miter/>
            </a:ln>
          </p:spPr>
          <p:txBody>
            <a:bodyPr/>
            <a:lstStyle/>
            <a:p>
              <a:endParaRPr lang="ar-EG"/>
            </a:p>
          </p:txBody>
        </p:sp>
        <p:sp>
          <p:nvSpPr>
            <p:cNvPr id="59" name="Freeform: Shape 58">
              <a:extLst>
                <a:ext uri="{FF2B5EF4-FFF2-40B4-BE49-F238E27FC236}">
                  <a16:creationId xmlns:a16="http://schemas.microsoft.com/office/drawing/2014/main" id="{3014ACE8-2122-17A1-B433-A5FCBDDABE92}"/>
                </a:ext>
              </a:extLst>
            </p:cNvPr>
            <p:cNvSpPr/>
            <p:nvPr/>
          </p:nvSpPr>
          <p:spPr>
            <a:xfrm>
              <a:off x="5281232" y="1593859"/>
              <a:ext cx="1507792" cy="245337"/>
            </a:xfrm>
            <a:custGeom>
              <a:avLst/>
              <a:gdLst>
                <a:gd name="csX0" fmla="*/ 1951989 w 1951989"/>
                <a:gd name="csY0" fmla="*/ 0 h 4744"/>
                <a:gd name="csX1" fmla="*/ 1951989 w 1951989"/>
                <a:gd name="csY1" fmla="*/ 0 h 4744"/>
                <a:gd name="csX2" fmla="*/ 0 w 1951989"/>
                <a:gd name="csY2" fmla="*/ 0 h 4744"/>
                <a:gd name="csX3" fmla="*/ 0 w 1951989"/>
                <a:gd name="csY3" fmla="*/ 0 h 4744"/>
              </a:gdLst>
              <a:ahLst/>
              <a:cxnLst>
                <a:cxn ang="0">
                  <a:pos x="csX0" y="csY0"/>
                </a:cxn>
                <a:cxn ang="0">
                  <a:pos x="csX1" y="csY1"/>
                </a:cxn>
                <a:cxn ang="0">
                  <a:pos x="csX2" y="csY2"/>
                </a:cxn>
                <a:cxn ang="0">
                  <a:pos x="csX3" y="csY3"/>
                </a:cxn>
              </a:cxnLst>
              <a:rect l="l" t="t" r="r" b="b"/>
              <a:pathLst>
                <a:path w="1951989" h="4744">
                  <a:moveTo>
                    <a:pt x="1951989" y="0"/>
                  </a:moveTo>
                  <a:lnTo>
                    <a:pt x="1951989" y="0"/>
                  </a:lnTo>
                  <a:lnTo>
                    <a:pt x="0" y="0"/>
                  </a:lnTo>
                  <a:lnTo>
                    <a:pt x="0" y="0"/>
                  </a:lnTo>
                </a:path>
              </a:pathLst>
            </a:custGeom>
            <a:noFill/>
            <a:ln w="9479" cap="flat">
              <a:solidFill>
                <a:schemeClr val="accent1"/>
              </a:solidFill>
              <a:prstDash val="solid"/>
              <a:miter/>
            </a:ln>
          </p:spPr>
          <p:txBody>
            <a:bodyPr/>
            <a:lstStyle/>
            <a:p>
              <a:endParaRPr lang="ar-EG"/>
            </a:p>
          </p:txBody>
        </p:sp>
        <p:sp>
          <p:nvSpPr>
            <p:cNvPr id="60" name="Freeform: Shape 59">
              <a:extLst>
                <a:ext uri="{FF2B5EF4-FFF2-40B4-BE49-F238E27FC236}">
                  <a16:creationId xmlns:a16="http://schemas.microsoft.com/office/drawing/2014/main" id="{41C04C5B-1B4F-A736-1B0A-DBF18C286950}"/>
                </a:ext>
              </a:extLst>
            </p:cNvPr>
            <p:cNvSpPr/>
            <p:nvPr/>
          </p:nvSpPr>
          <p:spPr>
            <a:xfrm>
              <a:off x="5273832" y="1296540"/>
              <a:ext cx="1507792" cy="290069"/>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a:p>
          </p:txBody>
        </p:sp>
        <p:sp>
          <p:nvSpPr>
            <p:cNvPr id="72" name="Text 1">
              <a:extLst>
                <a:ext uri="{FF2B5EF4-FFF2-40B4-BE49-F238E27FC236}">
                  <a16:creationId xmlns:a16="http://schemas.microsoft.com/office/drawing/2014/main" id="{8C72B0B6-B601-1556-6F4E-E4297DF16DBB}"/>
                </a:ext>
              </a:extLst>
            </p:cNvPr>
            <p:cNvSpPr/>
            <p:nvPr/>
          </p:nvSpPr>
          <p:spPr>
            <a:xfrm>
              <a:off x="5352641" y="1363754"/>
              <a:ext cx="1346960" cy="162669"/>
            </a:xfrm>
            <a:prstGeom prst="rect">
              <a:avLst/>
            </a:prstGeom>
            <a:noFill/>
            <a:ln/>
          </p:spPr>
          <p:txBody>
            <a:bodyPr wrap="none" lIns="0" tIns="0" rIns="0" bIns="0" rtlCol="0" anchor="t"/>
            <a:lstStyle/>
            <a:p>
              <a:pPr>
                <a:lnSpc>
                  <a:spcPct val="104000"/>
                </a:lnSpc>
              </a:pPr>
              <a:r>
                <a:rPr lang="en-US" sz="1100" b="1" dirty="0">
                  <a:solidFill>
                    <a:srgbClr val="00C2A8"/>
                  </a:solidFill>
                  <a:latin typeface="Times New Roman" panose="02020603050405020304" pitchFamily="18" charset="0"/>
                  <a:ea typeface="Raleway" pitchFamily="34" charset="-122"/>
                  <a:cs typeface="Times New Roman" panose="02020603050405020304" pitchFamily="18" charset="0"/>
                </a:rPr>
                <a:t>Address Translation (ATU)</a:t>
              </a:r>
            </a:p>
          </p:txBody>
        </p:sp>
      </p:grpSp>
      <p:grpSp>
        <p:nvGrpSpPr>
          <p:cNvPr id="77" name="Group 76">
            <a:extLst>
              <a:ext uri="{FF2B5EF4-FFF2-40B4-BE49-F238E27FC236}">
                <a16:creationId xmlns:a16="http://schemas.microsoft.com/office/drawing/2014/main" id="{AECDD6AF-A742-45D4-6B5B-04E3BD39BE6B}"/>
              </a:ext>
            </a:extLst>
          </p:cNvPr>
          <p:cNvGrpSpPr/>
          <p:nvPr/>
        </p:nvGrpSpPr>
        <p:grpSpPr>
          <a:xfrm>
            <a:off x="7225576" y="1847671"/>
            <a:ext cx="1677233" cy="1752302"/>
            <a:chOff x="5262771" y="1282749"/>
            <a:chExt cx="1529915" cy="1574453"/>
          </a:xfrm>
        </p:grpSpPr>
        <p:sp>
          <p:nvSpPr>
            <p:cNvPr id="78" name="Freeform: Shape 77">
              <a:extLst>
                <a:ext uri="{FF2B5EF4-FFF2-40B4-BE49-F238E27FC236}">
                  <a16:creationId xmlns:a16="http://schemas.microsoft.com/office/drawing/2014/main" id="{AC551E44-D31B-80CB-9BA8-11B260A9FD3A}"/>
                </a:ext>
              </a:extLst>
            </p:cNvPr>
            <p:cNvSpPr/>
            <p:nvPr/>
          </p:nvSpPr>
          <p:spPr>
            <a:xfrm>
              <a:off x="5262771" y="1282749"/>
              <a:ext cx="1529915" cy="1574453"/>
            </a:xfrm>
            <a:custGeom>
              <a:avLst/>
              <a:gdLst>
                <a:gd name="csX0" fmla="*/ 36428 w 1980629"/>
                <a:gd name="csY0" fmla="*/ 0 h 1574453"/>
                <a:gd name="csX1" fmla="*/ 1944202 w 1980629"/>
                <a:gd name="csY1" fmla="*/ 0 h 1574453"/>
                <a:gd name="csX2" fmla="*/ 1980629 w 1980629"/>
                <a:gd name="csY2" fmla="*/ 36394 h 1574453"/>
                <a:gd name="csX3" fmla="*/ 1980629 w 1980629"/>
                <a:gd name="csY3" fmla="*/ 1538060 h 1574453"/>
                <a:gd name="csX4" fmla="*/ 1944202 w 1980629"/>
                <a:gd name="csY4" fmla="*/ 1574453 h 1574453"/>
                <a:gd name="csX5" fmla="*/ 36428 w 1980629"/>
                <a:gd name="csY5" fmla="*/ 1574453 h 1574453"/>
                <a:gd name="csX6" fmla="*/ 0 w 1980629"/>
                <a:gd name="csY6" fmla="*/ 1538060 h 1574453"/>
                <a:gd name="csX7" fmla="*/ 0 w 1980629"/>
                <a:gd name="csY7" fmla="*/ 36394 h 1574453"/>
                <a:gd name="csX8" fmla="*/ 36428 w 1980629"/>
                <a:gd name="csY8" fmla="*/ 0 h 157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629" h="1574453">
                  <a:moveTo>
                    <a:pt x="36428" y="0"/>
                  </a:moveTo>
                  <a:lnTo>
                    <a:pt x="1944202" y="0"/>
                  </a:lnTo>
                  <a:cubicBezTo>
                    <a:pt x="1964317" y="0"/>
                    <a:pt x="1980629" y="16294"/>
                    <a:pt x="1980629" y="36394"/>
                  </a:cubicBezTo>
                  <a:lnTo>
                    <a:pt x="1980629" y="1538060"/>
                  </a:lnTo>
                  <a:cubicBezTo>
                    <a:pt x="1980629" y="1558157"/>
                    <a:pt x="1964317" y="1574453"/>
                    <a:pt x="1944202" y="1574453"/>
                  </a:cubicBezTo>
                  <a:lnTo>
                    <a:pt x="36428" y="1574453"/>
                  </a:lnTo>
                  <a:cubicBezTo>
                    <a:pt x="16309" y="1574453"/>
                    <a:pt x="0" y="1558157"/>
                    <a:pt x="0" y="1538060"/>
                  </a:cubicBezTo>
                  <a:lnTo>
                    <a:pt x="0" y="36394"/>
                  </a:lnTo>
                  <a:cubicBezTo>
                    <a:pt x="0" y="16294"/>
                    <a:pt x="16309" y="0"/>
                    <a:pt x="36428" y="0"/>
                  </a:cubicBezTo>
                </a:path>
              </a:pathLst>
            </a:custGeom>
            <a:solidFill>
              <a:srgbClr val="FFFFFF"/>
            </a:solidFill>
            <a:ln w="4740" cap="flat">
              <a:solidFill>
                <a:schemeClr val="accent1"/>
              </a:solidFill>
              <a:prstDash val="solid"/>
              <a:miter/>
            </a:ln>
          </p:spPr>
          <p:txBody>
            <a:bodyPr/>
            <a:lstStyle/>
            <a:p>
              <a:endParaRPr lang="ar-EG"/>
            </a:p>
          </p:txBody>
        </p:sp>
        <p:sp>
          <p:nvSpPr>
            <p:cNvPr id="79" name="Freeform: Shape 78">
              <a:extLst>
                <a:ext uri="{FF2B5EF4-FFF2-40B4-BE49-F238E27FC236}">
                  <a16:creationId xmlns:a16="http://schemas.microsoft.com/office/drawing/2014/main" id="{02D5126A-FA25-B86E-36BA-4E16A005C103}"/>
                </a:ext>
              </a:extLst>
            </p:cNvPr>
            <p:cNvSpPr/>
            <p:nvPr/>
          </p:nvSpPr>
          <p:spPr>
            <a:xfrm>
              <a:off x="5262771" y="1282749"/>
              <a:ext cx="1529915" cy="1574453"/>
            </a:xfrm>
            <a:custGeom>
              <a:avLst/>
              <a:gdLst>
                <a:gd name="csX0" fmla="*/ 10670 w 1980629"/>
                <a:gd name="csY0" fmla="*/ 10660 h 1574453"/>
                <a:gd name="csX1" fmla="*/ 36428 w 1980629"/>
                <a:gd name="csY1" fmla="*/ 0 h 1574453"/>
                <a:gd name="csX2" fmla="*/ 1944202 w 1980629"/>
                <a:gd name="csY2" fmla="*/ 0 h 1574453"/>
                <a:gd name="csX3" fmla="*/ 1980629 w 1980629"/>
                <a:gd name="csY3" fmla="*/ 36394 h 1574453"/>
                <a:gd name="csX4" fmla="*/ 1980629 w 1980629"/>
                <a:gd name="csY4" fmla="*/ 1538060 h 1574453"/>
                <a:gd name="csX5" fmla="*/ 1944202 w 1980629"/>
                <a:gd name="csY5" fmla="*/ 1574453 h 1574453"/>
                <a:gd name="csX6" fmla="*/ 36428 w 1980629"/>
                <a:gd name="csY6" fmla="*/ 1574453 h 1574453"/>
                <a:gd name="csX7" fmla="*/ 0 w 1980629"/>
                <a:gd name="csY7" fmla="*/ 1538060 h 1574453"/>
                <a:gd name="csX8" fmla="*/ 0 w 1980629"/>
                <a:gd name="csY8" fmla="*/ 36394 h 1574453"/>
                <a:gd name="csX9" fmla="*/ 10670 w 1980629"/>
                <a:gd name="csY9" fmla="*/ 10660 h 157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629" h="1574453">
                  <a:moveTo>
                    <a:pt x="10670" y="10660"/>
                  </a:moveTo>
                  <a:cubicBezTo>
                    <a:pt x="17502" y="3835"/>
                    <a:pt x="26767" y="0"/>
                    <a:pt x="36428" y="0"/>
                  </a:cubicBezTo>
                  <a:lnTo>
                    <a:pt x="1944202" y="0"/>
                  </a:lnTo>
                  <a:cubicBezTo>
                    <a:pt x="1964317" y="0"/>
                    <a:pt x="1980629" y="16294"/>
                    <a:pt x="1980629" y="36394"/>
                  </a:cubicBezTo>
                  <a:lnTo>
                    <a:pt x="1980629" y="1538060"/>
                  </a:lnTo>
                  <a:cubicBezTo>
                    <a:pt x="1980629" y="1558157"/>
                    <a:pt x="1964317" y="1574453"/>
                    <a:pt x="1944202" y="1574453"/>
                  </a:cubicBezTo>
                  <a:lnTo>
                    <a:pt x="36428" y="1574453"/>
                  </a:lnTo>
                  <a:cubicBezTo>
                    <a:pt x="16309" y="1574453"/>
                    <a:pt x="0" y="1558157"/>
                    <a:pt x="0" y="1538060"/>
                  </a:cubicBezTo>
                  <a:lnTo>
                    <a:pt x="0" y="36394"/>
                  </a:lnTo>
                  <a:cubicBezTo>
                    <a:pt x="0" y="26742"/>
                    <a:pt x="3839" y="17485"/>
                    <a:pt x="10670" y="10660"/>
                  </a:cubicBezTo>
                </a:path>
              </a:pathLst>
            </a:custGeom>
            <a:noFill/>
            <a:ln w="28438" cap="flat">
              <a:solidFill>
                <a:schemeClr val="accent1"/>
              </a:solidFill>
              <a:prstDash val="solid"/>
              <a:miter/>
            </a:ln>
          </p:spPr>
          <p:txBody>
            <a:bodyPr/>
            <a:lstStyle/>
            <a:p>
              <a:endParaRPr lang="ar-EG"/>
            </a:p>
          </p:txBody>
        </p:sp>
        <p:sp>
          <p:nvSpPr>
            <p:cNvPr id="81" name="Freeform: Shape 80">
              <a:extLst>
                <a:ext uri="{FF2B5EF4-FFF2-40B4-BE49-F238E27FC236}">
                  <a16:creationId xmlns:a16="http://schemas.microsoft.com/office/drawing/2014/main" id="{4E3EE036-249C-4923-7257-07A55E2A96DA}"/>
                </a:ext>
              </a:extLst>
            </p:cNvPr>
            <p:cNvSpPr/>
            <p:nvPr/>
          </p:nvSpPr>
          <p:spPr>
            <a:xfrm>
              <a:off x="5281232" y="1593859"/>
              <a:ext cx="1507792" cy="245337"/>
            </a:xfrm>
            <a:custGeom>
              <a:avLst/>
              <a:gdLst>
                <a:gd name="csX0" fmla="*/ 1951989 w 1951989"/>
                <a:gd name="csY0" fmla="*/ 0 h 4744"/>
                <a:gd name="csX1" fmla="*/ 1951989 w 1951989"/>
                <a:gd name="csY1" fmla="*/ 0 h 4744"/>
                <a:gd name="csX2" fmla="*/ 0 w 1951989"/>
                <a:gd name="csY2" fmla="*/ 0 h 4744"/>
                <a:gd name="csX3" fmla="*/ 0 w 1951989"/>
                <a:gd name="csY3" fmla="*/ 0 h 4744"/>
              </a:gdLst>
              <a:ahLst/>
              <a:cxnLst>
                <a:cxn ang="0">
                  <a:pos x="csX0" y="csY0"/>
                </a:cxn>
                <a:cxn ang="0">
                  <a:pos x="csX1" y="csY1"/>
                </a:cxn>
                <a:cxn ang="0">
                  <a:pos x="csX2" y="csY2"/>
                </a:cxn>
                <a:cxn ang="0">
                  <a:pos x="csX3" y="csY3"/>
                </a:cxn>
              </a:cxnLst>
              <a:rect l="l" t="t" r="r" b="b"/>
              <a:pathLst>
                <a:path w="1951989" h="4744">
                  <a:moveTo>
                    <a:pt x="1951989" y="0"/>
                  </a:moveTo>
                  <a:lnTo>
                    <a:pt x="1951989" y="0"/>
                  </a:lnTo>
                  <a:lnTo>
                    <a:pt x="0" y="0"/>
                  </a:lnTo>
                  <a:lnTo>
                    <a:pt x="0" y="0"/>
                  </a:lnTo>
                </a:path>
              </a:pathLst>
            </a:custGeom>
            <a:noFill/>
            <a:ln w="9479" cap="flat">
              <a:solidFill>
                <a:schemeClr val="accent1"/>
              </a:solidFill>
              <a:prstDash val="solid"/>
              <a:miter/>
            </a:ln>
          </p:spPr>
          <p:txBody>
            <a:bodyPr/>
            <a:lstStyle/>
            <a:p>
              <a:endParaRPr lang="ar-EG"/>
            </a:p>
          </p:txBody>
        </p:sp>
        <p:sp>
          <p:nvSpPr>
            <p:cNvPr id="82" name="Freeform: Shape 81">
              <a:extLst>
                <a:ext uri="{FF2B5EF4-FFF2-40B4-BE49-F238E27FC236}">
                  <a16:creationId xmlns:a16="http://schemas.microsoft.com/office/drawing/2014/main" id="{77518175-252B-8EC4-6B97-2F9A2C863ECB}"/>
                </a:ext>
              </a:extLst>
            </p:cNvPr>
            <p:cNvSpPr/>
            <p:nvPr/>
          </p:nvSpPr>
          <p:spPr>
            <a:xfrm>
              <a:off x="5273832" y="1296540"/>
              <a:ext cx="1507792" cy="290069"/>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a:p>
          </p:txBody>
        </p:sp>
        <p:sp>
          <p:nvSpPr>
            <p:cNvPr id="83" name="Text 1">
              <a:extLst>
                <a:ext uri="{FF2B5EF4-FFF2-40B4-BE49-F238E27FC236}">
                  <a16:creationId xmlns:a16="http://schemas.microsoft.com/office/drawing/2014/main" id="{71C7FFFE-ADA0-0A68-03E6-4EB6415C7AB1}"/>
                </a:ext>
              </a:extLst>
            </p:cNvPr>
            <p:cNvSpPr/>
            <p:nvPr/>
          </p:nvSpPr>
          <p:spPr>
            <a:xfrm>
              <a:off x="5354248" y="1391437"/>
              <a:ext cx="1346960" cy="162669"/>
            </a:xfrm>
            <a:prstGeom prst="rect">
              <a:avLst/>
            </a:prstGeom>
            <a:noFill/>
            <a:ln/>
          </p:spPr>
          <p:txBody>
            <a:bodyPr wrap="none" lIns="0" tIns="0" rIns="0" bIns="0" rtlCol="0" anchor="t"/>
            <a:lstStyle/>
            <a:p>
              <a:pPr>
                <a:lnSpc>
                  <a:spcPct val="104000"/>
                </a:lnSpc>
              </a:pPr>
              <a:r>
                <a:rPr lang="en-US" sz="1000" b="1" dirty="0">
                  <a:solidFill>
                    <a:srgbClr val="00C2A8"/>
                  </a:solidFill>
                  <a:latin typeface="Times New Roman" panose="02020603050405020304" pitchFamily="18" charset="0"/>
                  <a:ea typeface="Raleway" pitchFamily="34" charset="-122"/>
                  <a:cs typeface="Times New Roman" panose="02020603050405020304" pitchFamily="18" charset="0"/>
                </a:rPr>
                <a:t>Central Data Memory (CDM)</a:t>
              </a:r>
            </a:p>
          </p:txBody>
        </p:sp>
      </p:grpSp>
      <p:grpSp>
        <p:nvGrpSpPr>
          <p:cNvPr id="5" name="Group 4">
            <a:extLst>
              <a:ext uri="{FF2B5EF4-FFF2-40B4-BE49-F238E27FC236}">
                <a16:creationId xmlns:a16="http://schemas.microsoft.com/office/drawing/2014/main" id="{AF6FBC2A-A305-F9D2-4C56-CEDA669BBBEE}"/>
              </a:ext>
            </a:extLst>
          </p:cNvPr>
          <p:cNvGrpSpPr/>
          <p:nvPr/>
        </p:nvGrpSpPr>
        <p:grpSpPr>
          <a:xfrm>
            <a:off x="289932" y="1847669"/>
            <a:ext cx="1741270" cy="1752302"/>
            <a:chOff x="2084994" y="1595064"/>
            <a:chExt cx="1588327" cy="1262138"/>
          </a:xfrm>
        </p:grpSpPr>
        <p:sp>
          <p:nvSpPr>
            <p:cNvPr id="6" name="Freeform: Shape 5">
              <a:extLst>
                <a:ext uri="{FF2B5EF4-FFF2-40B4-BE49-F238E27FC236}">
                  <a16:creationId xmlns:a16="http://schemas.microsoft.com/office/drawing/2014/main" id="{305F6A5B-50A9-061D-01D2-74E2EEC1795C}"/>
                </a:ext>
              </a:extLst>
            </p:cNvPr>
            <p:cNvSpPr/>
            <p:nvPr/>
          </p:nvSpPr>
          <p:spPr>
            <a:xfrm>
              <a:off x="2084994" y="1595064"/>
              <a:ext cx="1529858" cy="1262137"/>
            </a:xfrm>
            <a:custGeom>
              <a:avLst/>
              <a:gdLst>
                <a:gd name="csX0" fmla="*/ 36427 w 1980555"/>
                <a:gd name="csY0" fmla="*/ 0 h 1262137"/>
                <a:gd name="csX1" fmla="*/ 1944129 w 1980555"/>
                <a:gd name="csY1" fmla="*/ 0 h 1262137"/>
                <a:gd name="csX2" fmla="*/ 1980555 w 1980555"/>
                <a:gd name="csY2" fmla="*/ 36304 h 1262137"/>
                <a:gd name="csX3" fmla="*/ 1980555 w 1980555"/>
                <a:gd name="csY3" fmla="*/ 1225834 h 1262137"/>
                <a:gd name="csX4" fmla="*/ 1944129 w 1980555"/>
                <a:gd name="csY4" fmla="*/ 1262137 h 1262137"/>
                <a:gd name="csX5" fmla="*/ 36427 w 1980555"/>
                <a:gd name="csY5" fmla="*/ 1262137 h 1262137"/>
                <a:gd name="csX6" fmla="*/ 0 w 1980555"/>
                <a:gd name="csY6" fmla="*/ 1225834 h 1262137"/>
                <a:gd name="csX7" fmla="*/ 0 w 1980555"/>
                <a:gd name="csY7" fmla="*/ 36304 h 1262137"/>
                <a:gd name="csX8" fmla="*/ 36427 w 1980555"/>
                <a:gd name="csY8" fmla="*/ 0 h 1262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555" h="1262137">
                  <a:moveTo>
                    <a:pt x="36427" y="0"/>
                  </a:moveTo>
                  <a:lnTo>
                    <a:pt x="1944129" y="0"/>
                  </a:lnTo>
                  <a:cubicBezTo>
                    <a:pt x="1964244" y="0"/>
                    <a:pt x="1980555" y="16254"/>
                    <a:pt x="1980555" y="36304"/>
                  </a:cubicBezTo>
                  <a:lnTo>
                    <a:pt x="1980555" y="1225834"/>
                  </a:lnTo>
                  <a:cubicBezTo>
                    <a:pt x="1980555" y="1245881"/>
                    <a:pt x="1964244" y="1262137"/>
                    <a:pt x="1944129" y="1262137"/>
                  </a:cubicBezTo>
                  <a:lnTo>
                    <a:pt x="36427" y="1262137"/>
                  </a:lnTo>
                  <a:cubicBezTo>
                    <a:pt x="16309" y="1262137"/>
                    <a:pt x="0" y="1245881"/>
                    <a:pt x="0" y="1225834"/>
                  </a:cubicBezTo>
                  <a:lnTo>
                    <a:pt x="0" y="36304"/>
                  </a:lnTo>
                  <a:cubicBezTo>
                    <a:pt x="0" y="16254"/>
                    <a:pt x="16309" y="0"/>
                    <a:pt x="36427" y="0"/>
                  </a:cubicBezTo>
                </a:path>
              </a:pathLst>
            </a:custGeom>
            <a:solidFill>
              <a:srgbClr val="FFFFFF"/>
            </a:solidFill>
            <a:ln w="4740" cap="flat">
              <a:solidFill>
                <a:schemeClr val="accent1"/>
              </a:solidFill>
              <a:prstDash val="solid"/>
              <a:miter/>
            </a:ln>
          </p:spPr>
          <p:txBody>
            <a:bodyPr/>
            <a:lstStyle/>
            <a:p>
              <a:endParaRPr lang="ar-EG"/>
            </a:p>
          </p:txBody>
        </p:sp>
        <p:sp>
          <p:nvSpPr>
            <p:cNvPr id="7" name="Freeform: Shape 6">
              <a:extLst>
                <a:ext uri="{FF2B5EF4-FFF2-40B4-BE49-F238E27FC236}">
                  <a16:creationId xmlns:a16="http://schemas.microsoft.com/office/drawing/2014/main" id="{2D30C454-2A0F-9B0A-AF2C-8D16ED7229A6}"/>
                </a:ext>
              </a:extLst>
            </p:cNvPr>
            <p:cNvSpPr/>
            <p:nvPr/>
          </p:nvSpPr>
          <p:spPr>
            <a:xfrm>
              <a:off x="2084994" y="1595065"/>
              <a:ext cx="1529858" cy="1262137"/>
            </a:xfrm>
            <a:custGeom>
              <a:avLst/>
              <a:gdLst>
                <a:gd name="csX0" fmla="*/ 10670 w 1980555"/>
                <a:gd name="csY0" fmla="*/ 10634 h 1262137"/>
                <a:gd name="csX1" fmla="*/ 36427 w 1980555"/>
                <a:gd name="csY1" fmla="*/ 0 h 1262137"/>
                <a:gd name="csX2" fmla="*/ 1944129 w 1980555"/>
                <a:gd name="csY2" fmla="*/ 0 h 1262137"/>
                <a:gd name="csX3" fmla="*/ 1980555 w 1980555"/>
                <a:gd name="csY3" fmla="*/ 36304 h 1262137"/>
                <a:gd name="csX4" fmla="*/ 1980555 w 1980555"/>
                <a:gd name="csY4" fmla="*/ 1225834 h 1262137"/>
                <a:gd name="csX5" fmla="*/ 1944129 w 1980555"/>
                <a:gd name="csY5" fmla="*/ 1262137 h 1262137"/>
                <a:gd name="csX6" fmla="*/ 36427 w 1980555"/>
                <a:gd name="csY6" fmla="*/ 1262137 h 1262137"/>
                <a:gd name="csX7" fmla="*/ 0 w 1980555"/>
                <a:gd name="csY7" fmla="*/ 1225834 h 1262137"/>
                <a:gd name="csX8" fmla="*/ 0 w 1980555"/>
                <a:gd name="csY8" fmla="*/ 36304 h 1262137"/>
                <a:gd name="csX9" fmla="*/ 10670 w 1980555"/>
                <a:gd name="csY9" fmla="*/ 10634 h 1262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555" h="1262137">
                  <a:moveTo>
                    <a:pt x="10670" y="10634"/>
                  </a:moveTo>
                  <a:cubicBezTo>
                    <a:pt x="17501" y="3826"/>
                    <a:pt x="26766" y="0"/>
                    <a:pt x="36427" y="0"/>
                  </a:cubicBezTo>
                  <a:lnTo>
                    <a:pt x="1944129" y="0"/>
                  </a:lnTo>
                  <a:cubicBezTo>
                    <a:pt x="1964244" y="0"/>
                    <a:pt x="1980555" y="16254"/>
                    <a:pt x="1980555" y="36304"/>
                  </a:cubicBezTo>
                  <a:lnTo>
                    <a:pt x="1980555" y="1225834"/>
                  </a:lnTo>
                  <a:cubicBezTo>
                    <a:pt x="1980555" y="1245881"/>
                    <a:pt x="1964244" y="1262137"/>
                    <a:pt x="1944129" y="1262137"/>
                  </a:cubicBezTo>
                  <a:lnTo>
                    <a:pt x="36427" y="1262137"/>
                  </a:lnTo>
                  <a:cubicBezTo>
                    <a:pt x="16309" y="1262137"/>
                    <a:pt x="0" y="1245881"/>
                    <a:pt x="0" y="1225834"/>
                  </a:cubicBezTo>
                  <a:lnTo>
                    <a:pt x="0" y="36304"/>
                  </a:lnTo>
                  <a:cubicBezTo>
                    <a:pt x="0" y="26676"/>
                    <a:pt x="3839" y="17442"/>
                    <a:pt x="10670" y="10634"/>
                  </a:cubicBezTo>
                </a:path>
              </a:pathLst>
            </a:custGeom>
            <a:noFill/>
            <a:ln w="28438" cap="flat">
              <a:solidFill>
                <a:schemeClr val="accent1"/>
              </a:solidFill>
              <a:prstDash val="solid"/>
              <a:miter/>
            </a:ln>
          </p:spPr>
          <p:txBody>
            <a:bodyPr/>
            <a:lstStyle/>
            <a:p>
              <a:endParaRPr lang="ar-EG"/>
            </a:p>
          </p:txBody>
        </p:sp>
        <p:sp>
          <p:nvSpPr>
            <p:cNvPr id="9" name="Freeform: Shape 8">
              <a:extLst>
                <a:ext uri="{FF2B5EF4-FFF2-40B4-BE49-F238E27FC236}">
                  <a16:creationId xmlns:a16="http://schemas.microsoft.com/office/drawing/2014/main" id="{C8CFF22C-ABCE-C62B-ED12-15D813D1EB7A}"/>
                </a:ext>
              </a:extLst>
            </p:cNvPr>
            <p:cNvSpPr/>
            <p:nvPr/>
          </p:nvSpPr>
          <p:spPr>
            <a:xfrm>
              <a:off x="2096025" y="1608015"/>
              <a:ext cx="1507792" cy="256843"/>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a:p>
          </p:txBody>
        </p:sp>
        <p:sp>
          <p:nvSpPr>
            <p:cNvPr id="10" name="Text 1">
              <a:extLst>
                <a:ext uri="{FF2B5EF4-FFF2-40B4-BE49-F238E27FC236}">
                  <a16:creationId xmlns:a16="http://schemas.microsoft.com/office/drawing/2014/main" id="{D643A462-9A59-D518-4B13-D57D867766B0}"/>
                </a:ext>
              </a:extLst>
            </p:cNvPr>
            <p:cNvSpPr/>
            <p:nvPr/>
          </p:nvSpPr>
          <p:spPr>
            <a:xfrm>
              <a:off x="2326361" y="1677502"/>
              <a:ext cx="1346960" cy="162669"/>
            </a:xfrm>
            <a:prstGeom prst="rect">
              <a:avLst/>
            </a:prstGeom>
            <a:noFill/>
            <a:ln/>
          </p:spPr>
          <p:txBody>
            <a:bodyPr wrap="none" lIns="0" tIns="0" rIns="0" bIns="0" rtlCol="0" anchor="t"/>
            <a:lstStyle/>
            <a:p>
              <a:pPr>
                <a:lnSpc>
                  <a:spcPct val="104000"/>
                </a:lnSpc>
              </a:pPr>
              <a:r>
                <a:rPr lang="en-US" sz="1050" b="1" dirty="0">
                  <a:solidFill>
                    <a:srgbClr val="00C2A8"/>
                  </a:solidFill>
                  <a:latin typeface="Times New Roman" panose="02020603050405020304" pitchFamily="18" charset="0"/>
                  <a:ea typeface="Raleway" pitchFamily="34" charset="-122"/>
                  <a:cs typeface="Times New Roman" panose="02020603050405020304" pitchFamily="18" charset="0"/>
                </a:rPr>
                <a:t>CXS </a:t>
              </a:r>
              <a:r>
                <a:rPr lang="en-US" sz="1100" b="1" dirty="0">
                  <a:solidFill>
                    <a:srgbClr val="00C2A8"/>
                  </a:solidFill>
                  <a:latin typeface="Times New Roman" panose="02020603050405020304" pitchFamily="18" charset="0"/>
                  <a:ea typeface="Raleway" pitchFamily="34" charset="-122"/>
                  <a:cs typeface="Times New Roman" panose="02020603050405020304" pitchFamily="18" charset="0"/>
                </a:rPr>
                <a:t>Interface</a:t>
              </a:r>
              <a:r>
                <a:rPr lang="en-US" sz="1050" b="1" dirty="0">
                  <a:solidFill>
                    <a:srgbClr val="00C2A8"/>
                  </a:solidFill>
                  <a:latin typeface="Times New Roman" panose="02020603050405020304" pitchFamily="18" charset="0"/>
                  <a:ea typeface="Raleway" pitchFamily="34" charset="-122"/>
                  <a:cs typeface="Times New Roman" panose="02020603050405020304" pitchFamily="18" charset="0"/>
                </a:rPr>
                <a:t> (RX/TX)</a:t>
              </a:r>
            </a:p>
          </p:txBody>
        </p:sp>
      </p:grpSp>
      <p:sp>
        <p:nvSpPr>
          <p:cNvPr id="12" name="TextBox 11">
            <a:extLst>
              <a:ext uri="{FF2B5EF4-FFF2-40B4-BE49-F238E27FC236}">
                <a16:creationId xmlns:a16="http://schemas.microsoft.com/office/drawing/2014/main" id="{65C67F5F-E61F-5DD2-4C13-377E5FDE236B}"/>
              </a:ext>
            </a:extLst>
          </p:cNvPr>
          <p:cNvSpPr txBox="1"/>
          <p:nvPr/>
        </p:nvSpPr>
        <p:spPr>
          <a:xfrm>
            <a:off x="330658" y="945242"/>
            <a:ext cx="7498112" cy="646331"/>
          </a:xfrm>
          <a:prstGeom prst="rect">
            <a:avLst/>
          </a:prstGeom>
          <a:noFill/>
        </p:spPr>
        <p:txBody>
          <a:bodyPr wrap="square" rtlCol="0">
            <a:spAutoFit/>
          </a:bodyPr>
          <a:lstStyle/>
          <a:p>
            <a:r>
              <a:rPr lang="en-US" dirty="0">
                <a:solidFill>
                  <a:srgbClr val="1E2761"/>
                </a:solidFill>
                <a:latin typeface="Times New Roman" panose="02020603050405020304" pitchFamily="18" charset="0"/>
                <a:cs typeface="Times New Roman" panose="02020603050405020304" pitchFamily="18" charset="0"/>
              </a:rPr>
              <a:t>The proposed high-level architecture of the CXS Bridge Encryption and Data Management System consists of the following major blocks:</a:t>
            </a:r>
          </a:p>
        </p:txBody>
      </p:sp>
      <p:sp>
        <p:nvSpPr>
          <p:cNvPr id="13" name="TextBox 12">
            <a:extLst>
              <a:ext uri="{FF2B5EF4-FFF2-40B4-BE49-F238E27FC236}">
                <a16:creationId xmlns:a16="http://schemas.microsoft.com/office/drawing/2014/main" id="{B5C44FF3-10D8-EEF1-9EB9-6F649EFED7D4}"/>
              </a:ext>
            </a:extLst>
          </p:cNvPr>
          <p:cNvSpPr txBox="1"/>
          <p:nvPr/>
        </p:nvSpPr>
        <p:spPr>
          <a:xfrm>
            <a:off x="289932" y="3856069"/>
            <a:ext cx="8735122" cy="584775"/>
          </a:xfrm>
          <a:prstGeom prst="rect">
            <a:avLst/>
          </a:prstGeom>
          <a:noFill/>
        </p:spPr>
        <p:txBody>
          <a:bodyPr wrap="square" rtlCol="0">
            <a:spAutoFit/>
          </a:bodyPr>
          <a:lstStyle/>
          <a:p>
            <a:r>
              <a:rPr lang="en-US" sz="1600">
                <a:solidFill>
                  <a:srgbClr val="1E2761"/>
                </a:solidFill>
                <a:latin typeface="Times New Roman" panose="02020603050405020304" pitchFamily="18" charset="0"/>
                <a:cs typeface="Times New Roman" panose="02020603050405020304" pitchFamily="18" charset="0"/>
              </a:rPr>
              <a:t>These modules cooperate to receive FLITs from the CXS link, extract and validate TLPs, encrypt and add parity, translate addresses, store the processed data in memory and report errors back over CXS TX.</a:t>
            </a:r>
            <a:endParaRPr lang="en-US" sz="1600" dirty="0">
              <a:solidFill>
                <a:srgbClr val="1E276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414C5D8E-FC5B-A8BF-1EBE-3E28BDDA4DF1}"/>
              </a:ext>
            </a:extLst>
          </p:cNvPr>
          <p:cNvSpPr txBox="1"/>
          <p:nvPr/>
        </p:nvSpPr>
        <p:spPr>
          <a:xfrm>
            <a:off x="302025" y="2242004"/>
            <a:ext cx="1741275" cy="1200329"/>
          </a:xfrm>
          <a:prstGeom prst="rect">
            <a:avLst/>
          </a:prstGeom>
          <a:noFill/>
        </p:spPr>
        <p:txBody>
          <a:bodyPr wrap="square">
            <a:spAutoFit/>
          </a:bodyPr>
          <a:lstStyle/>
          <a:p>
            <a:r>
              <a:rPr lang="en-US" sz="1200">
                <a:solidFill>
                  <a:srgbClr val="1E2761"/>
                </a:solidFill>
                <a:latin typeface="Times New Roman" panose="02020603050405020304" pitchFamily="18" charset="0"/>
                <a:cs typeface="Times New Roman" panose="02020603050405020304" pitchFamily="18" charset="0"/>
              </a:rPr>
              <a:t>FLIT reception and error response transmission, credit-based flow control, CXSCNTL decoding and 32-bit word extraction</a:t>
            </a:r>
            <a:endParaRPr lang="en-US" sz="1200" dirty="0">
              <a:solidFill>
                <a:srgbClr val="1E2761"/>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179A621-B1B0-5264-CD6B-CE5499B13A7A}"/>
              </a:ext>
            </a:extLst>
          </p:cNvPr>
          <p:cNvSpPr txBox="1"/>
          <p:nvPr/>
        </p:nvSpPr>
        <p:spPr>
          <a:xfrm>
            <a:off x="1982016" y="2228755"/>
            <a:ext cx="1367448" cy="1384995"/>
          </a:xfrm>
          <a:prstGeom prst="rect">
            <a:avLst/>
          </a:prstGeom>
          <a:noFill/>
        </p:spPr>
        <p:txBody>
          <a:bodyPr wrap="square">
            <a:spAutoFit/>
          </a:bodyPr>
          <a:lstStyle/>
          <a:p>
            <a:r>
              <a:rPr lang="en-US" sz="1200">
                <a:solidFill>
                  <a:srgbClr val="1E2761"/>
                </a:solidFill>
                <a:latin typeface="Times New Roman" panose="02020603050405020304" pitchFamily="18" charset="0"/>
                <a:cs typeface="Times New Roman" panose="02020603050405020304" pitchFamily="18" charset="0"/>
              </a:rPr>
              <a:t>5-state FSM controller; TLP header decoding, config writes, Link-Up/Transfer handling, error reporting</a:t>
            </a:r>
            <a:endParaRPr lang="en-US" sz="1200" dirty="0">
              <a:solidFill>
                <a:srgbClr val="1E276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CD82A850-E0F1-8D81-6029-A21FCF1DFC44}"/>
              </a:ext>
            </a:extLst>
          </p:cNvPr>
          <p:cNvSpPr txBox="1"/>
          <p:nvPr/>
        </p:nvSpPr>
        <p:spPr>
          <a:xfrm>
            <a:off x="3710664" y="2228755"/>
            <a:ext cx="1652979" cy="1384995"/>
          </a:xfrm>
          <a:prstGeom prst="rect">
            <a:avLst/>
          </a:prstGeom>
          <a:noFill/>
        </p:spPr>
        <p:txBody>
          <a:bodyPr wrap="square">
            <a:spAutoFit/>
          </a:bodyPr>
          <a:lstStyle/>
          <a:p>
            <a:r>
              <a:rPr lang="en-US" sz="1200">
                <a:solidFill>
                  <a:srgbClr val="1E2761"/>
                </a:solidFill>
                <a:latin typeface="Times New Roman" panose="02020603050405020304" pitchFamily="18" charset="0"/>
                <a:cs typeface="Times New Roman" panose="02020603050405020304" pitchFamily="18" charset="0"/>
              </a:rPr>
              <a:t>Encryption Unit: 16 → 32-bit expansion with 2 modes and a balanced-word override + Parity Unit (odd / even) appended before storage</a:t>
            </a:r>
            <a:endParaRPr lang="en-US" sz="1200" dirty="0">
              <a:solidFill>
                <a:srgbClr val="1E276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A5E25333-5B59-AE19-7B73-8737F04AAE74}"/>
              </a:ext>
            </a:extLst>
          </p:cNvPr>
          <p:cNvSpPr txBox="1"/>
          <p:nvPr/>
        </p:nvSpPr>
        <p:spPr>
          <a:xfrm>
            <a:off x="5405460" y="2200416"/>
            <a:ext cx="1824090" cy="1200329"/>
          </a:xfrm>
          <a:prstGeom prst="rect">
            <a:avLst/>
          </a:prstGeom>
          <a:noFill/>
        </p:spPr>
        <p:txBody>
          <a:bodyPr wrap="square">
            <a:spAutoFit/>
          </a:bodyPr>
          <a:lstStyle/>
          <a:p>
            <a:r>
              <a:rPr lang="en-US" sz="1200">
                <a:solidFill>
                  <a:srgbClr val="1E2761"/>
                </a:solidFill>
                <a:latin typeface="Times New Roman" panose="02020603050405020304" pitchFamily="18" charset="0"/>
                <a:cs typeface="Times New Roman" panose="02020603050405020304" pitchFamily="18" charset="0"/>
              </a:rPr>
              <a:t>Converts logical addresses to physical CDM addresses by adding the base address captured from the configuration packet</a:t>
            </a:r>
            <a:endParaRPr lang="en-US" sz="1200" dirty="0">
              <a:solidFill>
                <a:srgbClr val="1E276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BA574691-901A-38BA-42DB-07CE6689CE21}"/>
              </a:ext>
            </a:extLst>
          </p:cNvPr>
          <p:cNvSpPr txBox="1"/>
          <p:nvPr/>
        </p:nvSpPr>
        <p:spPr>
          <a:xfrm>
            <a:off x="7225575" y="2194479"/>
            <a:ext cx="1616399" cy="1015663"/>
          </a:xfrm>
          <a:prstGeom prst="rect">
            <a:avLst/>
          </a:prstGeom>
          <a:noFill/>
        </p:spPr>
        <p:txBody>
          <a:bodyPr wrap="square">
            <a:spAutoFit/>
          </a:bodyPr>
          <a:lstStyle/>
          <a:p>
            <a:r>
              <a:rPr lang="en-US" sz="1200">
                <a:solidFill>
                  <a:srgbClr val="1E2761"/>
                </a:solidFill>
                <a:latin typeface="Times New Roman" panose="02020603050405020304" pitchFamily="18" charset="0"/>
                <a:cs typeface="Times New Roman" panose="02020603050405020304" pitchFamily="18" charset="0"/>
              </a:rPr>
              <a:t>Stores the configuration register, device table and encrypted payload data at ATU addresses</a:t>
            </a:r>
            <a:endParaRPr lang="en-US" sz="1200" dirty="0">
              <a:solidFill>
                <a:srgbClr val="1E276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21197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anim calcmode="lin" valueType="num">
                                      <p:cBhvr>
                                        <p:cTn id="13" dur="500" fill="hold"/>
                                        <p:tgtEl>
                                          <p:spTgt spid="74"/>
                                        </p:tgtEl>
                                        <p:attrNameLst>
                                          <p:attrName>ppt_x</p:attrName>
                                        </p:attrNameLst>
                                      </p:cBhvr>
                                      <p:tavLst>
                                        <p:tav tm="0">
                                          <p:val>
                                            <p:strVal val="#ppt_x"/>
                                          </p:val>
                                        </p:tav>
                                        <p:tav tm="100000">
                                          <p:val>
                                            <p:strVal val="#ppt_x"/>
                                          </p:val>
                                        </p:tav>
                                      </p:tavLst>
                                    </p:anim>
                                    <p:anim calcmode="lin" valueType="num">
                                      <p:cBhvr>
                                        <p:cTn id="14" dur="5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anim calcmode="lin" valueType="num">
                                      <p:cBhvr>
                                        <p:cTn id="20" dur="500" fill="hold"/>
                                        <p:tgtEl>
                                          <p:spTgt spid="75"/>
                                        </p:tgtEl>
                                        <p:attrNameLst>
                                          <p:attrName>ppt_x</p:attrName>
                                        </p:attrNameLst>
                                      </p:cBhvr>
                                      <p:tavLst>
                                        <p:tav tm="0">
                                          <p:val>
                                            <p:strVal val="#ppt_x"/>
                                          </p:val>
                                        </p:tav>
                                        <p:tav tm="100000">
                                          <p:val>
                                            <p:strVal val="#ppt_x"/>
                                          </p:val>
                                        </p:tav>
                                      </p:tavLst>
                                    </p:anim>
                                    <p:anim calcmode="lin" valueType="num">
                                      <p:cBhvr>
                                        <p:cTn id="21" dur="500" fill="hold"/>
                                        <p:tgtEl>
                                          <p:spTgt spid="7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6"/>
                                        </p:tgtEl>
                                        <p:attrNameLst>
                                          <p:attrName>style.visibility</p:attrName>
                                        </p:attrNameLst>
                                      </p:cBhvr>
                                      <p:to>
                                        <p:strVal val="visible"/>
                                      </p:to>
                                    </p:set>
                                    <p:animEffect transition="in" filter="fade">
                                      <p:cBhvr>
                                        <p:cTn id="26" dur="500"/>
                                        <p:tgtEl>
                                          <p:spTgt spid="76"/>
                                        </p:tgtEl>
                                      </p:cBhvr>
                                    </p:animEffect>
                                    <p:anim calcmode="lin" valueType="num">
                                      <p:cBhvr>
                                        <p:cTn id="27" dur="500" fill="hold"/>
                                        <p:tgtEl>
                                          <p:spTgt spid="76"/>
                                        </p:tgtEl>
                                        <p:attrNameLst>
                                          <p:attrName>ppt_x</p:attrName>
                                        </p:attrNameLst>
                                      </p:cBhvr>
                                      <p:tavLst>
                                        <p:tav tm="0">
                                          <p:val>
                                            <p:strVal val="#ppt_x"/>
                                          </p:val>
                                        </p:tav>
                                        <p:tav tm="100000">
                                          <p:val>
                                            <p:strVal val="#ppt_x"/>
                                          </p:val>
                                        </p:tav>
                                      </p:tavLst>
                                    </p:anim>
                                    <p:anim calcmode="lin" valueType="num">
                                      <p:cBhvr>
                                        <p:cTn id="28" dur="5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7"/>
                                        </p:tgtEl>
                                        <p:attrNameLst>
                                          <p:attrName>style.visibility</p:attrName>
                                        </p:attrNameLst>
                                      </p:cBhvr>
                                      <p:to>
                                        <p:strVal val="visible"/>
                                      </p:to>
                                    </p:set>
                                    <p:animEffect transition="in" filter="fade">
                                      <p:cBhvr>
                                        <p:cTn id="33" dur="500"/>
                                        <p:tgtEl>
                                          <p:spTgt spid="77"/>
                                        </p:tgtEl>
                                      </p:cBhvr>
                                    </p:animEffect>
                                    <p:anim calcmode="lin" valueType="num">
                                      <p:cBhvr>
                                        <p:cTn id="34" dur="500" fill="hold"/>
                                        <p:tgtEl>
                                          <p:spTgt spid="77"/>
                                        </p:tgtEl>
                                        <p:attrNameLst>
                                          <p:attrName>ppt_x</p:attrName>
                                        </p:attrNameLst>
                                      </p:cBhvr>
                                      <p:tavLst>
                                        <p:tav tm="0">
                                          <p:val>
                                            <p:strVal val="#ppt_x"/>
                                          </p:val>
                                        </p:tav>
                                        <p:tav tm="100000">
                                          <p:val>
                                            <p:strVal val="#ppt_x"/>
                                          </p:val>
                                        </p:tav>
                                      </p:tavLst>
                                    </p:anim>
                                    <p:anim calcmode="lin" valueType="num">
                                      <p:cBhvr>
                                        <p:cTn id="35" dur="5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anim calcmode="lin" valueType="num">
                                      <p:cBhvr>
                                        <p:cTn id="41" dur="500" fill="hold"/>
                                        <p:tgtEl>
                                          <p:spTgt spid="5"/>
                                        </p:tgtEl>
                                        <p:attrNameLst>
                                          <p:attrName>ppt_x</p:attrName>
                                        </p:attrNameLst>
                                      </p:cBhvr>
                                      <p:tavLst>
                                        <p:tav tm="0">
                                          <p:val>
                                            <p:strVal val="#ppt_x"/>
                                          </p:val>
                                        </p:tav>
                                        <p:tav tm="100000">
                                          <p:val>
                                            <p:strVal val="#ppt_x"/>
                                          </p:val>
                                        </p:tav>
                                      </p:tavLst>
                                    </p:anim>
                                    <p:anim calcmode="lin" valueType="num">
                                      <p:cBhvr>
                                        <p:cTn id="42"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83A89BC-C879-4DFF-C592-49B317E8FCED}"/>
            </a:ext>
          </a:extLst>
        </p:cNvPr>
        <p:cNvGrpSpPr/>
        <p:nvPr/>
      </p:nvGrpSpPr>
      <p:grpSpPr>
        <a:xfrm>
          <a:off x="0" y="0"/>
          <a:ext cx="0" cy="0"/>
          <a:chOff x="0" y="0"/>
          <a:chExt cx="0" cy="0"/>
        </a:xfrm>
      </p:grpSpPr>
      <p:graphicFrame>
        <p:nvGraphicFramePr>
          <p:cNvPr id="2" name="TextBox 3">
            <a:extLst>
              <a:ext uri="{FF2B5EF4-FFF2-40B4-BE49-F238E27FC236}">
                <a16:creationId xmlns:a16="http://schemas.microsoft.com/office/drawing/2014/main" id="{6878E6B0-32C0-A4E8-D3E3-BEBB110698CF}"/>
              </a:ext>
            </a:extLst>
          </p:cNvPr>
          <p:cNvGraphicFramePr/>
          <p:nvPr>
            <p:extLst>
              <p:ext uri="{D42A27DB-BD31-4B8C-83A1-F6EECF244321}">
                <p14:modId xmlns:p14="http://schemas.microsoft.com/office/powerpoint/2010/main" val="2368579460"/>
              </p:ext>
            </p:extLst>
          </p:nvPr>
        </p:nvGraphicFramePr>
        <p:xfrm>
          <a:off x="345556" y="1243415"/>
          <a:ext cx="8452886" cy="19062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TextBox 3">
            <a:extLst>
              <a:ext uri="{FF2B5EF4-FFF2-40B4-BE49-F238E27FC236}">
                <a16:creationId xmlns:a16="http://schemas.microsoft.com/office/drawing/2014/main" id="{185171E3-0EA1-BFD6-FC8E-3D45C9F9D762}"/>
              </a:ext>
            </a:extLst>
          </p:cNvPr>
          <p:cNvGraphicFramePr/>
          <p:nvPr>
            <p:extLst>
              <p:ext uri="{D42A27DB-BD31-4B8C-83A1-F6EECF244321}">
                <p14:modId xmlns:p14="http://schemas.microsoft.com/office/powerpoint/2010/main" val="2142201866"/>
              </p:ext>
            </p:extLst>
          </p:nvPr>
        </p:nvGraphicFramePr>
        <p:xfrm>
          <a:off x="345556" y="3149690"/>
          <a:ext cx="8452886" cy="163197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Text 0">
            <a:extLst>
              <a:ext uri="{FF2B5EF4-FFF2-40B4-BE49-F238E27FC236}">
                <a16:creationId xmlns:a16="http://schemas.microsoft.com/office/drawing/2014/main" id="{1057E001-4E80-D936-95EE-A01EC583825D}"/>
              </a:ext>
            </a:extLst>
          </p:cNvPr>
          <p:cNvSpPr txBox="1"/>
          <p:nvPr/>
        </p:nvSpPr>
        <p:spPr>
          <a:xfrm>
            <a:off x="379210" y="361830"/>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High-Level Data Flow</a:t>
            </a:r>
          </a:p>
        </p:txBody>
      </p:sp>
      <p:sp>
        <p:nvSpPr>
          <p:cNvPr id="7" name="TextBox 6">
            <a:extLst>
              <a:ext uri="{FF2B5EF4-FFF2-40B4-BE49-F238E27FC236}">
                <a16:creationId xmlns:a16="http://schemas.microsoft.com/office/drawing/2014/main" id="{C3347AE2-D4B4-02B3-A64D-30FCF78E1CA3}"/>
              </a:ext>
            </a:extLst>
          </p:cNvPr>
          <p:cNvSpPr txBox="1"/>
          <p:nvPr/>
        </p:nvSpPr>
        <p:spPr>
          <a:xfrm>
            <a:off x="280219" y="841890"/>
            <a:ext cx="8200104" cy="523220"/>
          </a:xfrm>
          <a:prstGeom prst="rect">
            <a:avLst/>
          </a:prstGeom>
          <a:noFill/>
        </p:spPr>
        <p:txBody>
          <a:bodyPr wrap="square" rtlCol="0">
            <a:spAutoFit/>
          </a:bodyPr>
          <a:lstStyle/>
          <a:p>
            <a:r>
              <a:rPr lang="en-US" sz="1400">
                <a:solidFill>
                  <a:srgbClr val="1E2761"/>
                </a:solidFill>
                <a:latin typeface="Times New Roman" panose="02020603050405020304" pitchFamily="18" charset="0"/>
                <a:cs typeface="Times New Roman" panose="02020603050405020304" pitchFamily="18" charset="0"/>
              </a:rPr>
              <a:t>Incoming CXS FLITs are buffered and decoded in the CXS clock domain; only valid 32-bit TLP words cross into the system clock domain through the Asynchronous FIFO to the Control Unit.</a:t>
            </a:r>
            <a:endParaRPr lang="en-US" sz="1400" dirty="0">
              <a:solidFill>
                <a:srgbClr val="1E276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1762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Graphic spid="3" grpId="0">
        <p:bldAsOne/>
      </p:bldGraphic>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 0"/>
          <p:cNvSpPr txBox="1"/>
          <p:nvPr/>
        </p:nvSpPr>
        <p:spPr>
          <a:xfrm>
            <a:off x="411480" y="194217"/>
            <a:ext cx="7886700" cy="480060"/>
          </a:xfrm>
          <a:prstGeom prst="rect">
            <a:avLst/>
          </a:prstGeom>
          <a:noFill/>
          <a:ln/>
        </p:spPr>
        <p:txBody>
          <a:bodyPr wrap="square" lIns="0" tIns="0" rIns="0" bIns="0" rtlCol="0" anchor="ctr"/>
          <a:lstStyle/>
          <a:p>
            <a:r>
              <a:rPr lang="en-US" sz="3600" dirty="0">
                <a:solidFill>
                  <a:srgbClr val="002060"/>
                </a:solidFill>
                <a:latin typeface="Times New Roman" panose="02020603050405020304" pitchFamily="18" charset="0"/>
                <a:cs typeface="Times New Roman" panose="02020603050405020304" pitchFamily="18" charset="0"/>
              </a:rPr>
              <a:t>CXS Protocol</a:t>
            </a:r>
            <a:endParaRPr lang="en-US" sz="3200" dirty="0">
              <a:solidFill>
                <a:srgbClr val="002060"/>
              </a:solidFill>
              <a:latin typeface="Times New Roman" panose="02020603050405020304" pitchFamily="18" charset="0"/>
              <a:cs typeface="Times New Roman" panose="02020603050405020304" pitchFamily="18" charset="0"/>
            </a:endParaRPr>
          </a:p>
        </p:txBody>
      </p:sp>
      <p:sp>
        <p:nvSpPr>
          <p:cNvPr id="8" name="Shape 6"/>
          <p:cNvSpPr/>
          <p:nvPr/>
        </p:nvSpPr>
        <p:spPr>
          <a:xfrm>
            <a:off x="226742" y="903993"/>
            <a:ext cx="4754136" cy="3749784"/>
          </a:xfrm>
          <a:prstGeom prst="roundRect">
            <a:avLst>
              <a:gd name="adj" fmla="val 2326"/>
            </a:avLst>
          </a:prstGeom>
          <a:solidFill>
            <a:srgbClr val="1E2761"/>
          </a:solidFill>
          <a:ln/>
        </p:spPr>
        <p:txBody>
          <a:bodyPr/>
          <a:lstStyle/>
          <a:p>
            <a:endParaRPr lang="en-US" dirty="0"/>
          </a:p>
        </p:txBody>
      </p:sp>
      <p:sp>
        <p:nvSpPr>
          <p:cNvPr id="6" name="TextBox 5">
            <a:extLst>
              <a:ext uri="{FF2B5EF4-FFF2-40B4-BE49-F238E27FC236}">
                <a16:creationId xmlns:a16="http://schemas.microsoft.com/office/drawing/2014/main" id="{E2AA2364-E4C0-CF48-F257-C111345E5878}"/>
              </a:ext>
            </a:extLst>
          </p:cNvPr>
          <p:cNvSpPr txBox="1"/>
          <p:nvPr/>
        </p:nvSpPr>
        <p:spPr>
          <a:xfrm>
            <a:off x="226741" y="1070725"/>
            <a:ext cx="4687229" cy="3416320"/>
          </a:xfrm>
          <a:prstGeom prst="rect">
            <a:avLst/>
          </a:prstGeom>
          <a:noFill/>
        </p:spPr>
        <p:txBody>
          <a:bodyPr wrap="square">
            <a:spAutoFit/>
          </a:bodyPr>
          <a:lstStyle/>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Streaming, Point-to-Point : </a:t>
            </a:r>
            <a:r>
              <a:rPr lang="en-US" sz="1200" dirty="0">
                <a:solidFill>
                  <a:schemeClr val="bg2"/>
                </a:solidFill>
                <a:latin typeface="Times New Roman" panose="02020603050405020304" pitchFamily="18" charset="0"/>
                <a:cs typeface="Times New Roman" panose="02020603050405020304" pitchFamily="18" charset="0"/>
              </a:rPr>
              <a:t>Packetized data sent directly between two link partners — no addressing/routing layer, just protocol packets riding on flits</a:t>
            </a:r>
          </a:p>
          <a:p>
            <a:pPr marL="285750" indent="-285750">
              <a:buFont typeface="Wingdings" panose="05000000000000000000" pitchFamily="2" charset="2"/>
              <a:buChar char="Ø"/>
            </a:pPr>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Full-Duplex</a:t>
            </a:r>
            <a:r>
              <a:rPr lang="en-US" sz="1200" dirty="0">
                <a:solidFill>
                  <a:schemeClr val="bg2"/>
                </a:solidFill>
                <a:latin typeface="Times New Roman" panose="02020603050405020304" pitchFamily="18" charset="0"/>
                <a:cs typeface="Times New Roman" panose="02020603050405020304" pitchFamily="18" charset="0"/>
              </a:rPr>
              <a:t> : Independent TX and RX signal paths operate simultaneously and independently of each other</a:t>
            </a:r>
          </a:p>
          <a:p>
            <a:pPr marL="285750" indent="-285750">
              <a:buFont typeface="Wingdings" panose="05000000000000000000" pitchFamily="2" charset="2"/>
              <a:buChar char="Ø"/>
            </a:pPr>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Flit-Based Transfer </a:t>
            </a:r>
            <a:r>
              <a:rPr lang="en-US" sz="1200" dirty="0">
                <a:solidFill>
                  <a:schemeClr val="bg2"/>
                </a:solidFill>
                <a:latin typeface="Times New Roman" panose="02020603050405020304" pitchFamily="18" charset="0"/>
                <a:cs typeface="Times New Roman" panose="02020603050405020304" pitchFamily="18" charset="0"/>
              </a:rPr>
              <a:t>: Data moves one flit (flow-control unit) per clock cycle; a flit can carry multiple packets, or one packet can span several flits</a:t>
            </a:r>
          </a:p>
          <a:p>
            <a:pPr marL="285750" indent="-285750">
              <a:buFont typeface="Wingdings" panose="05000000000000000000" pitchFamily="2" charset="2"/>
              <a:buChar char="Ø"/>
            </a:pPr>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Credit-Based Flow Control </a:t>
            </a:r>
            <a:r>
              <a:rPr lang="en-US" sz="1200" dirty="0">
                <a:solidFill>
                  <a:schemeClr val="bg2"/>
                </a:solidFill>
                <a:latin typeface="Times New Roman" panose="02020603050405020304" pitchFamily="18" charset="0"/>
                <a:cs typeface="Times New Roman" panose="02020603050405020304" pitchFamily="18" charset="0"/>
              </a:rPr>
              <a:t>: Non-blocking: the transmitter only sends when it holds a credit from the receiver, preventing buffer overflow without handshake stalls</a:t>
            </a:r>
          </a:p>
          <a:p>
            <a:pPr marL="285750" indent="-285750">
              <a:buFont typeface="Wingdings" panose="05000000000000000000" pitchFamily="2" charset="2"/>
              <a:buChar char="Ø"/>
            </a:pPr>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Control Field (CXSCNTL):</a:t>
            </a:r>
            <a:r>
              <a:rPr lang="en-US" sz="1200" dirty="0">
                <a:solidFill>
                  <a:schemeClr val="bg2"/>
                </a:solidFill>
                <a:latin typeface="Times New Roman" panose="02020603050405020304" pitchFamily="18" charset="0"/>
                <a:cs typeface="Times New Roman" panose="02020603050405020304" pitchFamily="18" charset="0"/>
              </a:rPr>
              <a:t>Encodes START/END/ERROR boundary info per flit so the receiver can reconstruct packet boundaries from the raw flit stream</a:t>
            </a:r>
          </a:p>
        </p:txBody>
      </p:sp>
      <p:pic>
        <p:nvPicPr>
          <p:cNvPr id="9" name="Picture 8">
            <a:extLst>
              <a:ext uri="{FF2B5EF4-FFF2-40B4-BE49-F238E27FC236}">
                <a16:creationId xmlns:a16="http://schemas.microsoft.com/office/drawing/2014/main" id="{8CA63AAF-DF80-678C-F616-98993F66F3F7}"/>
              </a:ext>
            </a:extLst>
          </p:cNvPr>
          <p:cNvPicPr>
            <a:picLocks noChangeAspect="1"/>
          </p:cNvPicPr>
          <p:nvPr/>
        </p:nvPicPr>
        <p:blipFill>
          <a:blip r:embed="rId3"/>
          <a:stretch>
            <a:fillRect/>
          </a:stretch>
        </p:blipFill>
        <p:spPr>
          <a:xfrm>
            <a:off x="5331031" y="903992"/>
            <a:ext cx="3491826" cy="3749785"/>
          </a:xfrm>
          <a:prstGeom prst="rect">
            <a:avLst/>
          </a:prstGeom>
        </p:spPr>
      </p:pic>
    </p:spTree>
    <p:extLst>
      <p:ext uri="{BB962C8B-B14F-4D97-AF65-F5344CB8AC3E}">
        <p14:creationId xmlns:p14="http://schemas.microsoft.com/office/powerpoint/2010/main" val="30130712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D63A2CF-8A7E-294C-9745-6BD07F785F66}"/>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F2953BEB-C978-66BB-32E7-32B166FBAF17}"/>
              </a:ext>
            </a:extLst>
          </p:cNvPr>
          <p:cNvSpPr txBox="1"/>
          <p:nvPr/>
        </p:nvSpPr>
        <p:spPr>
          <a:xfrm>
            <a:off x="558119" y="585924"/>
            <a:ext cx="6361930"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CXS Interface (RX)</a:t>
            </a:r>
          </a:p>
        </p:txBody>
      </p:sp>
      <p:pic>
        <p:nvPicPr>
          <p:cNvPr id="13" name="Image 1" descr="preencoded.png">
            <a:extLst>
              <a:ext uri="{FF2B5EF4-FFF2-40B4-BE49-F238E27FC236}">
                <a16:creationId xmlns:a16="http://schemas.microsoft.com/office/drawing/2014/main" id="{ADC472DE-EE0D-64DF-170A-6FAD2BB35B1D}"/>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976094" y="4352884"/>
            <a:ext cx="169214" cy="135359"/>
          </a:xfrm>
          <a:prstGeom prst="rect">
            <a:avLst/>
          </a:prstGeom>
        </p:spPr>
      </p:pic>
      <p:graphicFrame>
        <p:nvGraphicFramePr>
          <p:cNvPr id="2" name="Diagram 1">
            <a:extLst>
              <a:ext uri="{FF2B5EF4-FFF2-40B4-BE49-F238E27FC236}">
                <a16:creationId xmlns:a16="http://schemas.microsoft.com/office/drawing/2014/main" id="{6FE6A241-CF94-DFB7-4A14-F262F53DE512}"/>
              </a:ext>
            </a:extLst>
          </p:cNvPr>
          <p:cNvGraphicFramePr/>
          <p:nvPr>
            <p:extLst>
              <p:ext uri="{D42A27DB-BD31-4B8C-83A1-F6EECF244321}">
                <p14:modId xmlns:p14="http://schemas.microsoft.com/office/powerpoint/2010/main" val="2565426550"/>
              </p:ext>
            </p:extLst>
          </p:nvPr>
        </p:nvGraphicFramePr>
        <p:xfrm>
          <a:off x="431510" y="1554972"/>
          <a:ext cx="3788798" cy="2909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PLACEHOLDER">
            <a:extLst>
              <a:ext uri="{FF2B5EF4-FFF2-40B4-BE49-F238E27FC236}">
                <a16:creationId xmlns:a16="http://schemas.microsoft.com/office/drawing/2014/main" id="{9431F83F-AAB8-D309-BCA6-7DCC9F6CF4D3}"/>
              </a:ext>
            </a:extLst>
          </p:cNvPr>
          <p:cNvSpPr/>
          <p:nvPr/>
        </p:nvSpPr>
        <p:spPr>
          <a:xfrm>
            <a:off x="4088994" y="907027"/>
            <a:ext cx="4978806" cy="4072776"/>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CXS RX path: rx_interface → flit_fifo → packet_formatter → async FIFO, with credit_manager driving CXSRXCRDGNT</a:t>
            </a:r>
          </a:p>
          <a:p>
            <a:pPr algn="ctr"/>
            <a:r>
              <a:rPr lang="en-US" sz="1000" i="1">
                <a:solidFill>
                  <a:srgbClr val="3C3939"/>
                </a:solidFill>
                <a:latin typeface="Times New Roman" panose="02020603050405020304" pitchFamily="18" charset="0"/>
              </a:rPr>
              <a:t>Source: draw.io diagram</a:t>
            </a:r>
          </a:p>
        </p:txBody>
      </p:sp>
    </p:spTree>
    <p:extLst>
      <p:ext uri="{BB962C8B-B14F-4D97-AF65-F5344CB8AC3E}">
        <p14:creationId xmlns:p14="http://schemas.microsoft.com/office/powerpoint/2010/main" val="6718447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D4FC4CA-6B9F-B919-DDD6-C9F0DE6A6BF2}"/>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2F65C38F-C7B2-0AB0-9D21-3FF046C28239}"/>
              </a:ext>
            </a:extLst>
          </p:cNvPr>
          <p:cNvSpPr txBox="1"/>
          <p:nvPr/>
        </p:nvSpPr>
        <p:spPr>
          <a:xfrm>
            <a:off x="558119" y="585924"/>
            <a:ext cx="6361930"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CXS Interface (TX)</a:t>
            </a:r>
          </a:p>
        </p:txBody>
      </p:sp>
      <p:pic>
        <p:nvPicPr>
          <p:cNvPr id="13" name="Image 1" descr="preencoded.png">
            <a:extLst>
              <a:ext uri="{FF2B5EF4-FFF2-40B4-BE49-F238E27FC236}">
                <a16:creationId xmlns:a16="http://schemas.microsoft.com/office/drawing/2014/main" id="{72FCBA5E-699A-A223-7189-6C6E859F6E69}"/>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976094" y="4352884"/>
            <a:ext cx="169214" cy="135359"/>
          </a:xfrm>
          <a:prstGeom prst="rect">
            <a:avLst/>
          </a:prstGeom>
        </p:spPr>
      </p:pic>
      <p:graphicFrame>
        <p:nvGraphicFramePr>
          <p:cNvPr id="2" name="Diagram 1">
            <a:extLst>
              <a:ext uri="{FF2B5EF4-FFF2-40B4-BE49-F238E27FC236}">
                <a16:creationId xmlns:a16="http://schemas.microsoft.com/office/drawing/2014/main" id="{D695B2E2-EFA9-379E-D197-E5CE1191F3ED}"/>
              </a:ext>
            </a:extLst>
          </p:cNvPr>
          <p:cNvGraphicFramePr/>
          <p:nvPr>
            <p:extLst>
              <p:ext uri="{D42A27DB-BD31-4B8C-83A1-F6EECF244321}">
                <p14:modId xmlns:p14="http://schemas.microsoft.com/office/powerpoint/2010/main" val="233503033"/>
              </p:ext>
            </p:extLst>
          </p:nvPr>
        </p:nvGraphicFramePr>
        <p:xfrm>
          <a:off x="431510" y="1554972"/>
          <a:ext cx="3788798" cy="2909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PLACEHOLDER">
            <a:extLst>
              <a:ext uri="{FF2B5EF4-FFF2-40B4-BE49-F238E27FC236}">
                <a16:creationId xmlns:a16="http://schemas.microsoft.com/office/drawing/2014/main" id="{158E55FB-3F5B-338D-4571-884FD3BB259C}"/>
              </a:ext>
            </a:extLst>
          </p:cNvPr>
          <p:cNvSpPr/>
          <p:nvPr/>
        </p:nvSpPr>
        <p:spPr>
          <a:xfrm>
            <a:off x="4048432" y="921774"/>
            <a:ext cx="5019368" cy="4170926"/>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CXS TX path: error pulse → packet_encoder → tx_interface (holding register + TX credit counter) → CXSTX signals</a:t>
            </a:r>
          </a:p>
          <a:p>
            <a:pPr algn="ctr"/>
            <a:r>
              <a:rPr lang="en-US" sz="1000" i="1">
                <a:solidFill>
                  <a:srgbClr val="3C3939"/>
                </a:solidFill>
                <a:latin typeface="Times New Roman" panose="02020603050405020304" pitchFamily="18" charset="0"/>
              </a:rPr>
              <a:t>Source: draw.io diagram</a:t>
            </a:r>
          </a:p>
        </p:txBody>
      </p:sp>
    </p:spTree>
    <p:extLst>
      <p:ext uri="{BB962C8B-B14F-4D97-AF65-F5344CB8AC3E}">
        <p14:creationId xmlns:p14="http://schemas.microsoft.com/office/powerpoint/2010/main" val="24230442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DCC077E2-90F5-1C2E-2A7E-5267C1944BA6}"/>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949A8C8F-896A-3B36-3032-680E507AEFDA}"/>
              </a:ext>
            </a:extLst>
          </p:cNvPr>
          <p:cNvSpPr txBox="1"/>
          <p:nvPr/>
        </p:nvSpPr>
        <p:spPr>
          <a:xfrm>
            <a:off x="237668" y="456901"/>
            <a:ext cx="6361930" cy="640080"/>
          </a:xfrm>
          <a:prstGeom prst="rect">
            <a:avLst/>
          </a:prstGeom>
          <a:noFill/>
          <a:ln/>
        </p:spPr>
        <p:txBody>
          <a:bodyPr wrap="square" lIns="0" tIns="0" rIns="0" bIns="0" rtlCol="0" anchor="ctr"/>
          <a:lstStyle/>
          <a:p>
            <a:r>
              <a:rPr lang="en-US" sz="3200" b="1">
                <a:solidFill>
                  <a:srgbClr val="1E2761"/>
                </a:solidFill>
                <a:latin typeface="Cambria" panose="02040503050406030204" pitchFamily="18" charset="0"/>
                <a:ea typeface="Cambria" pitchFamily="34" charset="-122"/>
                <a:cs typeface="Cambria" pitchFamily="34" charset="-120"/>
              </a:rPr>
              <a:t>Packet Formatter</a:t>
            </a:r>
            <a:endParaRPr lang="en-US" sz="3200" b="1" dirty="0">
              <a:solidFill>
                <a:srgbClr val="1E2761"/>
              </a:solidFill>
              <a:latin typeface="Cambria" panose="02040503050406030204" pitchFamily="18" charset="0"/>
              <a:ea typeface="Cambria" pitchFamily="34" charset="-122"/>
              <a:cs typeface="Cambria" pitchFamily="34" charset="-120"/>
            </a:endParaRPr>
          </a:p>
        </p:txBody>
      </p:sp>
      <p:pic>
        <p:nvPicPr>
          <p:cNvPr id="13" name="Image 1" descr="preencoded.png">
            <a:extLst>
              <a:ext uri="{FF2B5EF4-FFF2-40B4-BE49-F238E27FC236}">
                <a16:creationId xmlns:a16="http://schemas.microsoft.com/office/drawing/2014/main" id="{D19122D7-633D-9D2C-EC20-CF78D1C1CAC8}"/>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976094" y="4352884"/>
            <a:ext cx="169214" cy="135359"/>
          </a:xfrm>
          <a:prstGeom prst="rect">
            <a:avLst/>
          </a:prstGeom>
        </p:spPr>
      </p:pic>
      <p:sp>
        <p:nvSpPr>
          <p:cNvPr id="3" name="Shape 2">
            <a:extLst>
              <a:ext uri="{FF2B5EF4-FFF2-40B4-BE49-F238E27FC236}">
                <a16:creationId xmlns:a16="http://schemas.microsoft.com/office/drawing/2014/main" id="{29CF7A91-BD45-FE11-96A5-E6A03C2321A9}"/>
              </a:ext>
            </a:extLst>
          </p:cNvPr>
          <p:cNvSpPr/>
          <p:nvPr/>
        </p:nvSpPr>
        <p:spPr>
          <a:xfrm>
            <a:off x="237668" y="1226004"/>
            <a:ext cx="5186432" cy="3460595"/>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r>
              <a:rPr lang="en-US" sz="1200" b="1">
                <a:solidFill>
                  <a:srgbClr val="1E2761"/>
                </a:solidFill>
                <a:latin typeface="Times New Roman" panose="02020603050405020304" pitchFamily="18" charset="0"/>
                <a:cs typeface="Times New Roman" panose="02020603050405020304" pitchFamily="18" charset="0"/>
              </a:rPr>
              <a:t>Role —</a:t>
            </a:r>
            <a:r>
              <a:rPr lang="en-US" sz="1200">
                <a:solidFill>
                  <a:srgbClr val="1E2761"/>
                </a:solidFill>
                <a:latin typeface="Times New Roman" panose="02020603050405020304" pitchFamily="18" charset="0"/>
                <a:cs typeface="Times New Roman" panose="02020603050405020304" pitchFamily="18" charset="0"/>
              </a:rPr>
              <a:t> converts each 270-bit FLIT into a stream of valid 32-bit TLP words for the Async FIFO, entirely in the CXS clock domain</a:t>
            </a:r>
          </a:p>
          <a:p>
            <a:endParaRPr lang="en-US" sz="1200">
              <a:solidFill>
                <a:srgbClr val="1E2761"/>
              </a:solidFill>
              <a:latin typeface="Times New Roman" panose="02020603050405020304" pitchFamily="18" charset="0"/>
              <a:cs typeface="Times New Roman" panose="02020603050405020304" pitchFamily="18" charset="0"/>
            </a:endParaRPr>
          </a:p>
          <a:p>
            <a:r>
              <a:rPr lang="en-US" sz="1200" b="1">
                <a:solidFill>
                  <a:srgbClr val="1E2761"/>
                </a:solidFill>
                <a:latin typeface="Times New Roman" panose="02020603050405020304" pitchFamily="18" charset="0"/>
                <a:cs typeface="Times New Roman" panose="02020603050405020304" pitchFamily="18" charset="0"/>
              </a:rPr>
              <a:t>FSM:</a:t>
            </a:r>
            <a:r>
              <a:rPr lang="en-US" sz="1200">
                <a:solidFill>
                  <a:srgbClr val="1E2761"/>
                </a:solidFill>
                <a:latin typeface="Times New Roman" panose="02020603050405020304" pitchFamily="18" charset="0"/>
                <a:cs typeface="Times New Roman" panose="02020603050405020304" pitchFamily="18" charset="0"/>
              </a:rPr>
              <a:t> IDLE (pop FLIT) → CAPTURE (register data + CXSCNTL) → STREAM (step through the 8 words, write the valid ones; stalls while the Async FIFO is full)</a:t>
            </a:r>
          </a:p>
          <a:p>
            <a:endParaRPr lang="en-US" sz="1200">
              <a:solidFill>
                <a:srgbClr val="1E2761"/>
              </a:solidFill>
              <a:latin typeface="Times New Roman" panose="02020603050405020304" pitchFamily="18" charset="0"/>
              <a:cs typeface="Times New Roman" panose="02020603050405020304" pitchFamily="18" charset="0"/>
            </a:endParaRPr>
          </a:p>
          <a:p>
            <a:r>
              <a:rPr lang="en-US" sz="1200" b="1">
                <a:solidFill>
                  <a:srgbClr val="1E2761"/>
                </a:solidFill>
                <a:latin typeface="Times New Roman" panose="02020603050405020304" pitchFamily="18" charset="0"/>
                <a:cs typeface="Times New Roman" panose="02020603050405020304" pitchFamily="18" charset="0"/>
              </a:rPr>
              <a:t>CXSCNTL layout (14 bits, 2 packets per FLIT):</a:t>
            </a:r>
          </a:p>
          <a:p>
            <a:pPr lvl="1"/>
            <a:r>
              <a:rPr lang="en-US" sz="1200" i="1">
                <a:solidFill>
                  <a:srgbClr val="1E2761"/>
                </a:solidFill>
                <a:latin typeface="Times New Roman" panose="02020603050405020304" pitchFamily="18" charset="0"/>
                <a:cs typeface="Times New Roman" panose="02020603050405020304" pitchFamily="18" charset="0"/>
              </a:rPr>
              <a:t>[1:0] / [5:4]</a:t>
            </a:r>
            <a:r>
              <a:rPr lang="en-US" sz="1200">
                <a:solidFill>
                  <a:srgbClr val="1E2761"/>
                </a:solidFill>
                <a:latin typeface="Times New Roman" panose="02020603050405020304" pitchFamily="18" charset="0"/>
                <a:cs typeface="Times New Roman" panose="02020603050405020304" pitchFamily="18" charset="0"/>
              </a:rPr>
              <a:t> START / END flag per packet</a:t>
            </a:r>
          </a:p>
          <a:p>
            <a:pPr lvl="1"/>
            <a:r>
              <a:rPr lang="en-US" sz="1200" i="1">
                <a:solidFill>
                  <a:srgbClr val="1E2761"/>
                </a:solidFill>
                <a:latin typeface="Times New Roman" panose="02020603050405020304" pitchFamily="18" charset="0"/>
                <a:cs typeface="Times New Roman" panose="02020603050405020304" pitchFamily="18" charset="0"/>
              </a:rPr>
              <a:t>[3:2]</a:t>
            </a:r>
            <a:r>
              <a:rPr lang="en-US" sz="1200">
                <a:solidFill>
                  <a:srgbClr val="1E2761"/>
                </a:solidFill>
                <a:latin typeface="Times New Roman" panose="02020603050405020304" pitchFamily="18" charset="0"/>
                <a:cs typeface="Times New Roman" panose="02020603050405020304" pitchFamily="18" charset="0"/>
              </a:rPr>
              <a:t> START_PTR per packet (units of 4 words)</a:t>
            </a:r>
          </a:p>
          <a:p>
            <a:pPr lvl="1"/>
            <a:r>
              <a:rPr lang="en-US" sz="1200" i="1">
                <a:solidFill>
                  <a:srgbClr val="1E2761"/>
                </a:solidFill>
                <a:latin typeface="Times New Roman" panose="02020603050405020304" pitchFamily="18" charset="0"/>
                <a:cs typeface="Times New Roman" panose="02020603050405020304" pitchFamily="18" charset="0"/>
              </a:rPr>
              <a:t>[7:6] / [13:8]</a:t>
            </a:r>
            <a:r>
              <a:rPr lang="en-US" sz="1200">
                <a:solidFill>
                  <a:srgbClr val="1E2761"/>
                </a:solidFill>
                <a:latin typeface="Times New Roman" panose="02020603050405020304" pitchFamily="18" charset="0"/>
                <a:cs typeface="Times New Roman" panose="02020603050405020304" pitchFamily="18" charset="0"/>
              </a:rPr>
              <a:t> END_ERROR flags / END_PTR (3 bits, in words)</a:t>
            </a:r>
          </a:p>
          <a:p>
            <a:pPr lvl="1"/>
            <a:endParaRPr lang="en-US" sz="1200">
              <a:solidFill>
                <a:srgbClr val="1E2761"/>
              </a:solidFill>
              <a:latin typeface="Times New Roman" panose="02020603050405020304" pitchFamily="18" charset="0"/>
              <a:cs typeface="Times New Roman" panose="02020603050405020304" pitchFamily="18" charset="0"/>
            </a:endParaRPr>
          </a:p>
          <a:p>
            <a:r>
              <a:rPr lang="en-US" sz="1200" b="1">
                <a:solidFill>
                  <a:srgbClr val="1E2761"/>
                </a:solidFill>
                <a:latin typeface="Times New Roman" panose="02020603050405020304" pitchFamily="18" charset="0"/>
                <a:cs typeface="Times New Roman" panose="02020603050405020304" pitchFamily="18" charset="0"/>
              </a:rPr>
              <a:t>Word valid:</a:t>
            </a:r>
            <a:r>
              <a:rPr lang="en-US" sz="1200">
                <a:solidFill>
                  <a:srgbClr val="1E2761"/>
                </a:solidFill>
                <a:latin typeface="Times New Roman" panose="02020603050405020304" pitchFamily="18" charset="0"/>
                <a:cs typeface="Times New Roman" panose="02020603050405020304" pitchFamily="18" charset="0"/>
              </a:rPr>
              <a:t> START[j] and END[j] set, and START_PTR[j] × 4 ≤ word index ≤ END_PTR[j]</a:t>
            </a:r>
          </a:p>
          <a:p>
            <a:endParaRPr lang="en-US" sz="1200">
              <a:solidFill>
                <a:srgbClr val="1E2761"/>
              </a:solidFill>
              <a:latin typeface="Times New Roman" panose="02020603050405020304" pitchFamily="18" charset="0"/>
              <a:cs typeface="Times New Roman" panose="02020603050405020304" pitchFamily="18" charset="0"/>
            </a:endParaRPr>
          </a:p>
          <a:p>
            <a:r>
              <a:rPr lang="en-US" sz="1200" b="1">
                <a:solidFill>
                  <a:srgbClr val="1E2761"/>
                </a:solidFill>
                <a:latin typeface="Times New Roman" panose="02020603050405020304" pitchFamily="18" charset="0"/>
                <a:cs typeface="Times New Roman" panose="02020603050405020304" pitchFamily="18" charset="0"/>
              </a:rPr>
              <a:t>Limitations:</a:t>
            </a:r>
            <a:r>
              <a:rPr lang="en-US" sz="1200">
                <a:solidFill>
                  <a:srgbClr val="1E2761"/>
                </a:solidFill>
                <a:latin typeface="Times New Roman" panose="02020603050405020304" pitchFamily="18" charset="0"/>
                <a:cs typeface="Times New Roman" panose="02020603050405020304" pitchFamily="18" charset="0"/>
              </a:rPr>
              <a:t> packets spanning FLITs are not supported; END_ERROR is decoded but not yet used</a:t>
            </a:r>
            <a:endParaRPr lang="en-US" sz="1200" dirty="0">
              <a:solidFill>
                <a:srgbClr val="1E2761"/>
              </a:solidFill>
              <a:latin typeface="Times New Roman" panose="02020603050405020304" pitchFamily="18" charset="0"/>
              <a:cs typeface="Times New Roman" panose="02020603050405020304" pitchFamily="18" charset="0"/>
            </a:endParaRPr>
          </a:p>
        </p:txBody>
      </p:sp>
      <p:sp>
        <p:nvSpPr>
          <p:cNvPr id="2" name="PLACEHOLDER">
            <a:extLst>
              <a:ext uri="{FF2B5EF4-FFF2-40B4-BE49-F238E27FC236}">
                <a16:creationId xmlns:a16="http://schemas.microsoft.com/office/drawing/2014/main" id="{C5367B9E-C8A6-66AF-0FE6-8077E7255F13}"/>
              </a:ext>
            </a:extLst>
          </p:cNvPr>
          <p:cNvSpPr/>
          <p:nvPr/>
        </p:nvSpPr>
        <p:spPr>
          <a:xfrm>
            <a:off x="5525700" y="825500"/>
            <a:ext cx="3465900" cy="4064000"/>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packet_formatter: IDLE → CAPTURE → STREAM FSM and CXSCNTL field decode (START / START_PTR / END / END_ERROR / END_PTR)</a:t>
            </a:r>
          </a:p>
          <a:p>
            <a:pPr algn="ctr"/>
            <a:r>
              <a:rPr lang="en-US" sz="1000" i="1">
                <a:solidFill>
                  <a:srgbClr val="3C3939"/>
                </a:solidFill>
                <a:latin typeface="Times New Roman" panose="02020603050405020304" pitchFamily="18" charset="0"/>
              </a:rPr>
              <a:t>Source: draw.io diagram</a:t>
            </a:r>
          </a:p>
        </p:txBody>
      </p:sp>
    </p:spTree>
    <p:extLst>
      <p:ext uri="{BB962C8B-B14F-4D97-AF65-F5344CB8AC3E}">
        <p14:creationId xmlns:p14="http://schemas.microsoft.com/office/powerpoint/2010/main" val="22281699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DCC077E2-90F5-1C2E-2A7E-5267C1944BA6}"/>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949A8C8F-896A-3B36-3032-680E507AEFDA}"/>
              </a:ext>
            </a:extLst>
          </p:cNvPr>
          <p:cNvSpPr txBox="1"/>
          <p:nvPr/>
        </p:nvSpPr>
        <p:spPr>
          <a:xfrm>
            <a:off x="237668" y="456901"/>
            <a:ext cx="6361930"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Control Unit </a:t>
            </a:r>
          </a:p>
        </p:txBody>
      </p:sp>
      <p:pic>
        <p:nvPicPr>
          <p:cNvPr id="13" name="Image 1" descr="preencoded.png">
            <a:extLst>
              <a:ext uri="{FF2B5EF4-FFF2-40B4-BE49-F238E27FC236}">
                <a16:creationId xmlns:a16="http://schemas.microsoft.com/office/drawing/2014/main" id="{D19122D7-633D-9D2C-EC20-CF78D1C1CAC8}"/>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976094" y="4352884"/>
            <a:ext cx="169214" cy="135359"/>
          </a:xfrm>
          <a:prstGeom prst="rect">
            <a:avLst/>
          </a:prstGeom>
        </p:spPr>
      </p:pic>
      <p:sp>
        <p:nvSpPr>
          <p:cNvPr id="3" name="Shape 2">
            <a:extLst>
              <a:ext uri="{FF2B5EF4-FFF2-40B4-BE49-F238E27FC236}">
                <a16:creationId xmlns:a16="http://schemas.microsoft.com/office/drawing/2014/main" id="{29CF7A91-BD45-FE11-96A5-E6A03C2321A9}"/>
              </a:ext>
            </a:extLst>
          </p:cNvPr>
          <p:cNvSpPr/>
          <p:nvPr/>
        </p:nvSpPr>
        <p:spPr>
          <a:xfrm>
            <a:off x="237668" y="1226004"/>
            <a:ext cx="5186432" cy="3460595"/>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r>
              <a:rPr lang="en-US" sz="1200" b="1">
                <a:solidFill>
                  <a:srgbClr val="1E2761"/>
                </a:solidFill>
                <a:latin typeface="Times New Roman" panose="02020603050405020304" pitchFamily="18" charset="0"/>
                <a:cs typeface="Times New Roman" panose="02020603050405020304" pitchFamily="18" charset="0"/>
              </a:rPr>
              <a:t>Central controller of the CXS Bridge</a:t>
            </a:r>
            <a:r>
              <a:rPr lang="en-US" sz="1200">
                <a:solidFill>
                  <a:srgbClr val="1E2761"/>
                </a:solidFill>
                <a:latin typeface="Times New Roman" panose="02020603050405020304" pitchFamily="18" charset="0"/>
                <a:cs typeface="Times New Roman" panose="02020603050405020304" pitchFamily="18" charset="0"/>
              </a:rPr>
              <a:t> — reads 32-bit TLP words (header + 3 payload words) from the read-through Async FIFO and sequences configuration, Link-Up and data transfer</a:t>
            </a:r>
          </a:p>
          <a:p>
            <a:endParaRPr lang="en-US" sz="1200">
              <a:solidFill>
                <a:srgbClr val="1E2761"/>
              </a:solidFill>
              <a:latin typeface="Times New Roman" panose="02020603050405020304" pitchFamily="18" charset="0"/>
              <a:cs typeface="Times New Roman" panose="02020603050405020304" pitchFamily="18" charset="0"/>
            </a:endParaRPr>
          </a:p>
          <a:p>
            <a:r>
              <a:rPr lang="en-US" sz="1200" b="1">
                <a:solidFill>
                  <a:srgbClr val="1E2761"/>
                </a:solidFill>
                <a:latin typeface="Times New Roman" panose="02020603050405020304" pitchFamily="18" charset="0"/>
                <a:cs typeface="Times New Roman" panose="02020603050405020304" pitchFamily="18" charset="0"/>
              </a:rPr>
              <a:t>Header Decoder:</a:t>
            </a:r>
            <a:r>
              <a:rPr lang="en-US" sz="1200">
                <a:solidFill>
                  <a:srgbClr val="1E2761"/>
                </a:solidFill>
                <a:latin typeface="Times New Roman" panose="02020603050405020304" pitchFamily="18" charset="0"/>
                <a:cs typeface="Times New Roman" panose="02020603050405020304" pitchFamily="18" charset="0"/>
              </a:rPr>
              <a:t> packet type [1:0] (00 Idle, 01 Config, 10 Link-Up, 11 Transfer) and encryption mode [7:4]</a:t>
            </a:r>
          </a:p>
          <a:p>
            <a:endParaRPr lang="en-US" sz="1200">
              <a:solidFill>
                <a:srgbClr val="1E2761"/>
              </a:solidFill>
              <a:latin typeface="Times New Roman" panose="02020603050405020304" pitchFamily="18" charset="0"/>
              <a:cs typeface="Times New Roman" panose="02020603050405020304" pitchFamily="18" charset="0"/>
            </a:endParaRPr>
          </a:p>
          <a:p>
            <a:r>
              <a:rPr lang="en-US" sz="1200" b="1">
                <a:solidFill>
                  <a:srgbClr val="1E2761"/>
                </a:solidFill>
                <a:latin typeface="Times New Roman" panose="02020603050405020304" pitchFamily="18" charset="0"/>
                <a:cs typeface="Times New Roman" panose="02020603050405020304" pitchFamily="18" charset="0"/>
              </a:rPr>
              <a:t>Per-packet-type behavior:</a:t>
            </a:r>
          </a:p>
          <a:p>
            <a:pPr lvl="1"/>
            <a:r>
              <a:rPr lang="en-US" sz="1200" i="1">
                <a:solidFill>
                  <a:srgbClr val="1E2761"/>
                </a:solidFill>
                <a:latin typeface="Times New Roman" panose="02020603050405020304" pitchFamily="18" charset="0"/>
                <a:cs typeface="Times New Roman" panose="02020603050405020304" pitchFamily="18" charset="0"/>
              </a:rPr>
              <a:t>Configuration Packets</a:t>
            </a:r>
            <a:r>
              <a:rPr lang="en-US" sz="1200">
                <a:solidFill>
                  <a:srgbClr val="1E2761"/>
                </a:solidFill>
                <a:latin typeface="Times New Roman" panose="02020603050405020304" pitchFamily="18" charset="0"/>
                <a:cs typeface="Times New Roman" panose="02020603050405020304" pitchFamily="18" charset="0"/>
              </a:rPr>
              <a:t> → global register written directly to CDM 0x00, device entries to 0x01+</a:t>
            </a:r>
          </a:p>
          <a:p>
            <a:pPr lvl="1"/>
            <a:r>
              <a:rPr lang="en-US" sz="1200" i="1">
                <a:solidFill>
                  <a:srgbClr val="1E2761"/>
                </a:solidFill>
                <a:latin typeface="Times New Roman" panose="02020603050405020304" pitchFamily="18" charset="0"/>
                <a:cs typeface="Times New Roman" panose="02020603050405020304" pitchFamily="18" charset="0"/>
              </a:rPr>
              <a:t>Link-Up Packets</a:t>
            </a:r>
            <a:r>
              <a:rPr lang="en-US" sz="1200">
                <a:solidFill>
                  <a:srgbClr val="1E2761"/>
                </a:solidFill>
                <a:latin typeface="Times New Roman" panose="02020603050405020304" pitchFamily="18" charset="0"/>
                <a:cs typeface="Times New Roman" panose="02020603050405020304" pitchFamily="18" charset="0"/>
              </a:rPr>
              <a:t> → payload words processed, FSM enters the data phase</a:t>
            </a:r>
          </a:p>
          <a:p>
            <a:pPr lvl="1"/>
            <a:r>
              <a:rPr lang="en-US" sz="1200" i="1">
                <a:solidFill>
                  <a:srgbClr val="1E2761"/>
                </a:solidFill>
                <a:latin typeface="Times New Roman" panose="02020603050405020304" pitchFamily="18" charset="0"/>
                <a:cs typeface="Times New Roman" panose="02020603050405020304" pitchFamily="18" charset="0"/>
              </a:rPr>
              <a:t>Transfer Packets</a:t>
            </a:r>
            <a:r>
              <a:rPr lang="en-US" sz="1200">
                <a:solidFill>
                  <a:srgbClr val="1E2761"/>
                </a:solidFill>
                <a:latin typeface="Times New Roman" panose="02020603050405020304" pitchFamily="18" charset="0"/>
                <a:cs typeface="Times New Roman" panose="02020603050405020304" pitchFamily="18" charset="0"/>
              </a:rPr>
              <a:t> → each payload word split into ADDR [31:24] + DATA [15:0]</a:t>
            </a:r>
          </a:p>
          <a:p>
            <a:pPr lvl="1"/>
            <a:endParaRPr lang="en-US" sz="1200">
              <a:solidFill>
                <a:srgbClr val="1E2761"/>
              </a:solidFill>
              <a:latin typeface="Times New Roman" panose="02020603050405020304" pitchFamily="18" charset="0"/>
              <a:cs typeface="Times New Roman" panose="02020603050405020304" pitchFamily="18" charset="0"/>
            </a:endParaRPr>
          </a:p>
          <a:p>
            <a:r>
              <a:rPr lang="en-US" sz="1200" b="1">
                <a:solidFill>
                  <a:srgbClr val="1E2761"/>
                </a:solidFill>
                <a:latin typeface="Times New Roman" panose="02020603050405020304" pitchFamily="18" charset="0"/>
                <a:cs typeface="Times New Roman" panose="02020603050405020304" pitchFamily="18" charset="0"/>
              </a:rPr>
              <a:t>Error handling:</a:t>
            </a:r>
            <a:r>
              <a:rPr lang="en-US" sz="1200">
                <a:solidFill>
                  <a:srgbClr val="1E2761"/>
                </a:solidFill>
                <a:latin typeface="Times New Roman" panose="02020603050405020304" pitchFamily="18" charset="0"/>
                <a:cs typeface="Times New Roman" panose="02020603050405020304" pitchFamily="18" charset="0"/>
              </a:rPr>
              <a:t> one-cycle error_valid pulse with a held 2-bit code (invalid header, invalid encryption mode, invalid sequence), returned as a response FLIT</a:t>
            </a:r>
          </a:p>
          <a:p>
            <a:endParaRPr lang="en-US" sz="1200" dirty="0">
              <a:solidFill>
                <a:srgbClr val="1E2761"/>
              </a:solidFill>
              <a:latin typeface="Times New Roman" panose="02020603050405020304" pitchFamily="18" charset="0"/>
              <a:cs typeface="Times New Roman" panose="02020603050405020304" pitchFamily="18" charset="0"/>
            </a:endParaRPr>
          </a:p>
        </p:txBody>
      </p:sp>
      <p:sp>
        <p:nvSpPr>
          <p:cNvPr id="2" name="PLACEHOLDER">
            <a:extLst>
              <a:ext uri="{FF2B5EF4-FFF2-40B4-BE49-F238E27FC236}">
                <a16:creationId xmlns:a16="http://schemas.microsoft.com/office/drawing/2014/main" id="{A250F6B9-6874-DFC2-9CB5-06DFA1EB7C74}"/>
              </a:ext>
            </a:extLst>
          </p:cNvPr>
          <p:cNvSpPr/>
          <p:nvPr/>
        </p:nvSpPr>
        <p:spPr>
          <a:xfrm>
            <a:off x="5525700" y="825500"/>
            <a:ext cx="3465900" cy="4064000"/>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Control unit internal view: header decode, word / config counters, FSM, CDM write outputs, error code register</a:t>
            </a:r>
          </a:p>
          <a:p>
            <a:pPr algn="ctr"/>
            <a:r>
              <a:rPr lang="en-US" sz="1000" i="1">
                <a:solidFill>
                  <a:srgbClr val="3C3939"/>
                </a:solidFill>
                <a:latin typeface="Times New Roman" panose="02020603050405020304" pitchFamily="18" charset="0"/>
              </a:rPr>
              <a:t>Source: draw.io diagram</a:t>
            </a:r>
          </a:p>
        </p:txBody>
      </p:sp>
    </p:spTree>
    <p:extLst>
      <p:ext uri="{BB962C8B-B14F-4D97-AF65-F5344CB8AC3E}">
        <p14:creationId xmlns:p14="http://schemas.microsoft.com/office/powerpoint/2010/main" val="9674998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A9C22B9-177D-86F1-FC83-649A07D3B810}"/>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3CA71480-5336-ECD5-C82F-73E40689D2BA}"/>
              </a:ext>
            </a:extLst>
          </p:cNvPr>
          <p:cNvSpPr txBox="1"/>
          <p:nvPr/>
        </p:nvSpPr>
        <p:spPr>
          <a:xfrm>
            <a:off x="237668" y="121684"/>
            <a:ext cx="6361930"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Control Unit FSM</a:t>
            </a:r>
          </a:p>
        </p:txBody>
      </p:sp>
      <p:pic>
        <p:nvPicPr>
          <p:cNvPr id="13" name="Image 1" descr="preencoded.png">
            <a:extLst>
              <a:ext uri="{FF2B5EF4-FFF2-40B4-BE49-F238E27FC236}">
                <a16:creationId xmlns:a16="http://schemas.microsoft.com/office/drawing/2014/main" id="{6858C535-E043-B021-89BD-7293CF98270C}"/>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976094" y="4352884"/>
            <a:ext cx="169214" cy="135359"/>
          </a:xfrm>
          <a:prstGeom prst="rect">
            <a:avLst/>
          </a:prstGeom>
        </p:spPr>
      </p:pic>
      <p:graphicFrame>
        <p:nvGraphicFramePr>
          <p:cNvPr id="2" name="Diagram 1">
            <a:extLst>
              <a:ext uri="{FF2B5EF4-FFF2-40B4-BE49-F238E27FC236}">
                <a16:creationId xmlns:a16="http://schemas.microsoft.com/office/drawing/2014/main" id="{B66D2369-A34B-4FC2-296F-EA9F6EBE0E2D}"/>
              </a:ext>
            </a:extLst>
          </p:cNvPr>
          <p:cNvGraphicFramePr/>
          <p:nvPr>
            <p:extLst>
              <p:ext uri="{D42A27DB-BD31-4B8C-83A1-F6EECF244321}">
                <p14:modId xmlns:p14="http://schemas.microsoft.com/office/powerpoint/2010/main" val="3705708046"/>
              </p:ext>
            </p:extLst>
          </p:nvPr>
        </p:nvGraphicFramePr>
        <p:xfrm>
          <a:off x="361335" y="846259"/>
          <a:ext cx="5287298" cy="404651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PLACEHOLDER">
            <a:extLst>
              <a:ext uri="{FF2B5EF4-FFF2-40B4-BE49-F238E27FC236}">
                <a16:creationId xmlns:a16="http://schemas.microsoft.com/office/drawing/2014/main" id="{18CBA6B0-4E99-1B8F-FF61-06F437787F6B}"/>
              </a:ext>
            </a:extLst>
          </p:cNvPr>
          <p:cNvSpPr/>
          <p:nvPr/>
        </p:nvSpPr>
        <p:spPr>
          <a:xfrm>
            <a:off x="6075343" y="441724"/>
            <a:ext cx="2500975" cy="4531178"/>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Control unit FSM: S_IDLE, S_CFG_HDR, S_LINK_UP, S_DATA_HDR, S_ERROR with transition conditions</a:t>
            </a:r>
          </a:p>
          <a:p>
            <a:pPr algn="ctr"/>
            <a:r>
              <a:rPr lang="en-US" sz="1000" i="1">
                <a:solidFill>
                  <a:srgbClr val="3C3939"/>
                </a:solidFill>
                <a:latin typeface="Times New Roman" panose="02020603050405020304" pitchFamily="18" charset="0"/>
              </a:rPr>
              <a:t>Source: draw.io state diagram</a:t>
            </a:r>
          </a:p>
        </p:txBody>
      </p:sp>
    </p:spTree>
    <p:extLst>
      <p:ext uri="{BB962C8B-B14F-4D97-AF65-F5344CB8AC3E}">
        <p14:creationId xmlns:p14="http://schemas.microsoft.com/office/powerpoint/2010/main" val="30627708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 0"/>
          <p:cNvSpPr txBox="1"/>
          <p:nvPr/>
        </p:nvSpPr>
        <p:spPr>
          <a:xfrm>
            <a:off x="411480" y="342900"/>
            <a:ext cx="7886700" cy="4800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Encryption &amp; Parity </a:t>
            </a:r>
            <a:endParaRPr kumimoji="0" lang="en-US" sz="2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377469" y="1100255"/>
            <a:ext cx="3938053" cy="3315628"/>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txBox="1"/>
          <p:nvPr/>
        </p:nvSpPr>
        <p:spPr>
          <a:xfrm>
            <a:off x="612666" y="1192437"/>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Encryption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612666" y="2005965"/>
            <a:ext cx="3291840" cy="1851660"/>
          </a:xfrm>
          <a:prstGeom prst="rect">
            <a:avLst/>
          </a:prstGeom>
          <a:noFill/>
          <a:ln/>
        </p:spPr>
        <p:txBody>
          <a:bodyPr wrap="square" lIns="0" tIns="0" rIns="0" bIns="0" rtlCol="0" anchor="ctr"/>
          <a:lstStyle/>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Even Mode (0000): each of the 16 input bits expands to a 2-bit pair (32-bit output); mapping:</a:t>
            </a:r>
          </a:p>
          <a:p>
            <a:pPr>
              <a:lnSpc>
                <a:spcPct val="115000"/>
              </a:lnSpc>
              <a:spcAft>
                <a:spcPts val="900"/>
              </a:spcAft>
              <a:buSzPct val="100000"/>
            </a:pPr>
            <a:r>
              <a:rPr lang="en-US" sz="1200">
                <a:solidFill>
                  <a:srgbClr val="1E2761"/>
                </a:solidFill>
                <a:latin typeface="Times New Roman" panose="02020603050405020304" pitchFamily="18" charset="0"/>
                <a:cs typeface="Times New Roman" panose="02020603050405020304" pitchFamily="18" charset="0"/>
              </a:rPr>
              <a:t>       0 → 00    1 → 01</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Odd Mode (0001): each input bit expands to a 2-bit pair; mapping:</a:t>
            </a:r>
          </a:p>
          <a:p>
            <a:pPr>
              <a:lnSpc>
                <a:spcPct val="115000"/>
              </a:lnSpc>
              <a:spcAft>
                <a:spcPts val="900"/>
              </a:spcAft>
              <a:buSzPct val="100000"/>
            </a:pPr>
            <a:r>
              <a:rPr lang="en-US" sz="1200">
                <a:solidFill>
                  <a:srgbClr val="1E2761"/>
                </a:solidFill>
                <a:latin typeface="Times New Roman" panose="02020603050405020304" pitchFamily="18" charset="0"/>
                <a:cs typeface="Times New Roman" panose="02020603050405020304" pitchFamily="18" charset="0"/>
              </a:rPr>
              <a:t>       0 → 10    1 → 11</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Special Case: if the number of '0' bits equals the number of '1' bits, or both counts are even, the selected mode is overridden:</a:t>
            </a:r>
          </a:p>
          <a:p>
            <a:pPr>
              <a:lnSpc>
                <a:spcPct val="115000"/>
              </a:lnSpc>
              <a:spcAft>
                <a:spcPts val="900"/>
              </a:spcAft>
              <a:buSzPct val="100000"/>
            </a:pPr>
            <a:r>
              <a:rPr lang="en-US" sz="1200">
                <a:solidFill>
                  <a:srgbClr val="1E2761"/>
                </a:solidFill>
                <a:latin typeface="Times New Roman" panose="02020603050405020304" pitchFamily="18" charset="0"/>
                <a:cs typeface="Times New Roman" panose="02020603050405020304" pitchFamily="18" charset="0"/>
              </a:rPr>
              <a:t>       0 → 01    1 → 10</a:t>
            </a:r>
            <a:endParaRPr kumimoji="0" lang="en-US" sz="1200" u="none" strike="noStrike" kern="1200" cap="none" spc="0" normalizeH="0" baseline="0" noProof="0" dirty="0">
              <a:ln>
                <a:noFill/>
              </a:ln>
              <a:solidFill>
                <a:srgbClr val="1E2761"/>
              </a:solidFill>
              <a:effectLst/>
              <a:uLnTx/>
              <a:uFillTx/>
              <a:latin typeface="Times New Roman" panose="02020603050405020304" pitchFamily="18" charset="0"/>
              <a:cs typeface="Times New Roman" panose="02020603050405020304" pitchFamily="18" charset="0"/>
            </a:endParaRPr>
          </a:p>
        </p:txBody>
      </p:sp>
      <p:sp>
        <p:nvSpPr>
          <p:cNvPr id="8" name="Shape 6"/>
          <p:cNvSpPr/>
          <p:nvPr/>
        </p:nvSpPr>
        <p:spPr>
          <a:xfrm>
            <a:off x="4828480" y="1100255"/>
            <a:ext cx="3938053" cy="3315628"/>
          </a:xfrm>
          <a:prstGeom prst="roundRect">
            <a:avLst>
              <a:gd name="adj" fmla="val 2326"/>
            </a:avLst>
          </a:prstGeom>
          <a:solidFill>
            <a:srgbClr val="1E27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txBox="1"/>
          <p:nvPr/>
        </p:nvSpPr>
        <p:spPr>
          <a:xfrm>
            <a:off x="5006340" y="1305067"/>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Parity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txBox="1"/>
          <p:nvPr/>
        </p:nvSpPr>
        <p:spPr>
          <a:xfrm>
            <a:off x="5006340" y="1579387"/>
            <a:ext cx="3291840" cy="1469916"/>
          </a:xfrm>
          <a:prstGeom prst="rect">
            <a:avLst/>
          </a:prstGeom>
          <a:noFill/>
          <a:ln/>
        </p:spPr>
        <p:txBody>
          <a:bodyPr wrap="square" lIns="0" tIns="0" rIns="0" bIns="0" rtlCol="0" anchor="ctr"/>
          <a:lstStyle/>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The parity bit follows PARITY_MODE (CDM configuration register bit [2]): Even parity (XOR of the data) or Odd parity (inverted XOR).</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The 32-bit encrypted word is extended to 33 bits by appending the parity bit as the MSB before it is written to the CDM.</a:t>
            </a:r>
            <a:endParaRPr kumimoji="0" lang="en-US" sz="120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02115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6CF94A2-584C-5583-3CCC-50F9FB33928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C983069-0B2C-E3FC-7E93-7B28A4F5B9E1}"/>
              </a:ext>
            </a:extLst>
          </p:cNvPr>
          <p:cNvSpPr txBox="1"/>
          <p:nvPr/>
        </p:nvSpPr>
        <p:spPr>
          <a:xfrm>
            <a:off x="411480" y="342900"/>
            <a:ext cx="7886700" cy="480060"/>
          </a:xfrm>
          <a:prstGeom prst="rect">
            <a:avLst/>
          </a:prstGeom>
          <a:noFill/>
          <a:ln/>
        </p:spPr>
        <p:txBody>
          <a:bodyPr wrap="square" lIns="0" tIns="0" rIns="0" bIns="0" rtlCol="0" anchor="ctr"/>
          <a:lstStyle/>
          <a:p>
            <a:pPr marL="114300" lvl="0">
              <a:lnSpc>
                <a:spcPct val="90000"/>
              </a:lnSpc>
              <a:spcAft>
                <a:spcPts val="600"/>
              </a:spcAft>
            </a:pPr>
            <a:r>
              <a:rPr lang="en-US" sz="2250" b="1" dirty="0">
                <a:solidFill>
                  <a:srgbClr val="1E2761"/>
                </a:solidFill>
                <a:latin typeface="Times New Roman" panose="02020603050405020304" pitchFamily="18" charset="0"/>
                <a:cs typeface="Times New Roman" panose="02020603050405020304" pitchFamily="18" charset="0"/>
              </a:rPr>
              <a:t>ATU &amp; Central Data Memory (CDM)</a:t>
            </a:r>
          </a:p>
        </p:txBody>
      </p:sp>
      <p:sp>
        <p:nvSpPr>
          <p:cNvPr id="4" name="Shape 2">
            <a:extLst>
              <a:ext uri="{FF2B5EF4-FFF2-40B4-BE49-F238E27FC236}">
                <a16:creationId xmlns:a16="http://schemas.microsoft.com/office/drawing/2014/main" id="{5A92DFBC-3690-BF17-4BB0-AD7433C3559D}"/>
              </a:ext>
            </a:extLst>
          </p:cNvPr>
          <p:cNvSpPr/>
          <p:nvPr/>
        </p:nvSpPr>
        <p:spPr>
          <a:xfrm>
            <a:off x="4771049" y="1100255"/>
            <a:ext cx="3938053" cy="3315628"/>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529373E4-3B36-AF85-2E08-0CA9B530B4F8}"/>
              </a:ext>
            </a:extLst>
          </p:cNvPr>
          <p:cNvSpPr txBox="1"/>
          <p:nvPr/>
        </p:nvSpPr>
        <p:spPr>
          <a:xfrm>
            <a:off x="5006246" y="1192437"/>
            <a:ext cx="3291840" cy="274320"/>
          </a:xfrm>
          <a:prstGeom prst="rect">
            <a:avLst/>
          </a:prstGeom>
          <a:noFill/>
          <a:ln/>
        </p:spPr>
        <p:txBody>
          <a:bodyPr wrap="square" lIns="0" tIns="0" rIns="0" bIns="0" rtlCol="0" anchor="ctr"/>
          <a:lstStyle/>
          <a:p>
            <a:pPr lvl="0">
              <a:defRPr/>
            </a:pPr>
            <a:r>
              <a:rPr lang="en-US" sz="1350" b="1" dirty="0">
                <a:solidFill>
                  <a:srgbClr val="1E2761"/>
                </a:solidFill>
                <a:latin typeface="Cambria" pitchFamily="34" charset="0"/>
                <a:ea typeface="Cambria" pitchFamily="34" charset="-122"/>
                <a:cs typeface="Cambria" pitchFamily="34" charset="-120"/>
              </a:rPr>
              <a:t>Central Data Memory (CDM)</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E9E2CF0A-4A35-201E-006D-0DEFC344E651}"/>
              </a:ext>
            </a:extLst>
          </p:cNvPr>
          <p:cNvSpPr txBox="1"/>
          <p:nvPr/>
        </p:nvSpPr>
        <p:spPr>
          <a:xfrm>
            <a:off x="4914900" y="1558939"/>
            <a:ext cx="3291840" cy="2802046"/>
          </a:xfrm>
          <a:prstGeom prst="rect">
            <a:avLst/>
          </a:prstGeom>
          <a:noFill/>
          <a:ln/>
        </p:spPr>
        <p:txBody>
          <a:bodyPr wrap="square" lIns="0" tIns="0" rIns="0" bIns="0" rtlCol="0" anchor="ctr"/>
          <a:lstStyle/>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Configuration Region: global register at 0x00 — DEV_COUNT [15:8], ENC_MODE [7:4], ADDR_MODE [3], PARITY_MODE [2]; device table {END_ADDR, START_ADDR} from 0x01.</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Payload Region: encrypted data + parity bit (33 bits) written at the address generated by the ATU.</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Configuration words bypass encryption (direct write); reset clears only the configuration region.</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256 × 33-bit memory (8-bit address); a read port is provided for future application access.</a:t>
            </a:r>
            <a:endParaRPr lang="en-US" sz="1200" dirty="0">
              <a:solidFill>
                <a:srgbClr val="1E2761"/>
              </a:solidFill>
              <a:latin typeface="Times New Roman" panose="02020603050405020304" pitchFamily="18" charset="0"/>
              <a:cs typeface="Times New Roman" panose="02020603050405020304" pitchFamily="18" charset="0"/>
            </a:endParaRPr>
          </a:p>
        </p:txBody>
      </p:sp>
      <p:sp>
        <p:nvSpPr>
          <p:cNvPr id="8" name="Shape 6">
            <a:extLst>
              <a:ext uri="{FF2B5EF4-FFF2-40B4-BE49-F238E27FC236}">
                <a16:creationId xmlns:a16="http://schemas.microsoft.com/office/drawing/2014/main" id="{76CF46FA-2B62-3F35-ABBF-2A6ECEF1EF85}"/>
              </a:ext>
            </a:extLst>
          </p:cNvPr>
          <p:cNvSpPr/>
          <p:nvPr/>
        </p:nvSpPr>
        <p:spPr>
          <a:xfrm>
            <a:off x="434899" y="1103416"/>
            <a:ext cx="3938053" cy="3312467"/>
          </a:xfrm>
          <a:prstGeom prst="roundRect">
            <a:avLst>
              <a:gd name="adj" fmla="val 2326"/>
            </a:avLst>
          </a:prstGeom>
          <a:solidFill>
            <a:srgbClr val="1E27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9E96F1EF-DD3E-D0A6-2482-0E1722077CBB}"/>
              </a:ext>
            </a:extLst>
          </p:cNvPr>
          <p:cNvSpPr txBox="1"/>
          <p:nvPr/>
        </p:nvSpPr>
        <p:spPr>
          <a:xfrm>
            <a:off x="612761" y="1213626"/>
            <a:ext cx="3291840" cy="274320"/>
          </a:xfrm>
          <a:prstGeom prst="rect">
            <a:avLst/>
          </a:prstGeom>
          <a:noFill/>
          <a:ln/>
        </p:spPr>
        <p:txBody>
          <a:bodyPr wrap="square" lIns="0" tIns="0" rIns="0" bIns="0" rtlCol="0" anchor="ctr"/>
          <a:lstStyle/>
          <a:p>
            <a:pPr lvl="0">
              <a:defRPr/>
            </a:pPr>
            <a:r>
              <a:rPr lang="en-US" sz="1350" b="1" dirty="0">
                <a:solidFill>
                  <a:srgbClr val="FFFFFF"/>
                </a:solidFill>
                <a:latin typeface="Cambria" pitchFamily="34" charset="0"/>
                <a:ea typeface="Cambria" pitchFamily="34" charset="-122"/>
                <a:cs typeface="Cambria" pitchFamily="34" charset="-120"/>
              </a:rPr>
              <a:t>ATU</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02C62F54-D701-8B16-F0F1-7B28585C50D5}"/>
              </a:ext>
            </a:extLst>
          </p:cNvPr>
          <p:cNvSpPr txBox="1"/>
          <p:nvPr/>
        </p:nvSpPr>
        <p:spPr>
          <a:xfrm>
            <a:off x="612761" y="1414705"/>
            <a:ext cx="3607548" cy="2314089"/>
          </a:xfrm>
          <a:prstGeom prst="rect">
            <a:avLst/>
          </a:prstGeom>
          <a:noFill/>
          <a:ln/>
        </p:spPr>
        <p:txBody>
          <a:bodyPr wrap="square" lIns="0" tIns="0" rIns="0" bIns="0" rtlCol="0" anchor="ctr"/>
          <a:lstStyle/>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Converts the 8-bit logical address of each payload word into a physical CDM address:</a:t>
            </a:r>
          </a:p>
          <a:p>
            <a:pPr>
              <a:spcAft>
                <a:spcPts val="900"/>
              </a:spcAft>
              <a:buSzPct val="100000"/>
            </a:pPr>
            <a:r>
              <a:rPr lang="en-US" sz="1200">
                <a:solidFill>
                  <a:srgbClr val="FFFFFF"/>
                </a:solidFill>
                <a:latin typeface="Times New Roman" panose="02020603050405020304" pitchFamily="18" charset="0"/>
                <a:cs typeface="Times New Roman" panose="02020603050405020304" pitchFamily="18" charset="0"/>
              </a:rPr>
              <a:t>      Physical Address = Base Address + Logical Address</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The base address is captured from bits [31:24] of the configuration words while they are written; addresses pass through unchanged during configuration.</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ADDR_MODE (range / region) is decoded; both modes currently use the same translation.</a:t>
            </a:r>
            <a:endParaRPr lang="en-US" sz="12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78370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0"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225154D7-B63F-9460-DA80-864F8985D31B}"/>
            </a:ext>
          </a:extLst>
        </p:cNvPr>
        <p:cNvGrpSpPr/>
        <p:nvPr/>
      </p:nvGrpSpPr>
      <p:grpSpPr>
        <a:xfrm>
          <a:off x="0" y="0"/>
          <a:ext cx="0" cy="0"/>
          <a:chOff x="0" y="0"/>
          <a:chExt cx="0" cy="0"/>
        </a:xfrm>
      </p:grpSpPr>
      <p:sp>
        <p:nvSpPr>
          <p:cNvPr id="5" name="Text 1"/>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3</a:t>
            </a:r>
            <a:endParaRPr lang="en-US" sz="11000" dirty="0"/>
          </a:p>
        </p:txBody>
      </p:sp>
      <p:sp>
        <p:nvSpPr>
          <p:cNvPr id="6" name="Shape 2"/>
          <p:cNvSpPr/>
          <p:nvPr/>
        </p:nvSpPr>
        <p:spPr>
          <a:xfrm>
            <a:off x="295879" y="1758393"/>
            <a:ext cx="1554480" cy="45720"/>
          </a:xfrm>
          <a:prstGeom prst="rect">
            <a:avLst/>
          </a:prstGeom>
          <a:solidFill>
            <a:srgbClr val="00C2A8"/>
          </a:solidFill>
          <a:ln/>
        </p:spPr>
        <p:txBody>
          <a:bodyPr/>
          <a:lstStyle/>
          <a:p>
            <a:endParaRPr lang="en-US"/>
          </a:p>
        </p:txBody>
      </p:sp>
      <p:sp>
        <p:nvSpPr>
          <p:cNvPr id="9" name="Text 3">
            <a:extLst>
              <a:ext uri="{FF2B5EF4-FFF2-40B4-BE49-F238E27FC236}">
                <a16:creationId xmlns:a16="http://schemas.microsoft.com/office/drawing/2014/main" id="{7BB4A26E-715E-8202-A86A-9D643B92B22E}"/>
              </a:ext>
            </a:extLst>
          </p:cNvPr>
          <p:cNvSpPr txBox="1"/>
          <p:nvPr/>
        </p:nvSpPr>
        <p:spPr>
          <a:xfrm>
            <a:off x="295879" y="1948376"/>
            <a:ext cx="4820227" cy="2242007"/>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Clock Domain Crossing (CDC) Strategy</a:t>
            </a:r>
          </a:p>
          <a:p>
            <a:pPr marL="0" indent="0">
              <a:lnSpc>
                <a:spcPct val="100000"/>
              </a:lnSpc>
              <a:buNone/>
            </a:pPr>
            <a:endParaRPr lang="en-US" sz="4000" b="1" dirty="0">
              <a:solidFill>
                <a:srgbClr val="FFFFFF"/>
              </a:solidFill>
              <a:latin typeface="Cambria" pitchFamily="34" charset="0"/>
              <a:ea typeface="Cambria" pitchFamily="34" charset="-122"/>
              <a:cs typeface="Cambria" pitchFamily="34" charset="-120"/>
            </a:endParaRPr>
          </a:p>
        </p:txBody>
      </p:sp>
      <p:pic>
        <p:nvPicPr>
          <p:cNvPr id="11" name="Picture 10">
            <a:extLst>
              <a:ext uri="{FF2B5EF4-FFF2-40B4-BE49-F238E27FC236}">
                <a16:creationId xmlns:a16="http://schemas.microsoft.com/office/drawing/2014/main" id="{9066B848-D561-9697-8AD2-9A0B5556BB02}"/>
              </a:ext>
            </a:extLst>
          </p:cNvPr>
          <p:cNvPicPr>
            <a:picLocks noChangeAspect="1"/>
          </p:cNvPicPr>
          <p:nvPr/>
        </p:nvPicPr>
        <p:blipFill>
          <a:blip r:embed="rId3"/>
          <a:stretch>
            <a:fillRect/>
          </a:stretch>
        </p:blipFill>
        <p:spPr>
          <a:xfrm>
            <a:off x="4996703" y="1116558"/>
            <a:ext cx="3524688" cy="300688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83985893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7ED2A2B-5652-0E74-EB4B-4FE754635E4F}"/>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053644FA-B535-59B6-FC38-E61AF334AE51}"/>
              </a:ext>
            </a:extLst>
          </p:cNvPr>
          <p:cNvSpPr txBox="1"/>
          <p:nvPr/>
        </p:nvSpPr>
        <p:spPr>
          <a:xfrm>
            <a:off x="169499" y="249044"/>
            <a:ext cx="8740808"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Clock Domain Crossing (CDC) </a:t>
            </a:r>
          </a:p>
        </p:txBody>
      </p:sp>
      <p:pic>
        <p:nvPicPr>
          <p:cNvPr id="3" name="Image 1" descr="preencoded.png">
            <a:extLst>
              <a:ext uri="{FF2B5EF4-FFF2-40B4-BE49-F238E27FC236}">
                <a16:creationId xmlns:a16="http://schemas.microsoft.com/office/drawing/2014/main" id="{0E31D092-5C9F-B770-B981-D09EC96E07C0}"/>
              </a:ext>
            </a:extLst>
          </p:cNvPr>
          <p:cNvPicPr>
            <a:picLocks noChangeAspect="1"/>
          </p:cNvPicPr>
          <p:nvPr/>
        </p:nvPicPr>
        <p:blipFill>
          <a:blip>
            <a:duotone>
              <a:schemeClr val="accent6">
                <a:shade val="45000"/>
                <a:satMod val="135000"/>
              </a:schemeClr>
              <a:prstClr val="white"/>
            </a:duotone>
            <a:extLst>
              <a:ext uri="{96DAC541-7B7A-43D3-8B79-37D633B846F1}">
                <asvg:svgBlip xmlns:asvg="http://schemas.microsoft.com/office/drawing/2016/SVG/main" r:embed="rId3"/>
              </a:ext>
            </a:extLst>
          </a:blip>
          <a:stretch>
            <a:fillRect/>
          </a:stretch>
        </p:blipFill>
        <p:spPr>
          <a:xfrm>
            <a:off x="496107" y="1054001"/>
            <a:ext cx="3807640" cy="1281931"/>
          </a:xfrm>
          <a:prstGeom prst="rect">
            <a:avLst/>
          </a:prstGeom>
        </p:spPr>
      </p:pic>
      <p:sp>
        <p:nvSpPr>
          <p:cNvPr id="4" name="Text 1">
            <a:extLst>
              <a:ext uri="{FF2B5EF4-FFF2-40B4-BE49-F238E27FC236}">
                <a16:creationId xmlns:a16="http://schemas.microsoft.com/office/drawing/2014/main" id="{9D1DAAC5-C3FD-EC2A-A319-80A237A37BBA}"/>
              </a:ext>
            </a:extLst>
          </p:cNvPr>
          <p:cNvSpPr/>
          <p:nvPr/>
        </p:nvSpPr>
        <p:spPr>
          <a:xfrm>
            <a:off x="648224" y="1550392"/>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1</a:t>
            </a:r>
            <a:endParaRPr lang="en-US" sz="1613" dirty="0">
              <a:solidFill>
                <a:prstClr val="black"/>
              </a:solidFill>
              <a:latin typeface="Calibri" panose="020F0502020204030204"/>
            </a:endParaRPr>
          </a:p>
        </p:txBody>
      </p:sp>
      <p:sp>
        <p:nvSpPr>
          <p:cNvPr id="5" name="Text 2">
            <a:extLst>
              <a:ext uri="{FF2B5EF4-FFF2-40B4-BE49-F238E27FC236}">
                <a16:creationId xmlns:a16="http://schemas.microsoft.com/office/drawing/2014/main" id="{FC0F9E37-D1A6-C842-3A0A-28871B58A229}"/>
              </a:ext>
            </a:extLst>
          </p:cNvPr>
          <p:cNvSpPr/>
          <p:nvPr/>
        </p:nvSpPr>
        <p:spPr>
          <a:xfrm>
            <a:off x="1006633" y="1135635"/>
            <a:ext cx="3044072" cy="163040"/>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Raleway" pitchFamily="34" charset="0"/>
                <a:ea typeface="Raleway" pitchFamily="34" charset="-122"/>
                <a:cs typeface="Raleway" pitchFamily="34" charset="-120"/>
              </a:rPr>
              <a:t>Objective</a:t>
            </a:r>
            <a:endParaRPr lang="en-US" sz="1350" b="1" dirty="0">
              <a:solidFill>
                <a:prstClr val="black"/>
              </a:solidFill>
              <a:latin typeface="Calibri" panose="020F0502020204030204"/>
            </a:endParaRPr>
          </a:p>
        </p:txBody>
      </p:sp>
      <p:sp>
        <p:nvSpPr>
          <p:cNvPr id="6" name="Text 3">
            <a:extLst>
              <a:ext uri="{FF2B5EF4-FFF2-40B4-BE49-F238E27FC236}">
                <a16:creationId xmlns:a16="http://schemas.microsoft.com/office/drawing/2014/main" id="{FBA35BFB-9923-52E1-06FA-D0F58A4FB486}"/>
              </a:ext>
            </a:extLst>
          </p:cNvPr>
          <p:cNvSpPr/>
          <p:nvPr/>
        </p:nvSpPr>
        <p:spPr>
          <a:xfrm>
            <a:off x="1009661" y="1377297"/>
            <a:ext cx="3181029" cy="926593"/>
          </a:xfrm>
          <a:prstGeom prst="rect">
            <a:avLst/>
          </a:prstGeom>
          <a:noFill/>
          <a:ln/>
        </p:spPr>
        <p:txBody>
          <a:bodyPr wrap="square" lIns="0" tIns="0" rIns="0" bIns="0" rtlCol="0" anchor="t">
            <a:noAutofit/>
          </a:bodyPr>
          <a:lstStyle/>
          <a:p>
            <a:pPr defTabSz="685800">
              <a:lnSpc>
                <a:spcPct val="132000"/>
              </a:lnSpc>
            </a:pPr>
            <a:r>
              <a:rPr lang="en-US" sz="900" dirty="0">
                <a:solidFill>
                  <a:srgbClr val="3C3939"/>
                </a:solidFill>
                <a:latin typeface="Roboto" pitchFamily="34" charset="0"/>
                <a:ea typeface="Roboto" pitchFamily="34" charset="-122"/>
                <a:cs typeface="Roboto" pitchFamily="34" charset="-120"/>
              </a:rPr>
              <a:t>Direct transfer between asynchronous clock domains can cause:</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Metastability</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Data corruption</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Incorrect pulse detection</a:t>
            </a:r>
          </a:p>
        </p:txBody>
      </p:sp>
      <p:pic>
        <p:nvPicPr>
          <p:cNvPr id="7" name="Image 2" descr="preencoded.png">
            <a:extLst>
              <a:ext uri="{FF2B5EF4-FFF2-40B4-BE49-F238E27FC236}">
                <a16:creationId xmlns:a16="http://schemas.microsoft.com/office/drawing/2014/main" id="{0D71940E-DE06-2A7E-AFD7-8BD26D28A4DF}"/>
              </a:ext>
            </a:extLst>
          </p:cNvPr>
          <p:cNvPicPr>
            <a:picLocks noChangeAspect="1"/>
          </p:cNvPicPr>
          <p:nvPr/>
        </p:nvPicPr>
        <p:blipFill>
          <a:blip>
            <a:duotone>
              <a:schemeClr val="accent6">
                <a:shade val="45000"/>
                <a:satMod val="135000"/>
              </a:schemeClr>
              <a:prstClr val="white"/>
            </a:duotone>
            <a:extLst>
              <a:ext uri="{96DAC541-7B7A-43D3-8B79-37D633B846F1}">
                <asvg:svgBlip xmlns:asvg="http://schemas.microsoft.com/office/drawing/2016/SVG/main" r:embed="rId4"/>
              </a:ext>
            </a:extLst>
          </a:blip>
          <a:stretch>
            <a:fillRect/>
          </a:stretch>
        </p:blipFill>
        <p:spPr>
          <a:xfrm>
            <a:off x="496107" y="2473300"/>
            <a:ext cx="3807640" cy="1060475"/>
          </a:xfrm>
          <a:prstGeom prst="rect">
            <a:avLst/>
          </a:prstGeom>
        </p:spPr>
      </p:pic>
      <p:sp>
        <p:nvSpPr>
          <p:cNvPr id="8" name="Text 4">
            <a:extLst>
              <a:ext uri="{FF2B5EF4-FFF2-40B4-BE49-F238E27FC236}">
                <a16:creationId xmlns:a16="http://schemas.microsoft.com/office/drawing/2014/main" id="{74009598-5A0E-3F61-85C3-4165BB175A91}"/>
              </a:ext>
            </a:extLst>
          </p:cNvPr>
          <p:cNvSpPr/>
          <p:nvPr/>
        </p:nvSpPr>
        <p:spPr>
          <a:xfrm>
            <a:off x="687197" y="2872681"/>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2</a:t>
            </a:r>
            <a:endParaRPr lang="en-US" sz="1613" dirty="0">
              <a:solidFill>
                <a:prstClr val="black"/>
              </a:solidFill>
              <a:latin typeface="Calibri" panose="020F0502020204030204"/>
            </a:endParaRPr>
          </a:p>
        </p:txBody>
      </p:sp>
      <p:sp>
        <p:nvSpPr>
          <p:cNvPr id="9" name="Text 5">
            <a:extLst>
              <a:ext uri="{FF2B5EF4-FFF2-40B4-BE49-F238E27FC236}">
                <a16:creationId xmlns:a16="http://schemas.microsoft.com/office/drawing/2014/main" id="{1E95F19A-0C79-B8B2-F6F0-A9C4623B1128}"/>
              </a:ext>
            </a:extLst>
          </p:cNvPr>
          <p:cNvSpPr/>
          <p:nvPr/>
        </p:nvSpPr>
        <p:spPr>
          <a:xfrm>
            <a:off x="990763" y="2532671"/>
            <a:ext cx="3849492" cy="218033"/>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Raleway" pitchFamily="34" charset="0"/>
                <a:ea typeface="Raleway" pitchFamily="34" charset="-122"/>
                <a:cs typeface="Raleway" pitchFamily="34" charset="-120"/>
              </a:rPr>
              <a:t>Clock Domains</a:t>
            </a:r>
            <a:endParaRPr lang="en-US" sz="1350" b="1" dirty="0">
              <a:solidFill>
                <a:prstClr val="black"/>
              </a:solidFill>
              <a:latin typeface="Calibri" panose="020F0502020204030204"/>
            </a:endParaRPr>
          </a:p>
        </p:txBody>
      </p:sp>
      <p:sp>
        <p:nvSpPr>
          <p:cNvPr id="10" name="Text 6">
            <a:extLst>
              <a:ext uri="{FF2B5EF4-FFF2-40B4-BE49-F238E27FC236}">
                <a16:creationId xmlns:a16="http://schemas.microsoft.com/office/drawing/2014/main" id="{CA8FC12E-691A-5A9A-8C5F-82AE9B43358B}"/>
              </a:ext>
            </a:extLst>
          </p:cNvPr>
          <p:cNvSpPr/>
          <p:nvPr/>
        </p:nvSpPr>
        <p:spPr>
          <a:xfrm>
            <a:off x="1006633" y="2786881"/>
            <a:ext cx="3044072" cy="577255"/>
          </a:xfrm>
          <a:prstGeom prst="rect">
            <a:avLst/>
          </a:prstGeom>
          <a:noFill/>
          <a:ln/>
        </p:spPr>
        <p:txBody>
          <a:bodyPr wrap="square" lIns="0" tIns="0" rIns="0" bIns="0" rtlCol="0" anchor="t">
            <a:noAutofit/>
          </a:bodyPr>
          <a:lstStyle/>
          <a:p>
            <a:pPr defTabSz="685800">
              <a:lnSpc>
                <a:spcPct val="132000"/>
              </a:lnSpc>
            </a:pPr>
            <a:r>
              <a:rPr lang="en-US" sz="900" dirty="0">
                <a:solidFill>
                  <a:srgbClr val="3C3939"/>
                </a:solidFill>
                <a:latin typeface="Roboto" pitchFamily="34" charset="0"/>
                <a:ea typeface="Roboto" pitchFamily="34" charset="-122"/>
                <a:cs typeface="Roboto" pitchFamily="34" charset="-120"/>
              </a:rPr>
              <a:t>The design operates using two independent clock domains:</a:t>
            </a:r>
          </a:p>
          <a:p>
            <a:pPr defTabSz="685800">
              <a:lnSpc>
                <a:spcPct val="132000"/>
              </a:lnSpc>
            </a:pPr>
            <a:r>
              <a:rPr lang="en-US" sz="900" dirty="0">
                <a:solidFill>
                  <a:srgbClr val="3C3939"/>
                </a:solidFill>
                <a:latin typeface="Roboto" pitchFamily="34" charset="0"/>
                <a:ea typeface="Roboto" pitchFamily="34" charset="-122"/>
                <a:cs typeface="Roboto" pitchFamily="34" charset="-120"/>
              </a:rPr>
              <a:t>CXS Clock Domain: 37 MHz</a:t>
            </a:r>
          </a:p>
          <a:p>
            <a:pPr defTabSz="685800">
              <a:lnSpc>
                <a:spcPct val="132000"/>
              </a:lnSpc>
            </a:pPr>
            <a:r>
              <a:rPr lang="en-US" sz="900" dirty="0">
                <a:solidFill>
                  <a:srgbClr val="3C3939"/>
                </a:solidFill>
                <a:latin typeface="Roboto" pitchFamily="34" charset="0"/>
                <a:ea typeface="Roboto" pitchFamily="34" charset="-122"/>
                <a:cs typeface="Roboto" pitchFamily="34" charset="-120"/>
              </a:rPr>
              <a:t>System Clock Domain: 25 MHz</a:t>
            </a:r>
          </a:p>
        </p:txBody>
      </p:sp>
      <p:pic>
        <p:nvPicPr>
          <p:cNvPr id="11" name="Image 3" descr="preencoded.png">
            <a:extLst>
              <a:ext uri="{FF2B5EF4-FFF2-40B4-BE49-F238E27FC236}">
                <a16:creationId xmlns:a16="http://schemas.microsoft.com/office/drawing/2014/main" id="{3C4FD6AB-FB10-2EBB-0137-45664586B1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07" y="3671143"/>
            <a:ext cx="3807640" cy="1336955"/>
          </a:xfrm>
          <a:prstGeom prst="rect">
            <a:avLst/>
          </a:prstGeom>
        </p:spPr>
      </p:pic>
      <p:sp>
        <p:nvSpPr>
          <p:cNvPr id="12" name="Text 7">
            <a:extLst>
              <a:ext uri="{FF2B5EF4-FFF2-40B4-BE49-F238E27FC236}">
                <a16:creationId xmlns:a16="http://schemas.microsoft.com/office/drawing/2014/main" id="{C6DAA1FD-86C5-4710-2A87-73CC069A20DE}"/>
              </a:ext>
            </a:extLst>
          </p:cNvPr>
          <p:cNvSpPr/>
          <p:nvPr/>
        </p:nvSpPr>
        <p:spPr>
          <a:xfrm>
            <a:off x="687196" y="4201344"/>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3</a:t>
            </a:r>
            <a:endParaRPr lang="en-US" sz="1613" dirty="0">
              <a:solidFill>
                <a:prstClr val="black"/>
              </a:solidFill>
              <a:latin typeface="Calibri" panose="020F0502020204030204"/>
            </a:endParaRPr>
          </a:p>
        </p:txBody>
      </p:sp>
      <p:sp>
        <p:nvSpPr>
          <p:cNvPr id="13" name="Text 8">
            <a:extLst>
              <a:ext uri="{FF2B5EF4-FFF2-40B4-BE49-F238E27FC236}">
                <a16:creationId xmlns:a16="http://schemas.microsoft.com/office/drawing/2014/main" id="{C14FE231-71BA-E5E5-B646-9ACCE4CAD8A3}"/>
              </a:ext>
            </a:extLst>
          </p:cNvPr>
          <p:cNvSpPr/>
          <p:nvPr/>
        </p:nvSpPr>
        <p:spPr>
          <a:xfrm>
            <a:off x="990763" y="3743497"/>
            <a:ext cx="3849492" cy="218033"/>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Raleway" pitchFamily="34" charset="0"/>
                <a:ea typeface="Raleway" pitchFamily="34" charset="-122"/>
                <a:cs typeface="Raleway" pitchFamily="34" charset="-120"/>
              </a:rPr>
              <a:t>Solutions </a:t>
            </a:r>
            <a:endParaRPr lang="en-US" sz="1350" b="1" dirty="0">
              <a:solidFill>
                <a:prstClr val="black"/>
              </a:solidFill>
              <a:latin typeface="Calibri" panose="020F0502020204030204"/>
            </a:endParaRPr>
          </a:p>
        </p:txBody>
      </p:sp>
      <p:sp>
        <p:nvSpPr>
          <p:cNvPr id="14" name="Text 9">
            <a:extLst>
              <a:ext uri="{FF2B5EF4-FFF2-40B4-BE49-F238E27FC236}">
                <a16:creationId xmlns:a16="http://schemas.microsoft.com/office/drawing/2014/main" id="{4B00B9B4-8374-6A9A-7EEF-DF8C6D9A6818}"/>
              </a:ext>
            </a:extLst>
          </p:cNvPr>
          <p:cNvSpPr/>
          <p:nvPr/>
        </p:nvSpPr>
        <p:spPr>
          <a:xfrm>
            <a:off x="1041622" y="3960501"/>
            <a:ext cx="2974093" cy="933955"/>
          </a:xfrm>
          <a:prstGeom prst="rect">
            <a:avLst/>
          </a:prstGeom>
          <a:noFill/>
          <a:ln/>
        </p:spPr>
        <p:txBody>
          <a:bodyPr wrap="square" lIns="0" tIns="0" rIns="0" bIns="0" rtlCol="0" anchor="t">
            <a:noAutofit/>
          </a:bodyPr>
          <a:lstStyle/>
          <a:p>
            <a:pPr defTabSz="685800">
              <a:lnSpc>
                <a:spcPct val="132000"/>
              </a:lnSpc>
            </a:pPr>
            <a:r>
              <a:rPr lang="en-US" sz="900">
                <a:solidFill>
                  <a:srgbClr val="3C3939"/>
                </a:solidFill>
                <a:latin typeface="Roboto" pitchFamily="2" charset="0"/>
                <a:ea typeface="Roboto" pitchFamily="34" charset="-122"/>
                <a:cs typeface="Roboto" pitchFamily="34" charset="-120"/>
              </a:rPr>
              <a:t>Two CDC techniques are implemented:</a:t>
            </a:r>
          </a:p>
          <a:p>
            <a:pPr marL="228600" indent="-228600" defTabSz="685800">
              <a:lnSpc>
                <a:spcPct val="132000"/>
              </a:lnSpc>
              <a:buSzPct val="100000"/>
              <a:buFont typeface="Arial" panose="020B0604020202020204" pitchFamily="34" charset="0"/>
              <a:buChar char="•"/>
            </a:pPr>
            <a:r>
              <a:rPr lang="en-US" sz="900">
                <a:solidFill>
                  <a:srgbClr val="3C3939"/>
                </a:solidFill>
                <a:latin typeface="Roboto" pitchFamily="2" charset="0"/>
                <a:ea typeface="Roboto" pitchFamily="34" charset="-122"/>
                <a:cs typeface="Roboto" pitchFamily="34" charset="-120"/>
              </a:rPr>
              <a:t>Asynchronous FIFO – CXS → System domain (32-bit TLP words)</a:t>
            </a:r>
          </a:p>
          <a:p>
            <a:pPr marL="228600" indent="-228600" defTabSz="685800">
              <a:lnSpc>
                <a:spcPct val="132000"/>
              </a:lnSpc>
              <a:buSzPct val="100000"/>
              <a:buFont typeface="Arial" panose="020B0604020202020204" pitchFamily="34" charset="0"/>
              <a:buChar char="•"/>
            </a:pPr>
            <a:r>
              <a:rPr lang="en-US" sz="900">
                <a:solidFill>
                  <a:srgbClr val="3C3939"/>
                </a:solidFill>
                <a:latin typeface="Roboto" pitchFamily="2" charset="0"/>
                <a:ea typeface="Roboto" pitchFamily="34" charset="-122"/>
                <a:cs typeface="Roboto" pitchFamily="34" charset="-120"/>
              </a:rPr>
              <a:t>Toggle Synchronizer – System → CXS domain (error pulse)</a:t>
            </a:r>
            <a:endParaRPr lang="en-US" sz="900" dirty="0">
              <a:solidFill>
                <a:srgbClr val="3C3939"/>
              </a:solidFill>
              <a:latin typeface="Roboto" pitchFamily="2" charset="0"/>
              <a:ea typeface="Roboto" pitchFamily="34" charset="-122"/>
              <a:cs typeface="Roboto" pitchFamily="34" charset="-120"/>
            </a:endParaRPr>
          </a:p>
        </p:txBody>
      </p:sp>
      <p:sp>
        <p:nvSpPr>
          <p:cNvPr id="2" name="PLACEHOLDER">
            <a:extLst>
              <a:ext uri="{FF2B5EF4-FFF2-40B4-BE49-F238E27FC236}">
                <a16:creationId xmlns:a16="http://schemas.microsoft.com/office/drawing/2014/main" id="{80C07C69-66BD-4278-FBA6-C5E090BD3664}"/>
              </a:ext>
            </a:extLst>
          </p:cNvPr>
          <p:cNvSpPr/>
          <p:nvPr/>
        </p:nvSpPr>
        <p:spPr>
          <a:xfrm>
            <a:off x="4539903" y="1059939"/>
            <a:ext cx="4266473" cy="3891202"/>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CDC diagram: 32-bit async FIFO (CXS → SYS) and error toggle + 2-FF synchronizer + edge detect (SYS → CXS)</a:t>
            </a:r>
          </a:p>
          <a:p>
            <a:pPr algn="ctr"/>
            <a:r>
              <a:rPr lang="en-US" sz="1000" i="1">
                <a:solidFill>
                  <a:srgbClr val="3C3939"/>
                </a:solidFill>
                <a:latin typeface="Times New Roman" panose="02020603050405020304" pitchFamily="18" charset="0"/>
              </a:rPr>
              <a:t>Source: draw.io diagram</a:t>
            </a:r>
          </a:p>
        </p:txBody>
      </p:sp>
    </p:spTree>
    <p:extLst>
      <p:ext uri="{BB962C8B-B14F-4D97-AF65-F5344CB8AC3E}">
        <p14:creationId xmlns:p14="http://schemas.microsoft.com/office/powerpoint/2010/main" val="41043570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0"/>
                                        <p:tgtEl>
                                          <p:spTgt spid="9"/>
                                        </p:tgtEl>
                                      </p:cBhvr>
                                    </p:animEffect>
                                    <p:anim calcmode="lin" valueType="num">
                                      <p:cBhvr>
                                        <p:cTn id="45" dur="1000" fill="hold"/>
                                        <p:tgtEl>
                                          <p:spTgt spid="9"/>
                                        </p:tgtEl>
                                        <p:attrNameLst>
                                          <p:attrName>ppt_x</p:attrName>
                                        </p:attrNameLst>
                                      </p:cBhvr>
                                      <p:tavLst>
                                        <p:tav tm="0">
                                          <p:val>
                                            <p:strVal val="#ppt_x"/>
                                          </p:val>
                                        </p:tav>
                                        <p:tav tm="100000">
                                          <p:val>
                                            <p:strVal val="#ppt_x"/>
                                          </p:val>
                                        </p:tav>
                                      </p:tavLst>
                                    </p:anim>
                                    <p:anim calcmode="lin" valueType="num">
                                      <p:cBhvr>
                                        <p:cTn id="46" dur="10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1000"/>
                                        <p:tgtEl>
                                          <p:spTgt spid="12"/>
                                        </p:tgtEl>
                                      </p:cBhvr>
                                    </p:animEffect>
                                    <p:anim calcmode="lin" valueType="num">
                                      <p:cBhvr>
                                        <p:cTn id="62" dur="1000" fill="hold"/>
                                        <p:tgtEl>
                                          <p:spTgt spid="12"/>
                                        </p:tgtEl>
                                        <p:attrNameLst>
                                          <p:attrName>ppt_x</p:attrName>
                                        </p:attrNameLst>
                                      </p:cBhvr>
                                      <p:tavLst>
                                        <p:tav tm="0">
                                          <p:val>
                                            <p:strVal val="#ppt_x"/>
                                          </p:val>
                                        </p:tav>
                                        <p:tav tm="100000">
                                          <p:val>
                                            <p:strVal val="#ppt_x"/>
                                          </p:val>
                                        </p:tav>
                                      </p:tavLst>
                                    </p:anim>
                                    <p:anim calcmode="lin" valueType="num">
                                      <p:cBhvr>
                                        <p:cTn id="63" dur="1000" fill="hold"/>
                                        <p:tgtEl>
                                          <p:spTgt spid="12"/>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1000"/>
                                        <p:tgtEl>
                                          <p:spTgt spid="13"/>
                                        </p:tgtEl>
                                      </p:cBhvr>
                                    </p:animEffect>
                                    <p:anim calcmode="lin" valueType="num">
                                      <p:cBhvr>
                                        <p:cTn id="67" dur="1000" fill="hold"/>
                                        <p:tgtEl>
                                          <p:spTgt spid="13"/>
                                        </p:tgtEl>
                                        <p:attrNameLst>
                                          <p:attrName>ppt_x</p:attrName>
                                        </p:attrNameLst>
                                      </p:cBhvr>
                                      <p:tavLst>
                                        <p:tav tm="0">
                                          <p:val>
                                            <p:strVal val="#ppt_x"/>
                                          </p:val>
                                        </p:tav>
                                        <p:tav tm="100000">
                                          <p:val>
                                            <p:strVal val="#ppt_x"/>
                                          </p:val>
                                        </p:tav>
                                      </p:tavLst>
                                    </p:anim>
                                    <p:anim calcmode="lin" valueType="num">
                                      <p:cBhvr>
                                        <p:cTn id="68" dur="1000" fill="hold"/>
                                        <p:tgtEl>
                                          <p:spTgt spid="13"/>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1000"/>
                                        <p:tgtEl>
                                          <p:spTgt spid="14"/>
                                        </p:tgtEl>
                                      </p:cBhvr>
                                    </p:animEffect>
                                    <p:anim calcmode="lin" valueType="num">
                                      <p:cBhvr>
                                        <p:cTn id="72" dur="1000" fill="hold"/>
                                        <p:tgtEl>
                                          <p:spTgt spid="14"/>
                                        </p:tgtEl>
                                        <p:attrNameLst>
                                          <p:attrName>ppt_x</p:attrName>
                                        </p:attrNameLst>
                                      </p:cBhvr>
                                      <p:tavLst>
                                        <p:tav tm="0">
                                          <p:val>
                                            <p:strVal val="#ppt_x"/>
                                          </p:val>
                                        </p:tav>
                                        <p:tav tm="100000">
                                          <p:val>
                                            <p:strVal val="#ppt_x"/>
                                          </p:val>
                                        </p:tav>
                                      </p:tavLst>
                                    </p:anim>
                                    <p:anim calcmode="lin" valueType="num">
                                      <p:cBhvr>
                                        <p:cTn id="7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animBg="1"/>
      <p:bldP spid="5" grpId="0" animBg="1"/>
      <p:bldP spid="6" grpId="0" animBg="1"/>
      <p:bldP spid="8" grpId="0" animBg="1"/>
      <p:bldP spid="9" grpId="0" animBg="1"/>
      <p:bldP spid="10" grpId="0" animBg="1"/>
      <p:bldP spid="12"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D6FF43F-AFA3-C856-5D36-0BC8AD18A9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ABB019-F604-4177-25D1-1A0FE59EE0EA}"/>
              </a:ext>
            </a:extLst>
          </p:cNvPr>
          <p:cNvSpPr txBox="1"/>
          <p:nvPr/>
        </p:nvSpPr>
        <p:spPr>
          <a:xfrm>
            <a:off x="473931" y="715870"/>
            <a:ext cx="7886700" cy="480060"/>
          </a:xfrm>
          <a:prstGeom prst="rect">
            <a:avLst/>
          </a:prstGeom>
          <a:noFill/>
          <a:ln/>
        </p:spPr>
        <p:txBody>
          <a:bodyPr wrap="square" lIns="0" tIns="0" rIns="0" bIns="0" rtlCol="0" anchor="ctr"/>
          <a:lstStyle/>
          <a:p>
            <a:endParaRPr lang="en-US" sz="2400" b="1" dirty="0">
              <a:solidFill>
                <a:srgbClr val="FFFFFF"/>
              </a:solidFill>
              <a:latin typeface="Cambria" pitchFamily="34" charset="0"/>
              <a:ea typeface="Cambria" pitchFamily="34" charset="-122"/>
              <a:cs typeface="Cambria" pitchFamily="34" charset="-120"/>
            </a:endParaRPr>
          </a:p>
        </p:txBody>
      </p:sp>
      <p:graphicFrame>
        <p:nvGraphicFramePr>
          <p:cNvPr id="16" name="Diagram 15">
            <a:extLst>
              <a:ext uri="{FF2B5EF4-FFF2-40B4-BE49-F238E27FC236}">
                <a16:creationId xmlns:a16="http://schemas.microsoft.com/office/drawing/2014/main" id="{744541DB-980E-F157-4E2D-C726A38767B9}"/>
              </a:ext>
            </a:extLst>
          </p:cNvPr>
          <p:cNvGraphicFramePr/>
          <p:nvPr>
            <p:extLst>
              <p:ext uri="{D42A27DB-BD31-4B8C-83A1-F6EECF244321}">
                <p14:modId xmlns:p14="http://schemas.microsoft.com/office/powerpoint/2010/main" val="1142534236"/>
              </p:ext>
            </p:extLst>
          </p:nvPr>
        </p:nvGraphicFramePr>
        <p:xfrm>
          <a:off x="432464" y="1053625"/>
          <a:ext cx="8473857" cy="3036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0">
            <a:extLst>
              <a:ext uri="{FF2B5EF4-FFF2-40B4-BE49-F238E27FC236}">
                <a16:creationId xmlns:a16="http://schemas.microsoft.com/office/drawing/2014/main" id="{FD9B04EE-5669-91EA-5581-7DA61B5E836A}"/>
              </a:ext>
            </a:extLst>
          </p:cNvPr>
          <p:cNvSpPr txBox="1"/>
          <p:nvPr/>
        </p:nvSpPr>
        <p:spPr>
          <a:xfrm>
            <a:off x="473931" y="248119"/>
            <a:ext cx="8740808" cy="640080"/>
          </a:xfrm>
          <a:prstGeom prst="rect">
            <a:avLst/>
          </a:prstGeom>
          <a:noFill/>
          <a:ln/>
        </p:spPr>
        <p:txBody>
          <a:bodyPr wrap="square" lIns="0" tIns="0" rIns="0" bIns="0" rtlCol="0" anchor="ctr"/>
          <a:lstStyle/>
          <a:p>
            <a:r>
              <a:rPr lang="en-US" sz="3200" b="1">
                <a:solidFill>
                  <a:srgbClr val="1E2761"/>
                </a:solidFill>
                <a:latin typeface="Cambria" panose="02040503050406030204" pitchFamily="18" charset="0"/>
                <a:ea typeface="Cambria" pitchFamily="34" charset="-122"/>
                <a:cs typeface="Cambria" pitchFamily="34" charset="-120"/>
              </a:rPr>
              <a:t>CDC Solutions</a:t>
            </a:r>
            <a:endParaRPr lang="en-US" sz="3200" b="1" dirty="0">
              <a:solidFill>
                <a:srgbClr val="1E2761"/>
              </a:solidFill>
              <a:latin typeface="Cambria" panose="02040503050406030204" pitchFamily="18" charset="0"/>
              <a:ea typeface="Cambria" pitchFamily="34" charset="-122"/>
              <a:cs typeface="Cambria" pitchFamily="34" charset="-120"/>
            </a:endParaRPr>
          </a:p>
        </p:txBody>
      </p:sp>
    </p:spTree>
    <p:extLst>
      <p:ext uri="{BB962C8B-B14F-4D97-AF65-F5344CB8AC3E}">
        <p14:creationId xmlns:p14="http://schemas.microsoft.com/office/powerpoint/2010/main" val="11505213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16" grpId="0">
        <p:bldAsOne/>
      </p:bldGraphic>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B812224C-18B2-2BD7-7991-2F959B9ACB0D}"/>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E4D72287-A49E-B3B3-9298-F3684D0C2E37}"/>
              </a:ext>
            </a:extLst>
          </p:cNvPr>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cs typeface="Cambria" pitchFamily="34" charset="-120"/>
              </a:rPr>
              <a:t>4</a:t>
            </a:r>
            <a:endParaRPr lang="en-US" sz="11000" dirty="0"/>
          </a:p>
        </p:txBody>
      </p:sp>
      <p:sp>
        <p:nvSpPr>
          <p:cNvPr id="6" name="Shape 2">
            <a:extLst>
              <a:ext uri="{FF2B5EF4-FFF2-40B4-BE49-F238E27FC236}">
                <a16:creationId xmlns:a16="http://schemas.microsoft.com/office/drawing/2014/main" id="{9A746051-04B6-C780-0927-DC9E4F73BA10}"/>
              </a:ext>
            </a:extLst>
          </p:cNvPr>
          <p:cNvSpPr/>
          <p:nvPr/>
        </p:nvSpPr>
        <p:spPr>
          <a:xfrm>
            <a:off x="295879" y="1758393"/>
            <a:ext cx="1554480" cy="45720"/>
          </a:xfrm>
          <a:prstGeom prst="rect">
            <a:avLst/>
          </a:prstGeom>
          <a:solidFill>
            <a:srgbClr val="00C2A8"/>
          </a:solidFill>
          <a:ln/>
        </p:spPr>
        <p:txBody>
          <a:bodyPr/>
          <a:lstStyle/>
          <a:p>
            <a:endParaRPr lang="en-US"/>
          </a:p>
        </p:txBody>
      </p:sp>
      <p:sp>
        <p:nvSpPr>
          <p:cNvPr id="10" name="Text 3">
            <a:extLst>
              <a:ext uri="{FF2B5EF4-FFF2-40B4-BE49-F238E27FC236}">
                <a16:creationId xmlns:a16="http://schemas.microsoft.com/office/drawing/2014/main" id="{E1AF35B5-A846-1803-C90B-137F673CB294}"/>
              </a:ext>
            </a:extLst>
          </p:cNvPr>
          <p:cNvSpPr txBox="1"/>
          <p:nvPr/>
        </p:nvSpPr>
        <p:spPr>
          <a:xfrm>
            <a:off x="295879" y="1737909"/>
            <a:ext cx="4820227" cy="1667682"/>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Verification Strategy &amp; Test cases</a:t>
            </a:r>
          </a:p>
        </p:txBody>
      </p:sp>
      <p:pic>
        <p:nvPicPr>
          <p:cNvPr id="19" name="Picture 18">
            <a:extLst>
              <a:ext uri="{FF2B5EF4-FFF2-40B4-BE49-F238E27FC236}">
                <a16:creationId xmlns:a16="http://schemas.microsoft.com/office/drawing/2014/main" id="{662A319E-B9D2-3168-F467-06BE16E7C6BF}"/>
              </a:ext>
            </a:extLst>
          </p:cNvPr>
          <p:cNvPicPr>
            <a:picLocks noChangeAspect="1"/>
          </p:cNvPicPr>
          <p:nvPr/>
        </p:nvPicPr>
        <p:blipFill>
          <a:blip r:embed="rId3"/>
          <a:stretch>
            <a:fillRect/>
          </a:stretch>
        </p:blipFill>
        <p:spPr>
          <a:xfrm>
            <a:off x="5034075" y="1196633"/>
            <a:ext cx="3642910" cy="275023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270287404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7ED2A2B-5652-0E74-EB4B-4FE754635E4F}"/>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053644FA-B535-59B6-FC38-E61AF334AE51}"/>
              </a:ext>
            </a:extLst>
          </p:cNvPr>
          <p:cNvSpPr txBox="1"/>
          <p:nvPr/>
        </p:nvSpPr>
        <p:spPr>
          <a:xfrm>
            <a:off x="169499" y="80688"/>
            <a:ext cx="8740808"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Verification Strategy</a:t>
            </a:r>
          </a:p>
        </p:txBody>
      </p:sp>
      <p:pic>
        <p:nvPicPr>
          <p:cNvPr id="3" name="Image 1" descr="preencoded.png">
            <a:extLst>
              <a:ext uri="{FF2B5EF4-FFF2-40B4-BE49-F238E27FC236}">
                <a16:creationId xmlns:a16="http://schemas.microsoft.com/office/drawing/2014/main" id="{0E31D092-5C9F-B770-B981-D09EC96E07C0}"/>
              </a:ext>
            </a:extLst>
          </p:cNvPr>
          <p:cNvPicPr>
            <a:picLocks noChangeAspect="1"/>
          </p:cNvPicPr>
          <p:nvPr/>
        </p:nvPicPr>
        <p:blipFill>
          <a:blip>
            <a:duotone>
              <a:schemeClr val="accent5">
                <a:shade val="45000"/>
                <a:satMod val="135000"/>
              </a:schemeClr>
              <a:prstClr val="white"/>
            </a:duotone>
            <a:extLst>
              <a:ext uri="{96DAC541-7B7A-43D3-8B79-37D633B846F1}">
                <asvg:svgBlip xmlns:asvg="http://schemas.microsoft.com/office/drawing/2016/SVG/main" r:embed="rId3"/>
              </a:ext>
            </a:extLst>
          </a:blip>
          <a:stretch>
            <a:fillRect/>
          </a:stretch>
        </p:blipFill>
        <p:spPr>
          <a:xfrm>
            <a:off x="496107" y="764553"/>
            <a:ext cx="3807640" cy="2520291"/>
          </a:xfrm>
          <a:prstGeom prst="rect">
            <a:avLst/>
          </a:prstGeom>
        </p:spPr>
      </p:pic>
      <p:sp>
        <p:nvSpPr>
          <p:cNvPr id="4" name="Text 1">
            <a:extLst>
              <a:ext uri="{FF2B5EF4-FFF2-40B4-BE49-F238E27FC236}">
                <a16:creationId xmlns:a16="http://schemas.microsoft.com/office/drawing/2014/main" id="{9D1DAAC5-C3FD-EC2A-A319-80A237A37BBA}"/>
              </a:ext>
            </a:extLst>
          </p:cNvPr>
          <p:cNvSpPr/>
          <p:nvPr/>
        </p:nvSpPr>
        <p:spPr>
          <a:xfrm>
            <a:off x="582536" y="1893878"/>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1</a:t>
            </a:r>
            <a:endParaRPr lang="en-US" sz="1613" dirty="0">
              <a:solidFill>
                <a:prstClr val="black"/>
              </a:solidFill>
              <a:latin typeface="Calibri" panose="020F0502020204030204"/>
            </a:endParaRPr>
          </a:p>
        </p:txBody>
      </p:sp>
      <p:sp>
        <p:nvSpPr>
          <p:cNvPr id="5" name="Text 2">
            <a:extLst>
              <a:ext uri="{FF2B5EF4-FFF2-40B4-BE49-F238E27FC236}">
                <a16:creationId xmlns:a16="http://schemas.microsoft.com/office/drawing/2014/main" id="{FC0F9E37-D1A6-C842-3A0A-28871B58A229}"/>
              </a:ext>
            </a:extLst>
          </p:cNvPr>
          <p:cNvSpPr/>
          <p:nvPr/>
        </p:nvSpPr>
        <p:spPr>
          <a:xfrm>
            <a:off x="1056732" y="937127"/>
            <a:ext cx="3044072" cy="163040"/>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Times New Roman" panose="02020603050405020304" pitchFamily="18" charset="0"/>
                <a:ea typeface="Raleway" pitchFamily="34" charset="-122"/>
                <a:cs typeface="Times New Roman" panose="02020603050405020304" pitchFamily="18" charset="0"/>
              </a:rPr>
              <a:t>Two-Level Verification Approach</a:t>
            </a:r>
            <a:endParaRPr lang="en-US" sz="1350" b="1" dirty="0">
              <a:solidFill>
                <a:prstClr val="black"/>
              </a:solidFill>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FBA35BFB-9923-52E1-06FA-D0F58A4FB486}"/>
              </a:ext>
            </a:extLst>
          </p:cNvPr>
          <p:cNvSpPr/>
          <p:nvPr/>
        </p:nvSpPr>
        <p:spPr>
          <a:xfrm>
            <a:off x="1063724" y="1223539"/>
            <a:ext cx="3123938" cy="1735735"/>
          </a:xfrm>
          <a:prstGeom prst="rect">
            <a:avLst/>
          </a:prstGeom>
          <a:noFill/>
          <a:ln/>
        </p:spPr>
        <p:txBody>
          <a:bodyPr wrap="square" lIns="0" tIns="0" rIns="0" bIns="0" rtlCol="0" anchor="t">
            <a:noAutofit/>
          </a:bodyPr>
          <a:lstStyle/>
          <a:p>
            <a:pPr defTabSz="685800">
              <a:lnSpc>
                <a:spcPct val="132000"/>
              </a:lnSpc>
            </a:pPr>
            <a:r>
              <a:rPr lang="en-US" sz="1000" b="1">
                <a:solidFill>
                  <a:srgbClr val="3C3939"/>
                </a:solidFill>
                <a:latin typeface="Times New Roman" panose="02020603050405020304" pitchFamily="18" charset="0"/>
                <a:ea typeface="Roboto" pitchFamily="34" charset="-122"/>
                <a:cs typeface="Times New Roman" panose="02020603050405020304" pitchFamily="18" charset="0"/>
              </a:rPr>
              <a:t>1. Unit-Level Verification</a:t>
            </a:r>
          </a:p>
          <a:p>
            <a:pPr marL="228600" indent="-228600" defTabSz="685800">
              <a:lnSpc>
                <a:spcPct val="132000"/>
              </a:lnSpc>
              <a:buSzPct val="100000"/>
              <a:buFont typeface="Arial" panose="020B0604020202020204" pitchFamily="34" charset="0"/>
              <a:buChar char="•"/>
            </a:pPr>
            <a:r>
              <a:rPr lang="en-US" sz="1000">
                <a:solidFill>
                  <a:srgbClr val="3C3939"/>
                </a:solidFill>
                <a:latin typeface="Times New Roman" panose="02020603050405020304" pitchFamily="18" charset="0"/>
                <a:ea typeface="Roboto" pitchFamily="34" charset="-122"/>
                <a:cs typeface="Times New Roman" panose="02020603050405020304" pitchFamily="18" charset="0"/>
              </a:rPr>
              <a:t>Key RTL blocks are verified independently.</a:t>
            </a:r>
          </a:p>
          <a:p>
            <a:pPr marL="228600" indent="-228600" defTabSz="685800">
              <a:lnSpc>
                <a:spcPct val="132000"/>
              </a:lnSpc>
              <a:buSzPct val="100000"/>
              <a:buFont typeface="Arial" panose="020B0604020202020204" pitchFamily="34" charset="0"/>
              <a:buChar char="•"/>
            </a:pPr>
            <a:r>
              <a:rPr lang="en-US" sz="1000">
                <a:solidFill>
                  <a:srgbClr val="3C3939"/>
                </a:solidFill>
                <a:latin typeface="Times New Roman" panose="02020603050405020304" pitchFamily="18" charset="0"/>
                <a:ea typeface="Roboto" pitchFamily="34" charset="-122"/>
                <a:cs typeface="Times New Roman" panose="02020603050405020304" pitchFamily="18" charset="0"/>
              </a:rPr>
              <a:t>Self-checking SystemVerilog testbenches for 5 key blocks.</a:t>
            </a:r>
          </a:p>
          <a:p>
            <a:pPr marL="228600" indent="-228600" defTabSz="685800">
              <a:lnSpc>
                <a:spcPct val="132000"/>
              </a:lnSpc>
              <a:buSzPct val="100000"/>
              <a:buFont typeface="Arial" panose="020B0604020202020204" pitchFamily="34" charset="0"/>
              <a:buChar char="•"/>
            </a:pPr>
            <a:r>
              <a:rPr lang="en-US" sz="1000">
                <a:solidFill>
                  <a:srgbClr val="3C3939"/>
                </a:solidFill>
                <a:latin typeface="Times New Roman" panose="02020603050405020304" pitchFamily="18" charset="0"/>
                <a:ea typeface="Roboto" pitchFamily="34" charset="-122"/>
                <a:cs typeface="Times New Roman" panose="02020603050405020304" pitchFamily="18" charset="0"/>
              </a:rPr>
              <a:t>Directed corner cases: back-pressure, stalls, bad headers.</a:t>
            </a:r>
          </a:p>
          <a:p>
            <a:pPr defTabSz="685800">
              <a:lnSpc>
                <a:spcPct val="132000"/>
              </a:lnSpc>
            </a:pPr>
            <a:endParaRPr lang="en-US" sz="1000">
              <a:solidFill>
                <a:srgbClr val="3C3939"/>
              </a:solidFill>
              <a:latin typeface="Times New Roman" panose="02020603050405020304" pitchFamily="18" charset="0"/>
              <a:ea typeface="Roboto" pitchFamily="34" charset="-122"/>
              <a:cs typeface="Times New Roman" panose="02020603050405020304" pitchFamily="18" charset="0"/>
            </a:endParaRPr>
          </a:p>
          <a:p>
            <a:pPr defTabSz="685800">
              <a:lnSpc>
                <a:spcPct val="132000"/>
              </a:lnSpc>
            </a:pPr>
            <a:r>
              <a:rPr lang="en-US" sz="900" b="1">
                <a:solidFill>
                  <a:srgbClr val="3C3939"/>
                </a:solidFill>
                <a:latin typeface="Times New Roman" panose="02020603050405020304" pitchFamily="18" charset="0"/>
                <a:ea typeface="Roboto" pitchFamily="34" charset="-122"/>
                <a:cs typeface="Times New Roman" panose="02020603050405020304" pitchFamily="18" charset="0"/>
              </a:rPr>
              <a:t>2. System-Level (UVM) Verification</a:t>
            </a:r>
          </a:p>
          <a:p>
            <a:pPr marL="228600" indent="-228600" defTabSz="685800">
              <a:lnSpc>
                <a:spcPct val="132000"/>
              </a:lnSpc>
              <a:buSzPct val="100000"/>
              <a:buFont typeface="Arial" panose="020B0604020202020204" pitchFamily="34" charset="0"/>
              <a:buChar char="•"/>
            </a:pPr>
            <a:r>
              <a:rPr lang="en-US" sz="900">
                <a:solidFill>
                  <a:srgbClr val="3C3939"/>
                </a:solidFill>
                <a:latin typeface="Times New Roman" panose="02020603050405020304" pitchFamily="18" charset="0"/>
                <a:ea typeface="Roboto" pitchFamily="34" charset="-122"/>
                <a:cs typeface="Times New Roman" panose="02020603050405020304" pitchFamily="18" charset="0"/>
              </a:rPr>
              <a:t>UVM environment drives the complete top from CXS RX to CXS TX.</a:t>
            </a:r>
          </a:p>
          <a:p>
            <a:pPr marL="228600" indent="-228600" defTabSz="685800">
              <a:lnSpc>
                <a:spcPct val="132000"/>
              </a:lnSpc>
              <a:buSzPct val="100000"/>
              <a:buFont typeface="Arial" panose="020B0604020202020204" pitchFamily="34" charset="0"/>
              <a:buChar char="•"/>
            </a:pPr>
            <a:r>
              <a:rPr lang="en-US" sz="900">
                <a:solidFill>
                  <a:srgbClr val="3C3939"/>
                </a:solidFill>
                <a:latin typeface="Times New Roman" panose="02020603050405020304" pitchFamily="18" charset="0"/>
                <a:ea typeface="Roboto" pitchFamily="34" charset="-122"/>
                <a:cs typeface="Times New Roman" panose="02020603050405020304" pitchFamily="18" charset="0"/>
              </a:rPr>
              <a:t>Directed sequences; behavior checked on waveforms.</a:t>
            </a:r>
          </a:p>
          <a:p>
            <a:pPr marL="171450" indent="-171450" defTabSz="685800">
              <a:lnSpc>
                <a:spcPct val="132000"/>
              </a:lnSpc>
              <a:buFont typeface="Arial" panose="020B0604020202020204" pitchFamily="34" charset="0"/>
              <a:buChar char="•"/>
            </a:pPr>
            <a:endParaRPr lang="en-US" sz="900" dirty="0">
              <a:solidFill>
                <a:srgbClr val="3C3939"/>
              </a:solidFill>
              <a:latin typeface="Times New Roman" panose="02020603050405020304" pitchFamily="18" charset="0"/>
              <a:ea typeface="Roboto" pitchFamily="34" charset="-122"/>
              <a:cs typeface="Times New Roman" panose="02020603050405020304" pitchFamily="18" charset="0"/>
            </a:endParaRPr>
          </a:p>
        </p:txBody>
      </p:sp>
      <p:pic>
        <p:nvPicPr>
          <p:cNvPr id="11" name="Image 3" descr="preencoded.png">
            <a:extLst>
              <a:ext uri="{FF2B5EF4-FFF2-40B4-BE49-F238E27FC236}">
                <a16:creationId xmlns:a16="http://schemas.microsoft.com/office/drawing/2014/main" id="{3C4FD6AB-FB10-2EBB-0137-45664586B11F}"/>
              </a:ext>
            </a:extLst>
          </p:cNvPr>
          <p:cNvPicPr>
            <a:picLocks noChangeAspect="1"/>
          </p:cNvPicPr>
          <p:nvPr/>
        </p:nvPicPr>
        <p:blipFill>
          <a:blip>
            <a:duotone>
              <a:schemeClr val="accent5">
                <a:shade val="45000"/>
                <a:satMod val="135000"/>
              </a:schemeClr>
              <a:prstClr val="white"/>
            </a:duotone>
            <a:extLst>
              <a:ext uri="{96DAC541-7B7A-43D3-8B79-37D633B846F1}">
                <asvg:svgBlip xmlns:asvg="http://schemas.microsoft.com/office/drawing/2016/SVG/main" r:embed="rId4"/>
              </a:ext>
            </a:extLst>
          </a:blip>
          <a:stretch>
            <a:fillRect/>
          </a:stretch>
        </p:blipFill>
        <p:spPr>
          <a:xfrm>
            <a:off x="496107" y="3389723"/>
            <a:ext cx="3807640" cy="1535777"/>
          </a:xfrm>
          <a:prstGeom prst="rect">
            <a:avLst/>
          </a:prstGeom>
        </p:spPr>
      </p:pic>
      <p:sp>
        <p:nvSpPr>
          <p:cNvPr id="12" name="Text 7">
            <a:extLst>
              <a:ext uri="{FF2B5EF4-FFF2-40B4-BE49-F238E27FC236}">
                <a16:creationId xmlns:a16="http://schemas.microsoft.com/office/drawing/2014/main" id="{C6DAA1FD-86C5-4710-2A87-73CC069A20DE}"/>
              </a:ext>
            </a:extLst>
          </p:cNvPr>
          <p:cNvSpPr/>
          <p:nvPr/>
        </p:nvSpPr>
        <p:spPr>
          <a:xfrm>
            <a:off x="593636" y="3792723"/>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2</a:t>
            </a:r>
            <a:endParaRPr lang="en-US" sz="1613" dirty="0">
              <a:solidFill>
                <a:prstClr val="black"/>
              </a:solidFill>
              <a:latin typeface="Calibri" panose="020F0502020204030204"/>
            </a:endParaRPr>
          </a:p>
        </p:txBody>
      </p:sp>
      <p:sp>
        <p:nvSpPr>
          <p:cNvPr id="13" name="Text 8">
            <a:extLst>
              <a:ext uri="{FF2B5EF4-FFF2-40B4-BE49-F238E27FC236}">
                <a16:creationId xmlns:a16="http://schemas.microsoft.com/office/drawing/2014/main" id="{C14FE231-71BA-E5E5-B646-9ACCE4CAD8A3}"/>
              </a:ext>
            </a:extLst>
          </p:cNvPr>
          <p:cNvSpPr/>
          <p:nvPr/>
        </p:nvSpPr>
        <p:spPr>
          <a:xfrm>
            <a:off x="1056732" y="3515464"/>
            <a:ext cx="3849492" cy="218033"/>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Raleway" pitchFamily="34" charset="0"/>
                <a:ea typeface="Raleway" pitchFamily="34" charset="-122"/>
                <a:cs typeface="Raleway" pitchFamily="34" charset="-120"/>
              </a:rPr>
              <a:t>Main Verification Goals</a:t>
            </a:r>
            <a:endParaRPr lang="en-US" sz="1350" b="1" dirty="0">
              <a:solidFill>
                <a:prstClr val="black"/>
              </a:solidFill>
              <a:latin typeface="Calibri" panose="020F0502020204030204"/>
            </a:endParaRPr>
          </a:p>
        </p:txBody>
      </p:sp>
      <p:sp>
        <p:nvSpPr>
          <p:cNvPr id="14" name="Text 9">
            <a:extLst>
              <a:ext uri="{FF2B5EF4-FFF2-40B4-BE49-F238E27FC236}">
                <a16:creationId xmlns:a16="http://schemas.microsoft.com/office/drawing/2014/main" id="{4B00B9B4-8374-6A9A-7EEF-DF8C6D9A6818}"/>
              </a:ext>
            </a:extLst>
          </p:cNvPr>
          <p:cNvSpPr/>
          <p:nvPr/>
        </p:nvSpPr>
        <p:spPr>
          <a:xfrm>
            <a:off x="1056733" y="3780527"/>
            <a:ext cx="3130930" cy="989449"/>
          </a:xfrm>
          <a:prstGeom prst="rect">
            <a:avLst/>
          </a:prstGeom>
          <a:noFill/>
          <a:ln/>
        </p:spPr>
        <p:txBody>
          <a:bodyPr wrap="square" lIns="0" tIns="0" rIns="0" bIns="0" rtlCol="0" anchor="t">
            <a:noAutofit/>
          </a:bodyPr>
          <a:lstStyle/>
          <a:p>
            <a:pPr marL="171450" indent="-171450" defTabSz="685800">
              <a:lnSpc>
                <a:spcPct val="132000"/>
              </a:lnSpc>
              <a:buSzPct val="100000"/>
              <a:buFont typeface="Arial" panose="020B0604020202020204" pitchFamily="34" charset="0"/>
              <a:buChar char="•"/>
            </a:pPr>
            <a:r>
              <a:rPr lang="en-US" sz="900">
                <a:solidFill>
                  <a:srgbClr val="3C3939"/>
                </a:solidFill>
                <a:latin typeface="Times New Roman" panose="02020603050405020304" pitchFamily="18" charset="0"/>
                <a:ea typeface="Roboto" pitchFamily="34" charset="-122"/>
                <a:cs typeface="Times New Roman" panose="02020603050405020304" pitchFamily="18" charset="0"/>
              </a:rPr>
              <a:t>Correct CXSCNTL decoding and word extraction</a:t>
            </a:r>
          </a:p>
          <a:p>
            <a:pPr marL="171450" indent="-171450" defTabSz="685800">
              <a:lnSpc>
                <a:spcPct val="132000"/>
              </a:lnSpc>
              <a:buSzPct val="100000"/>
              <a:buFont typeface="Arial" panose="020B0604020202020204" pitchFamily="34" charset="0"/>
              <a:buChar char="•"/>
            </a:pPr>
            <a:r>
              <a:rPr lang="en-US" sz="900">
                <a:solidFill>
                  <a:srgbClr val="3C3939"/>
                </a:solidFill>
                <a:latin typeface="Times New Roman" panose="02020603050405020304" pitchFamily="18" charset="0"/>
                <a:ea typeface="Roboto" pitchFamily="34" charset="-122"/>
                <a:cs typeface="Times New Roman" panose="02020603050405020304" pitchFamily="18" charset="0"/>
              </a:rPr>
              <a:t>Correct credit-based flow control (RX and TX)</a:t>
            </a:r>
          </a:p>
          <a:p>
            <a:pPr marL="171450" indent="-171450" defTabSz="685800">
              <a:lnSpc>
                <a:spcPct val="132000"/>
              </a:lnSpc>
              <a:buSzPct val="100000"/>
              <a:buFont typeface="Arial" panose="020B0604020202020204" pitchFamily="34" charset="0"/>
              <a:buChar char="•"/>
            </a:pPr>
            <a:r>
              <a:rPr lang="en-US" sz="900">
                <a:solidFill>
                  <a:srgbClr val="3C3939"/>
                </a:solidFill>
                <a:latin typeface="Times New Roman" panose="02020603050405020304" pitchFamily="18" charset="0"/>
                <a:ea typeface="Roboto" pitchFamily="34" charset="-122"/>
                <a:cs typeface="Times New Roman" panose="02020603050405020304" pitchFamily="18" charset="0"/>
              </a:rPr>
              <a:t>Correct CDC transfer of TLP words and error pulses</a:t>
            </a:r>
          </a:p>
          <a:p>
            <a:pPr marL="171450" indent="-171450" defTabSz="685800">
              <a:lnSpc>
                <a:spcPct val="132000"/>
              </a:lnSpc>
              <a:buSzPct val="100000"/>
              <a:buFont typeface="Arial" panose="020B0604020202020204" pitchFamily="34" charset="0"/>
              <a:buChar char="•"/>
            </a:pPr>
            <a:r>
              <a:rPr lang="en-US" sz="900">
                <a:solidFill>
                  <a:srgbClr val="3C3939"/>
                </a:solidFill>
                <a:latin typeface="Times New Roman" panose="02020603050405020304" pitchFamily="18" charset="0"/>
                <a:ea typeface="Roboto" pitchFamily="34" charset="-122"/>
                <a:cs typeface="Times New Roman" panose="02020603050405020304" pitchFamily="18" charset="0"/>
              </a:rPr>
              <a:t>Correct configuration and error handling</a:t>
            </a:r>
          </a:p>
          <a:p>
            <a:pPr marL="171450" indent="-171450" defTabSz="685800">
              <a:lnSpc>
                <a:spcPct val="132000"/>
              </a:lnSpc>
              <a:buSzPct val="100000"/>
              <a:buFont typeface="Arial" panose="020B0604020202020204" pitchFamily="34" charset="0"/>
              <a:buChar char="•"/>
            </a:pPr>
            <a:r>
              <a:rPr lang="en-US" sz="900">
                <a:solidFill>
                  <a:srgbClr val="3C3939"/>
                </a:solidFill>
                <a:latin typeface="Times New Roman" panose="02020603050405020304" pitchFamily="18" charset="0"/>
                <a:ea typeface="Roboto" pitchFamily="34" charset="-122"/>
                <a:cs typeface="Times New Roman" panose="02020603050405020304" pitchFamily="18" charset="0"/>
              </a:rPr>
              <a:t>Correct encryption, parity, address translation and CDM storage</a:t>
            </a:r>
            <a:endParaRPr lang="en-US" sz="900" dirty="0">
              <a:solidFill>
                <a:srgbClr val="3C3939"/>
              </a:solidFill>
              <a:latin typeface="Times New Roman" panose="02020603050405020304" pitchFamily="18" charset="0"/>
              <a:ea typeface="Roboto" pitchFamily="34" charset="-122"/>
              <a:cs typeface="Times New Roman" panose="02020603050405020304" pitchFamily="18" charset="0"/>
            </a:endParaRPr>
          </a:p>
        </p:txBody>
      </p:sp>
      <p:grpSp>
        <p:nvGrpSpPr>
          <p:cNvPr id="17" name="Group 16">
            <a:extLst>
              <a:ext uri="{FF2B5EF4-FFF2-40B4-BE49-F238E27FC236}">
                <a16:creationId xmlns:a16="http://schemas.microsoft.com/office/drawing/2014/main" id="{1BD8C256-8B0A-4E88-27A6-CA5A093B1AC8}"/>
              </a:ext>
            </a:extLst>
          </p:cNvPr>
          <p:cNvGrpSpPr/>
          <p:nvPr/>
        </p:nvGrpSpPr>
        <p:grpSpPr>
          <a:xfrm>
            <a:off x="4308212" y="1764548"/>
            <a:ext cx="4722645" cy="2219105"/>
            <a:chOff x="661475" y="2456855"/>
            <a:chExt cx="6918350" cy="2712244"/>
          </a:xfrm>
        </p:grpSpPr>
        <p:grpSp>
          <p:nvGrpSpPr>
            <p:cNvPr id="18" name="Group 17">
              <a:extLst>
                <a:ext uri="{FF2B5EF4-FFF2-40B4-BE49-F238E27FC236}">
                  <a16:creationId xmlns:a16="http://schemas.microsoft.com/office/drawing/2014/main" id="{B37471E3-346F-9CEA-E51B-61E832E25121}"/>
                </a:ext>
              </a:extLst>
            </p:cNvPr>
            <p:cNvGrpSpPr/>
            <p:nvPr/>
          </p:nvGrpSpPr>
          <p:grpSpPr>
            <a:xfrm>
              <a:off x="661475" y="2456855"/>
              <a:ext cx="6918350" cy="2712244"/>
              <a:chOff x="661475" y="2456855"/>
              <a:chExt cx="6918350" cy="2712244"/>
            </a:xfrm>
          </p:grpSpPr>
          <p:grpSp>
            <p:nvGrpSpPr>
              <p:cNvPr id="20" name="Group 19">
                <a:extLst>
                  <a:ext uri="{FF2B5EF4-FFF2-40B4-BE49-F238E27FC236}">
                    <a16:creationId xmlns:a16="http://schemas.microsoft.com/office/drawing/2014/main" id="{4A2CEB78-2557-743E-9844-F1C91441D69E}"/>
                  </a:ext>
                </a:extLst>
              </p:cNvPr>
              <p:cNvGrpSpPr/>
              <p:nvPr/>
            </p:nvGrpSpPr>
            <p:grpSpPr>
              <a:xfrm>
                <a:off x="661475" y="2456855"/>
                <a:ext cx="6918350" cy="2712244"/>
                <a:chOff x="661475" y="2456855"/>
                <a:chExt cx="6918350" cy="2712244"/>
              </a:xfrm>
            </p:grpSpPr>
            <p:grpSp>
              <p:nvGrpSpPr>
                <p:cNvPr id="39" name="Group 38">
                  <a:extLst>
                    <a:ext uri="{FF2B5EF4-FFF2-40B4-BE49-F238E27FC236}">
                      <a16:creationId xmlns:a16="http://schemas.microsoft.com/office/drawing/2014/main" id="{1FFC6E53-0808-706E-5A04-987004D2FDD2}"/>
                    </a:ext>
                  </a:extLst>
                </p:cNvPr>
                <p:cNvGrpSpPr/>
                <p:nvPr/>
              </p:nvGrpSpPr>
              <p:grpSpPr>
                <a:xfrm>
                  <a:off x="661475" y="2456855"/>
                  <a:ext cx="6918350" cy="2712244"/>
                  <a:chOff x="661475" y="2456855"/>
                  <a:chExt cx="6918350" cy="2712244"/>
                </a:xfrm>
              </p:grpSpPr>
              <p:pic>
                <p:nvPicPr>
                  <p:cNvPr id="46" name="Image 0" descr="preencoded.png">
                    <a:extLst>
                      <a:ext uri="{FF2B5EF4-FFF2-40B4-BE49-F238E27FC236}">
                        <a16:creationId xmlns:a16="http://schemas.microsoft.com/office/drawing/2014/main" id="{D4C87305-58B3-43CB-397A-FEB34A202356}"/>
                      </a:ext>
                    </a:extLst>
                  </p:cNvPr>
                  <p:cNvPicPr>
                    <a:picLocks noChangeAspect="1"/>
                  </p:cNvPicPr>
                  <p:nvPr/>
                </p:nvPicPr>
                <p:blipFill>
                  <a:blip r:embed="rId5">
                    <a:duotone>
                      <a:schemeClr val="accent1">
                        <a:shade val="45000"/>
                        <a:satMod val="135000"/>
                      </a:schemeClr>
                      <a:prstClr val="white"/>
                    </a:duotone>
                  </a:blip>
                  <a:stretch>
                    <a:fillRect/>
                  </a:stretch>
                </p:blipFill>
                <p:spPr>
                  <a:xfrm>
                    <a:off x="661475" y="2456855"/>
                    <a:ext cx="6918350" cy="2712244"/>
                  </a:xfrm>
                  <a:prstGeom prst="rect">
                    <a:avLst/>
                  </a:prstGeom>
                </p:spPr>
              </p:pic>
              <p:sp>
                <p:nvSpPr>
                  <p:cNvPr id="47" name="Text 1">
                    <a:extLst>
                      <a:ext uri="{FF2B5EF4-FFF2-40B4-BE49-F238E27FC236}">
                        <a16:creationId xmlns:a16="http://schemas.microsoft.com/office/drawing/2014/main" id="{0C4B999B-2D65-D434-91DC-EE02385CA076}"/>
                      </a:ext>
                    </a:extLst>
                  </p:cNvPr>
                  <p:cNvSpPr/>
                  <p:nvPr/>
                </p:nvSpPr>
                <p:spPr>
                  <a:xfrm>
                    <a:off x="827096" y="2589869"/>
                    <a:ext cx="1266466" cy="407089"/>
                  </a:xfrm>
                  <a:prstGeom prst="rect">
                    <a:avLst/>
                  </a:prstGeom>
                  <a:noFill/>
                  <a:ln/>
                </p:spPr>
                <p:txBody>
                  <a:bodyPr wrap="square" lIns="0" tIns="0" rIns="0" bIns="0" rtlCol="0" anchor="t">
                    <a:normAutofit/>
                  </a:bodyPr>
                  <a:lstStyle/>
                  <a:p>
                    <a:pPr algn="ctr" defTabSz="685800">
                      <a:lnSpc>
                        <a:spcPct val="104000"/>
                      </a:lnSpc>
                    </a:pPr>
                    <a:r>
                      <a:rPr lang="en-US" sz="938">
                        <a:solidFill>
                          <a:srgbClr val="1B1B27"/>
                        </a:solidFill>
                        <a:latin typeface="Raleway" pitchFamily="2" charset="0"/>
                      </a:rPr>
                      <a:t>End-to-end verification</a:t>
                    </a:r>
                    <a:endParaRPr lang="en-US" sz="938" dirty="0">
                      <a:solidFill>
                        <a:srgbClr val="1B1B27"/>
                      </a:solidFill>
                      <a:latin typeface="Raleway" pitchFamily="2" charset="0"/>
                    </a:endParaRPr>
                  </a:p>
                </p:txBody>
              </p:sp>
            </p:grpSp>
            <p:sp>
              <p:nvSpPr>
                <p:cNvPr id="44" name="Text 2">
                  <a:extLst>
                    <a:ext uri="{FF2B5EF4-FFF2-40B4-BE49-F238E27FC236}">
                      <a16:creationId xmlns:a16="http://schemas.microsoft.com/office/drawing/2014/main" id="{49EB8F97-6D5E-353D-9993-967EB9DB5859}"/>
                    </a:ext>
                  </a:extLst>
                </p:cNvPr>
                <p:cNvSpPr/>
                <p:nvPr/>
              </p:nvSpPr>
              <p:spPr>
                <a:xfrm>
                  <a:off x="6147612" y="2589869"/>
                  <a:ext cx="1266467" cy="407089"/>
                </a:xfrm>
                <a:prstGeom prst="rect">
                  <a:avLst/>
                </a:prstGeom>
                <a:noFill/>
                <a:ln/>
              </p:spPr>
              <p:txBody>
                <a:bodyPr wrap="square" lIns="0" tIns="0" rIns="0" bIns="0" rtlCol="0" anchor="t">
                  <a:normAutofit/>
                </a:bodyPr>
                <a:lstStyle/>
                <a:p>
                  <a:pPr algn="ctr" defTabSz="685800">
                    <a:lnSpc>
                      <a:spcPct val="104000"/>
                    </a:lnSpc>
                  </a:pPr>
                  <a:r>
                    <a:rPr lang="en-US" sz="938" dirty="0">
                      <a:solidFill>
                        <a:srgbClr val="1B1B27"/>
                      </a:solidFill>
                      <a:latin typeface="Raleway" pitchFamily="34" charset="0"/>
                      <a:ea typeface="Raleway" pitchFamily="34" charset="-122"/>
                      <a:cs typeface="Raleway" pitchFamily="34" charset="-120"/>
                    </a:rPr>
                    <a:t>Unit test for main blocks </a:t>
                  </a:r>
                  <a:endParaRPr lang="en-US" sz="938" dirty="0">
                    <a:solidFill>
                      <a:prstClr val="black"/>
                    </a:solidFill>
                    <a:latin typeface="Calibri" panose="020F0502020204030204"/>
                  </a:endParaRPr>
                </a:p>
              </p:txBody>
            </p:sp>
          </p:grpSp>
          <p:sp>
            <p:nvSpPr>
              <p:cNvPr id="38" name="Text 3">
                <a:extLst>
                  <a:ext uri="{FF2B5EF4-FFF2-40B4-BE49-F238E27FC236}">
                    <a16:creationId xmlns:a16="http://schemas.microsoft.com/office/drawing/2014/main" id="{11539B98-54BF-C645-BB63-FBAD9168296E}"/>
                  </a:ext>
                </a:extLst>
              </p:cNvPr>
              <p:cNvSpPr/>
              <p:nvPr/>
            </p:nvSpPr>
            <p:spPr>
              <a:xfrm>
                <a:off x="6147612" y="4628931"/>
                <a:ext cx="1266467" cy="407089"/>
              </a:xfrm>
              <a:prstGeom prst="rect">
                <a:avLst/>
              </a:prstGeom>
              <a:noFill/>
              <a:ln/>
            </p:spPr>
            <p:txBody>
              <a:bodyPr wrap="square" lIns="0" tIns="0" rIns="0" bIns="0" rtlCol="0" anchor="t">
                <a:normAutofit/>
              </a:bodyPr>
              <a:lstStyle/>
              <a:p>
                <a:pPr defTabSz="685800">
                  <a:lnSpc>
                    <a:spcPct val="104000"/>
                  </a:lnSpc>
                </a:pPr>
                <a:r>
                  <a:rPr lang="en-US" sz="938">
                    <a:solidFill>
                      <a:srgbClr val="1B1B27"/>
                    </a:solidFill>
                    <a:latin typeface="Raleway" pitchFamily="2" charset="0"/>
                    <a:ea typeface="Raleway" pitchFamily="34" charset="-122"/>
                    <a:cs typeface="Raleway" pitchFamily="34" charset="-120"/>
                  </a:rPr>
                  <a:t>Corner case</a:t>
                </a:r>
              </a:p>
              <a:p>
                <a:pPr defTabSz="685800">
                  <a:lnSpc>
                    <a:spcPct val="104000"/>
                  </a:lnSpc>
                </a:pPr>
                <a:r>
                  <a:rPr lang="en-US" sz="938">
                    <a:solidFill>
                      <a:srgbClr val="1B1B27"/>
                    </a:solidFill>
                    <a:latin typeface="Raleway" pitchFamily="2" charset="0"/>
                    <a:ea typeface="Raleway" pitchFamily="34" charset="-122"/>
                    <a:cs typeface="Raleway" pitchFamily="34" charset="-120"/>
                  </a:rPr>
                  <a:t>verification</a:t>
                </a:r>
                <a:endParaRPr lang="en-US" sz="938" dirty="0">
                  <a:solidFill>
                    <a:srgbClr val="1B1B27"/>
                  </a:solidFill>
                  <a:latin typeface="Raleway" pitchFamily="2" charset="0"/>
                </a:endParaRPr>
              </a:p>
            </p:txBody>
          </p:sp>
        </p:grpSp>
        <p:sp>
          <p:nvSpPr>
            <p:cNvPr id="19" name="Text 4">
              <a:extLst>
                <a:ext uri="{FF2B5EF4-FFF2-40B4-BE49-F238E27FC236}">
                  <a16:creationId xmlns:a16="http://schemas.microsoft.com/office/drawing/2014/main" id="{05DDC788-8BB4-2F44-CFAD-59759C6C80C6}"/>
                </a:ext>
              </a:extLst>
            </p:cNvPr>
            <p:cNvSpPr/>
            <p:nvPr/>
          </p:nvSpPr>
          <p:spPr>
            <a:xfrm>
              <a:off x="827096" y="4628931"/>
              <a:ext cx="1266466" cy="407089"/>
            </a:xfrm>
            <a:prstGeom prst="rect">
              <a:avLst/>
            </a:prstGeom>
            <a:noFill/>
            <a:ln/>
          </p:spPr>
          <p:txBody>
            <a:bodyPr wrap="square" lIns="0" tIns="0" rIns="0" bIns="0" rtlCol="0" anchor="t">
              <a:normAutofit/>
            </a:bodyPr>
            <a:lstStyle/>
            <a:p>
              <a:pPr algn="ctr" defTabSz="685800">
                <a:lnSpc>
                  <a:spcPct val="104000"/>
                </a:lnSpc>
              </a:pPr>
              <a:r>
                <a:rPr lang="en-US" sz="938">
                  <a:solidFill>
                    <a:srgbClr val="1B1B27"/>
                  </a:solidFill>
                  <a:latin typeface="Raleway" pitchFamily="2" charset="0"/>
                  <a:ea typeface="Raleway" pitchFamily="34" charset="-122"/>
                  <a:cs typeface="Raleway" pitchFamily="34" charset="-120"/>
                </a:rPr>
                <a:t>Self-checking testbenches</a:t>
              </a:r>
              <a:endParaRPr lang="en-US" sz="938" dirty="0">
                <a:solidFill>
                  <a:srgbClr val="1B1B27"/>
                </a:solidFill>
                <a:latin typeface="Raleway" pitchFamily="2" charset="0"/>
              </a:endParaRPr>
            </a:p>
          </p:txBody>
        </p:sp>
      </p:grpSp>
    </p:spTree>
    <p:extLst>
      <p:ext uri="{BB962C8B-B14F-4D97-AF65-F5344CB8AC3E}">
        <p14:creationId xmlns:p14="http://schemas.microsoft.com/office/powerpoint/2010/main" val="40623112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1000"/>
                                        <p:tgtEl>
                                          <p:spTgt spid="13"/>
                                        </p:tgtEl>
                                      </p:cBhvr>
                                    </p:animEffect>
                                    <p:anim calcmode="lin" valueType="num">
                                      <p:cBhvr>
                                        <p:cTn id="45" dur="1000" fill="hold"/>
                                        <p:tgtEl>
                                          <p:spTgt spid="13"/>
                                        </p:tgtEl>
                                        <p:attrNameLst>
                                          <p:attrName>ppt_x</p:attrName>
                                        </p:attrNameLst>
                                      </p:cBhvr>
                                      <p:tavLst>
                                        <p:tav tm="0">
                                          <p:val>
                                            <p:strVal val="#ppt_x"/>
                                          </p:val>
                                        </p:tav>
                                        <p:tav tm="100000">
                                          <p:val>
                                            <p:strVal val="#ppt_x"/>
                                          </p:val>
                                        </p:tav>
                                      </p:tavLst>
                                    </p:anim>
                                    <p:anim calcmode="lin" valueType="num">
                                      <p:cBhvr>
                                        <p:cTn id="46" dur="1000" fill="hold"/>
                                        <p:tgtEl>
                                          <p:spTgt spid="13"/>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anim calcmode="lin" valueType="num">
                                      <p:cBhvr>
                                        <p:cTn id="50" dur="1000" fill="hold"/>
                                        <p:tgtEl>
                                          <p:spTgt spid="14"/>
                                        </p:tgtEl>
                                        <p:attrNameLst>
                                          <p:attrName>ppt_x</p:attrName>
                                        </p:attrNameLst>
                                      </p:cBhvr>
                                      <p:tavLst>
                                        <p:tav tm="0">
                                          <p:val>
                                            <p:strVal val="#ppt_x"/>
                                          </p:val>
                                        </p:tav>
                                        <p:tav tm="100000">
                                          <p:val>
                                            <p:strVal val="#ppt_x"/>
                                          </p:val>
                                        </p:tav>
                                      </p:tavLst>
                                    </p:anim>
                                    <p:anim calcmode="lin" valueType="num">
                                      <p:cBhvr>
                                        <p:cTn id="5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heel(1)">
                                      <p:cBhvr>
                                        <p:cTn id="56"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animBg="1"/>
      <p:bldP spid="5" grpId="0" animBg="1"/>
      <p:bldP spid="6" grpId="0" animBg="1"/>
      <p:bldP spid="12"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120AF109-9308-A657-E937-7792B9379C6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687FE15-42B6-0857-A071-2B11C768B186}"/>
              </a:ext>
            </a:extLst>
          </p:cNvPr>
          <p:cNvSpPr txBox="1"/>
          <p:nvPr/>
        </p:nvSpPr>
        <p:spPr>
          <a:xfrm>
            <a:off x="281382" y="137159"/>
            <a:ext cx="7886700" cy="480060"/>
          </a:xfrm>
          <a:prstGeom prst="rect">
            <a:avLst/>
          </a:prstGeom>
          <a:noFill/>
          <a:ln/>
        </p:spPr>
        <p:txBody>
          <a:bodyPr wrap="square" lIns="0" tIns="0" rIns="0" bIns="0" rtlCol="0" anchor="ctr"/>
          <a:lstStyle/>
          <a:p>
            <a:r>
              <a:rPr lang="en-US" sz="2250" b="1">
                <a:solidFill>
                  <a:srgbClr val="1E2761"/>
                </a:solidFill>
                <a:latin typeface="Cambria" panose="02040503050406030204" pitchFamily="18" charset="0"/>
                <a:ea typeface="Cambria" pitchFamily="34" charset="-122"/>
                <a:cs typeface="Cambria" pitchFamily="34" charset="-120"/>
              </a:rPr>
              <a:t>CXS Path Unit Verification</a:t>
            </a:r>
            <a:endParaRPr lang="en-US" sz="2250" b="1" dirty="0">
              <a:solidFill>
                <a:srgbClr val="1E2761"/>
              </a:solidFill>
              <a:latin typeface="Cambria" panose="02040503050406030204" pitchFamily="18" charset="0"/>
            </a:endParaRPr>
          </a:p>
        </p:txBody>
      </p:sp>
      <p:sp>
        <p:nvSpPr>
          <p:cNvPr id="8" name="Shape 6">
            <a:extLst>
              <a:ext uri="{FF2B5EF4-FFF2-40B4-BE49-F238E27FC236}">
                <a16:creationId xmlns:a16="http://schemas.microsoft.com/office/drawing/2014/main" id="{14062ABD-8F84-DA38-D397-34F460A917F0}"/>
              </a:ext>
            </a:extLst>
          </p:cNvPr>
          <p:cNvSpPr/>
          <p:nvPr/>
        </p:nvSpPr>
        <p:spPr>
          <a:xfrm>
            <a:off x="281382" y="617220"/>
            <a:ext cx="3622403" cy="4261067"/>
          </a:xfrm>
          <a:prstGeom prst="roundRect">
            <a:avLst>
              <a:gd name="adj" fmla="val 2326"/>
            </a:avLst>
          </a:prstGeom>
          <a:solidFill>
            <a:srgbClr val="1E2761"/>
          </a:solidFill>
          <a:ln/>
        </p:spPr>
        <p:txBody>
          <a:bodyPr/>
          <a:lstStyle/>
          <a:p>
            <a:r>
              <a:rPr lang="en-US" sz="1400" b="1">
                <a:solidFill>
                  <a:srgbClr val="FFFFFF"/>
                </a:solidFill>
                <a:latin typeface="Times New Roman" panose="02020603050405020304" pitchFamily="18" charset="0"/>
                <a:cs typeface="Times New Roman" panose="02020603050405020304" pitchFamily="18" charset="0"/>
              </a:rPr>
              <a:t>Main Scenarios</a:t>
            </a:r>
          </a:p>
          <a:p>
            <a:endParaRPr lang="en-US" sz="1400" b="1">
              <a:solidFill>
                <a:srgbClr val="FFFFFF"/>
              </a:solidFill>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r>
              <a:rPr lang="en-US" sz="1200">
                <a:solidFill>
                  <a:srgbClr val="FFFFFF"/>
                </a:solidFill>
                <a:latin typeface="Times New Roman" panose="02020603050405020304" pitchFamily="18" charset="0"/>
                <a:cs typeface="Times New Roman" panose="02020603050405020304" pitchFamily="18" charset="0"/>
              </a:rPr>
              <a:t>Packet Formatter: one packet in words 0–2</a:t>
            </a:r>
          </a:p>
          <a:p>
            <a:pPr marL="342900" indent="-342900">
              <a:buSzPct val="100000"/>
              <a:buFont typeface="Wingdings" panose="05000000000000000000" pitchFamily="2" charset="2"/>
              <a:buChar char="Ø"/>
            </a:pPr>
            <a:r>
              <a:rPr lang="en-US" sz="1200">
                <a:solidFill>
                  <a:srgbClr val="FFFFFF"/>
                </a:solidFill>
                <a:latin typeface="Times New Roman" panose="02020603050405020304" pitchFamily="18" charset="0"/>
                <a:cs typeface="Times New Roman" panose="02020603050405020304" pitchFamily="18" charset="0"/>
              </a:rPr>
              <a:t>One packet in words 4–7 (START_PTR = 1)</a:t>
            </a:r>
          </a:p>
          <a:p>
            <a:pPr marL="342900" indent="-342900">
              <a:buSzPct val="100000"/>
              <a:buFont typeface="Wingdings" panose="05000000000000000000" pitchFamily="2" charset="2"/>
              <a:buChar char="Ø"/>
            </a:pPr>
            <a:r>
              <a:rPr lang="en-US" sz="1200">
                <a:solidFill>
                  <a:srgbClr val="FFFFFF"/>
                </a:solidFill>
                <a:latin typeface="Times New Roman" panose="02020603050405020304" pitchFamily="18" charset="0"/>
                <a:cs typeface="Times New Roman" panose="02020603050405020304" pitchFamily="18" charset="0"/>
              </a:rPr>
              <a:t>Two packets in one FLIT</a:t>
            </a:r>
          </a:p>
          <a:p>
            <a:pPr marL="342900" indent="-342900">
              <a:buSzPct val="100000"/>
              <a:buFont typeface="Wingdings" panose="05000000000000000000" pitchFamily="2" charset="2"/>
              <a:buChar char="Ø"/>
            </a:pPr>
            <a:r>
              <a:rPr lang="en-US" sz="1200">
                <a:solidFill>
                  <a:srgbClr val="FFFFFF"/>
                </a:solidFill>
                <a:latin typeface="Times New Roman" panose="02020603050405020304" pitchFamily="18" charset="0"/>
                <a:cs typeface="Times New Roman" panose="02020603050405020304" pitchFamily="18" charset="0"/>
              </a:rPr>
              <a:t>One packet spanning words 0–7</a:t>
            </a:r>
          </a:p>
          <a:p>
            <a:pPr marL="342900" indent="-342900">
              <a:buSzPct val="100000"/>
              <a:buFont typeface="Wingdings" panose="05000000000000000000" pitchFamily="2" charset="2"/>
              <a:buChar char="Ø"/>
            </a:pPr>
            <a:r>
              <a:rPr lang="en-US" sz="1200">
                <a:solidFill>
                  <a:srgbClr val="FFFFFF"/>
                </a:solidFill>
                <a:latin typeface="Times New Roman" panose="02020603050405020304" pitchFamily="18" charset="0"/>
                <a:cs typeface="Times New Roman" panose="02020603050405020304" pitchFamily="18" charset="0"/>
              </a:rPr>
              <a:t>Async FIFO back-pressure</a:t>
            </a:r>
          </a:p>
          <a:p>
            <a:pPr marL="342900" indent="-342900">
              <a:buSzPct val="100000"/>
              <a:buFont typeface="Wingdings" panose="05000000000000000000" pitchFamily="2" charset="2"/>
              <a:buChar char="Ø"/>
            </a:pPr>
            <a:r>
              <a:rPr lang="en-US" sz="1200">
                <a:solidFill>
                  <a:srgbClr val="FFFFFF"/>
                </a:solidFill>
                <a:latin typeface="Times New Roman" panose="02020603050405020304" pitchFamily="18" charset="0"/>
                <a:cs typeface="Times New Roman" panose="02020603050405020304" pitchFamily="18" charset="0"/>
              </a:rPr>
              <a:t>Async FIFO: randomized writes / reads on unrelated clocks</a:t>
            </a:r>
          </a:p>
          <a:p>
            <a:pPr marL="342900" indent="-342900">
              <a:buSzPct val="100000"/>
              <a:buFont typeface="Wingdings" panose="05000000000000000000" pitchFamily="2" charset="2"/>
              <a:buChar char="Ø"/>
            </a:pPr>
            <a:r>
              <a:rPr lang="en-US" sz="1200">
                <a:solidFill>
                  <a:srgbClr val="FFFFFF"/>
                </a:solidFill>
                <a:latin typeface="Times New Roman" panose="02020603050405020304" pitchFamily="18" charset="0"/>
                <a:cs typeface="Times New Roman" panose="02020603050405020304" pitchFamily="18" charset="0"/>
              </a:rPr>
              <a:t>Every read word compared with a reference queue</a:t>
            </a:r>
          </a:p>
          <a:p>
            <a:endParaRPr lang="en-US" sz="1400">
              <a:solidFill>
                <a:srgbClr val="FFFFFF"/>
              </a:solidFill>
              <a:latin typeface="Times New Roman" panose="02020603050405020304" pitchFamily="18" charset="0"/>
              <a:cs typeface="Times New Roman" panose="02020603050405020304" pitchFamily="18" charset="0"/>
            </a:endParaRPr>
          </a:p>
          <a:p>
            <a:r>
              <a:rPr lang="en-US" sz="1400" b="1">
                <a:solidFill>
                  <a:srgbClr val="FFFFFF"/>
                </a:solidFill>
                <a:latin typeface="Times New Roman" panose="02020603050405020304" pitchFamily="18" charset="0"/>
                <a:cs typeface="Times New Roman" panose="02020603050405020304" pitchFamily="18" charset="0"/>
              </a:rPr>
              <a:t>Result</a:t>
            </a:r>
          </a:p>
          <a:p>
            <a:endParaRPr lang="en-US" sz="1200" b="1">
              <a:solidFill>
                <a:srgbClr val="FFFFFF"/>
              </a:solidFill>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ü"/>
            </a:pPr>
            <a:r>
              <a:rPr lang="en-US" sz="1200">
                <a:solidFill>
                  <a:srgbClr val="FFFFFF"/>
                </a:solidFill>
                <a:latin typeface="Times New Roman" panose="02020603050405020304" pitchFamily="18" charset="0"/>
                <a:cs typeface="Times New Roman" panose="02020603050405020304" pitchFamily="18" charset="0"/>
              </a:rPr>
              <a:t>Packet Formatter: 5 directed tests, 0 errors</a:t>
            </a:r>
          </a:p>
          <a:p>
            <a:pPr marL="342900" indent="-342900">
              <a:buSzPct val="100000"/>
              <a:buFont typeface="Wingdings" panose="05000000000000000000" pitchFamily="2" charset="2"/>
              <a:buChar char="ü"/>
            </a:pPr>
            <a:r>
              <a:rPr lang="en-US" sz="1200">
                <a:solidFill>
                  <a:srgbClr val="FFFFFF"/>
                </a:solidFill>
                <a:latin typeface="Times New Roman" panose="02020603050405020304" pitchFamily="18" charset="0"/>
                <a:cs typeface="Times New Roman" panose="02020603050405020304" pitchFamily="18" charset="0"/>
              </a:rPr>
              <a:t>Async FIFO: all read / write comparisons passed</a:t>
            </a:r>
          </a:p>
          <a:p>
            <a:pPr marL="342900" indent="-342900">
              <a:buSzPct val="100000"/>
              <a:buFont typeface="Wingdings" panose="05000000000000000000" pitchFamily="2" charset="2"/>
              <a:buChar char="ü"/>
            </a:pPr>
            <a:r>
              <a:rPr lang="en-US" sz="1200">
                <a:solidFill>
                  <a:srgbClr val="FFFFFF"/>
                </a:solidFill>
                <a:latin typeface="Times New Roman" panose="02020603050405020304" pitchFamily="18" charset="0"/>
                <a:cs typeface="Times New Roman" panose="02020603050405020304" pitchFamily="18" charset="0"/>
              </a:rPr>
              <a:t>CXSCNTL decoding and word extraction verified</a:t>
            </a:r>
          </a:p>
          <a:p>
            <a:pPr marL="342900" indent="-342900">
              <a:buSzPct val="100000"/>
              <a:buFont typeface="Wingdings" panose="05000000000000000000" pitchFamily="2" charset="2"/>
              <a:buChar char="ü"/>
            </a:pPr>
            <a:r>
              <a:rPr lang="en-US" sz="1200">
                <a:solidFill>
                  <a:srgbClr val="FFFFFF"/>
                </a:solidFill>
                <a:latin typeface="Times New Roman" panose="02020603050405020304" pitchFamily="18" charset="0"/>
                <a:cs typeface="Times New Roman" panose="02020603050405020304" pitchFamily="18" charset="0"/>
              </a:rPr>
              <a:t>Async FIFO back-pressure verified</a:t>
            </a:r>
          </a:p>
          <a:p>
            <a:pPr marL="342900" indent="-342900">
              <a:buSzPct val="100000"/>
              <a:buFont typeface="Wingdings" panose="05000000000000000000" pitchFamily="2" charset="2"/>
              <a:buChar char="ü"/>
            </a:pPr>
            <a:r>
              <a:rPr lang="en-US" sz="1200">
                <a:solidFill>
                  <a:srgbClr val="FFFFFF"/>
                </a:solidFill>
                <a:latin typeface="Times New Roman" panose="02020603050405020304" pitchFamily="18" charset="0"/>
                <a:cs typeface="Times New Roman" panose="02020603050405020304" pitchFamily="18" charset="0"/>
              </a:rPr>
              <a:t>Clock-domain crossing of TLP words verified</a:t>
            </a:r>
          </a:p>
          <a:p>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4" name="PLACEHOLDER">
            <a:extLst>
              <a:ext uri="{FF2B5EF4-FFF2-40B4-BE49-F238E27FC236}">
                <a16:creationId xmlns:a16="http://schemas.microsoft.com/office/drawing/2014/main" id="{F4107D02-52AD-BADE-E77B-1104FE85FC85}"/>
              </a:ext>
            </a:extLst>
          </p:cNvPr>
          <p:cNvSpPr/>
          <p:nvPr/>
        </p:nvSpPr>
        <p:spPr>
          <a:xfrm>
            <a:off x="4105321" y="617219"/>
            <a:ext cx="4889997" cy="2217607"/>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packet_formatter_tb waveform: FLIT capture, CXSCNTL decode, async FIFO writes</a:t>
            </a:r>
          </a:p>
          <a:p>
            <a:pPr algn="ctr"/>
            <a:r>
              <a:rPr lang="en-US" sz="1000" i="1">
                <a:solidFill>
                  <a:srgbClr val="3C3939"/>
                </a:solidFill>
                <a:latin typeface="Times New Roman" panose="02020603050405020304" pitchFamily="18" charset="0"/>
              </a:rPr>
              <a:t>Source: QuestaSim waveform</a:t>
            </a:r>
          </a:p>
        </p:txBody>
      </p:sp>
      <p:sp>
        <p:nvSpPr>
          <p:cNvPr id="9" name="PLACEHOLDER">
            <a:extLst>
              <a:ext uri="{FF2B5EF4-FFF2-40B4-BE49-F238E27FC236}">
                <a16:creationId xmlns:a16="http://schemas.microsoft.com/office/drawing/2014/main" id="{D8D40EFE-48CF-571E-6C64-595AF2E927B2}"/>
              </a:ext>
            </a:extLst>
          </p:cNvPr>
          <p:cNvSpPr/>
          <p:nvPr/>
        </p:nvSpPr>
        <p:spPr>
          <a:xfrm>
            <a:off x="4105321" y="2834826"/>
            <a:ext cx="2774386" cy="2043462"/>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packet_formatter_tb transcript</a:t>
            </a:r>
          </a:p>
          <a:p>
            <a:pPr algn="ctr"/>
            <a:r>
              <a:rPr lang="en-US" sz="1000" i="1">
                <a:solidFill>
                  <a:srgbClr val="3C3939"/>
                </a:solidFill>
                <a:latin typeface="Times New Roman" panose="02020603050405020304" pitchFamily="18" charset="0"/>
              </a:rPr>
              <a:t>Source: QuestaSim transcript</a:t>
            </a:r>
          </a:p>
        </p:txBody>
      </p:sp>
      <p:sp>
        <p:nvSpPr>
          <p:cNvPr id="10" name="PLACEHOLDER">
            <a:extLst>
              <a:ext uri="{FF2B5EF4-FFF2-40B4-BE49-F238E27FC236}">
                <a16:creationId xmlns:a16="http://schemas.microsoft.com/office/drawing/2014/main" id="{6C91B1D6-B102-8314-33AD-40276E499520}"/>
              </a:ext>
            </a:extLst>
          </p:cNvPr>
          <p:cNvSpPr/>
          <p:nvPr/>
        </p:nvSpPr>
        <p:spPr>
          <a:xfrm>
            <a:off x="6879942" y="2834826"/>
            <a:ext cx="2128154" cy="2043462"/>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async_fifo_tb transcript: read / write comparisons</a:t>
            </a:r>
          </a:p>
          <a:p>
            <a:pPr algn="ctr"/>
            <a:r>
              <a:rPr lang="en-US" sz="1000" i="1">
                <a:solidFill>
                  <a:srgbClr val="3C3939"/>
                </a:solidFill>
                <a:latin typeface="Times New Roman" panose="02020603050405020304" pitchFamily="18" charset="0"/>
              </a:rPr>
              <a:t>Source: QuestaSim transcript</a:t>
            </a:r>
          </a:p>
        </p:txBody>
      </p:sp>
    </p:spTree>
    <p:extLst>
      <p:ext uri="{BB962C8B-B14F-4D97-AF65-F5344CB8AC3E}">
        <p14:creationId xmlns:p14="http://schemas.microsoft.com/office/powerpoint/2010/main" val="11023308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83597DA-365D-DA56-E5B2-D4A9D7CB98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358A675-7825-BA54-B5F1-BD202FD397C2}"/>
              </a:ext>
            </a:extLst>
          </p:cNvPr>
          <p:cNvSpPr txBox="1"/>
          <p:nvPr/>
        </p:nvSpPr>
        <p:spPr>
          <a:xfrm>
            <a:off x="281382" y="137159"/>
            <a:ext cx="7886700" cy="480060"/>
          </a:xfrm>
          <a:prstGeom prst="rect">
            <a:avLst/>
          </a:prstGeom>
          <a:noFill/>
          <a:ln/>
        </p:spPr>
        <p:txBody>
          <a:bodyPr wrap="square" lIns="0" tIns="0" rIns="0" bIns="0" rtlCol="0" anchor="ctr"/>
          <a:lstStyle/>
          <a:p>
            <a:r>
              <a:rPr lang="en-US" sz="2250" b="1">
                <a:solidFill>
                  <a:srgbClr val="1E2761"/>
                </a:solidFill>
                <a:latin typeface="Cambria" panose="02040503050406030204" pitchFamily="18" charset="0"/>
                <a:ea typeface="Cambria" pitchFamily="34" charset="-122"/>
                <a:cs typeface="Cambria" pitchFamily="34" charset="-120"/>
              </a:rPr>
              <a:t>System Path Unit Verification</a:t>
            </a:r>
            <a:endParaRPr lang="en-US" sz="2250" b="1" dirty="0">
              <a:solidFill>
                <a:srgbClr val="1E2761"/>
              </a:solidFill>
              <a:latin typeface="Cambria" panose="02040503050406030204" pitchFamily="18" charset="0"/>
            </a:endParaRPr>
          </a:p>
        </p:txBody>
      </p:sp>
      <p:sp>
        <p:nvSpPr>
          <p:cNvPr id="8" name="Shape 6">
            <a:extLst>
              <a:ext uri="{FF2B5EF4-FFF2-40B4-BE49-F238E27FC236}">
                <a16:creationId xmlns:a16="http://schemas.microsoft.com/office/drawing/2014/main" id="{067329D4-163F-EEA9-F16E-E53F26CFE413}"/>
              </a:ext>
            </a:extLst>
          </p:cNvPr>
          <p:cNvSpPr/>
          <p:nvPr/>
        </p:nvSpPr>
        <p:spPr>
          <a:xfrm>
            <a:off x="281382" y="617220"/>
            <a:ext cx="3650538" cy="4261067"/>
          </a:xfrm>
          <a:prstGeom prst="roundRect">
            <a:avLst>
              <a:gd name="adj" fmla="val 2326"/>
            </a:avLst>
          </a:prstGeom>
          <a:solidFill>
            <a:schemeClr val="bg1"/>
          </a:solidFill>
          <a:ln/>
        </p:spPr>
        <p:txBody>
          <a:bodyPr/>
          <a:lstStyle/>
          <a:p>
            <a:r>
              <a:rPr lang="en-US" sz="1400" b="1">
                <a:solidFill>
                  <a:srgbClr val="1E2761"/>
                </a:solidFill>
                <a:latin typeface="Times New Roman" panose="02020603050405020304" pitchFamily="18" charset="0"/>
                <a:cs typeface="Times New Roman" panose="02020603050405020304" pitchFamily="18" charset="0"/>
              </a:rPr>
              <a:t>Main Scenarios</a:t>
            </a:r>
          </a:p>
          <a:p>
            <a:endParaRPr lang="en-US" sz="1400" b="1">
              <a:solidFill>
                <a:srgbClr val="1E2761"/>
              </a:solidFill>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Control Unit: reset and idle-word drop</a:t>
            </a: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Configuration TLP and Link-Up</a:t>
            </a: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Transfer TLPs (two in a row)</a:t>
            </a: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Link-Up / config header in data phase</a:t>
            </a: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Invalid encryption mode</a:t>
            </a: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Bad or early header</a:t>
            </a: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Recovery after error</a:t>
            </a: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Random FIFO stalls</a:t>
            </a:r>
          </a:p>
          <a:p>
            <a:pPr marL="342900" indent="-342900">
              <a:buSzPct val="100000"/>
              <a:buFont typeface="Wingdings" panose="05000000000000000000" pitchFamily="2" charset="2"/>
              <a:buChar char="Ø"/>
            </a:pPr>
            <a:r>
              <a:rPr lang="en-US" sz="1200">
                <a:solidFill>
                  <a:srgbClr val="1E2761"/>
                </a:solidFill>
                <a:latin typeface="Times New Roman" panose="02020603050405020304" pitchFamily="18" charset="0"/>
                <a:cs typeface="Times New Roman" panose="02020603050405020304" pitchFamily="18" charset="0"/>
              </a:rPr>
              <a:t>Encryption &amp; parity mode vectors</a:t>
            </a:r>
          </a:p>
          <a:p>
            <a:endParaRPr lang="en-US" sz="1400">
              <a:solidFill>
                <a:srgbClr val="1E2761"/>
              </a:solidFill>
              <a:latin typeface="Times New Roman" panose="02020603050405020304" pitchFamily="18" charset="0"/>
              <a:cs typeface="Times New Roman" panose="02020603050405020304" pitchFamily="18" charset="0"/>
            </a:endParaRPr>
          </a:p>
          <a:p>
            <a:r>
              <a:rPr lang="en-US" sz="1400" b="1">
                <a:solidFill>
                  <a:srgbClr val="1E2761"/>
                </a:solidFill>
                <a:latin typeface="Times New Roman" panose="02020603050405020304" pitchFamily="18" charset="0"/>
                <a:cs typeface="Times New Roman" panose="02020603050405020304" pitchFamily="18" charset="0"/>
              </a:rPr>
              <a:t>Result</a:t>
            </a:r>
          </a:p>
          <a:p>
            <a:endParaRPr lang="en-US" sz="1200" b="1">
              <a:solidFill>
                <a:srgbClr val="1E2761"/>
              </a:solidFill>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ü"/>
            </a:pPr>
            <a:r>
              <a:rPr lang="en-US" sz="1200" b="1">
                <a:solidFill>
                  <a:srgbClr val="1E2761"/>
                </a:solidFill>
                <a:latin typeface="Times New Roman" panose="02020603050405020304" pitchFamily="18" charset="0"/>
                <a:cs typeface="Times New Roman" panose="02020603050405020304" pitchFamily="18" charset="0"/>
              </a:rPr>
              <a:t>Control Unit: 13 directed tests, 0 errors</a:t>
            </a:r>
          </a:p>
          <a:p>
            <a:pPr marL="342900" indent="-342900">
              <a:buSzPct val="100000"/>
              <a:buFont typeface="Wingdings" panose="05000000000000000000" pitchFamily="2" charset="2"/>
              <a:buChar char="ü"/>
            </a:pPr>
            <a:r>
              <a:rPr lang="en-US" sz="1200" b="1">
                <a:solidFill>
                  <a:srgbClr val="1E2761"/>
                </a:solidFill>
                <a:latin typeface="Times New Roman" panose="02020603050405020304" pitchFamily="18" charset="0"/>
                <a:cs typeface="Times New Roman" panose="02020603050405020304" pitchFamily="18" charset="0"/>
              </a:rPr>
              <a:t>Encryption Unit: 12/12 test cases PASS</a:t>
            </a:r>
          </a:p>
          <a:p>
            <a:pPr marL="342900" indent="-342900">
              <a:buSzPct val="100000"/>
              <a:buFont typeface="Wingdings" panose="05000000000000000000" pitchFamily="2" charset="2"/>
              <a:buChar char="ü"/>
            </a:pPr>
            <a:r>
              <a:rPr lang="en-US" sz="1200" b="1">
                <a:solidFill>
                  <a:srgbClr val="1E2761"/>
                </a:solidFill>
                <a:latin typeface="Times New Roman" panose="02020603050405020304" pitchFamily="18" charset="0"/>
                <a:cs typeface="Times New Roman" panose="02020603050405020304" pitchFamily="18" charset="0"/>
              </a:rPr>
              <a:t>Parity Unit: 8/8 test cases PASS</a:t>
            </a:r>
          </a:p>
          <a:p>
            <a:pPr marL="342900" indent="-342900">
              <a:buSzPct val="100000"/>
              <a:buFont typeface="Wingdings" panose="05000000000000000000" pitchFamily="2" charset="2"/>
              <a:buChar char="ü"/>
            </a:pPr>
            <a:r>
              <a:rPr lang="en-US" sz="1200">
                <a:solidFill>
                  <a:srgbClr val="1E2761"/>
                </a:solidFill>
                <a:latin typeface="Times New Roman" panose="02020603050405020304" pitchFamily="18" charset="0"/>
                <a:cs typeface="Times New Roman" panose="02020603050405020304" pitchFamily="18" charset="0"/>
              </a:rPr>
              <a:t>Error detection and recovery verified</a:t>
            </a:r>
          </a:p>
          <a:p>
            <a:pPr marL="342900" indent="-342900">
              <a:buSzPct val="100000"/>
              <a:buFont typeface="Wingdings" panose="05000000000000000000" pitchFamily="2" charset="2"/>
              <a:buChar char="ü"/>
            </a:pPr>
            <a:r>
              <a:rPr lang="en-US" sz="1200">
                <a:solidFill>
                  <a:srgbClr val="1E2761"/>
                </a:solidFill>
                <a:latin typeface="Times New Roman" panose="02020603050405020304" pitchFamily="18" charset="0"/>
                <a:cs typeface="Times New Roman" panose="02020603050405020304" pitchFamily="18" charset="0"/>
              </a:rPr>
              <a:t>Configuration and data sequencing verified</a:t>
            </a:r>
          </a:p>
          <a:p>
            <a:endParaRPr lang="en-US" sz="1200" dirty="0">
              <a:solidFill>
                <a:srgbClr val="1E2761"/>
              </a:solidFill>
              <a:latin typeface="Times New Roman" panose="02020603050405020304" pitchFamily="18" charset="0"/>
              <a:cs typeface="Times New Roman" panose="02020603050405020304" pitchFamily="18" charset="0"/>
            </a:endParaRPr>
          </a:p>
        </p:txBody>
      </p:sp>
      <p:sp>
        <p:nvSpPr>
          <p:cNvPr id="4" name="PLACEHOLDER">
            <a:extLst>
              <a:ext uri="{FF2B5EF4-FFF2-40B4-BE49-F238E27FC236}">
                <a16:creationId xmlns:a16="http://schemas.microsoft.com/office/drawing/2014/main" id="{D2A07133-ADA0-9CF3-89C0-7204F6D04EAF}"/>
              </a:ext>
            </a:extLst>
          </p:cNvPr>
          <p:cNvSpPr/>
          <p:nvPr/>
        </p:nvSpPr>
        <p:spPr>
          <a:xfrm>
            <a:off x="4105321" y="617220"/>
            <a:ext cx="4889997" cy="2043462"/>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control_unit_tb waveform: configuration, Link-Up and transfer writes</a:t>
            </a:r>
          </a:p>
          <a:p>
            <a:pPr algn="ctr"/>
            <a:r>
              <a:rPr lang="en-US" sz="1000" i="1">
                <a:solidFill>
                  <a:srgbClr val="3C3939"/>
                </a:solidFill>
                <a:latin typeface="Times New Roman" panose="02020603050405020304" pitchFamily="18" charset="0"/>
              </a:rPr>
              <a:t>Source: QuestaSim waveform</a:t>
            </a:r>
          </a:p>
        </p:txBody>
      </p:sp>
      <p:sp>
        <p:nvSpPr>
          <p:cNvPr id="9" name="PLACEHOLDER">
            <a:extLst>
              <a:ext uri="{FF2B5EF4-FFF2-40B4-BE49-F238E27FC236}">
                <a16:creationId xmlns:a16="http://schemas.microsoft.com/office/drawing/2014/main" id="{B77BA1A3-75A4-38FC-7D10-40C14B538CF6}"/>
              </a:ext>
            </a:extLst>
          </p:cNvPr>
          <p:cNvSpPr/>
          <p:nvPr/>
        </p:nvSpPr>
        <p:spPr>
          <a:xfrm>
            <a:off x="4105321" y="2660684"/>
            <a:ext cx="2524858" cy="2217604"/>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control_unit_tb transcript (13 tests)</a:t>
            </a:r>
          </a:p>
          <a:p>
            <a:pPr algn="ctr"/>
            <a:r>
              <a:rPr lang="en-US" sz="1000" i="1">
                <a:solidFill>
                  <a:srgbClr val="3C3939"/>
                </a:solidFill>
                <a:latin typeface="Times New Roman" panose="02020603050405020304" pitchFamily="18" charset="0"/>
              </a:rPr>
              <a:t>Source: QuestaSim transcript</a:t>
            </a:r>
          </a:p>
        </p:txBody>
      </p:sp>
      <p:sp>
        <p:nvSpPr>
          <p:cNvPr id="10" name="PLACEHOLDER">
            <a:extLst>
              <a:ext uri="{FF2B5EF4-FFF2-40B4-BE49-F238E27FC236}">
                <a16:creationId xmlns:a16="http://schemas.microsoft.com/office/drawing/2014/main" id="{718C6A48-5A00-EE48-9C42-2C96BEDD118E}"/>
              </a:ext>
            </a:extLst>
          </p:cNvPr>
          <p:cNvSpPr/>
          <p:nvPr/>
        </p:nvSpPr>
        <p:spPr>
          <a:xfrm>
            <a:off x="6644374" y="2660682"/>
            <a:ext cx="2363723" cy="2217605"/>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encryption_unit_tb and parity_unit_tb summaries (12/12, 8/8)</a:t>
            </a:r>
          </a:p>
          <a:p>
            <a:pPr algn="ctr"/>
            <a:r>
              <a:rPr lang="en-US" sz="1000" i="1">
                <a:solidFill>
                  <a:srgbClr val="3C3939"/>
                </a:solidFill>
                <a:latin typeface="Times New Roman" panose="02020603050405020304" pitchFamily="18" charset="0"/>
              </a:rPr>
              <a:t>Source: QuestaSim transcript</a:t>
            </a:r>
          </a:p>
        </p:txBody>
      </p:sp>
    </p:spTree>
    <p:extLst>
      <p:ext uri="{BB962C8B-B14F-4D97-AF65-F5344CB8AC3E}">
        <p14:creationId xmlns:p14="http://schemas.microsoft.com/office/powerpoint/2010/main" val="23280953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FB4211C-F2F7-F6AD-59E9-3533A6DBE5C0}"/>
              </a:ext>
            </a:extLst>
          </p:cNvPr>
          <p:cNvSpPr txBox="1"/>
          <p:nvPr/>
        </p:nvSpPr>
        <p:spPr>
          <a:xfrm>
            <a:off x="281382" y="137159"/>
            <a:ext cx="7886700" cy="480060"/>
          </a:xfrm>
          <a:prstGeom prst="rect">
            <a:avLst/>
          </a:prstGeom>
          <a:noFill/>
          <a:ln/>
        </p:spPr>
        <p:txBody>
          <a:bodyPr wrap="square" lIns="0" tIns="0" rIns="0" bIns="0" rtlCol="0" anchor="ctr"/>
          <a:lstStyle/>
          <a:p>
            <a:r>
              <a:rPr lang="en-US" sz="2250" b="1">
                <a:solidFill>
                  <a:srgbClr val="1E2761"/>
                </a:solidFill>
                <a:latin typeface="Cambria" panose="02040503050406030204" pitchFamily="18" charset="0"/>
                <a:ea typeface="Cambria" pitchFamily="34" charset="-122"/>
                <a:cs typeface="Cambria" pitchFamily="34" charset="-120"/>
              </a:rPr>
              <a:t>End-to-End Verification (UVM)</a:t>
            </a:r>
            <a:endParaRPr lang="en-US" sz="2250" b="1" dirty="0">
              <a:solidFill>
                <a:srgbClr val="1E2761"/>
              </a:solidFill>
              <a:latin typeface="Cambria" panose="02040503050406030204" pitchFamily="18" charset="0"/>
            </a:endParaRPr>
          </a:p>
        </p:txBody>
      </p:sp>
      <p:graphicFrame>
        <p:nvGraphicFramePr>
          <p:cNvPr id="6" name="Diagram 5">
            <a:extLst>
              <a:ext uri="{FF2B5EF4-FFF2-40B4-BE49-F238E27FC236}">
                <a16:creationId xmlns:a16="http://schemas.microsoft.com/office/drawing/2014/main" id="{19589891-CE46-CEA0-A10B-A1887DE84717}"/>
              </a:ext>
            </a:extLst>
          </p:cNvPr>
          <p:cNvGraphicFramePr/>
          <p:nvPr>
            <p:extLst>
              <p:ext uri="{D42A27DB-BD31-4B8C-83A1-F6EECF244321}">
                <p14:modId xmlns:p14="http://schemas.microsoft.com/office/powerpoint/2010/main" val="502574020"/>
              </p:ext>
            </p:extLst>
          </p:nvPr>
        </p:nvGraphicFramePr>
        <p:xfrm>
          <a:off x="5823045" y="712754"/>
          <a:ext cx="1942531"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Rounded Corners 11">
            <a:extLst>
              <a:ext uri="{FF2B5EF4-FFF2-40B4-BE49-F238E27FC236}">
                <a16:creationId xmlns:a16="http://schemas.microsoft.com/office/drawing/2014/main" id="{79C0FA1E-E552-D62C-0BAE-38A8D488092A}"/>
              </a:ext>
            </a:extLst>
          </p:cNvPr>
          <p:cNvSpPr/>
          <p:nvPr/>
        </p:nvSpPr>
        <p:spPr>
          <a:xfrm>
            <a:off x="532264" y="637691"/>
            <a:ext cx="3821372" cy="4159535"/>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a:lstStyle/>
          <a:p>
            <a:endParaRPr lang="en-US"/>
          </a:p>
        </p:txBody>
      </p:sp>
      <p:sp>
        <p:nvSpPr>
          <p:cNvPr id="7" name="TextBox 6">
            <a:extLst>
              <a:ext uri="{FF2B5EF4-FFF2-40B4-BE49-F238E27FC236}">
                <a16:creationId xmlns:a16="http://schemas.microsoft.com/office/drawing/2014/main" id="{B3532FDA-9D67-0797-0036-08DC1A5CF109}"/>
              </a:ext>
            </a:extLst>
          </p:cNvPr>
          <p:cNvSpPr txBox="1"/>
          <p:nvPr/>
        </p:nvSpPr>
        <p:spPr>
          <a:xfrm>
            <a:off x="736979" y="812043"/>
            <a:ext cx="3411941" cy="3970318"/>
          </a:xfrm>
          <a:prstGeom prst="rect">
            <a:avLst/>
          </a:prstGeom>
          <a:noFill/>
        </p:spPr>
        <p:txBody>
          <a:bodyPr wrap="square" rtlCol="0">
            <a:spAutoFit/>
          </a:bodyPr>
          <a:lstStyle/>
          <a:p>
            <a:r>
              <a:rPr lang="en-US" b="1">
                <a:solidFill>
                  <a:srgbClr val="FFFFFF"/>
                </a:solidFill>
                <a:latin typeface="Times New Roman" panose="02020603050405020304" pitchFamily="18" charset="0"/>
                <a:cs typeface="Times New Roman" panose="02020603050405020304" pitchFamily="18" charset="0"/>
              </a:rPr>
              <a:t>Verification Includes</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Driver, monitor, agent, env</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Reset + directed sequences</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CFG_LINK_XFER</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TWO_TLP_ONE_FLIT</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ERR_TX_FLIT</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TX_CREDIT_STALL</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Credit-based flow control</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CDC / Async FIFO transfer</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Encryption and parity</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Address translation</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CDM writes</a:t>
            </a:r>
          </a:p>
          <a:p>
            <a:pPr marL="342900" indent="-342900">
              <a:buSzPct val="100000"/>
              <a:buFont typeface="Wingdings" panose="05000000000000000000" pitchFamily="2" charset="2"/>
              <a:buChar char="Ø"/>
            </a:pPr>
            <a:r>
              <a:rPr lang="en-US">
                <a:solidFill>
                  <a:srgbClr val="FFFFFF"/>
                </a:solidFill>
                <a:latin typeface="Times New Roman" panose="02020603050405020304" pitchFamily="18" charset="0"/>
                <a:cs typeface="Times New Roman" panose="02020603050405020304" pitchFamily="18" charset="0"/>
              </a:rPr>
              <a:t>Error response FLIT</a:t>
            </a:r>
          </a:p>
          <a:p>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70867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8D92A89-26A1-E1FE-A142-12E45997F4F0}"/>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B14DDFF1-99AE-FF2B-2C4C-69EE68A360FC}"/>
              </a:ext>
            </a:extLst>
          </p:cNvPr>
          <p:cNvSpPr txBox="1"/>
          <p:nvPr/>
        </p:nvSpPr>
        <p:spPr>
          <a:xfrm>
            <a:off x="281382" y="13715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Initialization &amp; Configuration</a:t>
            </a:r>
            <a:endParaRPr lang="en-US" sz="2250" dirty="0"/>
          </a:p>
        </p:txBody>
      </p:sp>
      <p:sp>
        <p:nvSpPr>
          <p:cNvPr id="2" name="TextBox 1">
            <a:extLst>
              <a:ext uri="{FF2B5EF4-FFF2-40B4-BE49-F238E27FC236}">
                <a16:creationId xmlns:a16="http://schemas.microsoft.com/office/drawing/2014/main" id="{EB2AA16C-3B35-CA44-2FF8-A1DD9643DE65}"/>
              </a:ext>
            </a:extLst>
          </p:cNvPr>
          <p:cNvSpPr txBox="1"/>
          <p:nvPr/>
        </p:nvSpPr>
        <p:spPr>
          <a:xfrm>
            <a:off x="361668" y="696038"/>
            <a:ext cx="3111688" cy="3647152"/>
          </a:xfrm>
          <a:prstGeom prst="rect">
            <a:avLst/>
          </a:prstGeom>
          <a:noFill/>
        </p:spPr>
        <p:txBody>
          <a:bodyPr wrap="square" rtlCol="0">
            <a:spAutoFit/>
          </a:bodyPr>
          <a:lstStyle/>
          <a:p>
            <a:r>
              <a:rPr lang="en-US" sz="1100" b="1">
                <a:solidFill>
                  <a:srgbClr val="1E2761"/>
                </a:solidFill>
                <a:latin typeface="Times New Roman" panose="02020603050405020304" pitchFamily="18" charset="0"/>
                <a:cs typeface="Times New Roman" panose="02020603050405020304" pitchFamily="18" charset="0"/>
              </a:rPr>
              <a:t>1. Reset</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Both clock domains reset; FSM starts in S_IDLE.</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Words before a Configuration header are dropped.</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RX credits start at the FLIT FIFO depth.</a:t>
            </a:r>
          </a:p>
          <a:p>
            <a:r>
              <a:rPr lang="en-US" sz="1100" b="1">
                <a:solidFill>
                  <a:srgbClr val="1E2761"/>
                </a:solidFill>
                <a:latin typeface="Times New Roman" panose="02020603050405020304" pitchFamily="18" charset="0"/>
                <a:cs typeface="Times New Roman" panose="02020603050405020304" pitchFamily="18" charset="0"/>
              </a:rPr>
              <a:t>2. Configuration TLP</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Global register written directly to CDM 0x00.</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Device entries written to 0x01, 0x02, …</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After DEV_COUNT entries only a Link-Up header is accepted.</a:t>
            </a:r>
          </a:p>
          <a:p>
            <a:r>
              <a:rPr lang="en-US" sz="1100" b="1">
                <a:solidFill>
                  <a:srgbClr val="1E2761"/>
                </a:solidFill>
                <a:latin typeface="Times New Roman" panose="02020603050405020304" pitchFamily="18" charset="0"/>
                <a:cs typeface="Times New Roman" panose="02020603050405020304" pitchFamily="18" charset="0"/>
              </a:rPr>
              <a:t>3. Configuration Validation</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Invalid ENC_MODE in the header.</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Wrong header type during / after configuration.</a:t>
            </a:r>
          </a:p>
          <a:p>
            <a:r>
              <a:rPr lang="en-US" sz="1100" b="1">
                <a:solidFill>
                  <a:srgbClr val="1E2761"/>
                </a:solidFill>
                <a:latin typeface="Times New Roman" panose="02020603050405020304" pitchFamily="18" charset="0"/>
                <a:cs typeface="Times New Roman" panose="02020603050405020304" pitchFamily="18" charset="0"/>
              </a:rPr>
              <a:t>Expected behavior:</a:t>
            </a:r>
            <a:r>
              <a:rPr lang="en-US" sz="1100">
                <a:solidFill>
                  <a:srgbClr val="1E2761"/>
                </a:solidFill>
                <a:latin typeface="Times New Roman" panose="02020603050405020304" pitchFamily="18" charset="0"/>
                <a:cs typeface="Times New Roman" panose="02020603050405020304" pitchFamily="18" charset="0"/>
              </a:rPr>
              <a:t> Invalid configuration → S_ERROR → error_valid pulse → response FLIT.</a:t>
            </a:r>
          </a:p>
          <a:p>
            <a:r>
              <a:rPr lang="en-US" sz="1100" b="1">
                <a:solidFill>
                  <a:srgbClr val="1E2761"/>
                </a:solidFill>
                <a:latin typeface="Times New Roman" panose="02020603050405020304" pitchFamily="18" charset="0"/>
                <a:cs typeface="Times New Roman" panose="02020603050405020304" pitchFamily="18" charset="0"/>
              </a:rPr>
              <a:t>4. Link-Up</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Link-Up TLP consumed; payload words written.</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FSM enters the data phase (S_DATA_HDR).</a:t>
            </a:r>
          </a:p>
          <a:p>
            <a:endParaRPr lang="en-US" sz="1100" dirty="0">
              <a:solidFill>
                <a:srgbClr val="1E2761"/>
              </a:solidFill>
              <a:latin typeface="Times New Roman" panose="02020603050405020304" pitchFamily="18" charset="0"/>
              <a:cs typeface="Times New Roman" panose="02020603050405020304" pitchFamily="18" charset="0"/>
            </a:endParaRPr>
          </a:p>
        </p:txBody>
      </p:sp>
      <p:sp>
        <p:nvSpPr>
          <p:cNvPr id="6" name="PLACEHOLDER">
            <a:extLst>
              <a:ext uri="{FF2B5EF4-FFF2-40B4-BE49-F238E27FC236}">
                <a16:creationId xmlns:a16="http://schemas.microsoft.com/office/drawing/2014/main" id="{3C8149F4-D57F-6169-EFE2-3F160011F1DA}"/>
              </a:ext>
            </a:extLst>
          </p:cNvPr>
          <p:cNvSpPr/>
          <p:nvPr/>
        </p:nvSpPr>
        <p:spPr>
          <a:xfrm>
            <a:off x="3936015" y="805218"/>
            <a:ext cx="4957549" cy="1594619"/>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UVM waveform: reset and configuration TLP reception</a:t>
            </a:r>
          </a:p>
          <a:p>
            <a:pPr algn="ctr"/>
            <a:r>
              <a:rPr lang="en-US" sz="1000" i="1">
                <a:solidFill>
                  <a:srgbClr val="3C3939"/>
                </a:solidFill>
                <a:latin typeface="Times New Roman" panose="02020603050405020304" pitchFamily="18" charset="0"/>
              </a:rPr>
              <a:t>Source: QuestaSim waveform (enc_sys_uvm)</a:t>
            </a:r>
          </a:p>
        </p:txBody>
      </p:sp>
      <p:sp>
        <p:nvSpPr>
          <p:cNvPr id="7" name="PLACEHOLDER">
            <a:extLst>
              <a:ext uri="{FF2B5EF4-FFF2-40B4-BE49-F238E27FC236}">
                <a16:creationId xmlns:a16="http://schemas.microsoft.com/office/drawing/2014/main" id="{22DE0B39-53FE-B5C7-B082-7C3E49E0C04A}"/>
              </a:ext>
            </a:extLst>
          </p:cNvPr>
          <p:cNvSpPr/>
          <p:nvPr/>
        </p:nvSpPr>
        <p:spPr>
          <a:xfrm>
            <a:off x="3936014" y="2399837"/>
            <a:ext cx="4957549" cy="1094891"/>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100" b="1">
                <a:solidFill>
                  <a:srgbClr val="3C3939"/>
                </a:solidFill>
                <a:latin typeface="Times New Roman" panose="02020603050405020304" pitchFamily="18" charset="0"/>
              </a:rPr>
              <a:t>PLACEHOLDER</a:t>
            </a:r>
          </a:p>
          <a:p>
            <a:pPr algn="ctr"/>
            <a:r>
              <a:rPr lang="en-US" sz="900">
                <a:solidFill>
                  <a:srgbClr val="3C3939"/>
                </a:solidFill>
                <a:latin typeface="Times New Roman" panose="02020603050405020304" pitchFamily="18" charset="0"/>
              </a:rPr>
              <a:t>UVM waveform: CDM writes at 0x00 and 0x01+</a:t>
            </a:r>
          </a:p>
          <a:p>
            <a:pPr algn="ctr"/>
            <a:r>
              <a:rPr lang="en-US" sz="800" i="1">
                <a:solidFill>
                  <a:srgbClr val="3C3939"/>
                </a:solidFill>
                <a:latin typeface="Times New Roman" panose="02020603050405020304" pitchFamily="18" charset="0"/>
              </a:rPr>
              <a:t>Source: QuestaSim waveform (enc_sys_uvm)</a:t>
            </a:r>
          </a:p>
        </p:txBody>
      </p:sp>
      <p:sp>
        <p:nvSpPr>
          <p:cNvPr id="10" name="PLACEHOLDER">
            <a:extLst>
              <a:ext uri="{FF2B5EF4-FFF2-40B4-BE49-F238E27FC236}">
                <a16:creationId xmlns:a16="http://schemas.microsoft.com/office/drawing/2014/main" id="{F62FF35D-1206-0473-9B1D-32D6FE0D44FF}"/>
              </a:ext>
            </a:extLst>
          </p:cNvPr>
          <p:cNvSpPr/>
          <p:nvPr/>
        </p:nvSpPr>
        <p:spPr>
          <a:xfrm>
            <a:off x="3936013" y="3494728"/>
            <a:ext cx="4957550" cy="1521624"/>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UVM waveform: invalid ENC_MODE → S_ERROR, error_valid pulse</a:t>
            </a:r>
          </a:p>
          <a:p>
            <a:pPr algn="ctr"/>
            <a:r>
              <a:rPr lang="en-US" sz="1000" i="1">
                <a:solidFill>
                  <a:srgbClr val="3C3939"/>
                </a:solidFill>
                <a:latin typeface="Times New Roman" panose="02020603050405020304" pitchFamily="18" charset="0"/>
              </a:rPr>
              <a:t>Source: QuestaSim waveform (enc_sys_uvm)</a:t>
            </a:r>
          </a:p>
        </p:txBody>
      </p:sp>
    </p:spTree>
    <p:extLst>
      <p:ext uri="{BB962C8B-B14F-4D97-AF65-F5344CB8AC3E}">
        <p14:creationId xmlns:p14="http://schemas.microsoft.com/office/powerpoint/2010/main" val="8642486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AB14F5C-95F6-607F-AA3F-93DEBD08BE64}"/>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890B07C1-BAD4-D46B-3F3F-F3B27DA321A9}"/>
              </a:ext>
            </a:extLst>
          </p:cNvPr>
          <p:cNvSpPr txBox="1"/>
          <p:nvPr/>
        </p:nvSpPr>
        <p:spPr>
          <a:xfrm>
            <a:off x="281382" y="13715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Data Processing</a:t>
            </a:r>
            <a:endParaRPr lang="en-US" sz="2250" dirty="0"/>
          </a:p>
        </p:txBody>
      </p:sp>
      <p:sp>
        <p:nvSpPr>
          <p:cNvPr id="2" name="TextBox 1">
            <a:extLst>
              <a:ext uri="{FF2B5EF4-FFF2-40B4-BE49-F238E27FC236}">
                <a16:creationId xmlns:a16="http://schemas.microsoft.com/office/drawing/2014/main" id="{4F92863B-5E0D-5E91-5E24-C6821D659A30}"/>
              </a:ext>
            </a:extLst>
          </p:cNvPr>
          <p:cNvSpPr txBox="1"/>
          <p:nvPr/>
        </p:nvSpPr>
        <p:spPr>
          <a:xfrm>
            <a:off x="361668" y="696038"/>
            <a:ext cx="3111688" cy="3477875"/>
          </a:xfrm>
          <a:prstGeom prst="rect">
            <a:avLst/>
          </a:prstGeom>
          <a:noFill/>
        </p:spPr>
        <p:txBody>
          <a:bodyPr wrap="square" rtlCol="0">
            <a:spAutoFit/>
          </a:bodyPr>
          <a:lstStyle/>
          <a:p>
            <a:r>
              <a:rPr lang="en-US" sz="1100" b="1">
                <a:solidFill>
                  <a:srgbClr val="1E2761"/>
                </a:solidFill>
                <a:latin typeface="Times New Roman" panose="02020603050405020304" pitchFamily="18" charset="0"/>
                <a:cs typeface="Times New Roman" panose="02020603050405020304" pitchFamily="18" charset="0"/>
              </a:rPr>
              <a:t>1. Data processing test cases</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Correct TLP header decoding</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Correct payload split: ADDR [31:24], DATA [15:0]</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Correct base + logical address translation</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Correct encryption result</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Correct parity generation</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Correct CDM write address and stored data</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Two TLPs in one FLIT (words 0–3 and 4–7)</a:t>
            </a:r>
          </a:p>
          <a:p>
            <a:endParaRPr lang="en-US" sz="1100">
              <a:solidFill>
                <a:srgbClr val="1E2761"/>
              </a:solidFill>
              <a:latin typeface="Times New Roman" panose="02020603050405020304" pitchFamily="18" charset="0"/>
              <a:cs typeface="Times New Roman" panose="02020603050405020304" pitchFamily="18" charset="0"/>
            </a:endParaRPr>
          </a:p>
          <a:p>
            <a:r>
              <a:rPr lang="en-US" sz="1100" b="1">
                <a:solidFill>
                  <a:srgbClr val="1E2761"/>
                </a:solidFill>
                <a:latin typeface="Times New Roman" panose="02020603050405020304" pitchFamily="18" charset="0"/>
                <a:cs typeface="Times New Roman" panose="02020603050405020304" pitchFamily="18" charset="0"/>
              </a:rPr>
              <a:t>2. Error handling in data phase</a:t>
            </a:r>
          </a:p>
          <a:p>
            <a:r>
              <a:rPr lang="en-US" sz="1100" b="1">
                <a:solidFill>
                  <a:srgbClr val="1E2761"/>
                </a:solidFill>
                <a:latin typeface="Times New Roman" panose="02020603050405020304" pitchFamily="18" charset="0"/>
                <a:cs typeface="Times New Roman" panose="02020603050405020304" pitchFamily="18" charset="0"/>
              </a:rPr>
              <a:t>Expected behavior:</a:t>
            </a:r>
            <a:r>
              <a:rPr lang="en-US" sz="1100">
                <a:solidFill>
                  <a:srgbClr val="1E2761"/>
                </a:solidFill>
                <a:latin typeface="Times New Roman" panose="02020603050405020304" pitchFamily="18" charset="0"/>
                <a:cs typeface="Times New Roman" panose="02020603050405020304" pitchFamily="18" charset="0"/>
              </a:rPr>
              <a:t> Idle / Config header in the data phase → S_ERROR → error_valid pulse → response FLIT.</a:t>
            </a:r>
          </a:p>
          <a:p>
            <a:endParaRPr lang="en-US" sz="1100">
              <a:solidFill>
                <a:srgbClr val="1E2761"/>
              </a:solidFill>
              <a:latin typeface="Times New Roman" panose="02020603050405020304" pitchFamily="18" charset="0"/>
              <a:cs typeface="Times New Roman" panose="02020603050405020304" pitchFamily="18" charset="0"/>
            </a:endParaRPr>
          </a:p>
          <a:p>
            <a:r>
              <a:rPr lang="en-US" sz="1100" b="1">
                <a:solidFill>
                  <a:srgbClr val="1E2761"/>
                </a:solidFill>
                <a:latin typeface="Times New Roman" panose="02020603050405020304" pitchFamily="18" charset="0"/>
                <a:cs typeface="Times New Roman" panose="02020603050405020304" pitchFamily="18" charset="0"/>
              </a:rPr>
              <a:t>3. Valid Data</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Transfer payloads written encrypted + parity.</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A Link-Up header returns the FSM to S_LINK_UP.</a:t>
            </a:r>
          </a:p>
          <a:p>
            <a:endParaRPr lang="en-US" sz="1100" dirty="0">
              <a:solidFill>
                <a:srgbClr val="1E2761"/>
              </a:solidFill>
              <a:latin typeface="Times New Roman" panose="02020603050405020304" pitchFamily="18" charset="0"/>
              <a:cs typeface="Times New Roman" panose="02020603050405020304" pitchFamily="18" charset="0"/>
            </a:endParaRPr>
          </a:p>
        </p:txBody>
      </p:sp>
      <p:sp>
        <p:nvSpPr>
          <p:cNvPr id="3" name="PLACEHOLDER">
            <a:extLst>
              <a:ext uri="{FF2B5EF4-FFF2-40B4-BE49-F238E27FC236}">
                <a16:creationId xmlns:a16="http://schemas.microsoft.com/office/drawing/2014/main" id="{DD7967F7-4B69-048F-007E-5037A531B056}"/>
              </a:ext>
            </a:extLst>
          </p:cNvPr>
          <p:cNvSpPr/>
          <p:nvPr/>
        </p:nvSpPr>
        <p:spPr>
          <a:xfrm>
            <a:off x="3411415" y="696039"/>
            <a:ext cx="5554588" cy="1875712"/>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UVM waveform: Transfer TLP → ATU address, encrypted + parity CDM write</a:t>
            </a:r>
          </a:p>
          <a:p>
            <a:pPr algn="ctr"/>
            <a:r>
              <a:rPr lang="en-US" sz="1000" i="1">
                <a:solidFill>
                  <a:srgbClr val="3C3939"/>
                </a:solidFill>
                <a:latin typeface="Times New Roman" panose="02020603050405020304" pitchFamily="18" charset="0"/>
              </a:rPr>
              <a:t>Source: QuestaSim waveform (enc_sys_uvm)</a:t>
            </a:r>
          </a:p>
        </p:txBody>
      </p:sp>
      <p:sp>
        <p:nvSpPr>
          <p:cNvPr id="5" name="PLACEHOLDER">
            <a:extLst>
              <a:ext uri="{FF2B5EF4-FFF2-40B4-BE49-F238E27FC236}">
                <a16:creationId xmlns:a16="http://schemas.microsoft.com/office/drawing/2014/main" id="{BDD8B555-BA6F-B3FC-D000-0C22433BE6FA}"/>
              </a:ext>
            </a:extLst>
          </p:cNvPr>
          <p:cNvSpPr/>
          <p:nvPr/>
        </p:nvSpPr>
        <p:spPr>
          <a:xfrm>
            <a:off x="3411413" y="2783058"/>
            <a:ext cx="5554587" cy="1972136"/>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UVM waveform: TWO_TLP_ONE_FLIT, words 0–3 and 4–7</a:t>
            </a:r>
          </a:p>
          <a:p>
            <a:pPr algn="ctr"/>
            <a:r>
              <a:rPr lang="en-US" sz="1000" i="1">
                <a:solidFill>
                  <a:srgbClr val="3C3939"/>
                </a:solidFill>
                <a:latin typeface="Times New Roman" panose="02020603050405020304" pitchFamily="18" charset="0"/>
              </a:rPr>
              <a:t>Source: QuestaSim waveform (enc_sys_uvm)</a:t>
            </a:r>
          </a:p>
        </p:txBody>
      </p:sp>
    </p:spTree>
    <p:extLst>
      <p:ext uri="{BB962C8B-B14F-4D97-AF65-F5344CB8AC3E}">
        <p14:creationId xmlns:p14="http://schemas.microsoft.com/office/powerpoint/2010/main" val="17137875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8E6F6626-8E23-5A97-AAE4-0FACC7FD7E89}"/>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C9F79F8B-CD78-02AA-0997-9F51C6EC63CF}"/>
              </a:ext>
            </a:extLst>
          </p:cNvPr>
          <p:cNvSpPr txBox="1"/>
          <p:nvPr/>
        </p:nvSpPr>
        <p:spPr>
          <a:xfrm>
            <a:off x="281382" y="137159"/>
            <a:ext cx="7886700" cy="480060"/>
          </a:xfrm>
          <a:prstGeom prst="rect">
            <a:avLst/>
          </a:prstGeom>
          <a:noFill/>
          <a:ln/>
        </p:spPr>
        <p:txBody>
          <a:bodyPr wrap="square" lIns="0" tIns="0" rIns="0" bIns="0" rtlCol="0" anchor="ctr"/>
          <a:lstStyle/>
          <a:p>
            <a:r>
              <a:rPr lang="en-US" sz="2250" b="1">
                <a:solidFill>
                  <a:srgbClr val="1E2761"/>
                </a:solidFill>
                <a:latin typeface="Cambria" panose="02040503050406030204" pitchFamily="18" charset="0"/>
                <a:ea typeface="Cambria" pitchFamily="34" charset="-122"/>
                <a:cs typeface="Cambria" pitchFamily="34" charset="-120"/>
              </a:rPr>
              <a:t>Error Response &amp; TX Credit Flow</a:t>
            </a:r>
            <a:endParaRPr lang="en-US" sz="2250" b="1" dirty="0">
              <a:solidFill>
                <a:srgbClr val="1E2761"/>
              </a:solidFill>
              <a:latin typeface="Cambria" panose="02040503050406030204" pitchFamily="18" charset="0"/>
            </a:endParaRPr>
          </a:p>
        </p:txBody>
      </p:sp>
      <p:sp>
        <p:nvSpPr>
          <p:cNvPr id="2" name="TextBox 1">
            <a:extLst>
              <a:ext uri="{FF2B5EF4-FFF2-40B4-BE49-F238E27FC236}">
                <a16:creationId xmlns:a16="http://schemas.microsoft.com/office/drawing/2014/main" id="{888CB677-0ACB-4C07-AF36-667D63FF149D}"/>
              </a:ext>
            </a:extLst>
          </p:cNvPr>
          <p:cNvSpPr txBox="1"/>
          <p:nvPr/>
        </p:nvSpPr>
        <p:spPr>
          <a:xfrm>
            <a:off x="361668" y="696038"/>
            <a:ext cx="3111688" cy="2970044"/>
          </a:xfrm>
          <a:prstGeom prst="rect">
            <a:avLst/>
          </a:prstGeom>
          <a:noFill/>
        </p:spPr>
        <p:txBody>
          <a:bodyPr wrap="square" rtlCol="0">
            <a:spAutoFit/>
          </a:bodyPr>
          <a:lstStyle/>
          <a:p>
            <a:r>
              <a:rPr lang="en-US" sz="1100" b="1">
                <a:solidFill>
                  <a:srgbClr val="1E2761"/>
                </a:solidFill>
                <a:latin typeface="Times New Roman" panose="02020603050405020304" pitchFamily="18" charset="0"/>
                <a:cs typeface="Times New Roman" panose="02020603050405020304" pitchFamily="18" charset="0"/>
              </a:rPr>
              <a:t>1. Error Response (ERR_TX_FLIT)</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Invalid ENC_MODE in the configuration header.</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Control Unit pulses error_valid with code 01.</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Pulse crosses System → CXS via the toggle synchronizer.</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Packet Encoder builds a response FLIT (opcode 0xE0).</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TX Interface sends it while TX credit is available.</a:t>
            </a:r>
          </a:p>
          <a:p>
            <a:endParaRPr lang="en-US" sz="1100">
              <a:solidFill>
                <a:srgbClr val="1E2761"/>
              </a:solidFill>
              <a:latin typeface="Times New Roman" panose="02020603050405020304" pitchFamily="18" charset="0"/>
              <a:cs typeface="Times New Roman" panose="02020603050405020304" pitchFamily="18" charset="0"/>
            </a:endParaRPr>
          </a:p>
          <a:p>
            <a:r>
              <a:rPr lang="en-US" sz="1100" b="1">
                <a:solidFill>
                  <a:srgbClr val="1E2761"/>
                </a:solidFill>
                <a:latin typeface="Times New Roman" panose="02020603050405020304" pitchFamily="18" charset="0"/>
                <a:cs typeface="Times New Roman" panose="02020603050405020304" pitchFamily="18" charset="0"/>
              </a:rPr>
              <a:t>2. TX Credit Stall (TX_CREDIT_STALL)</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Same error with no TX credit granted.</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Response FLIT held in the TX holding register.</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flit_ready stays low; nothing is transmitted.</a:t>
            </a:r>
          </a:p>
          <a:p>
            <a:pPr marL="228600" indent="-228600">
              <a:buSzPct val="100000"/>
              <a:buFont typeface="Wingdings" panose="05000000000000000000" pitchFamily="2" charset="2"/>
              <a:buChar char="§"/>
            </a:pPr>
            <a:r>
              <a:rPr lang="en-US" sz="1100">
                <a:solidFill>
                  <a:srgbClr val="1E2761"/>
                </a:solidFill>
                <a:latin typeface="Times New Roman" panose="02020603050405020304" pitchFamily="18" charset="0"/>
                <a:cs typeface="Times New Roman" panose="02020603050405020304" pitchFamily="18" charset="0"/>
              </a:rPr>
              <a:t>One CXSTXCRDGNT releases the FLIT.</a:t>
            </a:r>
          </a:p>
          <a:p>
            <a:endParaRPr lang="en-US" sz="1100" dirty="0">
              <a:solidFill>
                <a:srgbClr val="1E2761"/>
              </a:solidFill>
              <a:latin typeface="Times New Roman" panose="02020603050405020304" pitchFamily="18" charset="0"/>
              <a:cs typeface="Times New Roman" panose="02020603050405020304" pitchFamily="18" charset="0"/>
            </a:endParaRPr>
          </a:p>
        </p:txBody>
      </p:sp>
      <p:sp>
        <p:nvSpPr>
          <p:cNvPr id="5" name="PLACEHOLDER">
            <a:extLst>
              <a:ext uri="{FF2B5EF4-FFF2-40B4-BE49-F238E27FC236}">
                <a16:creationId xmlns:a16="http://schemas.microsoft.com/office/drawing/2014/main" id="{82778D86-C96E-D9AE-AC53-262481169E7E}"/>
              </a:ext>
            </a:extLst>
          </p:cNvPr>
          <p:cNvSpPr/>
          <p:nvPr/>
        </p:nvSpPr>
        <p:spPr>
          <a:xfrm>
            <a:off x="3473356" y="696038"/>
            <a:ext cx="5554587" cy="2022124"/>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UVM waveform: ERR_TX_FLIT — response FLIT (opcode 0xE0) on CXSTXDATA</a:t>
            </a:r>
          </a:p>
          <a:p>
            <a:pPr algn="ctr"/>
            <a:r>
              <a:rPr lang="en-US" sz="1000" i="1">
                <a:solidFill>
                  <a:srgbClr val="3C3939"/>
                </a:solidFill>
                <a:latin typeface="Times New Roman" panose="02020603050405020304" pitchFamily="18" charset="0"/>
              </a:rPr>
              <a:t>Source: QuestaSim waveform (enc_sys_uvm)</a:t>
            </a:r>
          </a:p>
        </p:txBody>
      </p:sp>
      <p:sp>
        <p:nvSpPr>
          <p:cNvPr id="6" name="PLACEHOLDER">
            <a:extLst>
              <a:ext uri="{FF2B5EF4-FFF2-40B4-BE49-F238E27FC236}">
                <a16:creationId xmlns:a16="http://schemas.microsoft.com/office/drawing/2014/main" id="{EFD83D7E-150C-44B0-46C1-80676890A2D0}"/>
              </a:ext>
            </a:extLst>
          </p:cNvPr>
          <p:cNvSpPr/>
          <p:nvPr/>
        </p:nvSpPr>
        <p:spPr>
          <a:xfrm>
            <a:off x="3440126" y="2884266"/>
            <a:ext cx="5587818" cy="2022124"/>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UVM waveform: TX_CREDIT_STALL — FLIT held until CXSTXCRDGNT</a:t>
            </a:r>
          </a:p>
          <a:p>
            <a:pPr algn="ctr"/>
            <a:r>
              <a:rPr lang="en-US" sz="1000" i="1">
                <a:solidFill>
                  <a:srgbClr val="3C3939"/>
                </a:solidFill>
                <a:latin typeface="Times New Roman" panose="02020603050405020304" pitchFamily="18" charset="0"/>
              </a:rPr>
              <a:t>Source: QuestaSim waveform (enc_sys_uvm)</a:t>
            </a:r>
          </a:p>
        </p:txBody>
      </p:sp>
    </p:spTree>
    <p:extLst>
      <p:ext uri="{BB962C8B-B14F-4D97-AF65-F5344CB8AC3E}">
        <p14:creationId xmlns:p14="http://schemas.microsoft.com/office/powerpoint/2010/main" val="19892371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E17BCBA-4583-8BA1-C09F-39426EDEB641}"/>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61E1AD2F-9718-35E2-0DC9-1BEB47D1B65E}"/>
              </a:ext>
            </a:extLst>
          </p:cNvPr>
          <p:cNvSpPr txBox="1"/>
          <p:nvPr/>
        </p:nvSpPr>
        <p:spPr>
          <a:xfrm>
            <a:off x="281382" y="26376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Verification Results</a:t>
            </a:r>
            <a:endParaRPr lang="en-US" sz="2250" dirty="0"/>
          </a:p>
        </p:txBody>
      </p:sp>
      <p:sp>
        <p:nvSpPr>
          <p:cNvPr id="23" name="Shape 6">
            <a:extLst>
              <a:ext uri="{FF2B5EF4-FFF2-40B4-BE49-F238E27FC236}">
                <a16:creationId xmlns:a16="http://schemas.microsoft.com/office/drawing/2014/main" id="{6D65F290-AA7F-71C5-49D3-13930EC72533}"/>
              </a:ext>
            </a:extLst>
          </p:cNvPr>
          <p:cNvSpPr/>
          <p:nvPr/>
        </p:nvSpPr>
        <p:spPr>
          <a:xfrm>
            <a:off x="281382" y="926611"/>
            <a:ext cx="3622403" cy="3131918"/>
          </a:xfrm>
          <a:prstGeom prst="roundRect">
            <a:avLst>
              <a:gd name="adj" fmla="val 2326"/>
            </a:avLst>
          </a:prstGeom>
          <a:solidFill>
            <a:srgbClr val="1E2761"/>
          </a:solidFill>
          <a:ln/>
        </p:spPr>
        <p:txBody>
          <a:bodyPr/>
          <a:lstStyle/>
          <a:p>
            <a:r>
              <a:rPr lang="en-US" sz="1400" b="1">
                <a:solidFill>
                  <a:srgbClr val="FFFFFF"/>
                </a:solidFill>
                <a:latin typeface="Times New Roman" panose="02020603050405020304" pitchFamily="18" charset="0"/>
                <a:cs typeface="Times New Roman" panose="02020603050405020304" pitchFamily="18" charset="0"/>
              </a:rPr>
              <a:t>Verification Summary</a:t>
            </a:r>
          </a:p>
          <a:p>
            <a:endParaRPr lang="en-US" sz="1400" b="1">
              <a:solidFill>
                <a:srgbClr val="FFFFFF"/>
              </a:solidFill>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Async FIFO unit test</a:t>
            </a: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Packet Formatter: 5 unit tests</a:t>
            </a: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Control Unit: 13 unit tests</a:t>
            </a: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Encryption Unit: 12/12</a:t>
            </a: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Parity Unit: 8/8</a:t>
            </a: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UVM: CFG_LINK_XFER</a:t>
            </a: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UVM: TWO_TLP_ONE_FLIT</a:t>
            </a: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UVM: ERR_TX_FLIT</a:t>
            </a:r>
          </a:p>
          <a:p>
            <a:pPr marL="342900" indent="-342900">
              <a:buSzPct val="100000"/>
              <a:buFont typeface="Wingdings" panose="05000000000000000000" pitchFamily="2" charset="2"/>
              <a:buChar char="ü"/>
            </a:pPr>
            <a:r>
              <a:rPr lang="en-US" sz="1400">
                <a:solidFill>
                  <a:srgbClr val="FFFFFF"/>
                </a:solidFill>
                <a:latin typeface="Times New Roman" panose="02020603050405020304" pitchFamily="18" charset="0"/>
                <a:cs typeface="Times New Roman" panose="02020603050405020304" pitchFamily="18" charset="0"/>
              </a:rPr>
              <a:t>UVM: TX_CREDIT_STALL</a:t>
            </a:r>
          </a:p>
          <a:p>
            <a:r>
              <a:rPr lang="en-US" sz="1400" b="1">
                <a:solidFill>
                  <a:srgbClr val="FFFFFF"/>
                </a:solidFill>
                <a:latin typeface="Times New Roman" panose="02020603050405020304" pitchFamily="18" charset="0"/>
                <a:cs typeface="Times New Roman" panose="02020603050405020304" pitchFamily="18" charset="0"/>
              </a:rPr>
              <a:t>Next: scoreboard, coverage, SVA</a:t>
            </a:r>
            <a:endParaRPr lang="en-US" sz="1400" b="1" dirty="0">
              <a:solidFill>
                <a:srgbClr val="FFFFFF"/>
              </a:solidFill>
              <a:latin typeface="Times New Roman" panose="02020603050405020304" pitchFamily="18" charset="0"/>
              <a:cs typeface="Times New Roman" panose="02020603050405020304" pitchFamily="18" charset="0"/>
            </a:endParaRPr>
          </a:p>
        </p:txBody>
      </p:sp>
      <p:grpSp>
        <p:nvGrpSpPr>
          <p:cNvPr id="24" name="Group 23">
            <a:extLst>
              <a:ext uri="{FF2B5EF4-FFF2-40B4-BE49-F238E27FC236}">
                <a16:creationId xmlns:a16="http://schemas.microsoft.com/office/drawing/2014/main" id="{395D78C1-2D21-47B5-3EAC-5000C6D0DD3D}"/>
              </a:ext>
            </a:extLst>
          </p:cNvPr>
          <p:cNvGrpSpPr/>
          <p:nvPr/>
        </p:nvGrpSpPr>
        <p:grpSpPr>
          <a:xfrm>
            <a:off x="2437217" y="4241310"/>
            <a:ext cx="4874433" cy="400310"/>
            <a:chOff x="710352" y="3830825"/>
            <a:chExt cx="4874433" cy="400310"/>
          </a:xfrm>
        </p:grpSpPr>
        <p:sp>
          <p:nvSpPr>
            <p:cNvPr id="25" name="TextBox 22">
              <a:extLst>
                <a:ext uri="{FF2B5EF4-FFF2-40B4-BE49-F238E27FC236}">
                  <a16:creationId xmlns:a16="http://schemas.microsoft.com/office/drawing/2014/main" id="{5C9DD6D2-866E-894C-81D6-084A28527DC8}"/>
                </a:ext>
              </a:extLst>
            </p:cNvPr>
            <p:cNvSpPr txBox="1"/>
            <p:nvPr/>
          </p:nvSpPr>
          <p:spPr>
            <a:xfrm>
              <a:off x="1012785" y="3905327"/>
              <a:ext cx="4572000" cy="312201"/>
            </a:xfrm>
            <a:prstGeom prst="rect">
              <a:avLst/>
            </a:prstGeom>
            <a:noFill/>
          </p:spPr>
          <p:txBody>
            <a:bodyPr wrap="square">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buSzPct val="100000"/>
              </a:pPr>
              <a:r>
                <a:rPr lang="en-US" sz="1400" b="1">
                  <a:solidFill>
                    <a:srgbClr val="1E2761"/>
                  </a:solidFill>
                  <a:latin typeface="Times New Roman" panose="02020603050405020304" pitchFamily="18" charset="0"/>
                  <a:ea typeface="Open Sans" pitchFamily="34" charset="-122"/>
                  <a:cs typeface="Times New Roman" panose="02020603050405020304" pitchFamily="18" charset="0"/>
                </a:rPr>
                <a:t>PASS → Unit tests pass; UVM runs clean</a:t>
              </a:r>
              <a:endParaRPr lang="en-US" sz="1400" b="1" dirty="0">
                <a:solidFill>
                  <a:srgbClr val="1E2761"/>
                </a:solidFill>
                <a:latin typeface="Times New Roman" panose="02020603050405020304" pitchFamily="18" charset="0"/>
                <a:ea typeface="Open Sans" pitchFamily="34" charset="-122"/>
                <a:cs typeface="Times New Roman" panose="02020603050405020304" pitchFamily="18" charset="0"/>
              </a:endParaRPr>
            </a:p>
          </p:txBody>
        </p:sp>
        <p:pic>
          <p:nvPicPr>
            <p:cNvPr id="26" name="Graphic 23" descr="Checkmark with solid fill">
              <a:extLst>
                <a:ext uri="{FF2B5EF4-FFF2-40B4-BE49-F238E27FC236}">
                  <a16:creationId xmlns:a16="http://schemas.microsoft.com/office/drawing/2014/main" id="{05512B22-E8D6-C7E0-C2AD-4BDEDFCCE8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0352" y="3830825"/>
              <a:ext cx="400310" cy="400310"/>
            </a:xfrm>
            <a:prstGeom prst="rect">
              <a:avLst/>
            </a:prstGeom>
          </p:spPr>
        </p:pic>
      </p:grpSp>
      <p:sp>
        <p:nvSpPr>
          <p:cNvPr id="2" name="PLACEHOLDER">
            <a:extLst>
              <a:ext uri="{FF2B5EF4-FFF2-40B4-BE49-F238E27FC236}">
                <a16:creationId xmlns:a16="http://schemas.microsoft.com/office/drawing/2014/main" id="{9745B218-E4C4-1331-77E6-D19FA55CBAFD}"/>
              </a:ext>
            </a:extLst>
          </p:cNvPr>
          <p:cNvSpPr/>
          <p:nvPr/>
        </p:nvSpPr>
        <p:spPr>
          <a:xfrm>
            <a:off x="4128868" y="926611"/>
            <a:ext cx="4853353" cy="3131917"/>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Results summary: unit testbench transcripts and UVM report (0 UVM_ERROR / UVM_FATAL)</a:t>
            </a:r>
          </a:p>
          <a:p>
            <a:pPr algn="ctr"/>
            <a:r>
              <a:rPr lang="en-US" sz="1000" i="1">
                <a:solidFill>
                  <a:srgbClr val="3C3939"/>
                </a:solidFill>
                <a:latin typeface="Times New Roman" panose="02020603050405020304" pitchFamily="18" charset="0"/>
              </a:rPr>
              <a:t>Source: QuestaSim transcript</a:t>
            </a:r>
          </a:p>
        </p:txBody>
      </p:sp>
    </p:spTree>
    <p:extLst>
      <p:ext uri="{BB962C8B-B14F-4D97-AF65-F5344CB8AC3E}">
        <p14:creationId xmlns:p14="http://schemas.microsoft.com/office/powerpoint/2010/main" val="23038358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81F5F805-4E43-DD4F-A1FE-A30D09C3C670}"/>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2C789833-BAB3-7C60-5F47-CE0C63E26384}"/>
              </a:ext>
            </a:extLst>
          </p:cNvPr>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5</a:t>
            </a:r>
            <a:endParaRPr lang="en-US" sz="11000" dirty="0"/>
          </a:p>
        </p:txBody>
      </p:sp>
      <p:sp>
        <p:nvSpPr>
          <p:cNvPr id="6" name="Shape 2">
            <a:extLst>
              <a:ext uri="{FF2B5EF4-FFF2-40B4-BE49-F238E27FC236}">
                <a16:creationId xmlns:a16="http://schemas.microsoft.com/office/drawing/2014/main" id="{F6DA0093-FB52-B34D-F25C-7B8566CFFC12}"/>
              </a:ext>
            </a:extLst>
          </p:cNvPr>
          <p:cNvSpPr/>
          <p:nvPr/>
        </p:nvSpPr>
        <p:spPr>
          <a:xfrm>
            <a:off x="295879" y="1758393"/>
            <a:ext cx="1554480" cy="45720"/>
          </a:xfrm>
          <a:prstGeom prst="rect">
            <a:avLst/>
          </a:prstGeom>
          <a:solidFill>
            <a:srgbClr val="00C2A8"/>
          </a:solidFill>
          <a:ln/>
        </p:spPr>
        <p:txBody>
          <a:bodyPr/>
          <a:lstStyle/>
          <a:p>
            <a:endParaRPr lang="en-US"/>
          </a:p>
        </p:txBody>
      </p:sp>
      <p:sp>
        <p:nvSpPr>
          <p:cNvPr id="10" name="Text 3">
            <a:extLst>
              <a:ext uri="{FF2B5EF4-FFF2-40B4-BE49-F238E27FC236}">
                <a16:creationId xmlns:a16="http://schemas.microsoft.com/office/drawing/2014/main" id="{99FFEF51-91F5-5CED-36D4-87D4626E91F1}"/>
              </a:ext>
            </a:extLst>
          </p:cNvPr>
          <p:cNvSpPr txBox="1"/>
          <p:nvPr/>
        </p:nvSpPr>
        <p:spPr>
          <a:xfrm>
            <a:off x="295879" y="1812356"/>
            <a:ext cx="4100275" cy="1667682"/>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Linting &amp; Synthesis Timing Results</a:t>
            </a:r>
          </a:p>
        </p:txBody>
      </p:sp>
      <p:pic>
        <p:nvPicPr>
          <p:cNvPr id="19" name="Picture 18">
            <a:extLst>
              <a:ext uri="{FF2B5EF4-FFF2-40B4-BE49-F238E27FC236}">
                <a16:creationId xmlns:a16="http://schemas.microsoft.com/office/drawing/2014/main" id="{E7C160F5-E806-DEE2-3661-B321087C6F59}"/>
              </a:ext>
            </a:extLst>
          </p:cNvPr>
          <p:cNvPicPr>
            <a:picLocks noChangeAspect="1"/>
          </p:cNvPicPr>
          <p:nvPr/>
        </p:nvPicPr>
        <p:blipFill>
          <a:blip r:embed="rId3"/>
          <a:srcRect l="4854" r="4464"/>
          <a:stretch>
            <a:fillRect/>
          </a:stretch>
        </p:blipFill>
        <p:spPr>
          <a:xfrm>
            <a:off x="4649372" y="1414682"/>
            <a:ext cx="3948243" cy="245041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370311546"/>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B560BA5F-1E85-4DCD-7402-62344CDA78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8B0DB4A-12B5-1964-E0AE-3EE4F0774227}"/>
              </a:ext>
            </a:extLst>
          </p:cNvPr>
          <p:cNvSpPr txBox="1"/>
          <p:nvPr/>
        </p:nvSpPr>
        <p:spPr>
          <a:xfrm>
            <a:off x="411480" y="342900"/>
            <a:ext cx="7886700" cy="480060"/>
          </a:xfrm>
          <a:prstGeom prst="rect">
            <a:avLst/>
          </a:prstGeom>
          <a:noFill/>
          <a:ln/>
        </p:spPr>
        <p:txBody>
          <a:bodyPr wrap="square" lIns="0" tIns="0" rIns="0" bIns="0" rtlCol="0" anchor="ctr"/>
          <a:lstStyle/>
          <a:p>
            <a:pPr lvl="0">
              <a:defRPr/>
            </a:pPr>
            <a:r>
              <a:rPr lang="en-US" sz="2250" b="1" dirty="0">
                <a:solidFill>
                  <a:srgbClr val="1E2761"/>
                </a:solidFill>
                <a:latin typeface="Cambria" pitchFamily="34" charset="0"/>
                <a:ea typeface="Cambria" pitchFamily="34" charset="-122"/>
                <a:cs typeface="Cambria" pitchFamily="34" charset="-120"/>
              </a:rPr>
              <a:t>Linting Results</a:t>
            </a:r>
          </a:p>
        </p:txBody>
      </p:sp>
      <p:sp>
        <p:nvSpPr>
          <p:cNvPr id="4" name="Shape 2">
            <a:extLst>
              <a:ext uri="{FF2B5EF4-FFF2-40B4-BE49-F238E27FC236}">
                <a16:creationId xmlns:a16="http://schemas.microsoft.com/office/drawing/2014/main" id="{DCEEE9E5-FDA5-B2A7-9A76-1C3EB9D8D9E4}"/>
              </a:ext>
            </a:extLst>
          </p:cNvPr>
          <p:cNvSpPr/>
          <p:nvPr/>
        </p:nvSpPr>
        <p:spPr>
          <a:xfrm>
            <a:off x="377469" y="1100255"/>
            <a:ext cx="3938053" cy="3315628"/>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D04768D9-C540-F1F4-435A-D520E576DB54}"/>
              </a:ext>
            </a:extLst>
          </p:cNvPr>
          <p:cNvSpPr txBox="1"/>
          <p:nvPr/>
        </p:nvSpPr>
        <p:spPr>
          <a:xfrm>
            <a:off x="612666" y="1192437"/>
            <a:ext cx="3291840" cy="274320"/>
          </a:xfrm>
          <a:prstGeom prst="rect">
            <a:avLst/>
          </a:prstGeom>
          <a:noFill/>
          <a:ln/>
        </p:spPr>
        <p:txBody>
          <a:bodyPr wrap="square" lIns="0" tIns="0" rIns="0" bIns="0" rtlCol="0" anchor="ctr"/>
          <a:lstStyle/>
          <a:p>
            <a:pPr lvl="0">
              <a:defRPr/>
            </a:pPr>
            <a:r>
              <a:rPr lang="en-US" sz="1400" b="1" dirty="0">
                <a:solidFill>
                  <a:srgbClr val="1E2761"/>
                </a:solidFill>
                <a:latin typeface="Cambria" pitchFamily="34" charset="0"/>
                <a:ea typeface="Cambria" pitchFamily="34" charset="-122"/>
                <a:cs typeface="Cambria" pitchFamily="34" charset="-120"/>
              </a:rPr>
              <a:t>Linting</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377493A0-0F32-98D7-0715-13E958057308}"/>
              </a:ext>
            </a:extLst>
          </p:cNvPr>
          <p:cNvSpPr txBox="1"/>
          <p:nvPr/>
        </p:nvSpPr>
        <p:spPr>
          <a:xfrm>
            <a:off x="612666" y="1558939"/>
            <a:ext cx="3291840" cy="2502100"/>
          </a:xfrm>
          <a:prstGeom prst="rect">
            <a:avLst/>
          </a:prstGeom>
          <a:noFill/>
          <a:ln/>
        </p:spPr>
        <p:txBody>
          <a:bodyPr wrap="square" lIns="0" tIns="0" rIns="0" bIns="0" rtlCol="0" anchor="ctr"/>
          <a:lstStyle/>
          <a:p>
            <a:pPr>
              <a:lnSpc>
                <a:spcPct val="115000"/>
              </a:lnSpc>
              <a:spcAft>
                <a:spcPts val="900"/>
              </a:spcAft>
              <a:buSzPct val="100000"/>
            </a:pPr>
            <a:r>
              <a:rPr lang="en-US" sz="1200" b="1">
                <a:solidFill>
                  <a:srgbClr val="1E2761"/>
                </a:solidFill>
                <a:latin typeface="Times New Roman" panose="02020603050405020304" pitchFamily="18" charset="0"/>
                <a:cs typeface="Times New Roman" panose="02020603050405020304" pitchFamily="18" charset="0"/>
              </a:rPr>
              <a:t>Result: [TBD]</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Error-level violations: [TBD]</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Unintended latches: [TBD]</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Combinational loops: [TBD]</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CDC violations: [TBD]</a:t>
            </a:r>
          </a:p>
          <a:p>
            <a:pPr marL="257175" indent="-257175">
              <a:lnSpc>
                <a:spcPct val="115000"/>
              </a:lnSpc>
              <a:spcAft>
                <a:spcPts val="900"/>
              </a:spcAft>
              <a:buSzPct val="100000"/>
              <a:buFontTx/>
              <a:buChar char="•"/>
            </a:pPr>
            <a:r>
              <a:rPr lang="en-US" sz="1200">
                <a:solidFill>
                  <a:srgbClr val="1E2761"/>
                </a:solidFill>
                <a:latin typeface="Times New Roman" panose="02020603050405020304" pitchFamily="18" charset="0"/>
                <a:cs typeface="Times New Roman" panose="02020603050405020304" pitchFamily="18" charset="0"/>
              </a:rPr>
              <a:t>STARC coding violations: [TBD]</a:t>
            </a:r>
          </a:p>
          <a:p>
            <a:pPr>
              <a:spcAft>
                <a:spcPts val="900"/>
              </a:spcAft>
              <a:buSzPct val="100000"/>
            </a:pPr>
            <a:r>
              <a:rPr lang="en-US" sz="1100" b="1">
                <a:solidFill>
                  <a:srgbClr val="1E2761"/>
                </a:solidFill>
                <a:latin typeface="Times New Roman" panose="02020603050405020304" pitchFamily="18" charset="0"/>
                <a:cs typeface="Times New Roman" panose="02020603050405020304" pitchFamily="18" charset="0"/>
              </a:rPr>
              <a:t>Status: [TBD] — SpyGlass run pending</a:t>
            </a:r>
            <a:endParaRPr kumimoji="0" lang="en-US" sz="1100" b="1" u="none" strike="noStrike" kern="1200" cap="none" spc="0" normalizeH="0" baseline="0" noProof="0" dirty="0">
              <a:ln>
                <a:noFill/>
              </a:ln>
              <a:solidFill>
                <a:srgbClr val="1E2761"/>
              </a:solidFill>
              <a:effectLst/>
              <a:uLnTx/>
              <a:uFillTx/>
              <a:latin typeface="Times New Roman" panose="02020603050405020304" pitchFamily="18" charset="0"/>
              <a:cs typeface="Times New Roman" panose="02020603050405020304" pitchFamily="18" charset="0"/>
            </a:endParaRPr>
          </a:p>
        </p:txBody>
      </p:sp>
      <p:sp>
        <p:nvSpPr>
          <p:cNvPr id="5" name="PLACEHOLDER">
            <a:extLst>
              <a:ext uri="{FF2B5EF4-FFF2-40B4-BE49-F238E27FC236}">
                <a16:creationId xmlns:a16="http://schemas.microsoft.com/office/drawing/2014/main" id="{A567A15E-9743-551A-228C-C1B501A99FC5}"/>
              </a:ext>
            </a:extLst>
          </p:cNvPr>
          <p:cNvSpPr/>
          <p:nvPr/>
        </p:nvSpPr>
        <p:spPr>
          <a:xfrm>
            <a:off x="4572000" y="1100255"/>
            <a:ext cx="4364502" cy="3315628"/>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SpyGlass lint summary report</a:t>
            </a:r>
          </a:p>
          <a:p>
            <a:pPr algn="ctr"/>
            <a:r>
              <a:rPr lang="en-US" sz="1000" i="1">
                <a:solidFill>
                  <a:srgbClr val="3C3939"/>
                </a:solidFill>
                <a:latin typeface="Times New Roman" panose="02020603050405020304" pitchFamily="18" charset="0"/>
              </a:rPr>
              <a:t>Source: SpyGlass</a:t>
            </a:r>
          </a:p>
        </p:txBody>
      </p:sp>
    </p:spTree>
    <p:extLst>
      <p:ext uri="{BB962C8B-B14F-4D97-AF65-F5344CB8AC3E}">
        <p14:creationId xmlns:p14="http://schemas.microsoft.com/office/powerpoint/2010/main" val="29986386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E7E7AA5-53AD-2F1A-5641-6F13CAC66A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64A472-206F-0F13-3AAF-E88583530F7A}"/>
              </a:ext>
            </a:extLst>
          </p:cNvPr>
          <p:cNvSpPr txBox="1"/>
          <p:nvPr/>
        </p:nvSpPr>
        <p:spPr>
          <a:xfrm>
            <a:off x="411480" y="342900"/>
            <a:ext cx="7886700" cy="480060"/>
          </a:xfrm>
          <a:prstGeom prst="rect">
            <a:avLst/>
          </a:prstGeom>
          <a:noFill/>
          <a:ln/>
        </p:spPr>
        <p:txBody>
          <a:bodyPr wrap="square" lIns="0" tIns="0" rIns="0" bIns="0" rtlCol="0" anchor="ctr"/>
          <a:lstStyle/>
          <a:p>
            <a:pPr lvl="0">
              <a:defRPr/>
            </a:pPr>
            <a:r>
              <a:rPr lang="en-US" sz="2250" b="1" dirty="0">
                <a:solidFill>
                  <a:srgbClr val="1E2761"/>
                </a:solidFill>
                <a:latin typeface="Cambria" pitchFamily="34" charset="0"/>
                <a:ea typeface="Cambria" pitchFamily="34" charset="-122"/>
                <a:cs typeface="Cambria" pitchFamily="34" charset="-120"/>
              </a:rPr>
              <a:t>Synthesis Timing Results</a:t>
            </a:r>
          </a:p>
        </p:txBody>
      </p:sp>
      <p:sp>
        <p:nvSpPr>
          <p:cNvPr id="8" name="Shape 6">
            <a:extLst>
              <a:ext uri="{FF2B5EF4-FFF2-40B4-BE49-F238E27FC236}">
                <a16:creationId xmlns:a16="http://schemas.microsoft.com/office/drawing/2014/main" id="{901B5F5D-091B-57D2-25AA-85329D5BE2A5}"/>
              </a:ext>
            </a:extLst>
          </p:cNvPr>
          <p:cNvSpPr/>
          <p:nvPr/>
        </p:nvSpPr>
        <p:spPr>
          <a:xfrm>
            <a:off x="474529" y="1100255"/>
            <a:ext cx="3938053" cy="3809370"/>
          </a:xfrm>
          <a:prstGeom prst="roundRect">
            <a:avLst>
              <a:gd name="adj" fmla="val 2326"/>
            </a:avLst>
          </a:prstGeom>
          <a:solidFill>
            <a:srgbClr val="1E27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B1404D0A-46F9-3C74-0394-FBC1513B38BF}"/>
              </a:ext>
            </a:extLst>
          </p:cNvPr>
          <p:cNvSpPr txBox="1"/>
          <p:nvPr/>
        </p:nvSpPr>
        <p:spPr>
          <a:xfrm>
            <a:off x="553081" y="1216855"/>
            <a:ext cx="3780947" cy="3516923"/>
          </a:xfrm>
          <a:prstGeom prst="rect">
            <a:avLst/>
          </a:prstGeom>
          <a:noFill/>
          <a:ln/>
        </p:spPr>
        <p:txBody>
          <a:bodyPr wrap="square" lIns="0" tIns="0" rIns="0" bIns="0" rtlCol="0" anchor="ctr"/>
          <a:lstStyle/>
          <a:p>
            <a:pPr>
              <a:spcAft>
                <a:spcPts val="900"/>
              </a:spcAft>
              <a:buSzPct val="100000"/>
            </a:pPr>
            <a:r>
              <a:rPr lang="en-US" sz="1200" b="1">
                <a:solidFill>
                  <a:srgbClr val="FFFFFF"/>
                </a:solidFill>
                <a:latin typeface="Times New Roman" panose="02020603050405020304" pitchFamily="18" charset="0"/>
                <a:cs typeface="Times New Roman" panose="02020603050405020304" pitchFamily="18" charset="0"/>
              </a:rPr>
              <a:t>Setup Timing Analysis</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Checks whether data arrives before the capture clock edge.</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The critical path is analyzed on the synthesized netlist.</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Setup violations: [TBD]</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Setup slack / timing margin: [TBD]</a:t>
            </a:r>
          </a:p>
          <a:p>
            <a:pPr>
              <a:spcAft>
                <a:spcPts val="900"/>
              </a:spcAft>
              <a:buSzPct val="100000"/>
            </a:pPr>
            <a:r>
              <a:rPr lang="en-US" sz="1200" b="1">
                <a:solidFill>
                  <a:srgbClr val="FFFFFF"/>
                </a:solidFill>
                <a:latin typeface="Times New Roman" panose="02020603050405020304" pitchFamily="18" charset="0"/>
                <a:cs typeface="Times New Roman" panose="02020603050405020304" pitchFamily="18" charset="0"/>
              </a:rPr>
              <a:t>Hold Timing Analysis</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Verifies the minimum-delay paths.</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Hold violations: [TBD]</a:t>
            </a:r>
          </a:p>
          <a:p>
            <a:pPr marL="257175" indent="-257175">
              <a:spcAft>
                <a:spcPts val="900"/>
              </a:spcAft>
              <a:buSzPct val="100000"/>
              <a:buFontTx/>
              <a:buChar char="•"/>
            </a:pPr>
            <a:r>
              <a:rPr lang="en-US" sz="1200">
                <a:solidFill>
                  <a:srgbClr val="FFFFFF"/>
                </a:solidFill>
                <a:latin typeface="Times New Roman" panose="02020603050405020304" pitchFamily="18" charset="0"/>
                <a:cs typeface="Times New Roman" panose="02020603050405020304" pitchFamily="18" charset="0"/>
              </a:rPr>
              <a:t>Overall Result</a:t>
            </a:r>
          </a:p>
          <a:p>
            <a:pPr>
              <a:spcAft>
                <a:spcPts val="900"/>
              </a:spcAft>
              <a:buSzPct val="100000"/>
            </a:pPr>
            <a:r>
              <a:rPr lang="en-US" sz="1200" b="1">
                <a:solidFill>
                  <a:srgbClr val="FFFFFF"/>
                </a:solidFill>
                <a:latin typeface="Times New Roman" panose="02020603050405020304" pitchFamily="18" charset="0"/>
                <a:cs typeface="Times New Roman" panose="02020603050405020304" pitchFamily="18" charset="0"/>
              </a:rPr>
              <a:t>       Setup [TBD] | Hold [TBD] | Timing [TBD]</a:t>
            </a:r>
            <a:endParaRPr lang="en-US" sz="1200" b="1" dirty="0">
              <a:solidFill>
                <a:srgbClr val="FFFFFF"/>
              </a:solidFill>
              <a:latin typeface="Times New Roman" panose="02020603050405020304" pitchFamily="18" charset="0"/>
              <a:cs typeface="Times New Roman" panose="02020603050405020304" pitchFamily="18" charset="0"/>
            </a:endParaRPr>
          </a:p>
        </p:txBody>
      </p:sp>
      <p:sp>
        <p:nvSpPr>
          <p:cNvPr id="3" name="PLACEHOLDER">
            <a:extLst>
              <a:ext uri="{FF2B5EF4-FFF2-40B4-BE49-F238E27FC236}">
                <a16:creationId xmlns:a16="http://schemas.microsoft.com/office/drawing/2014/main" id="{0ADD2BC5-C6CC-8537-4DA5-F624E3C4A5B4}"/>
              </a:ext>
            </a:extLst>
          </p:cNvPr>
          <p:cNvSpPr/>
          <p:nvPr/>
        </p:nvSpPr>
        <p:spPr>
          <a:xfrm>
            <a:off x="4867422" y="1100255"/>
            <a:ext cx="3802049" cy="1776588"/>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Design Compiler setup timing report (critical path)</a:t>
            </a:r>
          </a:p>
          <a:p>
            <a:pPr algn="ctr"/>
            <a:r>
              <a:rPr lang="en-US" sz="1000" i="1">
                <a:solidFill>
                  <a:srgbClr val="3C3939"/>
                </a:solidFill>
                <a:latin typeface="Times New Roman" panose="02020603050405020304" pitchFamily="18" charset="0"/>
              </a:rPr>
              <a:t>Source: Design Compiler report_timing</a:t>
            </a:r>
          </a:p>
        </p:txBody>
      </p:sp>
      <p:sp>
        <p:nvSpPr>
          <p:cNvPr id="4" name="PLACEHOLDER">
            <a:extLst>
              <a:ext uri="{FF2B5EF4-FFF2-40B4-BE49-F238E27FC236}">
                <a16:creationId xmlns:a16="http://schemas.microsoft.com/office/drawing/2014/main" id="{B2AEE60D-0811-7F0F-0589-94E06F1F4631}"/>
              </a:ext>
            </a:extLst>
          </p:cNvPr>
          <p:cNvSpPr/>
          <p:nvPr/>
        </p:nvSpPr>
        <p:spPr>
          <a:xfrm>
            <a:off x="4867422" y="2975316"/>
            <a:ext cx="3802049" cy="1887274"/>
          </a:xfrm>
          <a:prstGeom prst="rect">
            <a:avLst/>
          </a:prstGeom>
          <a:solidFill>
            <a:srgbClr val="F2F2F2"/>
          </a:solidFill>
          <a:ln w="15875">
            <a:solidFill>
              <a:srgbClr val="9AA5C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noAutofit/>
          </a:bodyPr>
          <a:lstStyle/>
          <a:p>
            <a:pPr algn="ctr"/>
            <a:r>
              <a:rPr lang="en-US" sz="1400" b="1">
                <a:solidFill>
                  <a:srgbClr val="3C3939"/>
                </a:solidFill>
                <a:latin typeface="Times New Roman" panose="02020603050405020304" pitchFamily="18" charset="0"/>
              </a:rPr>
              <a:t>PLACEHOLDER</a:t>
            </a:r>
          </a:p>
          <a:p>
            <a:pPr algn="ctr"/>
            <a:r>
              <a:rPr lang="en-US" sz="1200">
                <a:solidFill>
                  <a:srgbClr val="3C3939"/>
                </a:solidFill>
                <a:latin typeface="Times New Roman" panose="02020603050405020304" pitchFamily="18" charset="0"/>
              </a:rPr>
              <a:t>Design Compiler hold timing report</a:t>
            </a:r>
          </a:p>
          <a:p>
            <a:pPr algn="ctr"/>
            <a:r>
              <a:rPr lang="en-US" sz="1000" i="1">
                <a:solidFill>
                  <a:srgbClr val="3C3939"/>
                </a:solidFill>
                <a:latin typeface="Times New Roman" panose="02020603050405020304" pitchFamily="18" charset="0"/>
              </a:rPr>
              <a:t>Source: Design Compiler report_timing -delay_type min</a:t>
            </a:r>
          </a:p>
        </p:txBody>
      </p:sp>
    </p:spTree>
    <p:extLst>
      <p:ext uri="{BB962C8B-B14F-4D97-AF65-F5344CB8AC3E}">
        <p14:creationId xmlns:p14="http://schemas.microsoft.com/office/powerpoint/2010/main" val="19960976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9A2A1414-E96E-7F80-EA31-E3FEA2C38F5F}"/>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02701467-9CA8-E9A6-D8CB-62A103E5514E}"/>
              </a:ext>
            </a:extLst>
          </p:cNvPr>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6</a:t>
            </a:r>
            <a:endParaRPr lang="en-US" sz="11000" dirty="0"/>
          </a:p>
        </p:txBody>
      </p:sp>
      <p:sp>
        <p:nvSpPr>
          <p:cNvPr id="6" name="Shape 2">
            <a:extLst>
              <a:ext uri="{FF2B5EF4-FFF2-40B4-BE49-F238E27FC236}">
                <a16:creationId xmlns:a16="http://schemas.microsoft.com/office/drawing/2014/main" id="{88E518CC-3B60-F707-B1E2-AFD14725392E}"/>
              </a:ext>
            </a:extLst>
          </p:cNvPr>
          <p:cNvSpPr/>
          <p:nvPr/>
        </p:nvSpPr>
        <p:spPr>
          <a:xfrm>
            <a:off x="295879" y="1758393"/>
            <a:ext cx="1554480" cy="45720"/>
          </a:xfrm>
          <a:prstGeom prst="rect">
            <a:avLst/>
          </a:prstGeom>
          <a:solidFill>
            <a:srgbClr val="00C2A8"/>
          </a:solidFill>
          <a:ln/>
        </p:spPr>
        <p:txBody>
          <a:bodyPr/>
          <a:lstStyle/>
          <a:p>
            <a:endParaRPr lang="en-US"/>
          </a:p>
        </p:txBody>
      </p:sp>
      <p:sp>
        <p:nvSpPr>
          <p:cNvPr id="4" name="Text 3">
            <a:extLst>
              <a:ext uri="{FF2B5EF4-FFF2-40B4-BE49-F238E27FC236}">
                <a16:creationId xmlns:a16="http://schemas.microsoft.com/office/drawing/2014/main" id="{7B149EF2-999E-484B-AB82-9ACE393804B7}"/>
              </a:ext>
            </a:extLst>
          </p:cNvPr>
          <p:cNvSpPr txBox="1"/>
          <p:nvPr/>
        </p:nvSpPr>
        <p:spPr>
          <a:xfrm>
            <a:off x="295879" y="1397359"/>
            <a:ext cx="4100275" cy="1667682"/>
          </a:xfrm>
          <a:prstGeom prst="rect">
            <a:avLst/>
          </a:prstGeom>
          <a:noFill/>
          <a:ln/>
        </p:spPr>
        <p:txBody>
          <a:bodyPr wrap="square" lIns="0" tIns="0" rIns="0" bIns="0" rtlCol="0" anchor="ctr"/>
          <a:lstStyle/>
          <a:p>
            <a:r>
              <a:rPr lang="en-US" sz="4000" b="1">
                <a:solidFill>
                  <a:srgbClr val="FFFFFF"/>
                </a:solidFill>
                <a:latin typeface="Cambria" panose="02040503050406030204" pitchFamily="18" charset="0"/>
                <a:ea typeface="Cambria" pitchFamily="34" charset="-122"/>
                <a:cs typeface="Cambria" pitchFamily="34" charset="-120"/>
              </a:rPr>
              <a:t>Conclusion</a:t>
            </a:r>
            <a:endParaRPr lang="en-US" sz="4000" b="1" dirty="0">
              <a:solidFill>
                <a:srgbClr val="FFFFFF"/>
              </a:solidFill>
              <a:latin typeface="Cambria" panose="02040503050406030204" pitchFamily="18" charset="0"/>
              <a:ea typeface="Cambria" pitchFamily="34" charset="-122"/>
              <a:cs typeface="Cambria" pitchFamily="34" charset="-120"/>
            </a:endParaRPr>
          </a:p>
        </p:txBody>
      </p:sp>
      <p:pic>
        <p:nvPicPr>
          <p:cNvPr id="8" name="Picture 7">
            <a:extLst>
              <a:ext uri="{FF2B5EF4-FFF2-40B4-BE49-F238E27FC236}">
                <a16:creationId xmlns:a16="http://schemas.microsoft.com/office/drawing/2014/main" id="{DBA09889-6F49-0345-E0A7-5C8C2C41FD0D}"/>
              </a:ext>
            </a:extLst>
          </p:cNvPr>
          <p:cNvPicPr>
            <a:picLocks noChangeAspect="1"/>
          </p:cNvPicPr>
          <p:nvPr/>
        </p:nvPicPr>
        <p:blipFill>
          <a:blip r:embed="rId3"/>
          <a:srcRect l="50815" t="18211" r="1762" b="27733"/>
          <a:stretch>
            <a:fillRect/>
          </a:stretch>
        </p:blipFill>
        <p:spPr>
          <a:xfrm>
            <a:off x="4193246" y="1081739"/>
            <a:ext cx="4247083" cy="272454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442326097"/>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BCA5B7-5B60-3E5F-77E4-15FEAF02935A}"/>
              </a:ext>
            </a:extLst>
          </p:cNvPr>
          <p:cNvSpPr txBox="1"/>
          <p:nvPr/>
        </p:nvSpPr>
        <p:spPr>
          <a:xfrm>
            <a:off x="411480" y="342900"/>
            <a:ext cx="7886700" cy="480060"/>
          </a:xfrm>
          <a:prstGeom prst="rect">
            <a:avLst/>
          </a:prstGeom>
          <a:noFill/>
          <a:ln/>
        </p:spPr>
        <p:txBody>
          <a:bodyPr wrap="square" lIns="0" tIns="0" rIns="0" bIns="0" rtlCol="0" anchor="ctr"/>
          <a:lstStyle/>
          <a:p>
            <a:pPr lvl="0">
              <a:defRPr/>
            </a:pPr>
            <a:r>
              <a:rPr lang="en-US" sz="2250" b="1" dirty="0">
                <a:solidFill>
                  <a:srgbClr val="1E2761"/>
                </a:solidFill>
                <a:latin typeface="Cambria" pitchFamily="34" charset="0"/>
                <a:ea typeface="Cambria" pitchFamily="34" charset="-122"/>
                <a:cs typeface="Cambria" pitchFamily="34" charset="-120"/>
              </a:rPr>
              <a:t>Conclusion</a:t>
            </a:r>
          </a:p>
        </p:txBody>
      </p:sp>
      <p:sp>
        <p:nvSpPr>
          <p:cNvPr id="3" name="TextBox 2">
            <a:extLst>
              <a:ext uri="{FF2B5EF4-FFF2-40B4-BE49-F238E27FC236}">
                <a16:creationId xmlns:a16="http://schemas.microsoft.com/office/drawing/2014/main" id="{3D16CD61-773D-F04A-4D38-2AD3F567296E}"/>
              </a:ext>
            </a:extLst>
          </p:cNvPr>
          <p:cNvSpPr txBox="1"/>
          <p:nvPr/>
        </p:nvSpPr>
        <p:spPr>
          <a:xfrm>
            <a:off x="411480" y="913472"/>
            <a:ext cx="7538225" cy="3323987"/>
          </a:xfrm>
          <a:prstGeom prst="rect">
            <a:avLst/>
          </a:prstGeom>
          <a:noFill/>
        </p:spPr>
        <p:txBody>
          <a:bodyPr wrap="square" rtlCol="0">
            <a:spAutoFit/>
          </a:bodyPr>
          <a:lstStyle/>
          <a:p>
            <a:pPr marL="285750" indent="-285750">
              <a:buSzPct val="100000"/>
              <a:buFont typeface="Wingdings" panose="05000000000000000000" pitchFamily="2" charset="2"/>
              <a:buChar char="Ø"/>
            </a:pPr>
            <a:r>
              <a:rPr lang="en-US" sz="1400">
                <a:solidFill>
                  <a:srgbClr val="1E2761"/>
                </a:solidFill>
                <a:latin typeface="Times New Roman" panose="02020603050405020304" pitchFamily="18" charset="0"/>
                <a:cs typeface="Times New Roman" panose="02020603050405020304" pitchFamily="18" charset="0"/>
              </a:rPr>
              <a:t>Designed a modular, parameterised CXS Bridge Encryption and Data Management System in SystemVerilog.</a:t>
            </a:r>
          </a:p>
          <a:p>
            <a:pPr marL="285750" indent="-285750">
              <a:buSzPct val="100000"/>
              <a:buFont typeface="Wingdings" panose="05000000000000000000" pitchFamily="2" charset="2"/>
              <a:buChar char="Ø"/>
            </a:pPr>
            <a:r>
              <a:rPr lang="en-US" sz="1400">
                <a:solidFill>
                  <a:srgbClr val="1E2761"/>
                </a:solidFill>
                <a:latin typeface="Times New Roman" panose="02020603050405020304" pitchFamily="18" charset="0"/>
                <a:cs typeface="Times New Roman" panose="02020603050405020304" pitchFamily="18" charset="0"/>
              </a:rPr>
              <a:t>The CXS interface decodes CXSCNTL in the CXS clock domain and forwards only valid 32-bit TLP words across the CDC boundary.</a:t>
            </a:r>
          </a:p>
          <a:p>
            <a:pPr marL="285750" indent="-285750">
              <a:buSzPct val="100000"/>
              <a:buFont typeface="Wingdings" panose="05000000000000000000" pitchFamily="2" charset="2"/>
              <a:buChar char="Ø"/>
            </a:pPr>
            <a:r>
              <a:rPr lang="en-US" sz="1400">
                <a:solidFill>
                  <a:srgbClr val="1E2761"/>
                </a:solidFill>
                <a:latin typeface="Times New Roman" panose="02020603050405020304" pitchFamily="18" charset="0"/>
                <a:cs typeface="Times New Roman" panose="02020603050405020304" pitchFamily="18" charset="0"/>
              </a:rPr>
              <a:t>Credit-based RX/TX flow control, an asynchronous FIFO, a toggle synchronizer, a 5-state control unit, encryption, parity, ATU and CDM form one end-to-end path.</a:t>
            </a:r>
          </a:p>
          <a:p>
            <a:pPr marL="285750" indent="-285750">
              <a:buSzPct val="100000"/>
              <a:buFont typeface="Wingdings" panose="05000000000000000000" pitchFamily="2" charset="2"/>
              <a:buChar char="Ø"/>
            </a:pPr>
            <a:r>
              <a:rPr lang="en-US" sz="1400">
                <a:solidFill>
                  <a:srgbClr val="1E2761"/>
                </a:solidFill>
                <a:latin typeface="Times New Roman" panose="02020603050405020304" pitchFamily="18" charset="0"/>
                <a:cs typeface="Times New Roman" panose="02020603050405020304" pitchFamily="18" charset="0"/>
              </a:rPr>
              <a:t>All unit-level testbenches pass (async FIFO, packet formatter, control unit, encryption 12/12, parity 8/8).</a:t>
            </a:r>
          </a:p>
          <a:p>
            <a:pPr marL="285750" indent="-285750">
              <a:buSzPct val="100000"/>
              <a:buFont typeface="Wingdings" panose="05000000000000000000" pitchFamily="2" charset="2"/>
              <a:buChar char="Ø"/>
            </a:pPr>
            <a:r>
              <a:rPr lang="en-US" sz="1400">
                <a:solidFill>
                  <a:srgbClr val="1E2761"/>
                </a:solidFill>
                <a:latin typeface="Times New Roman" panose="02020603050405020304" pitchFamily="18" charset="0"/>
                <a:cs typeface="Times New Roman" panose="02020603050405020304" pitchFamily="18" charset="0"/>
              </a:rPr>
              <a:t>The UVM environment runs the main system scenarios with 0 UVM errors.</a:t>
            </a:r>
          </a:p>
          <a:p>
            <a:pPr marL="285750" indent="-285750">
              <a:buSzPct val="100000"/>
              <a:buFont typeface="Wingdings" panose="05000000000000000000" pitchFamily="2" charset="2"/>
              <a:buChar char="Ø"/>
            </a:pPr>
            <a:r>
              <a:rPr lang="en-US" sz="1400">
                <a:solidFill>
                  <a:srgbClr val="1E2761"/>
                </a:solidFill>
                <a:latin typeface="Times New Roman" panose="02020603050405020304" pitchFamily="18" charset="0"/>
                <a:cs typeface="Times New Roman" panose="02020603050405020304" pitchFamily="18" charset="0"/>
              </a:rPr>
              <a:t>Next steps: UVM scoreboard, coverage and assertions; cross-FLIT packets; lint and synthesis sign-off.</a:t>
            </a:r>
          </a:p>
          <a:p>
            <a:endParaRPr lang="en-US" sz="1400">
              <a:solidFill>
                <a:srgbClr val="1E2761"/>
              </a:solidFill>
              <a:latin typeface="Times New Roman" panose="02020603050405020304" pitchFamily="18" charset="0"/>
              <a:cs typeface="Times New Roman" panose="02020603050405020304" pitchFamily="18" charset="0"/>
            </a:endParaRPr>
          </a:p>
          <a:p>
            <a:r>
              <a:rPr lang="en-US" sz="1600" b="1">
                <a:solidFill>
                  <a:srgbClr val="1E2761"/>
                </a:solidFill>
                <a:latin typeface="Times New Roman" panose="02020603050405020304" pitchFamily="18" charset="0"/>
                <a:cs typeface="Times New Roman" panose="02020603050405020304" pitchFamily="18" charset="0"/>
              </a:rPr>
              <a:t>Final Outcome</a:t>
            </a:r>
          </a:p>
          <a:p>
            <a:r>
              <a:rPr lang="en-US" sz="1600" b="1">
                <a:solidFill>
                  <a:srgbClr val="1E2761"/>
                </a:solidFill>
                <a:latin typeface="Times New Roman" panose="02020603050405020304" pitchFamily="18" charset="0"/>
                <a:cs typeface="Times New Roman" panose="02020603050405020304" pitchFamily="18" charset="0"/>
              </a:rPr>
              <a:t>RTL ✓ | Unit Verification ✓ | UVM Scenarios ✓ | Lint [TBD] | Synthesis [TBD]</a:t>
            </a:r>
          </a:p>
          <a:p>
            <a:endParaRPr lang="en-US" sz="1200" dirty="0"/>
          </a:p>
        </p:txBody>
      </p:sp>
    </p:spTree>
    <p:extLst>
      <p:ext uri="{BB962C8B-B14F-4D97-AF65-F5344CB8AC3E}">
        <p14:creationId xmlns:p14="http://schemas.microsoft.com/office/powerpoint/2010/main" val="12937008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F5B1EA-75DD-7D8C-B21F-194B4F4918A4}"/>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810780405"/>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Helena</Template>
  <TotalTime>1202</TotalTime>
  <Words>4187</Words>
  <Application>Microsoft Office PowerPoint</Application>
  <PresentationFormat>On-screen Show (16:9)</PresentationFormat>
  <Paragraphs>472</Paragraphs>
  <Slides>34</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Times New Roman</vt:lpstr>
      <vt:lpstr>Cambria</vt:lpstr>
      <vt:lpstr>Roboto</vt:lpstr>
      <vt:lpstr>Wingdings</vt:lpstr>
      <vt:lpstr>Raleway</vt:lpstr>
      <vt:lpstr>Arial</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Gomaas Khalaf</dc:creator>
  <cp:lastModifiedBy>Fady Samy</cp:lastModifiedBy>
  <cp:revision>103</cp:revision>
  <dcterms:created xsi:type="dcterms:W3CDTF">2026-08-05T13:06:05Z</dcterms:created>
  <dcterms:modified xsi:type="dcterms:W3CDTF">2026-09-10T12:55:58Z</dcterms:modified>
</cp:coreProperties>
</file>