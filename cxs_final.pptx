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5"/>
  </p:notesMasterIdLst>
  <p:sldIdLst>
    <p:sldId id="289" r:id="rId2"/>
    <p:sldId id="302" r:id="rId3"/>
    <p:sldId id="304" r:id="rId4"/>
    <p:sldId id="282" r:id="rId5"/>
    <p:sldId id="293" r:id="rId6"/>
    <p:sldId id="305" r:id="rId7"/>
    <p:sldId id="295" r:id="rId8"/>
    <p:sldId id="286" r:id="rId9"/>
    <p:sldId id="283" r:id="rId10"/>
    <p:sldId id="294" r:id="rId11"/>
    <p:sldId id="306" r:id="rId12"/>
    <p:sldId id="308" r:id="rId13"/>
    <p:sldId id="309" r:id="rId14"/>
    <p:sldId id="310" r:id="rId15"/>
    <p:sldId id="311" r:id="rId16"/>
    <p:sldId id="280" r:id="rId17"/>
    <p:sldId id="299" r:id="rId18"/>
    <p:sldId id="288" r:id="rId19"/>
    <p:sldId id="285" r:id="rId20"/>
    <p:sldId id="312" r:id="rId21"/>
    <p:sldId id="307" r:id="rId22"/>
    <p:sldId id="313" r:id="rId23"/>
    <p:sldId id="314" r:id="rId24"/>
    <p:sldId id="316" r:id="rId25"/>
    <p:sldId id="315" r:id="rId26"/>
    <p:sldId id="317" r:id="rId27"/>
    <p:sldId id="318" r:id="rId28"/>
    <p:sldId id="319" r:id="rId29"/>
    <p:sldId id="321" r:id="rId30"/>
    <p:sldId id="320" r:id="rId31"/>
    <p:sldId id="296" r:id="rId32"/>
    <p:sldId id="322" r:id="rId33"/>
    <p:sldId id="323" r:id="rId34"/>
  </p:sldIdLst>
  <p:sldSz cx="9144000" cy="5143500" type="screen16x9"/>
  <p:notesSz cx="5143500" cy="9144000"/>
  <p:embeddedFontLst>
    <p:embeddedFont>
      <p:font typeface="Cambria" panose="02040503050406030204" pitchFamily="18" charset="0"/>
      <p:regular r:id="rId36"/>
      <p:bold r:id="rId37"/>
      <p:italic r:id="rId38"/>
      <p:boldItalic r:id="rId39"/>
    </p:embeddedFont>
    <p:embeddedFont>
      <p:font typeface="Raleway" pitchFamily="2" charset="0"/>
      <p:regular r:id="rId40"/>
      <p:bold r:id="rId41"/>
      <p:italic r:id="rId42"/>
      <p:boldItalic r:id="rId43"/>
    </p:embeddedFont>
    <p:embeddedFont>
      <p:font typeface="Roboto" panose="02000000000000000000" pitchFamily="2" charset="0"/>
      <p:regular r:id="rId44"/>
      <p:bold r:id="rId45"/>
      <p:italic r:id="rId46"/>
      <p:boldItalic r:id="rId4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2761"/>
    <a:srgbClr val="00C2A8"/>
    <a:srgbClr val="FFFAFA"/>
    <a:srgbClr val="043DBC"/>
    <a:srgbClr val="202CA0"/>
    <a:srgbClr val="1733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autoAdjust="0"/>
    <p:restoredTop sz="94610"/>
  </p:normalViewPr>
  <p:slideViewPr>
    <p:cSldViewPr snapToGrid="0" snapToObjects="1">
      <p:cViewPr varScale="1">
        <p:scale>
          <a:sx n="109" d="100"/>
          <a:sy n="109" d="100"/>
        </p:scale>
        <p:origin x="619"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4">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1NoLn">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ltNode1NoLn">
    <dgm:fillClrLst meth="repeat">
      <a:schemeClr val="accent2">
        <a:tint val="75000"/>
      </a:schemeClr>
      <a:schemeClr val="accent3">
        <a:tint val="75000"/>
      </a:schemeClr>
      <a:schemeClr val="accent4">
        <a:tint val="75000"/>
      </a:schemeClr>
      <a:schemeClr val="accent5">
        <a:tint val="75000"/>
      </a:schemeClr>
      <a:schemeClr val="accent6">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2NoLn">
    <dgm:fillClrLst>
      <a:schemeClr val="accent2"/>
    </dgm:fillClrLst>
    <dgm:linClrLst meth="repeat">
      <a:schemeClr val="lt1">
        <a:alpha val="0"/>
      </a:schemeClr>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3NoLn">
    <dgm:fillClrLst>
      <a:schemeClr val="accent3"/>
    </dgm:fillClrLst>
    <dgm:linClrLst meth="repeat">
      <a:schemeClr val="lt1">
        <a:alpha val="0"/>
      </a:schemeClr>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node4NoLn">
    <dgm:fillClrLst>
      <a:schemeClr val="accent4"/>
    </dgm:fillClrLst>
    <dgm:linClrLst meth="repeat">
      <a:schemeClr val="lt1">
        <a:alpha val="0"/>
      </a:schemeClr>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8260851B-F560-493E-884F-AA69E8F6E36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2839A391-F32F-4F3C-9E82-835B7511C592}">
      <dgm:prSet phldrT="[Text]" phldr="0"/>
      <dgm:spPr/>
      <dgm:t>
        <a:bodyPr/>
        <a:lstStyle/>
        <a:p>
          <a:r>
            <a:rPr lang="en-US" b="1" dirty="0" err="1"/>
            <a:t>Recieving</a:t>
          </a:r>
          <a:endParaRPr lang="en-US" b="1" dirty="0"/>
        </a:p>
      </dgm:t>
    </dgm:pt>
    <dgm:pt modelId="{EFBAA1BC-C2D7-4CDB-964A-1AD37D455171}" type="parTrans" cxnId="{9CE20F5A-9DA2-4264-AA69-96AF5D2BBB27}">
      <dgm:prSet/>
      <dgm:spPr/>
      <dgm:t>
        <a:bodyPr/>
        <a:lstStyle/>
        <a:p>
          <a:endParaRPr lang="en-US"/>
        </a:p>
      </dgm:t>
    </dgm:pt>
    <dgm:pt modelId="{B6D6188B-61C7-4E51-A112-5B0D7254EA2A}" type="sibTrans" cxnId="{9CE20F5A-9DA2-4264-AA69-96AF5D2BBB27}">
      <dgm:prSet/>
      <dgm:spPr/>
      <dgm:t>
        <a:bodyPr/>
        <a:lstStyle/>
        <a:p>
          <a:endParaRPr lang="en-US"/>
        </a:p>
      </dgm:t>
    </dgm:pt>
    <dgm:pt modelId="{4031F221-6E8B-4D38-AD25-E1FADEED6937}">
      <dgm:prSet phldrT="[Text]" phldr="0"/>
      <dgm:spPr/>
      <dgm:t>
        <a:bodyPr/>
        <a:lstStyle/>
        <a:p>
          <a:r>
            <a:rPr lang="en-US" b="1" dirty="0"/>
            <a:t>Encryption</a:t>
          </a:r>
          <a:r>
            <a:rPr lang="en-US" dirty="0"/>
            <a:t> </a:t>
          </a:r>
        </a:p>
      </dgm:t>
    </dgm:pt>
    <dgm:pt modelId="{DDB2546C-E8FC-4F53-809C-CC71DCBB3FDC}" type="parTrans" cxnId="{D4881306-50A0-453E-91A9-C10BD759190E}">
      <dgm:prSet/>
      <dgm:spPr/>
      <dgm:t>
        <a:bodyPr/>
        <a:lstStyle/>
        <a:p>
          <a:endParaRPr lang="en-US"/>
        </a:p>
      </dgm:t>
    </dgm:pt>
    <dgm:pt modelId="{66699949-91FB-4412-BAB3-8E66B2CA344E}" type="sibTrans" cxnId="{D4881306-50A0-453E-91A9-C10BD759190E}">
      <dgm:prSet/>
      <dgm:spPr/>
      <dgm:t>
        <a:bodyPr/>
        <a:lstStyle/>
        <a:p>
          <a:endParaRPr lang="en-US"/>
        </a:p>
      </dgm:t>
    </dgm:pt>
    <dgm:pt modelId="{85274742-F2D7-47EA-97F1-33D6A4F65E45}">
      <dgm:prSet phldrT="[Text]" phldr="0"/>
      <dgm:spPr/>
      <dgm:t>
        <a:bodyPr/>
        <a:lstStyle/>
        <a:p>
          <a:r>
            <a:rPr lang="en-US" b="1" dirty="0"/>
            <a:t>Parity</a:t>
          </a:r>
          <a:r>
            <a:rPr lang="en-US" dirty="0"/>
            <a:t> </a:t>
          </a:r>
        </a:p>
      </dgm:t>
    </dgm:pt>
    <dgm:pt modelId="{23AB8A89-19E5-4F53-BA16-3EC6D9F0A657}" type="parTrans" cxnId="{367EBE60-D61C-4563-AF27-970A8587B868}">
      <dgm:prSet/>
      <dgm:spPr/>
      <dgm:t>
        <a:bodyPr/>
        <a:lstStyle/>
        <a:p>
          <a:endParaRPr lang="en-US"/>
        </a:p>
      </dgm:t>
    </dgm:pt>
    <dgm:pt modelId="{64043CAC-FD3F-421F-B953-ECA0126303DE}" type="sibTrans" cxnId="{367EBE60-D61C-4563-AF27-970A8587B868}">
      <dgm:prSet/>
      <dgm:spPr/>
      <dgm:t>
        <a:bodyPr/>
        <a:lstStyle/>
        <a:p>
          <a:endParaRPr lang="en-US"/>
        </a:p>
      </dgm:t>
    </dgm:pt>
    <dgm:pt modelId="{3C5141FE-984B-4748-8A8C-D44FF043F0C5}">
      <dgm:prSet phldrT="[Text]" phldr="0"/>
      <dgm:spPr/>
      <dgm:t>
        <a:bodyPr/>
        <a:lstStyle/>
        <a:p>
          <a:r>
            <a:rPr lang="en-US" b="1" dirty="0"/>
            <a:t>Storing</a:t>
          </a:r>
        </a:p>
      </dgm:t>
    </dgm:pt>
    <dgm:pt modelId="{0FEB5A1C-FED0-4CA4-A39E-0C673C7981EB}" type="parTrans" cxnId="{AAE077D0-14DA-411B-82BA-1228835917D0}">
      <dgm:prSet/>
      <dgm:spPr/>
      <dgm:t>
        <a:bodyPr/>
        <a:lstStyle/>
        <a:p>
          <a:endParaRPr lang="en-US"/>
        </a:p>
      </dgm:t>
    </dgm:pt>
    <dgm:pt modelId="{4514BB01-993C-4CEE-9797-A8405C1E45B0}" type="sibTrans" cxnId="{AAE077D0-14DA-411B-82BA-1228835917D0}">
      <dgm:prSet/>
      <dgm:spPr/>
      <dgm:t>
        <a:bodyPr/>
        <a:lstStyle/>
        <a:p>
          <a:endParaRPr lang="en-US"/>
        </a:p>
      </dgm:t>
    </dgm:pt>
    <dgm:pt modelId="{DC2ACE6F-4DE9-4F04-893A-8765F0CB3E7B}" type="pres">
      <dgm:prSet presAssocID="{8260851B-F560-493E-884F-AA69E8F6E365}" presName="Name0" presStyleCnt="0">
        <dgm:presLayoutVars>
          <dgm:chMax val="11"/>
          <dgm:chPref val="11"/>
          <dgm:dir/>
          <dgm:resizeHandles/>
        </dgm:presLayoutVars>
      </dgm:prSet>
      <dgm:spPr/>
    </dgm:pt>
    <dgm:pt modelId="{1C9D6133-80B4-446B-9B08-2B3E1D5A420D}" type="pres">
      <dgm:prSet presAssocID="{3C5141FE-984B-4748-8A8C-D44FF043F0C5}" presName="Accent4" presStyleCnt="0"/>
      <dgm:spPr/>
    </dgm:pt>
    <dgm:pt modelId="{FDD8BF07-C71E-467F-9FB5-8F4EB5FADFA0}" type="pres">
      <dgm:prSet presAssocID="{3C5141FE-984B-4748-8A8C-D44FF043F0C5}" presName="Accent" presStyleLbl="node1" presStyleIdx="0" presStyleCnt="4"/>
      <dgm:spPr>
        <a:solidFill>
          <a:srgbClr val="002060"/>
        </a:solidFill>
      </dgm:spPr>
    </dgm:pt>
    <dgm:pt modelId="{5FF2CB7A-EEF1-4F20-815C-F17CDBD2206A}" type="pres">
      <dgm:prSet presAssocID="{3C5141FE-984B-4748-8A8C-D44FF043F0C5}" presName="ParentBackground4" presStyleCnt="0"/>
      <dgm:spPr/>
    </dgm:pt>
    <dgm:pt modelId="{1509CF40-E589-4609-8AB5-35177CD6BC7E}" type="pres">
      <dgm:prSet presAssocID="{3C5141FE-984B-4748-8A8C-D44FF043F0C5}" presName="ParentBackground" presStyleLbl="fgAcc1" presStyleIdx="0" presStyleCnt="4"/>
      <dgm:spPr/>
    </dgm:pt>
    <dgm:pt modelId="{19596B29-2FD9-49C8-90E3-E9267DD3A1FB}" type="pres">
      <dgm:prSet presAssocID="{3C5141FE-984B-4748-8A8C-D44FF043F0C5}" presName="Parent4" presStyleLbl="revTx" presStyleIdx="0" presStyleCnt="0">
        <dgm:presLayoutVars>
          <dgm:chMax val="1"/>
          <dgm:chPref val="1"/>
          <dgm:bulletEnabled val="1"/>
        </dgm:presLayoutVars>
      </dgm:prSet>
      <dgm:spPr/>
    </dgm:pt>
    <dgm:pt modelId="{3077A77D-1954-42FC-B4E5-B155CFC43751}" type="pres">
      <dgm:prSet presAssocID="{85274742-F2D7-47EA-97F1-33D6A4F65E45}" presName="Accent3" presStyleCnt="0"/>
      <dgm:spPr/>
    </dgm:pt>
    <dgm:pt modelId="{A1FCC95A-8C82-4448-B9E2-36DA616DDD78}" type="pres">
      <dgm:prSet presAssocID="{85274742-F2D7-47EA-97F1-33D6A4F65E45}" presName="Accent" presStyleLbl="node1" presStyleIdx="1" presStyleCnt="4"/>
      <dgm:spPr>
        <a:solidFill>
          <a:srgbClr val="002060"/>
        </a:solidFill>
      </dgm:spPr>
    </dgm:pt>
    <dgm:pt modelId="{2994F052-D484-4817-B699-AA78A431831A}" type="pres">
      <dgm:prSet presAssocID="{85274742-F2D7-47EA-97F1-33D6A4F65E45}" presName="ParentBackground3" presStyleCnt="0"/>
      <dgm:spPr/>
    </dgm:pt>
    <dgm:pt modelId="{4512CE89-0B49-42EA-AF66-E3717E9B4297}" type="pres">
      <dgm:prSet presAssocID="{85274742-F2D7-47EA-97F1-33D6A4F65E45}" presName="ParentBackground" presStyleLbl="fgAcc1" presStyleIdx="1" presStyleCnt="4"/>
      <dgm:spPr/>
    </dgm:pt>
    <dgm:pt modelId="{79F47A5D-4A93-484B-9113-16EC3AC48B1B}" type="pres">
      <dgm:prSet presAssocID="{85274742-F2D7-47EA-97F1-33D6A4F65E45}" presName="Parent3" presStyleLbl="revTx" presStyleIdx="0" presStyleCnt="0">
        <dgm:presLayoutVars>
          <dgm:chMax val="1"/>
          <dgm:chPref val="1"/>
          <dgm:bulletEnabled val="1"/>
        </dgm:presLayoutVars>
      </dgm:prSet>
      <dgm:spPr/>
    </dgm:pt>
    <dgm:pt modelId="{5D64D231-2814-4ABB-9CCC-25E57491B74F}" type="pres">
      <dgm:prSet presAssocID="{4031F221-6E8B-4D38-AD25-E1FADEED6937}" presName="Accent2" presStyleCnt="0"/>
      <dgm:spPr/>
    </dgm:pt>
    <dgm:pt modelId="{E4962A0A-DFAD-4249-B2CE-5963F243EF6A}" type="pres">
      <dgm:prSet presAssocID="{4031F221-6E8B-4D38-AD25-E1FADEED6937}" presName="Accent" presStyleLbl="node1" presStyleIdx="2" presStyleCnt="4"/>
      <dgm:spPr>
        <a:solidFill>
          <a:srgbClr val="002060"/>
        </a:solidFill>
      </dgm:spPr>
    </dgm:pt>
    <dgm:pt modelId="{5A1F8ADC-887E-4D1E-9979-68D89212BC61}" type="pres">
      <dgm:prSet presAssocID="{4031F221-6E8B-4D38-AD25-E1FADEED6937}" presName="ParentBackground2" presStyleCnt="0"/>
      <dgm:spPr/>
    </dgm:pt>
    <dgm:pt modelId="{5F54E8AD-D6F4-44D5-93A3-51108CB89D87}" type="pres">
      <dgm:prSet presAssocID="{4031F221-6E8B-4D38-AD25-E1FADEED6937}" presName="ParentBackground" presStyleLbl="fgAcc1" presStyleIdx="2" presStyleCnt="4"/>
      <dgm:spPr/>
    </dgm:pt>
    <dgm:pt modelId="{3218510E-7695-47A9-8C3B-462CD06C85CC}" type="pres">
      <dgm:prSet presAssocID="{4031F221-6E8B-4D38-AD25-E1FADEED6937}" presName="Parent2" presStyleLbl="revTx" presStyleIdx="0" presStyleCnt="0">
        <dgm:presLayoutVars>
          <dgm:chMax val="1"/>
          <dgm:chPref val="1"/>
          <dgm:bulletEnabled val="1"/>
        </dgm:presLayoutVars>
      </dgm:prSet>
      <dgm:spPr/>
    </dgm:pt>
    <dgm:pt modelId="{8A8A42A5-8F56-4016-AF74-2116BF5E46BD}" type="pres">
      <dgm:prSet presAssocID="{2839A391-F32F-4F3C-9E82-835B7511C592}" presName="Accent1" presStyleCnt="0"/>
      <dgm:spPr/>
    </dgm:pt>
    <dgm:pt modelId="{38EFC76C-5A8F-44DC-9760-F51F746588A8}" type="pres">
      <dgm:prSet presAssocID="{2839A391-F32F-4F3C-9E82-835B7511C592}" presName="Accent" presStyleLbl="node1" presStyleIdx="3" presStyleCnt="4"/>
      <dgm:spPr>
        <a:solidFill>
          <a:srgbClr val="002060"/>
        </a:solidFill>
      </dgm:spPr>
    </dgm:pt>
    <dgm:pt modelId="{8FCFEBDD-6CD3-4D38-B43C-236FE29A9DEA}" type="pres">
      <dgm:prSet presAssocID="{2839A391-F32F-4F3C-9E82-835B7511C592}" presName="ParentBackground1" presStyleCnt="0"/>
      <dgm:spPr/>
    </dgm:pt>
    <dgm:pt modelId="{AAC3C89B-CE1D-4F85-BE1F-C9EE55283FF5}" type="pres">
      <dgm:prSet presAssocID="{2839A391-F32F-4F3C-9E82-835B7511C592}" presName="ParentBackground" presStyleLbl="fgAcc1" presStyleIdx="3" presStyleCnt="4"/>
      <dgm:spPr/>
    </dgm:pt>
    <dgm:pt modelId="{D698B297-78C5-4826-8FCA-E3F94EF414FB}" type="pres">
      <dgm:prSet presAssocID="{2839A391-F32F-4F3C-9E82-835B7511C592}" presName="Parent1" presStyleLbl="revTx" presStyleIdx="0" presStyleCnt="0">
        <dgm:presLayoutVars>
          <dgm:chMax val="1"/>
          <dgm:chPref val="1"/>
          <dgm:bulletEnabled val="1"/>
        </dgm:presLayoutVars>
      </dgm:prSet>
      <dgm:spPr/>
    </dgm:pt>
  </dgm:ptLst>
  <dgm:cxnLst>
    <dgm:cxn modelId="{D4881306-50A0-453E-91A9-C10BD759190E}" srcId="{8260851B-F560-493E-884F-AA69E8F6E365}" destId="{4031F221-6E8B-4D38-AD25-E1FADEED6937}" srcOrd="1" destOrd="0" parTransId="{DDB2546C-E8FC-4F53-809C-CC71DCBB3FDC}" sibTransId="{66699949-91FB-4412-BAB3-8E66B2CA344E}"/>
    <dgm:cxn modelId="{4AE3F70A-ACD5-4979-873B-DFD270EFE344}" type="presOf" srcId="{2839A391-F32F-4F3C-9E82-835B7511C592}" destId="{AAC3C89B-CE1D-4F85-BE1F-C9EE55283FF5}" srcOrd="0" destOrd="0" presId="urn:microsoft.com/office/officeart/2011/layout/CircleProcess"/>
    <dgm:cxn modelId="{479A6E23-5C0E-4388-9CCE-FE0D7B935F6A}" type="presOf" srcId="{4031F221-6E8B-4D38-AD25-E1FADEED6937}" destId="{3218510E-7695-47A9-8C3B-462CD06C85CC}" srcOrd="1" destOrd="0" presId="urn:microsoft.com/office/officeart/2011/layout/CircleProcess"/>
    <dgm:cxn modelId="{5B22B028-8CDE-4F80-B5C4-D24EB576C4B0}" type="presOf" srcId="{4031F221-6E8B-4D38-AD25-E1FADEED6937}" destId="{5F54E8AD-D6F4-44D5-93A3-51108CB89D87}" srcOrd="0" destOrd="0" presId="urn:microsoft.com/office/officeart/2011/layout/CircleProcess"/>
    <dgm:cxn modelId="{BC6CC75F-C577-4BC0-B2A0-2069333BC861}" type="presOf" srcId="{2839A391-F32F-4F3C-9E82-835B7511C592}" destId="{D698B297-78C5-4826-8FCA-E3F94EF414FB}" srcOrd="1" destOrd="0" presId="urn:microsoft.com/office/officeart/2011/layout/CircleProcess"/>
    <dgm:cxn modelId="{367EBE60-D61C-4563-AF27-970A8587B868}" srcId="{8260851B-F560-493E-884F-AA69E8F6E365}" destId="{85274742-F2D7-47EA-97F1-33D6A4F65E45}" srcOrd="2" destOrd="0" parTransId="{23AB8A89-19E5-4F53-BA16-3EC6D9F0A657}" sibTransId="{64043CAC-FD3F-421F-B953-ECA0126303DE}"/>
    <dgm:cxn modelId="{52ED4259-3839-4549-8C08-87A4A3565CFD}" type="presOf" srcId="{85274742-F2D7-47EA-97F1-33D6A4F65E45}" destId="{4512CE89-0B49-42EA-AF66-E3717E9B4297}" srcOrd="0" destOrd="0" presId="urn:microsoft.com/office/officeart/2011/layout/CircleProcess"/>
    <dgm:cxn modelId="{9CE20F5A-9DA2-4264-AA69-96AF5D2BBB27}" srcId="{8260851B-F560-493E-884F-AA69E8F6E365}" destId="{2839A391-F32F-4F3C-9E82-835B7511C592}" srcOrd="0" destOrd="0" parTransId="{EFBAA1BC-C2D7-4CDB-964A-1AD37D455171}" sibTransId="{B6D6188B-61C7-4E51-A112-5B0D7254EA2A}"/>
    <dgm:cxn modelId="{B4DABA83-0C4E-4406-ACFE-5137F7A5B9D1}" type="presOf" srcId="{8260851B-F560-493E-884F-AA69E8F6E365}" destId="{DC2ACE6F-4DE9-4F04-893A-8765F0CB3E7B}" srcOrd="0" destOrd="0" presId="urn:microsoft.com/office/officeart/2011/layout/CircleProcess"/>
    <dgm:cxn modelId="{F68F5493-1CC2-4292-B9EC-1C3A7448FC72}" type="presOf" srcId="{85274742-F2D7-47EA-97F1-33D6A4F65E45}" destId="{79F47A5D-4A93-484B-9113-16EC3AC48B1B}" srcOrd="1" destOrd="0" presId="urn:microsoft.com/office/officeart/2011/layout/CircleProcess"/>
    <dgm:cxn modelId="{28A6D1A6-9580-46E4-AF84-2EBFDD8CFFAC}" type="presOf" srcId="{3C5141FE-984B-4748-8A8C-D44FF043F0C5}" destId="{1509CF40-E589-4609-8AB5-35177CD6BC7E}" srcOrd="0" destOrd="0" presId="urn:microsoft.com/office/officeart/2011/layout/CircleProcess"/>
    <dgm:cxn modelId="{837439BA-6078-45C9-8D23-9CEBCBE4D361}" type="presOf" srcId="{3C5141FE-984B-4748-8A8C-D44FF043F0C5}" destId="{19596B29-2FD9-49C8-90E3-E9267DD3A1FB}" srcOrd="1" destOrd="0" presId="urn:microsoft.com/office/officeart/2011/layout/CircleProcess"/>
    <dgm:cxn modelId="{AAE077D0-14DA-411B-82BA-1228835917D0}" srcId="{8260851B-F560-493E-884F-AA69E8F6E365}" destId="{3C5141FE-984B-4748-8A8C-D44FF043F0C5}" srcOrd="3" destOrd="0" parTransId="{0FEB5A1C-FED0-4CA4-A39E-0C673C7981EB}" sibTransId="{4514BB01-993C-4CEE-9797-A8405C1E45B0}"/>
    <dgm:cxn modelId="{C6ADD7A2-9615-4C94-A82D-2DFC2BCF0C3F}" type="presParOf" srcId="{DC2ACE6F-4DE9-4F04-893A-8765F0CB3E7B}" destId="{1C9D6133-80B4-446B-9B08-2B3E1D5A420D}" srcOrd="0" destOrd="0" presId="urn:microsoft.com/office/officeart/2011/layout/CircleProcess"/>
    <dgm:cxn modelId="{182F8468-5618-4173-8F9C-CBF8EFE6C0D3}" type="presParOf" srcId="{1C9D6133-80B4-446B-9B08-2B3E1D5A420D}" destId="{FDD8BF07-C71E-467F-9FB5-8F4EB5FADFA0}" srcOrd="0" destOrd="0" presId="urn:microsoft.com/office/officeart/2011/layout/CircleProcess"/>
    <dgm:cxn modelId="{63C52317-DD51-4075-B82B-CDA49136A9C7}" type="presParOf" srcId="{DC2ACE6F-4DE9-4F04-893A-8765F0CB3E7B}" destId="{5FF2CB7A-EEF1-4F20-815C-F17CDBD2206A}" srcOrd="1" destOrd="0" presId="urn:microsoft.com/office/officeart/2011/layout/CircleProcess"/>
    <dgm:cxn modelId="{B2A44A3C-8A52-4DE0-8E4A-48142224EC70}" type="presParOf" srcId="{5FF2CB7A-EEF1-4F20-815C-F17CDBD2206A}" destId="{1509CF40-E589-4609-8AB5-35177CD6BC7E}" srcOrd="0" destOrd="0" presId="urn:microsoft.com/office/officeart/2011/layout/CircleProcess"/>
    <dgm:cxn modelId="{E1F629B3-1047-45DD-A21E-6CDFC6AB3D50}" type="presParOf" srcId="{DC2ACE6F-4DE9-4F04-893A-8765F0CB3E7B}" destId="{19596B29-2FD9-49C8-90E3-E9267DD3A1FB}" srcOrd="2" destOrd="0" presId="urn:microsoft.com/office/officeart/2011/layout/CircleProcess"/>
    <dgm:cxn modelId="{B31A50E8-70C5-40E3-BC7C-71524ADBE659}" type="presParOf" srcId="{DC2ACE6F-4DE9-4F04-893A-8765F0CB3E7B}" destId="{3077A77D-1954-42FC-B4E5-B155CFC43751}" srcOrd="3" destOrd="0" presId="urn:microsoft.com/office/officeart/2011/layout/CircleProcess"/>
    <dgm:cxn modelId="{551A5D7A-F8FE-4C6F-AFA9-04E64D3F4417}" type="presParOf" srcId="{3077A77D-1954-42FC-B4E5-B155CFC43751}" destId="{A1FCC95A-8C82-4448-B9E2-36DA616DDD78}" srcOrd="0" destOrd="0" presId="urn:microsoft.com/office/officeart/2011/layout/CircleProcess"/>
    <dgm:cxn modelId="{6104C5D9-B2ED-4677-BAEE-1438D2885493}" type="presParOf" srcId="{DC2ACE6F-4DE9-4F04-893A-8765F0CB3E7B}" destId="{2994F052-D484-4817-B699-AA78A431831A}" srcOrd="4" destOrd="0" presId="urn:microsoft.com/office/officeart/2011/layout/CircleProcess"/>
    <dgm:cxn modelId="{F63C5E42-307E-43EB-BB9B-9CEC5479A08D}" type="presParOf" srcId="{2994F052-D484-4817-B699-AA78A431831A}" destId="{4512CE89-0B49-42EA-AF66-E3717E9B4297}" srcOrd="0" destOrd="0" presId="urn:microsoft.com/office/officeart/2011/layout/CircleProcess"/>
    <dgm:cxn modelId="{56D1B03B-31D2-45FF-96D8-99D0EBA27E81}" type="presParOf" srcId="{DC2ACE6F-4DE9-4F04-893A-8765F0CB3E7B}" destId="{79F47A5D-4A93-484B-9113-16EC3AC48B1B}" srcOrd="5" destOrd="0" presId="urn:microsoft.com/office/officeart/2011/layout/CircleProcess"/>
    <dgm:cxn modelId="{1678B92F-7118-4570-AACE-43A5252D60F3}" type="presParOf" srcId="{DC2ACE6F-4DE9-4F04-893A-8765F0CB3E7B}" destId="{5D64D231-2814-4ABB-9CCC-25E57491B74F}" srcOrd="6" destOrd="0" presId="urn:microsoft.com/office/officeart/2011/layout/CircleProcess"/>
    <dgm:cxn modelId="{BFD71665-761D-4E2A-BA33-8E89C8A3CC35}" type="presParOf" srcId="{5D64D231-2814-4ABB-9CCC-25E57491B74F}" destId="{E4962A0A-DFAD-4249-B2CE-5963F243EF6A}" srcOrd="0" destOrd="0" presId="urn:microsoft.com/office/officeart/2011/layout/CircleProcess"/>
    <dgm:cxn modelId="{47B05938-EABC-4532-9C24-8F644480CE43}" type="presParOf" srcId="{DC2ACE6F-4DE9-4F04-893A-8765F0CB3E7B}" destId="{5A1F8ADC-887E-4D1E-9979-68D89212BC61}" srcOrd="7" destOrd="0" presId="urn:microsoft.com/office/officeart/2011/layout/CircleProcess"/>
    <dgm:cxn modelId="{13173D85-62A4-4DD6-B1FF-FCEA3B94E4D0}" type="presParOf" srcId="{5A1F8ADC-887E-4D1E-9979-68D89212BC61}" destId="{5F54E8AD-D6F4-44D5-93A3-51108CB89D87}" srcOrd="0" destOrd="0" presId="urn:microsoft.com/office/officeart/2011/layout/CircleProcess"/>
    <dgm:cxn modelId="{E6583170-1710-40CE-990A-2BAAB0FF2ADC}" type="presParOf" srcId="{DC2ACE6F-4DE9-4F04-893A-8765F0CB3E7B}" destId="{3218510E-7695-47A9-8C3B-462CD06C85CC}" srcOrd="8" destOrd="0" presId="urn:microsoft.com/office/officeart/2011/layout/CircleProcess"/>
    <dgm:cxn modelId="{5876BA08-5441-49FD-88F3-CE287A98156D}" type="presParOf" srcId="{DC2ACE6F-4DE9-4F04-893A-8765F0CB3E7B}" destId="{8A8A42A5-8F56-4016-AF74-2116BF5E46BD}" srcOrd="9" destOrd="0" presId="urn:microsoft.com/office/officeart/2011/layout/CircleProcess"/>
    <dgm:cxn modelId="{FC783ED0-24DF-4FA0-8003-00B2AF3A26E1}" type="presParOf" srcId="{8A8A42A5-8F56-4016-AF74-2116BF5E46BD}" destId="{38EFC76C-5A8F-44DC-9760-F51F746588A8}" srcOrd="0" destOrd="0" presId="urn:microsoft.com/office/officeart/2011/layout/CircleProcess"/>
    <dgm:cxn modelId="{336161A1-E719-4363-B661-998F905BE560}" type="presParOf" srcId="{DC2ACE6F-4DE9-4F04-893A-8765F0CB3E7B}" destId="{8FCFEBDD-6CD3-4D38-B43C-236FE29A9DEA}" srcOrd="10" destOrd="0" presId="urn:microsoft.com/office/officeart/2011/layout/CircleProcess"/>
    <dgm:cxn modelId="{490B7272-2C56-409D-919F-8652A9CD28CB}" type="presParOf" srcId="{8FCFEBDD-6CD3-4D38-B43C-236FE29A9DEA}" destId="{AAC3C89B-CE1D-4F85-BE1F-C9EE55283FF5}" srcOrd="0" destOrd="0" presId="urn:microsoft.com/office/officeart/2011/layout/CircleProcess"/>
    <dgm:cxn modelId="{FA023B51-382F-4A5A-8C7E-3693A6B49232}" type="presParOf" srcId="{DC2ACE6F-4DE9-4F04-893A-8765F0CB3E7B}" destId="{D698B297-78C5-4826-8FCA-E3F94EF414FB}" srcOrd="11"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7252C34-1FFA-41E1-8421-B2ECF34FBD7B}" type="doc">
      <dgm:prSet loTypeId="urn:microsoft.com/office/officeart/2009/3/layout/RandomtoResultProcess" loCatId="process" qsTypeId="urn:microsoft.com/office/officeart/2005/8/quickstyle/simple1#4" qsCatId="simple" csTypeId="urn:microsoft.com/office/officeart/2005/8/colors/colorful1#4" csCatId="colorful" phldr="1"/>
      <dgm:spPr/>
      <dgm:t>
        <a:bodyPr/>
        <a:lstStyle/>
        <a:p>
          <a:endParaRPr lang="en-US"/>
        </a:p>
      </dgm:t>
    </dgm:pt>
    <dgm:pt modelId="{600F66A8-801D-4FED-B25C-AEBEB0341812}">
      <dgm:prSet/>
      <dgm:spPr/>
      <dgm:t>
        <a:bodyPr/>
        <a:lstStyle/>
        <a:p>
          <a:r>
            <a:rPr lang="en-US" b="1" dirty="0"/>
            <a:t>Incoming Data</a:t>
          </a:r>
          <a:endParaRPr lang="en-US" dirty="0"/>
        </a:p>
      </dgm:t>
    </dgm:pt>
    <dgm:pt modelId="{F32DB85D-BE85-4C0F-81B2-5923345D25CE}" type="parTrans" cxnId="{2A4D3494-CB9E-4105-ABF9-99AC9E5912D6}">
      <dgm:prSet/>
      <dgm:spPr/>
      <dgm:t>
        <a:bodyPr/>
        <a:lstStyle/>
        <a:p>
          <a:endParaRPr lang="en-US"/>
        </a:p>
      </dgm:t>
    </dgm:pt>
    <dgm:pt modelId="{241C212A-5701-46C8-9E1D-D351669892FD}" type="sibTrans" cxnId="{2A4D3494-CB9E-4105-ABF9-99AC9E5912D6}">
      <dgm:prSet phldrT="1" phldr="0"/>
      <dgm:spPr/>
      <dgm:t>
        <a:bodyPr/>
        <a:lstStyle/>
        <a:p>
          <a:endParaRPr lang="en-US"/>
        </a:p>
      </dgm:t>
    </dgm:pt>
    <dgm:pt modelId="{3E387711-B8FE-4C56-A644-03C8EBB44C41}">
      <dgm:prSet/>
      <dgm:spPr/>
      <dgm:t>
        <a:bodyPr/>
        <a:lstStyle/>
        <a:p>
          <a:r>
            <a:rPr lang="en-US" dirty="0"/>
            <a:t>CXS Interface</a:t>
          </a:r>
        </a:p>
        <a:p>
          <a:r>
            <a:rPr lang="en-US" dirty="0"/>
            <a:t>Receives flit, credit-based flow control</a:t>
          </a:r>
        </a:p>
      </dgm:t>
    </dgm:pt>
    <dgm:pt modelId="{2745A513-9A1F-46C1-9C96-6A10172532A9}" type="parTrans" cxnId="{1EF82831-C1EA-4E36-86C7-69D335A30826}">
      <dgm:prSet/>
      <dgm:spPr/>
      <dgm:t>
        <a:bodyPr/>
        <a:lstStyle/>
        <a:p>
          <a:endParaRPr lang="en-US"/>
        </a:p>
      </dgm:t>
    </dgm:pt>
    <dgm:pt modelId="{84FAA0BD-ED58-496E-A6AD-3310C2CEBCC4}" type="sibTrans" cxnId="{1EF82831-C1EA-4E36-86C7-69D335A30826}">
      <dgm:prSet phldrT="2" phldr="0"/>
      <dgm:spPr/>
      <dgm:t>
        <a:bodyPr/>
        <a:lstStyle/>
        <a:p>
          <a:endParaRPr lang="en-US"/>
        </a:p>
      </dgm:t>
    </dgm:pt>
    <dgm:pt modelId="{948E1B04-1E4C-4447-9F50-37699F3BB4B0}">
      <dgm:prSet/>
      <dgm:spPr/>
      <dgm:t>
        <a:bodyPr/>
        <a:lstStyle/>
        <a:p>
          <a:r>
            <a:rPr lang="en-US" dirty="0"/>
            <a:t>Async FIFO</a:t>
          </a:r>
        </a:p>
        <a:p>
          <a:r>
            <a:rPr lang="en-US" dirty="0"/>
            <a:t>CDC buffer: CXS clk → System clk</a:t>
          </a:r>
        </a:p>
      </dgm:t>
    </dgm:pt>
    <dgm:pt modelId="{89A41376-24AC-4395-BFD6-714DE767B8E1}" type="parTrans" cxnId="{3F978B45-6FC6-4E4C-A601-74532E5CEA81}">
      <dgm:prSet/>
      <dgm:spPr/>
      <dgm:t>
        <a:bodyPr/>
        <a:lstStyle/>
        <a:p>
          <a:endParaRPr lang="en-US"/>
        </a:p>
      </dgm:t>
    </dgm:pt>
    <dgm:pt modelId="{81F30644-0CEA-4F06-9B7C-852962FE6854}" type="sibTrans" cxnId="{3F978B45-6FC6-4E4C-A601-74532E5CEA81}">
      <dgm:prSet phldrT="3" phldr="0"/>
      <dgm:spPr/>
      <dgm:t>
        <a:bodyPr/>
        <a:lstStyle/>
        <a:p>
          <a:endParaRPr lang="en-US"/>
        </a:p>
      </dgm:t>
    </dgm:pt>
    <dgm:pt modelId="{D5C8A19E-34DA-4DAC-B59F-061935B7D848}">
      <dgm:prSet/>
      <dgm:spPr/>
      <dgm:t>
        <a:bodyPr/>
        <a:lstStyle/>
        <a:p>
          <a:r>
            <a:rPr lang="en-US" dirty="0"/>
            <a:t>Flit Decoder</a:t>
          </a:r>
        </a:p>
        <a:p>
          <a:r>
            <a:rPr lang="en-US" dirty="0"/>
            <a:t>Extracts payload, to 16bit internal bath start/end/error flags</a:t>
          </a:r>
        </a:p>
      </dgm:t>
    </dgm:pt>
    <dgm:pt modelId="{F540DA51-C0FD-45CF-8326-B89463200A2C}" type="parTrans" cxnId="{7E6EE846-DE56-4EBB-9761-FB083892330C}">
      <dgm:prSet/>
      <dgm:spPr/>
      <dgm:t>
        <a:bodyPr/>
        <a:lstStyle/>
        <a:p>
          <a:endParaRPr lang="en-US"/>
        </a:p>
      </dgm:t>
    </dgm:pt>
    <dgm:pt modelId="{53006F09-7FB2-42DC-B967-7422F877F952}" type="sibTrans" cxnId="{7E6EE846-DE56-4EBB-9761-FB083892330C}">
      <dgm:prSet phldrT="4" phldr="0"/>
      <dgm:spPr/>
      <dgm:t>
        <a:bodyPr/>
        <a:lstStyle/>
        <a:p>
          <a:endParaRPr lang="en-US"/>
        </a:p>
      </dgm:t>
    </dgm:pt>
    <dgm:pt modelId="{74638CEB-CCEB-47E8-AE36-89016C68555B}">
      <dgm:prSet/>
      <dgm:spPr/>
      <dgm:t>
        <a:bodyPr/>
        <a:lstStyle/>
        <a:p>
          <a:r>
            <a:rPr lang="en-US" dirty="0"/>
            <a:t>Control Unit</a:t>
          </a:r>
        </a:p>
      </dgm:t>
    </dgm:pt>
    <dgm:pt modelId="{B491DFB5-4357-404D-99C5-E150B12700C5}" type="parTrans" cxnId="{28754DC2-C7BA-45A4-8FF7-EDC5B53E6C01}">
      <dgm:prSet/>
      <dgm:spPr/>
      <dgm:t>
        <a:bodyPr/>
        <a:lstStyle/>
        <a:p>
          <a:endParaRPr lang="en-US"/>
        </a:p>
      </dgm:t>
    </dgm:pt>
    <dgm:pt modelId="{2B9B09FB-EA92-4DF7-9B2E-FA85ACF8677A}" type="sibTrans" cxnId="{28754DC2-C7BA-45A4-8FF7-EDC5B53E6C01}">
      <dgm:prSet phldrT="5" phldr="0"/>
      <dgm:spPr/>
      <dgm:t>
        <a:bodyPr/>
        <a:lstStyle/>
        <a:p>
          <a:endParaRPr lang="en-US"/>
        </a:p>
      </dgm:t>
    </dgm:pt>
    <dgm:pt modelId="{1064E059-ED04-48CD-9467-12295B164061}" type="pres">
      <dgm:prSet presAssocID="{27252C34-1FFA-41E1-8421-B2ECF34FBD7B}" presName="Name0" presStyleCnt="0">
        <dgm:presLayoutVars>
          <dgm:dir/>
          <dgm:animOne val="branch"/>
          <dgm:animLvl val="lvl"/>
        </dgm:presLayoutVars>
      </dgm:prSet>
      <dgm:spPr/>
    </dgm:pt>
    <dgm:pt modelId="{396B2D6B-C7F9-4D65-B2D6-F6ABE2788F0C}" type="pres">
      <dgm:prSet presAssocID="{600F66A8-801D-4FED-B25C-AEBEB0341812}" presName="chaos" presStyleCnt="0"/>
      <dgm:spPr/>
    </dgm:pt>
    <dgm:pt modelId="{9D03D075-B81E-4B59-A186-4E09371BAC4B}" type="pres">
      <dgm:prSet presAssocID="{600F66A8-801D-4FED-B25C-AEBEB0341812}" presName="parTx1" presStyleLbl="revTx" presStyleIdx="0" presStyleCnt="4"/>
      <dgm:spPr/>
    </dgm:pt>
    <dgm:pt modelId="{066C68C2-73A1-478B-AF64-52B3596557EC}" type="pres">
      <dgm:prSet presAssocID="{600F66A8-801D-4FED-B25C-AEBEB0341812}" presName="c1" presStyleLbl="node1" presStyleIdx="0" presStyleCnt="19"/>
      <dgm:spPr/>
    </dgm:pt>
    <dgm:pt modelId="{088CB0C2-25A7-41F4-A2F8-AD40E0182692}" type="pres">
      <dgm:prSet presAssocID="{600F66A8-801D-4FED-B25C-AEBEB0341812}" presName="c2" presStyleLbl="node1" presStyleIdx="1" presStyleCnt="19"/>
      <dgm:spPr/>
    </dgm:pt>
    <dgm:pt modelId="{56099179-74BC-41CB-8C4B-6C1D7EADE47F}" type="pres">
      <dgm:prSet presAssocID="{600F66A8-801D-4FED-B25C-AEBEB0341812}" presName="c3" presStyleLbl="node1" presStyleIdx="2" presStyleCnt="19"/>
      <dgm:spPr/>
    </dgm:pt>
    <dgm:pt modelId="{84693B16-AE82-42FB-BC4B-6A3DAE214D2B}" type="pres">
      <dgm:prSet presAssocID="{600F66A8-801D-4FED-B25C-AEBEB0341812}" presName="c4" presStyleLbl="node1" presStyleIdx="3" presStyleCnt="19"/>
      <dgm:spPr/>
    </dgm:pt>
    <dgm:pt modelId="{031A6140-05E9-4F98-9F7A-0B5BF2F57554}" type="pres">
      <dgm:prSet presAssocID="{600F66A8-801D-4FED-B25C-AEBEB0341812}" presName="c5" presStyleLbl="node1" presStyleIdx="4" presStyleCnt="19"/>
      <dgm:spPr/>
    </dgm:pt>
    <dgm:pt modelId="{B6FE86FB-BFBD-4ADE-B86C-796325F2833C}" type="pres">
      <dgm:prSet presAssocID="{600F66A8-801D-4FED-B25C-AEBEB0341812}" presName="c6" presStyleLbl="node1" presStyleIdx="5" presStyleCnt="19"/>
      <dgm:spPr/>
    </dgm:pt>
    <dgm:pt modelId="{41310377-E442-40F3-99A8-5B86A75E257D}" type="pres">
      <dgm:prSet presAssocID="{600F66A8-801D-4FED-B25C-AEBEB0341812}" presName="c7" presStyleLbl="node1" presStyleIdx="6" presStyleCnt="19"/>
      <dgm:spPr/>
    </dgm:pt>
    <dgm:pt modelId="{ADACED0C-96CB-4CA1-95C8-0F152BFC642C}" type="pres">
      <dgm:prSet presAssocID="{600F66A8-801D-4FED-B25C-AEBEB0341812}" presName="c8" presStyleLbl="node1" presStyleIdx="7" presStyleCnt="19"/>
      <dgm:spPr/>
    </dgm:pt>
    <dgm:pt modelId="{D663EEF1-52A9-4049-BCEF-AC424DFF895A}" type="pres">
      <dgm:prSet presAssocID="{600F66A8-801D-4FED-B25C-AEBEB0341812}" presName="c9" presStyleLbl="node1" presStyleIdx="8" presStyleCnt="19"/>
      <dgm:spPr/>
    </dgm:pt>
    <dgm:pt modelId="{250EC5D0-6D43-46D2-9245-D99330136064}" type="pres">
      <dgm:prSet presAssocID="{600F66A8-801D-4FED-B25C-AEBEB0341812}" presName="c10" presStyleLbl="node1" presStyleIdx="9" presStyleCnt="19"/>
      <dgm:spPr/>
    </dgm:pt>
    <dgm:pt modelId="{A1A98304-3CD7-4494-99C7-D1CA16B49053}" type="pres">
      <dgm:prSet presAssocID="{600F66A8-801D-4FED-B25C-AEBEB0341812}" presName="c11" presStyleLbl="node1" presStyleIdx="10" presStyleCnt="19"/>
      <dgm:spPr/>
    </dgm:pt>
    <dgm:pt modelId="{86341ACA-3601-456E-A5D5-89E5E7BBAAA4}" type="pres">
      <dgm:prSet presAssocID="{600F66A8-801D-4FED-B25C-AEBEB0341812}" presName="c12" presStyleLbl="node1" presStyleIdx="11" presStyleCnt="19"/>
      <dgm:spPr/>
    </dgm:pt>
    <dgm:pt modelId="{0DD892F0-6FE3-46E2-8DC9-4E071370BCF7}" type="pres">
      <dgm:prSet presAssocID="{600F66A8-801D-4FED-B25C-AEBEB0341812}" presName="c13" presStyleLbl="node1" presStyleIdx="12" presStyleCnt="19"/>
      <dgm:spPr/>
    </dgm:pt>
    <dgm:pt modelId="{11307AD2-4D80-4015-8CC6-9E43C09F5E7B}" type="pres">
      <dgm:prSet presAssocID="{600F66A8-801D-4FED-B25C-AEBEB0341812}" presName="c14" presStyleLbl="node1" presStyleIdx="13" presStyleCnt="19"/>
      <dgm:spPr/>
    </dgm:pt>
    <dgm:pt modelId="{8BF91FCA-1EFC-4E2B-A118-6912597699A3}" type="pres">
      <dgm:prSet presAssocID="{600F66A8-801D-4FED-B25C-AEBEB0341812}" presName="c15" presStyleLbl="node1" presStyleIdx="14" presStyleCnt="19"/>
      <dgm:spPr/>
    </dgm:pt>
    <dgm:pt modelId="{824B2583-6756-4750-8463-55A6F171DEDF}" type="pres">
      <dgm:prSet presAssocID="{600F66A8-801D-4FED-B25C-AEBEB0341812}" presName="c16" presStyleLbl="node1" presStyleIdx="15" presStyleCnt="19"/>
      <dgm:spPr/>
    </dgm:pt>
    <dgm:pt modelId="{99066DEE-5608-468C-B4ED-CE2C9660B4C6}" type="pres">
      <dgm:prSet presAssocID="{600F66A8-801D-4FED-B25C-AEBEB0341812}" presName="c17" presStyleLbl="node1" presStyleIdx="16" presStyleCnt="19"/>
      <dgm:spPr/>
    </dgm:pt>
    <dgm:pt modelId="{EA243E42-7D8F-4A15-9CA6-E304DA063DF4}" type="pres">
      <dgm:prSet presAssocID="{600F66A8-801D-4FED-B25C-AEBEB0341812}" presName="c18" presStyleLbl="node1" presStyleIdx="17" presStyleCnt="19"/>
      <dgm:spPr/>
    </dgm:pt>
    <dgm:pt modelId="{BA2DA9B5-BDFA-4E12-9F32-EC3A15B53402}" type="pres">
      <dgm:prSet presAssocID="{241C212A-5701-46C8-9E1D-D351669892FD}" presName="chevronComposite1" presStyleCnt="0"/>
      <dgm:spPr/>
    </dgm:pt>
    <dgm:pt modelId="{C549A7C9-3CC2-495D-8692-C808E2BEDD06}" type="pres">
      <dgm:prSet presAssocID="{241C212A-5701-46C8-9E1D-D351669892FD}" presName="chevron1" presStyleLbl="sibTrans2D1" presStyleIdx="0" presStyleCnt="4"/>
      <dgm:spPr/>
    </dgm:pt>
    <dgm:pt modelId="{DC06FB68-BFDF-4514-836F-552FF2FCE2D5}" type="pres">
      <dgm:prSet presAssocID="{241C212A-5701-46C8-9E1D-D351669892FD}" presName="spChevron1" presStyleCnt="0"/>
      <dgm:spPr/>
    </dgm:pt>
    <dgm:pt modelId="{6DDF6FC5-3050-49EC-83B5-0FD89CB95FAB}" type="pres">
      <dgm:prSet presAssocID="{3E387711-B8FE-4C56-A644-03C8EBB44C41}" presName="middle" presStyleCnt="0"/>
      <dgm:spPr/>
    </dgm:pt>
    <dgm:pt modelId="{B5A39F18-7032-4A26-94E0-678370AA7B70}" type="pres">
      <dgm:prSet presAssocID="{3E387711-B8FE-4C56-A644-03C8EBB44C41}" presName="parTxMid" presStyleLbl="revTx" presStyleIdx="1" presStyleCnt="4"/>
      <dgm:spPr/>
    </dgm:pt>
    <dgm:pt modelId="{587B6C3E-58FB-4C81-B9D8-15A8F8FDEE8B}" type="pres">
      <dgm:prSet presAssocID="{3E387711-B8FE-4C56-A644-03C8EBB44C41}" presName="spMid" presStyleCnt="0"/>
      <dgm:spPr/>
    </dgm:pt>
    <dgm:pt modelId="{EC704624-3CC6-454A-B726-6AD8BC8CE062}" type="pres">
      <dgm:prSet presAssocID="{84FAA0BD-ED58-496E-A6AD-3310C2CEBCC4}" presName="chevronComposite1" presStyleCnt="0"/>
      <dgm:spPr/>
    </dgm:pt>
    <dgm:pt modelId="{C06ED2B1-1E49-41E1-96AF-AAF54FBC6D2C}" type="pres">
      <dgm:prSet presAssocID="{84FAA0BD-ED58-496E-A6AD-3310C2CEBCC4}" presName="chevron1" presStyleLbl="sibTrans2D1" presStyleIdx="1" presStyleCnt="4"/>
      <dgm:spPr/>
    </dgm:pt>
    <dgm:pt modelId="{16891D37-1530-4746-9F61-3926748E601B}" type="pres">
      <dgm:prSet presAssocID="{84FAA0BD-ED58-496E-A6AD-3310C2CEBCC4}" presName="spChevron1" presStyleCnt="0"/>
      <dgm:spPr/>
    </dgm:pt>
    <dgm:pt modelId="{2E387C6C-5043-4981-8E96-881D948C580C}" type="pres">
      <dgm:prSet presAssocID="{948E1B04-1E4C-4447-9F50-37699F3BB4B0}" presName="middle" presStyleCnt="0"/>
      <dgm:spPr/>
    </dgm:pt>
    <dgm:pt modelId="{BE703FCD-7422-4A8C-8805-6333F4094639}" type="pres">
      <dgm:prSet presAssocID="{948E1B04-1E4C-4447-9F50-37699F3BB4B0}" presName="parTxMid" presStyleLbl="revTx" presStyleIdx="2" presStyleCnt="4"/>
      <dgm:spPr/>
    </dgm:pt>
    <dgm:pt modelId="{CA92BFD0-A821-4A88-BCFE-E3452EE8E02B}" type="pres">
      <dgm:prSet presAssocID="{948E1B04-1E4C-4447-9F50-37699F3BB4B0}" presName="spMid" presStyleCnt="0"/>
      <dgm:spPr/>
    </dgm:pt>
    <dgm:pt modelId="{948AECEF-FAEF-4936-A911-BC477F458AA5}" type="pres">
      <dgm:prSet presAssocID="{81F30644-0CEA-4F06-9B7C-852962FE6854}" presName="chevronComposite1" presStyleCnt="0"/>
      <dgm:spPr/>
    </dgm:pt>
    <dgm:pt modelId="{67CC8161-BB6A-4445-AC47-CC81C685EC85}" type="pres">
      <dgm:prSet presAssocID="{81F30644-0CEA-4F06-9B7C-852962FE6854}" presName="chevron1" presStyleLbl="sibTrans2D1" presStyleIdx="2" presStyleCnt="4"/>
      <dgm:spPr/>
    </dgm:pt>
    <dgm:pt modelId="{CF267818-47AE-409A-8124-99F33E7F253A}" type="pres">
      <dgm:prSet presAssocID="{81F30644-0CEA-4F06-9B7C-852962FE6854}" presName="spChevron1" presStyleCnt="0"/>
      <dgm:spPr/>
    </dgm:pt>
    <dgm:pt modelId="{0212AC64-D223-4410-B904-D9606393DEB5}" type="pres">
      <dgm:prSet presAssocID="{D5C8A19E-34DA-4DAC-B59F-061935B7D848}" presName="middle" presStyleCnt="0"/>
      <dgm:spPr/>
    </dgm:pt>
    <dgm:pt modelId="{4A0D481C-09E9-49F6-B246-1F797D8518E5}" type="pres">
      <dgm:prSet presAssocID="{D5C8A19E-34DA-4DAC-B59F-061935B7D848}" presName="parTxMid" presStyleLbl="revTx" presStyleIdx="3" presStyleCnt="4"/>
      <dgm:spPr/>
    </dgm:pt>
    <dgm:pt modelId="{F608511C-4F46-4DDE-A51D-194E3C15B965}" type="pres">
      <dgm:prSet presAssocID="{D5C8A19E-34DA-4DAC-B59F-061935B7D848}" presName="spMid" presStyleCnt="0"/>
      <dgm:spPr/>
    </dgm:pt>
    <dgm:pt modelId="{43CF0019-93CE-41B1-8CCD-8A90A8EE190E}" type="pres">
      <dgm:prSet presAssocID="{53006F09-7FB2-42DC-B967-7422F877F952}" presName="chevronComposite1" presStyleCnt="0"/>
      <dgm:spPr/>
    </dgm:pt>
    <dgm:pt modelId="{FE58C54D-ECCD-4013-BFE5-708F6ACE58EE}" type="pres">
      <dgm:prSet presAssocID="{53006F09-7FB2-42DC-B967-7422F877F952}" presName="chevron1" presStyleLbl="sibTrans2D1" presStyleIdx="3" presStyleCnt="4"/>
      <dgm:spPr/>
    </dgm:pt>
    <dgm:pt modelId="{69F679A5-7DF6-4B19-B5CF-A2F332631EC4}" type="pres">
      <dgm:prSet presAssocID="{53006F09-7FB2-42DC-B967-7422F877F952}" presName="spChevron1" presStyleCnt="0"/>
      <dgm:spPr/>
    </dgm:pt>
    <dgm:pt modelId="{00EC81F2-07AF-4D93-87D6-4CB82B7B38F1}" type="pres">
      <dgm:prSet presAssocID="{74638CEB-CCEB-47E8-AE36-89016C68555B}" presName="last" presStyleCnt="0"/>
      <dgm:spPr/>
    </dgm:pt>
    <dgm:pt modelId="{CA22D33A-2DCE-4E88-B73B-770BD077B44C}" type="pres">
      <dgm:prSet presAssocID="{74638CEB-CCEB-47E8-AE36-89016C68555B}" presName="circleTx" presStyleLbl="node1" presStyleIdx="18" presStyleCnt="19"/>
      <dgm:spPr/>
    </dgm:pt>
    <dgm:pt modelId="{5DB5ACC1-5149-4F6A-AB4B-F63BBAFC1F6F}" type="pres">
      <dgm:prSet presAssocID="{74638CEB-CCEB-47E8-AE36-89016C68555B}" presName="spN" presStyleCnt="0"/>
      <dgm:spPr/>
    </dgm:pt>
  </dgm:ptLst>
  <dgm:cxnLst>
    <dgm:cxn modelId="{1EF82831-C1EA-4E36-86C7-69D335A30826}" srcId="{27252C34-1FFA-41E1-8421-B2ECF34FBD7B}" destId="{3E387711-B8FE-4C56-A644-03C8EBB44C41}" srcOrd="1" destOrd="0" parTransId="{2745A513-9A1F-46C1-9C96-6A10172532A9}" sibTransId="{84FAA0BD-ED58-496E-A6AD-3310C2CEBCC4}"/>
    <dgm:cxn modelId="{402A1635-95D2-4408-80B6-22F98784D7EE}" type="presOf" srcId="{600F66A8-801D-4FED-B25C-AEBEB0341812}" destId="{9D03D075-B81E-4B59-A186-4E09371BAC4B}" srcOrd="0" destOrd="0" presId="urn:microsoft.com/office/officeart/2009/3/layout/RandomtoResultProcess"/>
    <dgm:cxn modelId="{3F978B45-6FC6-4E4C-A601-74532E5CEA81}" srcId="{27252C34-1FFA-41E1-8421-B2ECF34FBD7B}" destId="{948E1B04-1E4C-4447-9F50-37699F3BB4B0}" srcOrd="2" destOrd="0" parTransId="{89A41376-24AC-4395-BFD6-714DE767B8E1}" sibTransId="{81F30644-0CEA-4F06-9B7C-852962FE6854}"/>
    <dgm:cxn modelId="{7E6EE846-DE56-4EBB-9761-FB083892330C}" srcId="{27252C34-1FFA-41E1-8421-B2ECF34FBD7B}" destId="{D5C8A19E-34DA-4DAC-B59F-061935B7D848}" srcOrd="3" destOrd="0" parTransId="{F540DA51-C0FD-45CF-8326-B89463200A2C}" sibTransId="{53006F09-7FB2-42DC-B967-7422F877F952}"/>
    <dgm:cxn modelId="{F0EB334D-48B6-4ED5-A854-3E62DF952635}" type="presOf" srcId="{27252C34-1FFA-41E1-8421-B2ECF34FBD7B}" destId="{1064E059-ED04-48CD-9467-12295B164061}" srcOrd="0" destOrd="0" presId="urn:microsoft.com/office/officeart/2009/3/layout/RandomtoResultProcess"/>
    <dgm:cxn modelId="{E3C94951-858A-4C35-A419-5E79C0019A54}" type="presOf" srcId="{948E1B04-1E4C-4447-9F50-37699F3BB4B0}" destId="{BE703FCD-7422-4A8C-8805-6333F4094639}" srcOrd="0" destOrd="0" presId="urn:microsoft.com/office/officeart/2009/3/layout/RandomtoResultProcess"/>
    <dgm:cxn modelId="{49A0AD78-309B-465E-AC7E-DA51BE62062E}" type="presOf" srcId="{D5C8A19E-34DA-4DAC-B59F-061935B7D848}" destId="{4A0D481C-09E9-49F6-B246-1F797D8518E5}" srcOrd="0" destOrd="0" presId="urn:microsoft.com/office/officeart/2009/3/layout/RandomtoResultProcess"/>
    <dgm:cxn modelId="{2A4D3494-CB9E-4105-ABF9-99AC9E5912D6}" srcId="{27252C34-1FFA-41E1-8421-B2ECF34FBD7B}" destId="{600F66A8-801D-4FED-B25C-AEBEB0341812}" srcOrd="0" destOrd="0" parTransId="{F32DB85D-BE85-4C0F-81B2-5923345D25CE}" sibTransId="{241C212A-5701-46C8-9E1D-D351669892FD}"/>
    <dgm:cxn modelId="{98E41496-EB5E-4637-AD90-45F25B5704B1}" type="presOf" srcId="{3E387711-B8FE-4C56-A644-03C8EBB44C41}" destId="{B5A39F18-7032-4A26-94E0-678370AA7B70}" srcOrd="0" destOrd="0" presId="urn:microsoft.com/office/officeart/2009/3/layout/RandomtoResultProcess"/>
    <dgm:cxn modelId="{28754DC2-C7BA-45A4-8FF7-EDC5B53E6C01}" srcId="{27252C34-1FFA-41E1-8421-B2ECF34FBD7B}" destId="{74638CEB-CCEB-47E8-AE36-89016C68555B}" srcOrd="4" destOrd="0" parTransId="{B491DFB5-4357-404D-99C5-E150B12700C5}" sibTransId="{2B9B09FB-EA92-4DF7-9B2E-FA85ACF8677A}"/>
    <dgm:cxn modelId="{7F74AAFB-7B7A-4520-ABCE-D902B22CAFC0}" type="presOf" srcId="{74638CEB-CCEB-47E8-AE36-89016C68555B}" destId="{CA22D33A-2DCE-4E88-B73B-770BD077B44C}" srcOrd="0" destOrd="0" presId="urn:microsoft.com/office/officeart/2009/3/layout/RandomtoResultProcess"/>
    <dgm:cxn modelId="{9D37E707-BAAC-4B22-97F1-3AFE0CA154D3}" type="presParOf" srcId="{1064E059-ED04-48CD-9467-12295B164061}" destId="{396B2D6B-C7F9-4D65-B2D6-F6ABE2788F0C}" srcOrd="0" destOrd="0" presId="urn:microsoft.com/office/officeart/2009/3/layout/RandomtoResultProcess"/>
    <dgm:cxn modelId="{52141BE9-9550-43A8-9A03-34A6505A41D8}" type="presParOf" srcId="{396B2D6B-C7F9-4D65-B2D6-F6ABE2788F0C}" destId="{9D03D075-B81E-4B59-A186-4E09371BAC4B}" srcOrd="0" destOrd="0" presId="urn:microsoft.com/office/officeart/2009/3/layout/RandomtoResultProcess"/>
    <dgm:cxn modelId="{13C45BB7-AAC0-4D5C-B198-CCE3CD061072}" type="presParOf" srcId="{396B2D6B-C7F9-4D65-B2D6-F6ABE2788F0C}" destId="{066C68C2-73A1-478B-AF64-52B3596557EC}" srcOrd="1" destOrd="0" presId="urn:microsoft.com/office/officeart/2009/3/layout/RandomtoResultProcess"/>
    <dgm:cxn modelId="{B812C0A5-D4E1-4E48-A3EA-12D4139CF7A3}" type="presParOf" srcId="{396B2D6B-C7F9-4D65-B2D6-F6ABE2788F0C}" destId="{088CB0C2-25A7-41F4-A2F8-AD40E0182692}" srcOrd="2" destOrd="0" presId="urn:microsoft.com/office/officeart/2009/3/layout/RandomtoResultProcess"/>
    <dgm:cxn modelId="{CB90FF7B-EE1F-4577-9BE1-8F77952AA9D8}" type="presParOf" srcId="{396B2D6B-C7F9-4D65-B2D6-F6ABE2788F0C}" destId="{56099179-74BC-41CB-8C4B-6C1D7EADE47F}" srcOrd="3" destOrd="0" presId="urn:microsoft.com/office/officeart/2009/3/layout/RandomtoResultProcess"/>
    <dgm:cxn modelId="{B1C760FE-D446-4E44-8D6A-CAD961DC8874}" type="presParOf" srcId="{396B2D6B-C7F9-4D65-B2D6-F6ABE2788F0C}" destId="{84693B16-AE82-42FB-BC4B-6A3DAE214D2B}" srcOrd="4" destOrd="0" presId="urn:microsoft.com/office/officeart/2009/3/layout/RandomtoResultProcess"/>
    <dgm:cxn modelId="{30E99B7E-8A72-41A2-B4C1-182EB890A832}" type="presParOf" srcId="{396B2D6B-C7F9-4D65-B2D6-F6ABE2788F0C}" destId="{031A6140-05E9-4F98-9F7A-0B5BF2F57554}" srcOrd="5" destOrd="0" presId="urn:microsoft.com/office/officeart/2009/3/layout/RandomtoResultProcess"/>
    <dgm:cxn modelId="{413422F3-8F11-4217-AD59-675747EBA284}" type="presParOf" srcId="{396B2D6B-C7F9-4D65-B2D6-F6ABE2788F0C}" destId="{B6FE86FB-BFBD-4ADE-B86C-796325F2833C}" srcOrd="6" destOrd="0" presId="urn:microsoft.com/office/officeart/2009/3/layout/RandomtoResultProcess"/>
    <dgm:cxn modelId="{D06DFF44-8649-4046-A581-62EA5617FCB1}" type="presParOf" srcId="{396B2D6B-C7F9-4D65-B2D6-F6ABE2788F0C}" destId="{41310377-E442-40F3-99A8-5B86A75E257D}" srcOrd="7" destOrd="0" presId="urn:microsoft.com/office/officeart/2009/3/layout/RandomtoResultProcess"/>
    <dgm:cxn modelId="{277A610B-5B26-4DCF-9295-52DE44A78F26}" type="presParOf" srcId="{396B2D6B-C7F9-4D65-B2D6-F6ABE2788F0C}" destId="{ADACED0C-96CB-4CA1-95C8-0F152BFC642C}" srcOrd="8" destOrd="0" presId="urn:microsoft.com/office/officeart/2009/3/layout/RandomtoResultProcess"/>
    <dgm:cxn modelId="{13003796-4310-4B9B-9143-EF68BB2D151B}" type="presParOf" srcId="{396B2D6B-C7F9-4D65-B2D6-F6ABE2788F0C}" destId="{D663EEF1-52A9-4049-BCEF-AC424DFF895A}" srcOrd="9" destOrd="0" presId="urn:microsoft.com/office/officeart/2009/3/layout/RandomtoResultProcess"/>
    <dgm:cxn modelId="{DA42DF85-3B2D-459A-AB88-D2F4C022B648}" type="presParOf" srcId="{396B2D6B-C7F9-4D65-B2D6-F6ABE2788F0C}" destId="{250EC5D0-6D43-46D2-9245-D99330136064}" srcOrd="10" destOrd="0" presId="urn:microsoft.com/office/officeart/2009/3/layout/RandomtoResultProcess"/>
    <dgm:cxn modelId="{42EF98D0-FB33-46D3-A30A-1FDABDDDDA9D}" type="presParOf" srcId="{396B2D6B-C7F9-4D65-B2D6-F6ABE2788F0C}" destId="{A1A98304-3CD7-4494-99C7-D1CA16B49053}" srcOrd="11" destOrd="0" presId="urn:microsoft.com/office/officeart/2009/3/layout/RandomtoResultProcess"/>
    <dgm:cxn modelId="{A72FA667-81C0-43CB-8CE5-A7B84A0B1207}" type="presParOf" srcId="{396B2D6B-C7F9-4D65-B2D6-F6ABE2788F0C}" destId="{86341ACA-3601-456E-A5D5-89E5E7BBAAA4}" srcOrd="12" destOrd="0" presId="urn:microsoft.com/office/officeart/2009/3/layout/RandomtoResultProcess"/>
    <dgm:cxn modelId="{07D289AC-EE46-4766-B295-BCD55110AEB7}" type="presParOf" srcId="{396B2D6B-C7F9-4D65-B2D6-F6ABE2788F0C}" destId="{0DD892F0-6FE3-46E2-8DC9-4E071370BCF7}" srcOrd="13" destOrd="0" presId="urn:microsoft.com/office/officeart/2009/3/layout/RandomtoResultProcess"/>
    <dgm:cxn modelId="{D4A4C2EF-0814-4EDB-8DAA-F87C97FED3E6}" type="presParOf" srcId="{396B2D6B-C7F9-4D65-B2D6-F6ABE2788F0C}" destId="{11307AD2-4D80-4015-8CC6-9E43C09F5E7B}" srcOrd="14" destOrd="0" presId="urn:microsoft.com/office/officeart/2009/3/layout/RandomtoResultProcess"/>
    <dgm:cxn modelId="{C1193A73-54C1-402C-A46E-E0007CE15DA6}" type="presParOf" srcId="{396B2D6B-C7F9-4D65-B2D6-F6ABE2788F0C}" destId="{8BF91FCA-1EFC-4E2B-A118-6912597699A3}" srcOrd="15" destOrd="0" presId="urn:microsoft.com/office/officeart/2009/3/layout/RandomtoResultProcess"/>
    <dgm:cxn modelId="{3FE6B6D5-29B2-4503-86EF-AA1FB2A00D10}" type="presParOf" srcId="{396B2D6B-C7F9-4D65-B2D6-F6ABE2788F0C}" destId="{824B2583-6756-4750-8463-55A6F171DEDF}" srcOrd="16" destOrd="0" presId="urn:microsoft.com/office/officeart/2009/3/layout/RandomtoResultProcess"/>
    <dgm:cxn modelId="{34B4C2CE-F20E-4B03-AA9C-810FE7C22746}" type="presParOf" srcId="{396B2D6B-C7F9-4D65-B2D6-F6ABE2788F0C}" destId="{99066DEE-5608-468C-B4ED-CE2C9660B4C6}" srcOrd="17" destOrd="0" presId="urn:microsoft.com/office/officeart/2009/3/layout/RandomtoResultProcess"/>
    <dgm:cxn modelId="{6862DA17-1E04-40E4-90B2-30DAFEA6AC61}" type="presParOf" srcId="{396B2D6B-C7F9-4D65-B2D6-F6ABE2788F0C}" destId="{EA243E42-7D8F-4A15-9CA6-E304DA063DF4}" srcOrd="18" destOrd="0" presId="urn:microsoft.com/office/officeart/2009/3/layout/RandomtoResultProcess"/>
    <dgm:cxn modelId="{2CB48C86-DFAF-4617-B8C9-7DC0EA7A211B}" type="presParOf" srcId="{1064E059-ED04-48CD-9467-12295B164061}" destId="{BA2DA9B5-BDFA-4E12-9F32-EC3A15B53402}" srcOrd="1" destOrd="0" presId="urn:microsoft.com/office/officeart/2009/3/layout/RandomtoResultProcess"/>
    <dgm:cxn modelId="{20FD4431-E6AE-4BE6-A0D5-7783424FDCE9}" type="presParOf" srcId="{BA2DA9B5-BDFA-4E12-9F32-EC3A15B53402}" destId="{C549A7C9-3CC2-495D-8692-C808E2BEDD06}" srcOrd="0" destOrd="0" presId="urn:microsoft.com/office/officeart/2009/3/layout/RandomtoResultProcess"/>
    <dgm:cxn modelId="{FDAA7F4D-C783-459E-9617-0405B3210CC1}" type="presParOf" srcId="{BA2DA9B5-BDFA-4E12-9F32-EC3A15B53402}" destId="{DC06FB68-BFDF-4514-836F-552FF2FCE2D5}" srcOrd="1" destOrd="0" presId="urn:microsoft.com/office/officeart/2009/3/layout/RandomtoResultProcess"/>
    <dgm:cxn modelId="{0BDA270E-3794-46B5-8BE4-C1124643A19B}" type="presParOf" srcId="{1064E059-ED04-48CD-9467-12295B164061}" destId="{6DDF6FC5-3050-49EC-83B5-0FD89CB95FAB}" srcOrd="2" destOrd="0" presId="urn:microsoft.com/office/officeart/2009/3/layout/RandomtoResultProcess"/>
    <dgm:cxn modelId="{27045823-04C5-42E7-AA75-FA7E3D5D0801}" type="presParOf" srcId="{6DDF6FC5-3050-49EC-83B5-0FD89CB95FAB}" destId="{B5A39F18-7032-4A26-94E0-678370AA7B70}" srcOrd="0" destOrd="0" presId="urn:microsoft.com/office/officeart/2009/3/layout/RandomtoResultProcess"/>
    <dgm:cxn modelId="{9B64CB86-FACC-40D0-B0ED-A1978F0AFDFC}" type="presParOf" srcId="{6DDF6FC5-3050-49EC-83B5-0FD89CB95FAB}" destId="{587B6C3E-58FB-4C81-B9D8-15A8F8FDEE8B}" srcOrd="1" destOrd="0" presId="urn:microsoft.com/office/officeart/2009/3/layout/RandomtoResultProcess"/>
    <dgm:cxn modelId="{4F528955-2D04-4561-93F3-A70BE4F2EA48}" type="presParOf" srcId="{1064E059-ED04-48CD-9467-12295B164061}" destId="{EC704624-3CC6-454A-B726-6AD8BC8CE062}" srcOrd="3" destOrd="0" presId="urn:microsoft.com/office/officeart/2009/3/layout/RandomtoResultProcess"/>
    <dgm:cxn modelId="{5A68CD86-6ADC-473F-BB40-D15BDFB5F9A7}" type="presParOf" srcId="{EC704624-3CC6-454A-B726-6AD8BC8CE062}" destId="{C06ED2B1-1E49-41E1-96AF-AAF54FBC6D2C}" srcOrd="0" destOrd="0" presId="urn:microsoft.com/office/officeart/2009/3/layout/RandomtoResultProcess"/>
    <dgm:cxn modelId="{67CD0772-7F40-4F83-8196-0CBCCE1B8B72}" type="presParOf" srcId="{EC704624-3CC6-454A-B726-6AD8BC8CE062}" destId="{16891D37-1530-4746-9F61-3926748E601B}" srcOrd="1" destOrd="0" presId="urn:microsoft.com/office/officeart/2009/3/layout/RandomtoResultProcess"/>
    <dgm:cxn modelId="{0F5A14B0-2170-4723-BD05-2DB3C31FEEF3}" type="presParOf" srcId="{1064E059-ED04-48CD-9467-12295B164061}" destId="{2E387C6C-5043-4981-8E96-881D948C580C}" srcOrd="4" destOrd="0" presId="urn:microsoft.com/office/officeart/2009/3/layout/RandomtoResultProcess"/>
    <dgm:cxn modelId="{C917062D-5711-4FBB-84B0-FFBD5F59E841}" type="presParOf" srcId="{2E387C6C-5043-4981-8E96-881D948C580C}" destId="{BE703FCD-7422-4A8C-8805-6333F4094639}" srcOrd="0" destOrd="0" presId="urn:microsoft.com/office/officeart/2009/3/layout/RandomtoResultProcess"/>
    <dgm:cxn modelId="{281FE59B-6CEE-4E65-948A-E297900302AA}" type="presParOf" srcId="{2E387C6C-5043-4981-8E96-881D948C580C}" destId="{CA92BFD0-A821-4A88-BCFE-E3452EE8E02B}" srcOrd="1" destOrd="0" presId="urn:microsoft.com/office/officeart/2009/3/layout/RandomtoResultProcess"/>
    <dgm:cxn modelId="{B6A1C21F-6A39-4F47-B49A-949BC36FEE74}" type="presParOf" srcId="{1064E059-ED04-48CD-9467-12295B164061}" destId="{948AECEF-FAEF-4936-A911-BC477F458AA5}" srcOrd="5" destOrd="0" presId="urn:microsoft.com/office/officeart/2009/3/layout/RandomtoResultProcess"/>
    <dgm:cxn modelId="{1086835B-F34E-4E63-BD48-FBDD3391D504}" type="presParOf" srcId="{948AECEF-FAEF-4936-A911-BC477F458AA5}" destId="{67CC8161-BB6A-4445-AC47-CC81C685EC85}" srcOrd="0" destOrd="0" presId="urn:microsoft.com/office/officeart/2009/3/layout/RandomtoResultProcess"/>
    <dgm:cxn modelId="{84AD1206-9DF5-4D06-80D1-36112CAB01BB}" type="presParOf" srcId="{948AECEF-FAEF-4936-A911-BC477F458AA5}" destId="{CF267818-47AE-409A-8124-99F33E7F253A}" srcOrd="1" destOrd="0" presId="urn:microsoft.com/office/officeart/2009/3/layout/RandomtoResultProcess"/>
    <dgm:cxn modelId="{3E71AED7-7AA7-43AC-9FD1-32B791C71EB9}" type="presParOf" srcId="{1064E059-ED04-48CD-9467-12295B164061}" destId="{0212AC64-D223-4410-B904-D9606393DEB5}" srcOrd="6" destOrd="0" presId="urn:microsoft.com/office/officeart/2009/3/layout/RandomtoResultProcess"/>
    <dgm:cxn modelId="{EEA43D00-2040-4BC8-8322-1B2F7B81F61C}" type="presParOf" srcId="{0212AC64-D223-4410-B904-D9606393DEB5}" destId="{4A0D481C-09E9-49F6-B246-1F797D8518E5}" srcOrd="0" destOrd="0" presId="urn:microsoft.com/office/officeart/2009/3/layout/RandomtoResultProcess"/>
    <dgm:cxn modelId="{79483A3A-83B6-4473-9503-527430D9CB27}" type="presParOf" srcId="{0212AC64-D223-4410-B904-D9606393DEB5}" destId="{F608511C-4F46-4DDE-A51D-194E3C15B965}" srcOrd="1" destOrd="0" presId="urn:microsoft.com/office/officeart/2009/3/layout/RandomtoResultProcess"/>
    <dgm:cxn modelId="{95C06110-4BF8-4213-90A2-173106DD1A9E}" type="presParOf" srcId="{1064E059-ED04-48CD-9467-12295B164061}" destId="{43CF0019-93CE-41B1-8CCD-8A90A8EE190E}" srcOrd="7" destOrd="0" presId="urn:microsoft.com/office/officeart/2009/3/layout/RandomtoResultProcess"/>
    <dgm:cxn modelId="{80CF2505-80A8-40C2-8699-8FB83E276828}" type="presParOf" srcId="{43CF0019-93CE-41B1-8CCD-8A90A8EE190E}" destId="{FE58C54D-ECCD-4013-BFE5-708F6ACE58EE}" srcOrd="0" destOrd="0" presId="urn:microsoft.com/office/officeart/2009/3/layout/RandomtoResultProcess"/>
    <dgm:cxn modelId="{1180D85F-A990-49BA-B777-0FC6970DF118}" type="presParOf" srcId="{43CF0019-93CE-41B1-8CCD-8A90A8EE190E}" destId="{69F679A5-7DF6-4B19-B5CF-A2F332631EC4}" srcOrd="1" destOrd="0" presId="urn:microsoft.com/office/officeart/2009/3/layout/RandomtoResultProcess"/>
    <dgm:cxn modelId="{1C96DB18-94F8-4DC5-BEAF-131B50C96253}" type="presParOf" srcId="{1064E059-ED04-48CD-9467-12295B164061}" destId="{00EC81F2-07AF-4D93-87D6-4CB82B7B38F1}" srcOrd="8" destOrd="0" presId="urn:microsoft.com/office/officeart/2009/3/layout/RandomtoResultProcess"/>
    <dgm:cxn modelId="{25FCA5EB-0D34-4A50-AE4A-03C53E455358}" type="presParOf" srcId="{00EC81F2-07AF-4D93-87D6-4CB82B7B38F1}" destId="{CA22D33A-2DCE-4E88-B73B-770BD077B44C}" srcOrd="0" destOrd="0" presId="urn:microsoft.com/office/officeart/2009/3/layout/RandomtoResultProcess"/>
    <dgm:cxn modelId="{C8261550-4903-408F-B29E-F4C53810CBC9}" type="presParOf" srcId="{00EC81F2-07AF-4D93-87D6-4CB82B7B38F1}" destId="{5DB5ACC1-5149-4F6A-AB4B-F63BBAFC1F6F}" srcOrd="1" destOrd="0" presId="urn:microsoft.com/office/officeart/2009/3/layout/RandomtoResul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7252C34-1FFA-41E1-8421-B2ECF34FBD7B}" type="doc">
      <dgm:prSet loTypeId="urn:microsoft.com/office/officeart/2009/3/layout/RandomtoResultProcess" loCatId="process" qsTypeId="urn:microsoft.com/office/officeart/2005/8/quickstyle/simple1#4" qsCatId="simple" csTypeId="urn:microsoft.com/office/officeart/2005/8/colors/colorful1#5" csCatId="colorful" phldr="1"/>
      <dgm:spPr/>
      <dgm:t>
        <a:bodyPr/>
        <a:lstStyle/>
        <a:p>
          <a:endParaRPr lang="en-US"/>
        </a:p>
      </dgm:t>
    </dgm:pt>
    <dgm:pt modelId="{FC0BADB1-1500-4554-AA39-978AD711A57D}">
      <dgm:prSet/>
      <dgm:spPr/>
      <dgm:t>
        <a:bodyPr/>
        <a:lstStyle/>
        <a:p>
          <a:r>
            <a:rPr lang="en-US" dirty="0"/>
            <a:t>ATU + Encryption + Parity</a:t>
          </a:r>
        </a:p>
        <a:p>
          <a:r>
            <a:rPr lang="en-US" dirty="0"/>
            <a:t>Translates address, encrypts payload, appends parity</a:t>
          </a:r>
        </a:p>
      </dgm:t>
    </dgm:pt>
    <dgm:pt modelId="{75216135-AD73-4876-B5EF-EBE8F791F7F2}" type="sibTrans" cxnId="{25A41EC7-DBA2-4961-B1E7-9F983D626F8B}">
      <dgm:prSet/>
      <dgm:spPr/>
      <dgm:t>
        <a:bodyPr/>
        <a:lstStyle/>
        <a:p>
          <a:endParaRPr lang="en-US"/>
        </a:p>
      </dgm:t>
    </dgm:pt>
    <dgm:pt modelId="{EACD115A-F137-4552-B925-CF9E3A304D92}" type="parTrans" cxnId="{25A41EC7-DBA2-4961-B1E7-9F983D626F8B}">
      <dgm:prSet/>
      <dgm:spPr/>
      <dgm:t>
        <a:bodyPr/>
        <a:lstStyle/>
        <a:p>
          <a:endParaRPr lang="en-US"/>
        </a:p>
      </dgm:t>
    </dgm:pt>
    <dgm:pt modelId="{C8C8CD9B-5818-4DC6-A12E-2A607F4010B2}">
      <dgm:prSet/>
      <dgm:spPr/>
      <dgm:t>
        <a:bodyPr/>
        <a:lstStyle/>
        <a:p>
          <a:r>
            <a:rPr lang="en-US" dirty="0"/>
            <a:t>CDM</a:t>
          </a:r>
        </a:p>
        <a:p>
          <a:r>
            <a:rPr lang="en-US" dirty="0"/>
            <a:t>Stores config (direct write) or processed payload (ATU address)</a:t>
          </a:r>
        </a:p>
      </dgm:t>
    </dgm:pt>
    <dgm:pt modelId="{847EC7C3-5B30-4475-8905-AF811C121792}" type="sibTrans" cxnId="{BD8BE0F6-58E2-4DC8-BFAD-996769F0F949}">
      <dgm:prSet/>
      <dgm:spPr/>
      <dgm:t>
        <a:bodyPr/>
        <a:lstStyle/>
        <a:p>
          <a:endParaRPr lang="en-US"/>
        </a:p>
      </dgm:t>
    </dgm:pt>
    <dgm:pt modelId="{EAFDFC2E-9BF6-4AE0-ACBA-87EED66EEC3A}" type="parTrans" cxnId="{BD8BE0F6-58E2-4DC8-BFAD-996769F0F949}">
      <dgm:prSet/>
      <dgm:spPr/>
      <dgm:t>
        <a:bodyPr/>
        <a:lstStyle/>
        <a:p>
          <a:endParaRPr lang="en-US"/>
        </a:p>
      </dgm:t>
    </dgm:pt>
    <dgm:pt modelId="{152C9E08-AFA2-4611-B58C-ADBBDA5BF8EE}">
      <dgm:prSet/>
      <dgm:spPr/>
      <dgm:t>
        <a:bodyPr/>
        <a:lstStyle/>
        <a:p>
          <a:r>
            <a:rPr lang="en-US" dirty="0"/>
            <a:t>Data Sync + CXS TX</a:t>
          </a:r>
        </a:p>
        <a:p>
          <a:r>
            <a:rPr lang="en-US" dirty="0"/>
            <a:t>CDC buffer: System clk → CXS clk; sends status flit back</a:t>
          </a:r>
        </a:p>
      </dgm:t>
    </dgm:pt>
    <dgm:pt modelId="{7C02B79B-5928-4361-869A-E59EEAB65A15}" type="sibTrans" cxnId="{9BE2B80F-0A52-4EFC-8D1F-0F5357C39691}">
      <dgm:prSet/>
      <dgm:spPr/>
      <dgm:t>
        <a:bodyPr/>
        <a:lstStyle/>
        <a:p>
          <a:endParaRPr lang="en-US"/>
        </a:p>
      </dgm:t>
    </dgm:pt>
    <dgm:pt modelId="{9C393E8F-3552-4A2D-94D6-80EFDEFBD854}" type="parTrans" cxnId="{9BE2B80F-0A52-4EFC-8D1F-0F5357C39691}">
      <dgm:prSet/>
      <dgm:spPr/>
      <dgm:t>
        <a:bodyPr/>
        <a:lstStyle/>
        <a:p>
          <a:endParaRPr lang="en-US"/>
        </a:p>
      </dgm:t>
    </dgm:pt>
    <dgm:pt modelId="{7FE80DC8-A7E3-4705-B55A-B6F4D1881A14}" type="pres">
      <dgm:prSet presAssocID="{27252C34-1FFA-41E1-8421-B2ECF34FBD7B}" presName="Name0" presStyleCnt="0">
        <dgm:presLayoutVars>
          <dgm:dir/>
          <dgm:animOne val="branch"/>
          <dgm:animLvl val="lvl"/>
        </dgm:presLayoutVars>
      </dgm:prSet>
      <dgm:spPr/>
    </dgm:pt>
    <dgm:pt modelId="{D2A74003-75C1-488B-8A06-F5F9DA4B0A43}" type="pres">
      <dgm:prSet presAssocID="{FC0BADB1-1500-4554-AA39-978AD711A57D}" presName="chaos" presStyleCnt="0"/>
      <dgm:spPr/>
    </dgm:pt>
    <dgm:pt modelId="{850D4A26-DF03-44E0-90C0-7FE16DEB00A3}" type="pres">
      <dgm:prSet presAssocID="{FC0BADB1-1500-4554-AA39-978AD711A57D}" presName="parTx1" presStyleLbl="revTx" presStyleIdx="0" presStyleCnt="2"/>
      <dgm:spPr/>
    </dgm:pt>
    <dgm:pt modelId="{56956B0C-A52F-4D18-B3A5-9A044355D7F7}" type="pres">
      <dgm:prSet presAssocID="{FC0BADB1-1500-4554-AA39-978AD711A57D}" presName="c1" presStyleLbl="node1" presStyleIdx="0" presStyleCnt="19"/>
      <dgm:spPr/>
    </dgm:pt>
    <dgm:pt modelId="{24076EF9-67D6-4ACA-B8F9-C06F1D72CEA0}" type="pres">
      <dgm:prSet presAssocID="{FC0BADB1-1500-4554-AA39-978AD711A57D}" presName="c2" presStyleLbl="node1" presStyleIdx="1" presStyleCnt="19"/>
      <dgm:spPr/>
    </dgm:pt>
    <dgm:pt modelId="{264AFA6C-A619-4AE8-BC66-CEEE69D62EA3}" type="pres">
      <dgm:prSet presAssocID="{FC0BADB1-1500-4554-AA39-978AD711A57D}" presName="c3" presStyleLbl="node1" presStyleIdx="2" presStyleCnt="19"/>
      <dgm:spPr/>
    </dgm:pt>
    <dgm:pt modelId="{36B33716-A694-4C07-97B9-5235BA67F503}" type="pres">
      <dgm:prSet presAssocID="{FC0BADB1-1500-4554-AA39-978AD711A57D}" presName="c4" presStyleLbl="node1" presStyleIdx="3" presStyleCnt="19"/>
      <dgm:spPr/>
    </dgm:pt>
    <dgm:pt modelId="{B98699B4-84C6-4C3C-9D67-C1DF3D646DC3}" type="pres">
      <dgm:prSet presAssocID="{FC0BADB1-1500-4554-AA39-978AD711A57D}" presName="c5" presStyleLbl="node1" presStyleIdx="4" presStyleCnt="19"/>
      <dgm:spPr/>
    </dgm:pt>
    <dgm:pt modelId="{D64B248F-FAFD-4467-A204-75A98BE5970C}" type="pres">
      <dgm:prSet presAssocID="{FC0BADB1-1500-4554-AA39-978AD711A57D}" presName="c6" presStyleLbl="node1" presStyleIdx="5" presStyleCnt="19"/>
      <dgm:spPr/>
    </dgm:pt>
    <dgm:pt modelId="{829D6872-0A5D-4928-8BAB-71F1709943FF}" type="pres">
      <dgm:prSet presAssocID="{FC0BADB1-1500-4554-AA39-978AD711A57D}" presName="c7" presStyleLbl="node1" presStyleIdx="6" presStyleCnt="19"/>
      <dgm:spPr/>
    </dgm:pt>
    <dgm:pt modelId="{8E6F582B-F955-4DC2-8917-1D439D9A3AEA}" type="pres">
      <dgm:prSet presAssocID="{FC0BADB1-1500-4554-AA39-978AD711A57D}" presName="c8" presStyleLbl="node1" presStyleIdx="7" presStyleCnt="19"/>
      <dgm:spPr/>
    </dgm:pt>
    <dgm:pt modelId="{2B7C42E7-DDA0-40B6-9E02-38A7A19A7653}" type="pres">
      <dgm:prSet presAssocID="{FC0BADB1-1500-4554-AA39-978AD711A57D}" presName="c9" presStyleLbl="node1" presStyleIdx="8" presStyleCnt="19"/>
      <dgm:spPr/>
    </dgm:pt>
    <dgm:pt modelId="{4DF52567-6319-4AFD-8D96-02F9EFAB9362}" type="pres">
      <dgm:prSet presAssocID="{FC0BADB1-1500-4554-AA39-978AD711A57D}" presName="c10" presStyleLbl="node1" presStyleIdx="9" presStyleCnt="19"/>
      <dgm:spPr/>
    </dgm:pt>
    <dgm:pt modelId="{77BFB5F1-4782-4A27-8DFF-CC6DE6E8A2A7}" type="pres">
      <dgm:prSet presAssocID="{FC0BADB1-1500-4554-AA39-978AD711A57D}" presName="c11" presStyleLbl="node1" presStyleIdx="10" presStyleCnt="19"/>
      <dgm:spPr/>
    </dgm:pt>
    <dgm:pt modelId="{BC5DEC05-2F75-4981-AC14-7249BD13BFC3}" type="pres">
      <dgm:prSet presAssocID="{FC0BADB1-1500-4554-AA39-978AD711A57D}" presName="c12" presStyleLbl="node1" presStyleIdx="11" presStyleCnt="19"/>
      <dgm:spPr/>
    </dgm:pt>
    <dgm:pt modelId="{FA6B692F-FCB3-4477-AEFB-804B1AF63466}" type="pres">
      <dgm:prSet presAssocID="{FC0BADB1-1500-4554-AA39-978AD711A57D}" presName="c13" presStyleLbl="node1" presStyleIdx="12" presStyleCnt="19"/>
      <dgm:spPr/>
    </dgm:pt>
    <dgm:pt modelId="{A6167764-4DC3-46F2-BE44-82DD2CD73ADC}" type="pres">
      <dgm:prSet presAssocID="{FC0BADB1-1500-4554-AA39-978AD711A57D}" presName="c14" presStyleLbl="node1" presStyleIdx="13" presStyleCnt="19"/>
      <dgm:spPr/>
    </dgm:pt>
    <dgm:pt modelId="{76FE7225-B096-42CB-8FFD-EC5BB3ED8B04}" type="pres">
      <dgm:prSet presAssocID="{FC0BADB1-1500-4554-AA39-978AD711A57D}" presName="c15" presStyleLbl="node1" presStyleIdx="14" presStyleCnt="19"/>
      <dgm:spPr/>
    </dgm:pt>
    <dgm:pt modelId="{9C17FDFA-316C-4C36-8094-56A3D0F51284}" type="pres">
      <dgm:prSet presAssocID="{FC0BADB1-1500-4554-AA39-978AD711A57D}" presName="c16" presStyleLbl="node1" presStyleIdx="15" presStyleCnt="19"/>
      <dgm:spPr/>
    </dgm:pt>
    <dgm:pt modelId="{9EC8FD4E-0286-487A-83BD-67045791B957}" type="pres">
      <dgm:prSet presAssocID="{FC0BADB1-1500-4554-AA39-978AD711A57D}" presName="c17" presStyleLbl="node1" presStyleIdx="16" presStyleCnt="19"/>
      <dgm:spPr/>
    </dgm:pt>
    <dgm:pt modelId="{4EA72891-DBA4-4583-842A-D01E5D67C2D4}" type="pres">
      <dgm:prSet presAssocID="{FC0BADB1-1500-4554-AA39-978AD711A57D}" presName="c18" presStyleLbl="node1" presStyleIdx="17" presStyleCnt="19"/>
      <dgm:spPr/>
    </dgm:pt>
    <dgm:pt modelId="{50465067-9D3A-484B-BC0F-0069EE1F7D91}" type="pres">
      <dgm:prSet presAssocID="{75216135-AD73-4876-B5EF-EBE8F791F7F2}" presName="chevronComposite1" presStyleCnt="0"/>
      <dgm:spPr/>
    </dgm:pt>
    <dgm:pt modelId="{ED6FBBAA-8B9D-4A8A-8FB7-04CAB0A37AAE}" type="pres">
      <dgm:prSet presAssocID="{75216135-AD73-4876-B5EF-EBE8F791F7F2}" presName="chevron1" presStyleLbl="sibTrans2D1" presStyleIdx="0" presStyleCnt="2"/>
      <dgm:spPr/>
    </dgm:pt>
    <dgm:pt modelId="{D7D9D7D6-4ABB-4CC6-A22B-CDFB4AA68DA5}" type="pres">
      <dgm:prSet presAssocID="{75216135-AD73-4876-B5EF-EBE8F791F7F2}" presName="spChevron1" presStyleCnt="0"/>
      <dgm:spPr/>
    </dgm:pt>
    <dgm:pt modelId="{E5524B8D-6697-472F-96C0-49DAFE20B06C}" type="pres">
      <dgm:prSet presAssocID="{C8C8CD9B-5818-4DC6-A12E-2A607F4010B2}" presName="middle" presStyleCnt="0"/>
      <dgm:spPr/>
    </dgm:pt>
    <dgm:pt modelId="{B2D5A58E-F798-4436-BB68-0C5B1027AE1A}" type="pres">
      <dgm:prSet presAssocID="{C8C8CD9B-5818-4DC6-A12E-2A607F4010B2}" presName="parTxMid" presStyleLbl="revTx" presStyleIdx="1" presStyleCnt="2"/>
      <dgm:spPr/>
    </dgm:pt>
    <dgm:pt modelId="{02093748-F101-428A-82DB-2D1550985EA9}" type="pres">
      <dgm:prSet presAssocID="{C8C8CD9B-5818-4DC6-A12E-2A607F4010B2}" presName="spMid" presStyleCnt="0"/>
      <dgm:spPr/>
    </dgm:pt>
    <dgm:pt modelId="{6A5652FC-CA44-4BDF-B447-D9EB1ECBE251}" type="pres">
      <dgm:prSet presAssocID="{847EC7C3-5B30-4475-8905-AF811C121792}" presName="chevronComposite1" presStyleCnt="0"/>
      <dgm:spPr/>
    </dgm:pt>
    <dgm:pt modelId="{A507033C-DA96-4FB6-AB57-9FBC53A77E2C}" type="pres">
      <dgm:prSet presAssocID="{847EC7C3-5B30-4475-8905-AF811C121792}" presName="chevron1" presStyleLbl="sibTrans2D1" presStyleIdx="1" presStyleCnt="2"/>
      <dgm:spPr/>
    </dgm:pt>
    <dgm:pt modelId="{B456EACF-4186-474A-A7AB-24B2E6410E9D}" type="pres">
      <dgm:prSet presAssocID="{847EC7C3-5B30-4475-8905-AF811C121792}" presName="spChevron1" presStyleCnt="0"/>
      <dgm:spPr/>
    </dgm:pt>
    <dgm:pt modelId="{0EA9AAE6-1EF3-488F-BDF5-45CBE9452701}" type="pres">
      <dgm:prSet presAssocID="{152C9E08-AFA2-4611-B58C-ADBBDA5BF8EE}" presName="last" presStyleCnt="0"/>
      <dgm:spPr/>
    </dgm:pt>
    <dgm:pt modelId="{429FE0CA-5284-46B2-9270-FEE66F216410}" type="pres">
      <dgm:prSet presAssocID="{152C9E08-AFA2-4611-B58C-ADBBDA5BF8EE}" presName="circleTx" presStyleLbl="node1" presStyleIdx="18" presStyleCnt="19"/>
      <dgm:spPr/>
    </dgm:pt>
    <dgm:pt modelId="{FEE4A1AD-06E3-4B15-A5BC-282F2C4FF321}" type="pres">
      <dgm:prSet presAssocID="{152C9E08-AFA2-4611-B58C-ADBBDA5BF8EE}" presName="spN" presStyleCnt="0"/>
      <dgm:spPr/>
    </dgm:pt>
  </dgm:ptLst>
  <dgm:cxnLst>
    <dgm:cxn modelId="{9BE2B80F-0A52-4EFC-8D1F-0F5357C39691}" srcId="{27252C34-1FFA-41E1-8421-B2ECF34FBD7B}" destId="{152C9E08-AFA2-4611-B58C-ADBBDA5BF8EE}" srcOrd="2" destOrd="0" parTransId="{9C393E8F-3552-4A2D-94D6-80EFDEFBD854}" sibTransId="{7C02B79B-5928-4361-869A-E59EEAB65A15}"/>
    <dgm:cxn modelId="{459F0110-7011-48D9-8FDA-BDC00260DEE7}" type="presOf" srcId="{C8C8CD9B-5818-4DC6-A12E-2A607F4010B2}" destId="{B2D5A58E-F798-4436-BB68-0C5B1027AE1A}" srcOrd="0" destOrd="0" presId="urn:microsoft.com/office/officeart/2009/3/layout/RandomtoResultProcess"/>
    <dgm:cxn modelId="{6AACA43B-123A-4A15-BCCB-2514CD67ED4A}" type="presOf" srcId="{27252C34-1FFA-41E1-8421-B2ECF34FBD7B}" destId="{7FE80DC8-A7E3-4705-B55A-B6F4D1881A14}" srcOrd="0" destOrd="0" presId="urn:microsoft.com/office/officeart/2009/3/layout/RandomtoResultProcess"/>
    <dgm:cxn modelId="{0A457C5A-EC66-45A3-BE75-799A26910F63}" type="presOf" srcId="{152C9E08-AFA2-4611-B58C-ADBBDA5BF8EE}" destId="{429FE0CA-5284-46B2-9270-FEE66F216410}" srcOrd="0" destOrd="0" presId="urn:microsoft.com/office/officeart/2009/3/layout/RandomtoResultProcess"/>
    <dgm:cxn modelId="{9F4412B0-9F35-41F1-9D48-97EDC0951851}" type="presOf" srcId="{FC0BADB1-1500-4554-AA39-978AD711A57D}" destId="{850D4A26-DF03-44E0-90C0-7FE16DEB00A3}" srcOrd="0" destOrd="0" presId="urn:microsoft.com/office/officeart/2009/3/layout/RandomtoResultProcess"/>
    <dgm:cxn modelId="{25A41EC7-DBA2-4961-B1E7-9F983D626F8B}" srcId="{27252C34-1FFA-41E1-8421-B2ECF34FBD7B}" destId="{FC0BADB1-1500-4554-AA39-978AD711A57D}" srcOrd="0" destOrd="0" parTransId="{EACD115A-F137-4552-B925-CF9E3A304D92}" sibTransId="{75216135-AD73-4876-B5EF-EBE8F791F7F2}"/>
    <dgm:cxn modelId="{BD8BE0F6-58E2-4DC8-BFAD-996769F0F949}" srcId="{27252C34-1FFA-41E1-8421-B2ECF34FBD7B}" destId="{C8C8CD9B-5818-4DC6-A12E-2A607F4010B2}" srcOrd="1" destOrd="0" parTransId="{EAFDFC2E-9BF6-4AE0-ACBA-87EED66EEC3A}" sibTransId="{847EC7C3-5B30-4475-8905-AF811C121792}"/>
    <dgm:cxn modelId="{A8F65A5C-5DF4-4DB6-A85F-DEB59A5E2730}" type="presParOf" srcId="{7FE80DC8-A7E3-4705-B55A-B6F4D1881A14}" destId="{D2A74003-75C1-488B-8A06-F5F9DA4B0A43}" srcOrd="0" destOrd="0" presId="urn:microsoft.com/office/officeart/2009/3/layout/RandomtoResultProcess"/>
    <dgm:cxn modelId="{21D1C4A4-87EA-4599-95D0-2A33DE229291}" type="presParOf" srcId="{D2A74003-75C1-488B-8A06-F5F9DA4B0A43}" destId="{850D4A26-DF03-44E0-90C0-7FE16DEB00A3}" srcOrd="0" destOrd="0" presId="urn:microsoft.com/office/officeart/2009/3/layout/RandomtoResultProcess"/>
    <dgm:cxn modelId="{895DFFFF-5D0F-4222-AE62-31C5922D6AF3}" type="presParOf" srcId="{D2A74003-75C1-488B-8A06-F5F9DA4B0A43}" destId="{56956B0C-A52F-4D18-B3A5-9A044355D7F7}" srcOrd="1" destOrd="0" presId="urn:microsoft.com/office/officeart/2009/3/layout/RandomtoResultProcess"/>
    <dgm:cxn modelId="{B4677DFD-C87B-462C-9771-9A7D06F2047D}" type="presParOf" srcId="{D2A74003-75C1-488B-8A06-F5F9DA4B0A43}" destId="{24076EF9-67D6-4ACA-B8F9-C06F1D72CEA0}" srcOrd="2" destOrd="0" presId="urn:microsoft.com/office/officeart/2009/3/layout/RandomtoResultProcess"/>
    <dgm:cxn modelId="{95C9C022-2357-4A87-9F46-3ECA5E98A553}" type="presParOf" srcId="{D2A74003-75C1-488B-8A06-F5F9DA4B0A43}" destId="{264AFA6C-A619-4AE8-BC66-CEEE69D62EA3}" srcOrd="3" destOrd="0" presId="urn:microsoft.com/office/officeart/2009/3/layout/RandomtoResultProcess"/>
    <dgm:cxn modelId="{64549B1F-AE66-4898-9789-3A94D6496E9A}" type="presParOf" srcId="{D2A74003-75C1-488B-8A06-F5F9DA4B0A43}" destId="{36B33716-A694-4C07-97B9-5235BA67F503}" srcOrd="4" destOrd="0" presId="urn:microsoft.com/office/officeart/2009/3/layout/RandomtoResultProcess"/>
    <dgm:cxn modelId="{026F0A45-BE01-4FC9-A27C-98AC93FFF1DB}" type="presParOf" srcId="{D2A74003-75C1-488B-8A06-F5F9DA4B0A43}" destId="{B98699B4-84C6-4C3C-9D67-C1DF3D646DC3}" srcOrd="5" destOrd="0" presId="urn:microsoft.com/office/officeart/2009/3/layout/RandomtoResultProcess"/>
    <dgm:cxn modelId="{3F34FC1E-F86D-4355-A8D4-FBDD5F584B95}" type="presParOf" srcId="{D2A74003-75C1-488B-8A06-F5F9DA4B0A43}" destId="{D64B248F-FAFD-4467-A204-75A98BE5970C}" srcOrd="6" destOrd="0" presId="urn:microsoft.com/office/officeart/2009/3/layout/RandomtoResultProcess"/>
    <dgm:cxn modelId="{B1BC6F88-DB15-4917-8340-AF195F009069}" type="presParOf" srcId="{D2A74003-75C1-488B-8A06-F5F9DA4B0A43}" destId="{829D6872-0A5D-4928-8BAB-71F1709943FF}" srcOrd="7" destOrd="0" presId="urn:microsoft.com/office/officeart/2009/3/layout/RandomtoResultProcess"/>
    <dgm:cxn modelId="{2C68DEB3-B0E9-45F0-92C7-7B42C9E0C962}" type="presParOf" srcId="{D2A74003-75C1-488B-8A06-F5F9DA4B0A43}" destId="{8E6F582B-F955-4DC2-8917-1D439D9A3AEA}" srcOrd="8" destOrd="0" presId="urn:microsoft.com/office/officeart/2009/3/layout/RandomtoResultProcess"/>
    <dgm:cxn modelId="{B3B9DD57-C948-45E7-A01C-FE1C7DFC1711}" type="presParOf" srcId="{D2A74003-75C1-488B-8A06-F5F9DA4B0A43}" destId="{2B7C42E7-DDA0-40B6-9E02-38A7A19A7653}" srcOrd="9" destOrd="0" presId="urn:microsoft.com/office/officeart/2009/3/layout/RandomtoResultProcess"/>
    <dgm:cxn modelId="{3F4A6AD7-E484-4D62-8B5C-98AD585387FF}" type="presParOf" srcId="{D2A74003-75C1-488B-8A06-F5F9DA4B0A43}" destId="{4DF52567-6319-4AFD-8D96-02F9EFAB9362}" srcOrd="10" destOrd="0" presId="urn:microsoft.com/office/officeart/2009/3/layout/RandomtoResultProcess"/>
    <dgm:cxn modelId="{E5CB822B-B205-43B8-A050-0DFFAE9FCF1F}" type="presParOf" srcId="{D2A74003-75C1-488B-8A06-F5F9DA4B0A43}" destId="{77BFB5F1-4782-4A27-8DFF-CC6DE6E8A2A7}" srcOrd="11" destOrd="0" presId="urn:microsoft.com/office/officeart/2009/3/layout/RandomtoResultProcess"/>
    <dgm:cxn modelId="{2510F1B1-693B-4712-95E5-377FC95EDCE6}" type="presParOf" srcId="{D2A74003-75C1-488B-8A06-F5F9DA4B0A43}" destId="{BC5DEC05-2F75-4981-AC14-7249BD13BFC3}" srcOrd="12" destOrd="0" presId="urn:microsoft.com/office/officeart/2009/3/layout/RandomtoResultProcess"/>
    <dgm:cxn modelId="{354F5F2E-93B4-4471-90A4-34252A07812F}" type="presParOf" srcId="{D2A74003-75C1-488B-8A06-F5F9DA4B0A43}" destId="{FA6B692F-FCB3-4477-AEFB-804B1AF63466}" srcOrd="13" destOrd="0" presId="urn:microsoft.com/office/officeart/2009/3/layout/RandomtoResultProcess"/>
    <dgm:cxn modelId="{EA1124FE-C5EF-4A52-A7F0-7F4C449FD41B}" type="presParOf" srcId="{D2A74003-75C1-488B-8A06-F5F9DA4B0A43}" destId="{A6167764-4DC3-46F2-BE44-82DD2CD73ADC}" srcOrd="14" destOrd="0" presId="urn:microsoft.com/office/officeart/2009/3/layout/RandomtoResultProcess"/>
    <dgm:cxn modelId="{7E86D700-0B69-4571-ADD3-9B277A2E6352}" type="presParOf" srcId="{D2A74003-75C1-488B-8A06-F5F9DA4B0A43}" destId="{76FE7225-B096-42CB-8FFD-EC5BB3ED8B04}" srcOrd="15" destOrd="0" presId="urn:microsoft.com/office/officeart/2009/3/layout/RandomtoResultProcess"/>
    <dgm:cxn modelId="{C3CE1BFA-CF5E-4748-A0D9-888553E2D110}" type="presParOf" srcId="{D2A74003-75C1-488B-8A06-F5F9DA4B0A43}" destId="{9C17FDFA-316C-4C36-8094-56A3D0F51284}" srcOrd="16" destOrd="0" presId="urn:microsoft.com/office/officeart/2009/3/layout/RandomtoResultProcess"/>
    <dgm:cxn modelId="{483D549F-4ACA-434A-8173-44706DCEFD2C}" type="presParOf" srcId="{D2A74003-75C1-488B-8A06-F5F9DA4B0A43}" destId="{9EC8FD4E-0286-487A-83BD-67045791B957}" srcOrd="17" destOrd="0" presId="urn:microsoft.com/office/officeart/2009/3/layout/RandomtoResultProcess"/>
    <dgm:cxn modelId="{8F6C2AA3-94E2-426A-B69B-5DBEA14B23B4}" type="presParOf" srcId="{D2A74003-75C1-488B-8A06-F5F9DA4B0A43}" destId="{4EA72891-DBA4-4583-842A-D01E5D67C2D4}" srcOrd="18" destOrd="0" presId="urn:microsoft.com/office/officeart/2009/3/layout/RandomtoResultProcess"/>
    <dgm:cxn modelId="{F97A57C4-00C9-4E1F-BE33-AA292E6F45CB}" type="presParOf" srcId="{7FE80DC8-A7E3-4705-B55A-B6F4D1881A14}" destId="{50465067-9D3A-484B-BC0F-0069EE1F7D91}" srcOrd="1" destOrd="0" presId="urn:microsoft.com/office/officeart/2009/3/layout/RandomtoResultProcess"/>
    <dgm:cxn modelId="{2258567C-2C3E-4A43-9893-5C4EEFDA0B82}" type="presParOf" srcId="{50465067-9D3A-484B-BC0F-0069EE1F7D91}" destId="{ED6FBBAA-8B9D-4A8A-8FB7-04CAB0A37AAE}" srcOrd="0" destOrd="0" presId="urn:microsoft.com/office/officeart/2009/3/layout/RandomtoResultProcess"/>
    <dgm:cxn modelId="{EDECDB7D-D339-4565-AF31-28C4635A665F}" type="presParOf" srcId="{50465067-9D3A-484B-BC0F-0069EE1F7D91}" destId="{D7D9D7D6-4ABB-4CC6-A22B-CDFB4AA68DA5}" srcOrd="1" destOrd="0" presId="urn:microsoft.com/office/officeart/2009/3/layout/RandomtoResultProcess"/>
    <dgm:cxn modelId="{1FB179C5-8669-4D4A-8AD3-BDAC1C2B2D2E}" type="presParOf" srcId="{7FE80DC8-A7E3-4705-B55A-B6F4D1881A14}" destId="{E5524B8D-6697-472F-96C0-49DAFE20B06C}" srcOrd="2" destOrd="0" presId="urn:microsoft.com/office/officeart/2009/3/layout/RandomtoResultProcess"/>
    <dgm:cxn modelId="{77E1EE48-4B67-4268-A084-C6CE10AEC5B9}" type="presParOf" srcId="{E5524B8D-6697-472F-96C0-49DAFE20B06C}" destId="{B2D5A58E-F798-4436-BB68-0C5B1027AE1A}" srcOrd="0" destOrd="0" presId="urn:microsoft.com/office/officeart/2009/3/layout/RandomtoResultProcess"/>
    <dgm:cxn modelId="{09C495BA-276C-4EBA-91FD-EC8228394155}" type="presParOf" srcId="{E5524B8D-6697-472F-96C0-49DAFE20B06C}" destId="{02093748-F101-428A-82DB-2D1550985EA9}" srcOrd="1" destOrd="0" presId="urn:microsoft.com/office/officeart/2009/3/layout/RandomtoResultProcess"/>
    <dgm:cxn modelId="{50017312-9387-4C23-BACA-EA12509CB166}" type="presParOf" srcId="{7FE80DC8-A7E3-4705-B55A-B6F4D1881A14}" destId="{6A5652FC-CA44-4BDF-B447-D9EB1ECBE251}" srcOrd="3" destOrd="0" presId="urn:microsoft.com/office/officeart/2009/3/layout/RandomtoResultProcess"/>
    <dgm:cxn modelId="{A52550E1-E643-44FF-80D9-D00E36C347F7}" type="presParOf" srcId="{6A5652FC-CA44-4BDF-B447-D9EB1ECBE251}" destId="{A507033C-DA96-4FB6-AB57-9FBC53A77E2C}" srcOrd="0" destOrd="0" presId="urn:microsoft.com/office/officeart/2009/3/layout/RandomtoResultProcess"/>
    <dgm:cxn modelId="{CB9E3B1D-A53F-463E-A288-236E1D7AEB59}" type="presParOf" srcId="{6A5652FC-CA44-4BDF-B447-D9EB1ECBE251}" destId="{B456EACF-4186-474A-A7AB-24B2E6410E9D}" srcOrd="1" destOrd="0" presId="urn:microsoft.com/office/officeart/2009/3/layout/RandomtoResultProcess"/>
    <dgm:cxn modelId="{DC4F20D6-BA2B-4FEA-BC99-7077009947A6}" type="presParOf" srcId="{7FE80DC8-A7E3-4705-B55A-B6F4D1881A14}" destId="{0EA9AAE6-1EF3-488F-BDF5-45CBE9452701}" srcOrd="4" destOrd="0" presId="urn:microsoft.com/office/officeart/2009/3/layout/RandomtoResultProcess"/>
    <dgm:cxn modelId="{60ED7D7C-7094-46D4-AE71-4CA73FDD6665}" type="presParOf" srcId="{0EA9AAE6-1EF3-488F-BDF5-45CBE9452701}" destId="{429FE0CA-5284-46B2-9270-FEE66F216410}" srcOrd="0" destOrd="0" presId="urn:microsoft.com/office/officeart/2009/3/layout/RandomtoResultProcess"/>
    <dgm:cxn modelId="{1DF47DCB-AA0C-4EC0-840E-01C1D23837A3}" type="presParOf" srcId="{0EA9AAE6-1EF3-488F-BDF5-45CBE9452701}" destId="{FEE4A1AD-06E3-4B15-A5BC-282F2C4FF321}" srcOrd="1" destOrd="0" presId="urn:microsoft.com/office/officeart/2009/3/layout/RandomtoResultProcess"/>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0CB9EA7-8E54-4554-9478-C52E782196AA}"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587DBFA9-E399-4780-B8C8-5835E44FFDAF}">
      <dgm:prSet phldrT="[Text]" custT="1"/>
      <dgm:spPr/>
      <dgm:t>
        <a:bodyPr/>
        <a:lstStyle/>
        <a:p>
          <a:pPr>
            <a:buNone/>
          </a:pPr>
          <a:r>
            <a:rPr lang="en-US" sz="1200" dirty="0">
              <a:latin typeface="Times New Roman" panose="02020603050405020304" pitchFamily="18" charset="0"/>
              <a:cs typeface="Times New Roman" panose="02020603050405020304" pitchFamily="18" charset="0"/>
            </a:rPr>
            <a:t>Flit Receiver</a:t>
          </a:r>
        </a:p>
      </dgm:t>
    </dgm:pt>
    <dgm:pt modelId="{FA9B13A3-2E0D-4BEC-BD0C-5056051139F9}" type="parTrans" cxnId="{1D87B82D-E6B4-4D09-B0FF-8B98421B2A20}">
      <dgm:prSet/>
      <dgm:spPr/>
      <dgm:t>
        <a:bodyPr/>
        <a:lstStyle/>
        <a:p>
          <a:endParaRPr lang="en-US"/>
        </a:p>
      </dgm:t>
    </dgm:pt>
    <dgm:pt modelId="{250C3B0D-635A-48A5-A0EC-52D433D293F4}" type="sibTrans" cxnId="{1D87B82D-E6B4-4D09-B0FF-8B98421B2A20}">
      <dgm:prSet/>
      <dgm:spPr/>
      <dgm:t>
        <a:bodyPr/>
        <a:lstStyle/>
        <a:p>
          <a:endParaRPr lang="en-US"/>
        </a:p>
      </dgm:t>
    </dgm:pt>
    <dgm:pt modelId="{78D37829-E7DD-4E2B-9C40-EFC0929B2B82}">
      <dgm:prSet phldrT="[Text]"/>
      <dgm:spPr/>
      <dgm:t>
        <a:bodyPr/>
        <a:lstStyle/>
        <a:p>
          <a:pPr>
            <a:buNone/>
          </a:pPr>
          <a:r>
            <a:rPr lang="en-US" dirty="0">
              <a:latin typeface="Times New Roman" panose="02020603050405020304" pitchFamily="18" charset="0"/>
              <a:cs typeface="Times New Roman" panose="02020603050405020304" pitchFamily="18" charset="0"/>
            </a:rPr>
            <a:t> </a:t>
          </a:r>
          <a:r>
            <a:rPr lang="en-US" dirty="0">
              <a:solidFill>
                <a:srgbClr val="1E2761"/>
              </a:solidFill>
              <a:latin typeface="Times New Roman" panose="02020603050405020304" pitchFamily="18" charset="0"/>
              <a:cs typeface="Times New Roman" panose="02020603050405020304" pitchFamily="18" charset="0"/>
            </a:rPr>
            <a:t>Samples 32 bit CXSDATA/ 6 bit CXSCNTL on the CXS clock when CXSVALID is asserted; registers the flit</a:t>
          </a:r>
        </a:p>
      </dgm:t>
    </dgm:pt>
    <dgm:pt modelId="{FB5D4021-0DBC-476F-81AB-C06003D5969A}" type="parTrans" cxnId="{D6C0F97C-0EEE-4854-BEE9-B8A31A2E8537}">
      <dgm:prSet/>
      <dgm:spPr/>
      <dgm:t>
        <a:bodyPr/>
        <a:lstStyle/>
        <a:p>
          <a:endParaRPr lang="en-US"/>
        </a:p>
      </dgm:t>
    </dgm:pt>
    <dgm:pt modelId="{6FF33F86-815E-4AC2-9BFE-BE675DE29A47}" type="sibTrans" cxnId="{D6C0F97C-0EEE-4854-BEE9-B8A31A2E8537}">
      <dgm:prSet/>
      <dgm:spPr/>
      <dgm:t>
        <a:bodyPr/>
        <a:lstStyle/>
        <a:p>
          <a:endParaRPr lang="en-US"/>
        </a:p>
      </dgm:t>
    </dgm:pt>
    <dgm:pt modelId="{D60FA8B2-50A5-413C-9408-28591DEAA567}">
      <dgm:prSet phldrT="[Text]" custT="1"/>
      <dgm:spPr/>
      <dgm:t>
        <a:bodyPr/>
        <a:lstStyle/>
        <a:p>
          <a:pPr>
            <a:buNone/>
          </a:pPr>
          <a:r>
            <a:rPr lang="en-US" sz="1200" dirty="0">
              <a:latin typeface="Times New Roman" panose="02020603050405020304" pitchFamily="18" charset="0"/>
              <a:cs typeface="Times New Roman" panose="02020603050405020304" pitchFamily="18" charset="0"/>
            </a:rPr>
            <a:t>CXSCNTL Decoder</a:t>
          </a:r>
        </a:p>
      </dgm:t>
    </dgm:pt>
    <dgm:pt modelId="{FCC1F11B-22C5-4417-B0A5-C271AC32C65F}" type="parTrans" cxnId="{772557BD-585E-42B9-9F2C-91FB0D9D9B54}">
      <dgm:prSet/>
      <dgm:spPr/>
      <dgm:t>
        <a:bodyPr/>
        <a:lstStyle/>
        <a:p>
          <a:endParaRPr lang="en-US"/>
        </a:p>
      </dgm:t>
    </dgm:pt>
    <dgm:pt modelId="{0E8F797D-5428-4D89-8238-DE4D8976A0E0}" type="sibTrans" cxnId="{772557BD-585E-42B9-9F2C-91FB0D9D9B54}">
      <dgm:prSet/>
      <dgm:spPr/>
      <dgm:t>
        <a:bodyPr/>
        <a:lstStyle/>
        <a:p>
          <a:endParaRPr lang="en-US"/>
        </a:p>
      </dgm:t>
    </dgm:pt>
    <dgm:pt modelId="{AFDE22E2-4165-49A7-86B9-D09F1E76A3F7}">
      <dgm:prSet phldrT="[Text]"/>
      <dgm:spPr/>
      <dgm:t>
        <a:bodyPr/>
        <a:lstStyle/>
        <a:p>
          <a:pPr>
            <a:buNone/>
          </a:pPr>
          <a:r>
            <a:rPr lang="en-US" dirty="0">
              <a:solidFill>
                <a:srgbClr val="1E2761"/>
              </a:solidFill>
              <a:latin typeface="Times New Roman" panose="02020603050405020304" pitchFamily="18" charset="0"/>
              <a:cs typeface="Times New Roman" panose="02020603050405020304" pitchFamily="18" charset="0"/>
            </a:rPr>
            <a:t>Decodes the control field to identify packet start, end, and error boundaries</a:t>
          </a:r>
        </a:p>
      </dgm:t>
    </dgm:pt>
    <dgm:pt modelId="{E1C6C9E4-D8EA-4FC9-993F-11B16BD40349}" type="parTrans" cxnId="{90A11E29-B2C7-4455-B20D-93BB74E82532}">
      <dgm:prSet/>
      <dgm:spPr/>
      <dgm:t>
        <a:bodyPr/>
        <a:lstStyle/>
        <a:p>
          <a:endParaRPr lang="en-US"/>
        </a:p>
      </dgm:t>
    </dgm:pt>
    <dgm:pt modelId="{C22AEB32-68E0-4225-9076-CB056509BC07}" type="sibTrans" cxnId="{90A11E29-B2C7-4455-B20D-93BB74E82532}">
      <dgm:prSet/>
      <dgm:spPr/>
      <dgm:t>
        <a:bodyPr/>
        <a:lstStyle/>
        <a:p>
          <a:endParaRPr lang="en-US"/>
        </a:p>
      </dgm:t>
    </dgm:pt>
    <dgm:pt modelId="{1DA748D1-0299-4A50-B5A4-5D11A6819543}">
      <dgm:prSet phldrT="[Text]" custT="1"/>
      <dgm:spPr/>
      <dgm:t>
        <a:bodyPr/>
        <a:lstStyle/>
        <a:p>
          <a:pPr>
            <a:buNone/>
          </a:pPr>
          <a:r>
            <a:rPr lang="en-US" sz="1200" dirty="0">
              <a:latin typeface="Times New Roman" panose="02020603050405020304" pitchFamily="18" charset="0"/>
              <a:cs typeface="Times New Roman" panose="02020603050405020304" pitchFamily="18" charset="0"/>
            </a:rPr>
            <a:t>Boundary Extractor </a:t>
          </a:r>
        </a:p>
      </dgm:t>
    </dgm:pt>
    <dgm:pt modelId="{0FD87663-F0FA-4F47-8063-5818DE418996}" type="parTrans" cxnId="{A2CF2858-0AC2-420E-908B-31A9B64E7F98}">
      <dgm:prSet/>
      <dgm:spPr/>
      <dgm:t>
        <a:bodyPr/>
        <a:lstStyle/>
        <a:p>
          <a:endParaRPr lang="en-US"/>
        </a:p>
      </dgm:t>
    </dgm:pt>
    <dgm:pt modelId="{04053A23-5446-4A62-A621-0B91F0E87708}" type="sibTrans" cxnId="{A2CF2858-0AC2-420E-908B-31A9B64E7F98}">
      <dgm:prSet/>
      <dgm:spPr/>
      <dgm:t>
        <a:bodyPr/>
        <a:lstStyle/>
        <a:p>
          <a:endParaRPr lang="en-US"/>
        </a:p>
      </dgm:t>
    </dgm:pt>
    <dgm:pt modelId="{B42D00DA-3A68-4D80-856A-C41F57E525F8}">
      <dgm:prSet phldrT="[Text]"/>
      <dgm:spPr/>
      <dgm:t>
        <a:bodyPr/>
        <a:lstStyle/>
        <a:p>
          <a:pPr>
            <a:buNone/>
          </a:pPr>
          <a:r>
            <a:rPr lang="en-US" dirty="0">
              <a:solidFill>
                <a:srgbClr val="1E2761"/>
              </a:solidFill>
              <a:latin typeface="Times New Roman" panose="02020603050405020304" pitchFamily="18" charset="0"/>
              <a:cs typeface="Times New Roman" panose="02020603050405020304" pitchFamily="18" charset="0"/>
            </a:rPr>
            <a:t>Formats the decoded flit + boundary info for storage into the Async FIFO</a:t>
          </a:r>
        </a:p>
      </dgm:t>
    </dgm:pt>
    <dgm:pt modelId="{194D30A2-7E5B-4B11-9CFE-3C7D2A4DD3B4}" type="parTrans" cxnId="{00083175-4192-4663-8223-CB3EF07BD8B7}">
      <dgm:prSet/>
      <dgm:spPr/>
      <dgm:t>
        <a:bodyPr/>
        <a:lstStyle/>
        <a:p>
          <a:endParaRPr lang="en-US"/>
        </a:p>
      </dgm:t>
    </dgm:pt>
    <dgm:pt modelId="{28B2DA2E-4723-4E7C-904A-F53F92141AF2}" type="sibTrans" cxnId="{00083175-4192-4663-8223-CB3EF07BD8B7}">
      <dgm:prSet/>
      <dgm:spPr/>
      <dgm:t>
        <a:bodyPr/>
        <a:lstStyle/>
        <a:p>
          <a:endParaRPr lang="en-US"/>
        </a:p>
      </dgm:t>
    </dgm:pt>
    <dgm:pt modelId="{C572F834-F33A-4189-A470-B523A86ADA09}">
      <dgm:prSet phldrT="[Text]" custT="1"/>
      <dgm:spPr/>
      <dgm:t>
        <a:bodyPr/>
        <a:lstStyle/>
        <a:p>
          <a:pPr>
            <a:buNone/>
          </a:pPr>
          <a:r>
            <a:rPr lang="en-US" sz="1200" dirty="0">
              <a:latin typeface="Times New Roman" panose="02020603050405020304" pitchFamily="18" charset="0"/>
              <a:cs typeface="Times New Roman" panose="02020603050405020304" pitchFamily="18" charset="0"/>
            </a:rPr>
            <a:t>Credit Generator</a:t>
          </a:r>
        </a:p>
      </dgm:t>
    </dgm:pt>
    <dgm:pt modelId="{1C85CA04-570D-4CBA-A506-221A2E18C27A}" type="parTrans" cxnId="{5348EF65-A493-4F43-B08F-3E26C8B088CD}">
      <dgm:prSet/>
      <dgm:spPr/>
      <dgm:t>
        <a:bodyPr/>
        <a:lstStyle/>
        <a:p>
          <a:endParaRPr lang="en-US"/>
        </a:p>
      </dgm:t>
    </dgm:pt>
    <dgm:pt modelId="{3DCFEB92-0445-4DDF-A841-30442DED6FB0}" type="sibTrans" cxnId="{5348EF65-A493-4F43-B08F-3E26C8B088CD}">
      <dgm:prSet/>
      <dgm:spPr/>
      <dgm:t>
        <a:bodyPr/>
        <a:lstStyle/>
        <a:p>
          <a:endParaRPr lang="en-US"/>
        </a:p>
      </dgm:t>
    </dgm:pt>
    <dgm:pt modelId="{9D02684A-D1DF-40FC-B238-1330D6A1A71F}">
      <dgm:prSet phldrT="[Text]"/>
      <dgm:spPr/>
      <dgm:t>
        <a:bodyPr/>
        <a:lstStyle/>
        <a:p>
          <a:pPr>
            <a:buNone/>
          </a:pPr>
          <a:r>
            <a:rPr lang="en-US" dirty="0">
              <a:solidFill>
                <a:srgbClr val="1E2761"/>
              </a:solidFill>
              <a:latin typeface="Times New Roman" panose="02020603050405020304" pitchFamily="18" charset="0"/>
              <a:cs typeface="Times New Roman" panose="02020603050405020304" pitchFamily="18" charset="0"/>
            </a:rPr>
            <a:t>Monitors FIFO space; asserts CXSRXCRDGNT when a read frees a buffer slot, </a:t>
          </a:r>
          <a:r>
            <a:rPr lang="en-US" dirty="0" err="1">
              <a:solidFill>
                <a:srgbClr val="1E2761"/>
              </a:solidFill>
              <a:latin typeface="Times New Roman" panose="02020603050405020304" pitchFamily="18" charset="0"/>
              <a:cs typeface="Times New Roman" panose="02020603050405020304" pitchFamily="18" charset="0"/>
            </a:rPr>
            <a:t>deasserts</a:t>
          </a:r>
          <a:r>
            <a:rPr lang="en-US" dirty="0">
              <a:solidFill>
                <a:srgbClr val="1E2761"/>
              </a:solidFill>
              <a:latin typeface="Times New Roman" panose="02020603050405020304" pitchFamily="18" charset="0"/>
              <a:cs typeface="Times New Roman" panose="02020603050405020304" pitchFamily="18" charset="0"/>
            </a:rPr>
            <a:t> when FIFO is full</a:t>
          </a:r>
        </a:p>
      </dgm:t>
    </dgm:pt>
    <dgm:pt modelId="{A00FAED5-6627-45FA-B63B-9DD4DB82A1C1}" type="parTrans" cxnId="{3D6F927A-4D50-406E-852F-DB421710256F}">
      <dgm:prSet/>
      <dgm:spPr/>
      <dgm:t>
        <a:bodyPr/>
        <a:lstStyle/>
        <a:p>
          <a:endParaRPr lang="en-US"/>
        </a:p>
      </dgm:t>
    </dgm:pt>
    <dgm:pt modelId="{327881BB-A4F9-4DDC-8643-16493CAB0380}" type="sibTrans" cxnId="{3D6F927A-4D50-406E-852F-DB421710256F}">
      <dgm:prSet/>
      <dgm:spPr/>
      <dgm:t>
        <a:bodyPr/>
        <a:lstStyle/>
        <a:p>
          <a:endParaRPr lang="en-US"/>
        </a:p>
      </dgm:t>
    </dgm:pt>
    <dgm:pt modelId="{986BE5F8-2982-4850-B7AC-030CA92F7F24}">
      <dgm:prSet phldrT="[Text]" custT="1"/>
      <dgm:spPr/>
      <dgm:t>
        <a:bodyPr/>
        <a:lstStyle/>
        <a:p>
          <a:pPr>
            <a:buNone/>
          </a:pPr>
          <a:r>
            <a:rPr lang="en-US" sz="1200" dirty="0">
              <a:latin typeface="Times New Roman" panose="02020603050405020304" pitchFamily="18" charset="0"/>
              <a:cs typeface="Times New Roman" panose="02020603050405020304" pitchFamily="18" charset="0"/>
            </a:rPr>
            <a:t>Link Control (RX)</a:t>
          </a:r>
        </a:p>
      </dgm:t>
    </dgm:pt>
    <dgm:pt modelId="{AF86D660-AACA-479F-B3E4-EF351B5BF180}" type="parTrans" cxnId="{F718854C-6727-458B-8B6B-A63620F747BE}">
      <dgm:prSet/>
      <dgm:spPr/>
      <dgm:t>
        <a:bodyPr/>
        <a:lstStyle/>
        <a:p>
          <a:endParaRPr lang="en-US"/>
        </a:p>
      </dgm:t>
    </dgm:pt>
    <dgm:pt modelId="{A30A38CA-BCFD-481A-B1FE-EF5EAD3FA6C6}" type="sibTrans" cxnId="{F718854C-6727-458B-8B6B-A63620F747BE}">
      <dgm:prSet/>
      <dgm:spPr/>
      <dgm:t>
        <a:bodyPr/>
        <a:lstStyle/>
        <a:p>
          <a:endParaRPr lang="en-US"/>
        </a:p>
      </dgm:t>
    </dgm:pt>
    <dgm:pt modelId="{D437EAB9-5470-4B72-A756-CC5FFEFB4274}">
      <dgm:prSet phldrT="[Text]"/>
      <dgm:spPr/>
      <dgm:t>
        <a:bodyPr/>
        <a:lstStyle/>
        <a:p>
          <a:pPr>
            <a:buNone/>
          </a:pPr>
          <a:r>
            <a:rPr lang="en-US" dirty="0">
              <a:solidFill>
                <a:srgbClr val="1E2761"/>
              </a:solidFill>
              <a:latin typeface="Times New Roman" panose="02020603050405020304" pitchFamily="18" charset="0"/>
              <a:cs typeface="Times New Roman" panose="02020603050405020304" pitchFamily="18" charset="0"/>
            </a:rPr>
            <a:t>FSM managing link activation/deactivation handshake (CXSRXACTIVEREQ/ACK)</a:t>
          </a:r>
        </a:p>
      </dgm:t>
    </dgm:pt>
    <dgm:pt modelId="{DAFE08C0-1E11-487D-BB96-2D63E9048243}" type="parTrans" cxnId="{3BF48B08-619A-43F0-AA83-4BCFB2990E23}">
      <dgm:prSet/>
      <dgm:spPr/>
      <dgm:t>
        <a:bodyPr/>
        <a:lstStyle/>
        <a:p>
          <a:endParaRPr lang="en-US"/>
        </a:p>
      </dgm:t>
    </dgm:pt>
    <dgm:pt modelId="{FB56BF77-804A-43C4-A1F9-283F73A33556}" type="sibTrans" cxnId="{3BF48B08-619A-43F0-AA83-4BCFB2990E23}">
      <dgm:prSet/>
      <dgm:spPr/>
      <dgm:t>
        <a:bodyPr/>
        <a:lstStyle/>
        <a:p>
          <a:endParaRPr lang="en-US"/>
        </a:p>
      </dgm:t>
    </dgm:pt>
    <dgm:pt modelId="{1764816E-4097-4A97-BF81-494B01D978A7}" type="pres">
      <dgm:prSet presAssocID="{C0CB9EA7-8E54-4554-9478-C52E782196AA}" presName="Name0" presStyleCnt="0">
        <dgm:presLayoutVars>
          <dgm:dir/>
          <dgm:animLvl val="lvl"/>
          <dgm:resizeHandles/>
        </dgm:presLayoutVars>
      </dgm:prSet>
      <dgm:spPr/>
    </dgm:pt>
    <dgm:pt modelId="{2992D441-577B-491D-8104-339F61ED64CC}" type="pres">
      <dgm:prSet presAssocID="{587DBFA9-E399-4780-B8C8-5835E44FFDAF}" presName="linNode" presStyleCnt="0"/>
      <dgm:spPr/>
    </dgm:pt>
    <dgm:pt modelId="{25F89F97-50D4-4A4E-8E8D-7183F38EC508}" type="pres">
      <dgm:prSet presAssocID="{587DBFA9-E399-4780-B8C8-5835E44FFDAF}" presName="parentShp" presStyleLbl="node1" presStyleIdx="0" presStyleCnt="5">
        <dgm:presLayoutVars>
          <dgm:bulletEnabled val="1"/>
        </dgm:presLayoutVars>
      </dgm:prSet>
      <dgm:spPr/>
    </dgm:pt>
    <dgm:pt modelId="{0BFC3EA6-84C2-461D-B07A-36D241C9725D}" type="pres">
      <dgm:prSet presAssocID="{587DBFA9-E399-4780-B8C8-5835E44FFDAF}" presName="childShp" presStyleLbl="bgAccFollowNode1" presStyleIdx="0" presStyleCnt="5">
        <dgm:presLayoutVars>
          <dgm:bulletEnabled val="1"/>
        </dgm:presLayoutVars>
      </dgm:prSet>
      <dgm:spPr/>
    </dgm:pt>
    <dgm:pt modelId="{8800715A-EA61-43ED-B19B-5849BBE27A49}" type="pres">
      <dgm:prSet presAssocID="{250C3B0D-635A-48A5-A0EC-52D433D293F4}" presName="spacing" presStyleCnt="0"/>
      <dgm:spPr/>
    </dgm:pt>
    <dgm:pt modelId="{D7F9E0D4-11BB-43E1-BB28-319015674D99}" type="pres">
      <dgm:prSet presAssocID="{D60FA8B2-50A5-413C-9408-28591DEAA567}" presName="linNode" presStyleCnt="0"/>
      <dgm:spPr/>
    </dgm:pt>
    <dgm:pt modelId="{DE02EA0E-7599-4846-B043-FD1217C7F6EA}" type="pres">
      <dgm:prSet presAssocID="{D60FA8B2-50A5-413C-9408-28591DEAA567}" presName="parentShp" presStyleLbl="node1" presStyleIdx="1" presStyleCnt="5">
        <dgm:presLayoutVars>
          <dgm:bulletEnabled val="1"/>
        </dgm:presLayoutVars>
      </dgm:prSet>
      <dgm:spPr/>
    </dgm:pt>
    <dgm:pt modelId="{A6588C23-84DC-45FC-B0BE-9C582CDA7B87}" type="pres">
      <dgm:prSet presAssocID="{D60FA8B2-50A5-413C-9408-28591DEAA567}" presName="childShp" presStyleLbl="bgAccFollowNode1" presStyleIdx="1" presStyleCnt="5">
        <dgm:presLayoutVars>
          <dgm:bulletEnabled val="1"/>
        </dgm:presLayoutVars>
      </dgm:prSet>
      <dgm:spPr/>
    </dgm:pt>
    <dgm:pt modelId="{0EC640B7-EF84-42D3-A0FC-7DBF6D1AC73E}" type="pres">
      <dgm:prSet presAssocID="{0E8F797D-5428-4D89-8238-DE4D8976A0E0}" presName="spacing" presStyleCnt="0"/>
      <dgm:spPr/>
    </dgm:pt>
    <dgm:pt modelId="{FE89B3AC-1004-44AA-BFCB-BB2A0A7A4F9C}" type="pres">
      <dgm:prSet presAssocID="{1DA748D1-0299-4A50-B5A4-5D11A6819543}" presName="linNode" presStyleCnt="0"/>
      <dgm:spPr/>
    </dgm:pt>
    <dgm:pt modelId="{5BDA8100-EC44-4978-ACB5-ABFCF6719408}" type="pres">
      <dgm:prSet presAssocID="{1DA748D1-0299-4A50-B5A4-5D11A6819543}" presName="parentShp" presStyleLbl="node1" presStyleIdx="2" presStyleCnt="5">
        <dgm:presLayoutVars>
          <dgm:bulletEnabled val="1"/>
        </dgm:presLayoutVars>
      </dgm:prSet>
      <dgm:spPr/>
    </dgm:pt>
    <dgm:pt modelId="{2C810BC6-397B-47FC-9A17-0B6327A40F78}" type="pres">
      <dgm:prSet presAssocID="{1DA748D1-0299-4A50-B5A4-5D11A6819543}" presName="childShp" presStyleLbl="bgAccFollowNode1" presStyleIdx="2" presStyleCnt="5">
        <dgm:presLayoutVars>
          <dgm:bulletEnabled val="1"/>
        </dgm:presLayoutVars>
      </dgm:prSet>
      <dgm:spPr/>
    </dgm:pt>
    <dgm:pt modelId="{38C465B4-2538-478A-AE6A-EBCF3687A9D6}" type="pres">
      <dgm:prSet presAssocID="{04053A23-5446-4A62-A621-0B91F0E87708}" presName="spacing" presStyleCnt="0"/>
      <dgm:spPr/>
    </dgm:pt>
    <dgm:pt modelId="{1EA1C7D4-E71A-497A-A14B-AED983FA27B8}" type="pres">
      <dgm:prSet presAssocID="{C572F834-F33A-4189-A470-B523A86ADA09}" presName="linNode" presStyleCnt="0"/>
      <dgm:spPr/>
    </dgm:pt>
    <dgm:pt modelId="{3EA53BCA-1223-46E2-81A0-5C1752CFD4A6}" type="pres">
      <dgm:prSet presAssocID="{C572F834-F33A-4189-A470-B523A86ADA09}" presName="parentShp" presStyleLbl="node1" presStyleIdx="3" presStyleCnt="5">
        <dgm:presLayoutVars>
          <dgm:bulletEnabled val="1"/>
        </dgm:presLayoutVars>
      </dgm:prSet>
      <dgm:spPr/>
    </dgm:pt>
    <dgm:pt modelId="{57366C1C-DE19-454D-B5BA-3D8FF24965D7}" type="pres">
      <dgm:prSet presAssocID="{C572F834-F33A-4189-A470-B523A86ADA09}" presName="childShp" presStyleLbl="bgAccFollowNode1" presStyleIdx="3" presStyleCnt="5">
        <dgm:presLayoutVars>
          <dgm:bulletEnabled val="1"/>
        </dgm:presLayoutVars>
      </dgm:prSet>
      <dgm:spPr/>
    </dgm:pt>
    <dgm:pt modelId="{D832BEAF-10C7-406C-9248-58444BAD4223}" type="pres">
      <dgm:prSet presAssocID="{3DCFEB92-0445-4DDF-A841-30442DED6FB0}" presName="spacing" presStyleCnt="0"/>
      <dgm:spPr/>
    </dgm:pt>
    <dgm:pt modelId="{AC7C42B3-41AB-4D62-AA80-FB12D83057E2}" type="pres">
      <dgm:prSet presAssocID="{986BE5F8-2982-4850-B7AC-030CA92F7F24}" presName="linNode" presStyleCnt="0"/>
      <dgm:spPr/>
    </dgm:pt>
    <dgm:pt modelId="{9AC02F42-21BF-4A96-883F-CFAA7ED98EFF}" type="pres">
      <dgm:prSet presAssocID="{986BE5F8-2982-4850-B7AC-030CA92F7F24}" presName="parentShp" presStyleLbl="node1" presStyleIdx="4" presStyleCnt="5">
        <dgm:presLayoutVars>
          <dgm:bulletEnabled val="1"/>
        </dgm:presLayoutVars>
      </dgm:prSet>
      <dgm:spPr/>
    </dgm:pt>
    <dgm:pt modelId="{867EEB12-F024-4429-B5E2-6E68400547F8}" type="pres">
      <dgm:prSet presAssocID="{986BE5F8-2982-4850-B7AC-030CA92F7F24}" presName="childShp" presStyleLbl="bgAccFollowNode1" presStyleIdx="4" presStyleCnt="5" custLinFactNeighborX="0" custLinFactNeighborY="185">
        <dgm:presLayoutVars>
          <dgm:bulletEnabled val="1"/>
        </dgm:presLayoutVars>
      </dgm:prSet>
      <dgm:spPr/>
    </dgm:pt>
  </dgm:ptLst>
  <dgm:cxnLst>
    <dgm:cxn modelId="{10533402-6A6A-4DF3-9632-F1122D90BB80}" type="presOf" srcId="{9D02684A-D1DF-40FC-B238-1330D6A1A71F}" destId="{57366C1C-DE19-454D-B5BA-3D8FF24965D7}" srcOrd="0" destOrd="0" presId="urn:microsoft.com/office/officeart/2005/8/layout/vList6"/>
    <dgm:cxn modelId="{C99FC607-BE0B-4CD8-86EC-3BAA92F5FA05}" type="presOf" srcId="{78D37829-E7DD-4E2B-9C40-EFC0929B2B82}" destId="{0BFC3EA6-84C2-461D-B07A-36D241C9725D}" srcOrd="0" destOrd="0" presId="urn:microsoft.com/office/officeart/2005/8/layout/vList6"/>
    <dgm:cxn modelId="{3BF48B08-619A-43F0-AA83-4BCFB2990E23}" srcId="{986BE5F8-2982-4850-B7AC-030CA92F7F24}" destId="{D437EAB9-5470-4B72-A756-CC5FFEFB4274}" srcOrd="0" destOrd="0" parTransId="{DAFE08C0-1E11-487D-BB96-2D63E9048243}" sibTransId="{FB56BF77-804A-43C4-A1F9-283F73A33556}"/>
    <dgm:cxn modelId="{E1622E0D-958A-414A-A838-5527EB32A4E1}" type="presOf" srcId="{D60FA8B2-50A5-413C-9408-28591DEAA567}" destId="{DE02EA0E-7599-4846-B043-FD1217C7F6EA}" srcOrd="0" destOrd="0" presId="urn:microsoft.com/office/officeart/2005/8/layout/vList6"/>
    <dgm:cxn modelId="{7F400312-ED75-42BA-823A-1525C8FB3A65}" type="presOf" srcId="{B42D00DA-3A68-4D80-856A-C41F57E525F8}" destId="{2C810BC6-397B-47FC-9A17-0B6327A40F78}" srcOrd="0" destOrd="0" presId="urn:microsoft.com/office/officeart/2005/8/layout/vList6"/>
    <dgm:cxn modelId="{74B4121B-AD2B-4746-9126-45D834A0ECBF}" type="presOf" srcId="{D437EAB9-5470-4B72-A756-CC5FFEFB4274}" destId="{867EEB12-F024-4429-B5E2-6E68400547F8}" srcOrd="0" destOrd="0" presId="urn:microsoft.com/office/officeart/2005/8/layout/vList6"/>
    <dgm:cxn modelId="{90A11E29-B2C7-4455-B20D-93BB74E82532}" srcId="{D60FA8B2-50A5-413C-9408-28591DEAA567}" destId="{AFDE22E2-4165-49A7-86B9-D09F1E76A3F7}" srcOrd="0" destOrd="0" parTransId="{E1C6C9E4-D8EA-4FC9-993F-11B16BD40349}" sibTransId="{C22AEB32-68E0-4225-9076-CB056509BC07}"/>
    <dgm:cxn modelId="{1D87B82D-E6B4-4D09-B0FF-8B98421B2A20}" srcId="{C0CB9EA7-8E54-4554-9478-C52E782196AA}" destId="{587DBFA9-E399-4780-B8C8-5835E44FFDAF}" srcOrd="0" destOrd="0" parTransId="{FA9B13A3-2E0D-4BEC-BD0C-5056051139F9}" sibTransId="{250C3B0D-635A-48A5-A0EC-52D433D293F4}"/>
    <dgm:cxn modelId="{5348EF65-A493-4F43-B08F-3E26C8B088CD}" srcId="{C0CB9EA7-8E54-4554-9478-C52E782196AA}" destId="{C572F834-F33A-4189-A470-B523A86ADA09}" srcOrd="3" destOrd="0" parTransId="{1C85CA04-570D-4CBA-A506-221A2E18C27A}" sibTransId="{3DCFEB92-0445-4DDF-A841-30442DED6FB0}"/>
    <dgm:cxn modelId="{F718854C-6727-458B-8B6B-A63620F747BE}" srcId="{C0CB9EA7-8E54-4554-9478-C52E782196AA}" destId="{986BE5F8-2982-4850-B7AC-030CA92F7F24}" srcOrd="4" destOrd="0" parTransId="{AF86D660-AACA-479F-B3E4-EF351B5BF180}" sibTransId="{A30A38CA-BCFD-481A-B1FE-EF5EAD3FA6C6}"/>
    <dgm:cxn modelId="{00083175-4192-4663-8223-CB3EF07BD8B7}" srcId="{1DA748D1-0299-4A50-B5A4-5D11A6819543}" destId="{B42D00DA-3A68-4D80-856A-C41F57E525F8}" srcOrd="0" destOrd="0" parTransId="{194D30A2-7E5B-4B11-9CFE-3C7D2A4DD3B4}" sibTransId="{28B2DA2E-4723-4E7C-904A-F53F92141AF2}"/>
    <dgm:cxn modelId="{A2CF2858-0AC2-420E-908B-31A9B64E7F98}" srcId="{C0CB9EA7-8E54-4554-9478-C52E782196AA}" destId="{1DA748D1-0299-4A50-B5A4-5D11A6819543}" srcOrd="2" destOrd="0" parTransId="{0FD87663-F0FA-4F47-8063-5818DE418996}" sibTransId="{04053A23-5446-4A62-A621-0B91F0E87708}"/>
    <dgm:cxn modelId="{3D6F927A-4D50-406E-852F-DB421710256F}" srcId="{C572F834-F33A-4189-A470-B523A86ADA09}" destId="{9D02684A-D1DF-40FC-B238-1330D6A1A71F}" srcOrd="0" destOrd="0" parTransId="{A00FAED5-6627-45FA-B63B-9DD4DB82A1C1}" sibTransId="{327881BB-A4F9-4DDC-8643-16493CAB0380}"/>
    <dgm:cxn modelId="{D6C0F97C-0EEE-4854-BEE9-B8A31A2E8537}" srcId="{587DBFA9-E399-4780-B8C8-5835E44FFDAF}" destId="{78D37829-E7DD-4E2B-9C40-EFC0929B2B82}" srcOrd="0" destOrd="0" parTransId="{FB5D4021-0DBC-476F-81AB-C06003D5969A}" sibTransId="{6FF33F86-815E-4AC2-9BFE-BE675DE29A47}"/>
    <dgm:cxn modelId="{7F275DB7-89A7-4561-91D2-C35CC29C8076}" type="presOf" srcId="{AFDE22E2-4165-49A7-86B9-D09F1E76A3F7}" destId="{A6588C23-84DC-45FC-B0BE-9C582CDA7B87}" srcOrd="0" destOrd="0" presId="urn:microsoft.com/office/officeart/2005/8/layout/vList6"/>
    <dgm:cxn modelId="{772557BD-585E-42B9-9F2C-91FB0D9D9B54}" srcId="{C0CB9EA7-8E54-4554-9478-C52E782196AA}" destId="{D60FA8B2-50A5-413C-9408-28591DEAA567}" srcOrd="1" destOrd="0" parTransId="{FCC1F11B-22C5-4417-B0A5-C271AC32C65F}" sibTransId="{0E8F797D-5428-4D89-8238-DE4D8976A0E0}"/>
    <dgm:cxn modelId="{B0AC8ECF-3155-4670-A132-9D4718AB168D}" type="presOf" srcId="{587DBFA9-E399-4780-B8C8-5835E44FFDAF}" destId="{25F89F97-50D4-4A4E-8E8D-7183F38EC508}" srcOrd="0" destOrd="0" presId="urn:microsoft.com/office/officeart/2005/8/layout/vList6"/>
    <dgm:cxn modelId="{06E870D0-5EB9-4C59-98E1-748C9E962B4E}" type="presOf" srcId="{C572F834-F33A-4189-A470-B523A86ADA09}" destId="{3EA53BCA-1223-46E2-81A0-5C1752CFD4A6}" srcOrd="0" destOrd="0" presId="urn:microsoft.com/office/officeart/2005/8/layout/vList6"/>
    <dgm:cxn modelId="{F83E92DE-50D7-40F4-A0E0-30CBCA126B42}" type="presOf" srcId="{1DA748D1-0299-4A50-B5A4-5D11A6819543}" destId="{5BDA8100-EC44-4978-ACB5-ABFCF6719408}" srcOrd="0" destOrd="0" presId="urn:microsoft.com/office/officeart/2005/8/layout/vList6"/>
    <dgm:cxn modelId="{4B4E74F6-060E-4DE7-BD21-D104F6F46E8F}" type="presOf" srcId="{986BE5F8-2982-4850-B7AC-030CA92F7F24}" destId="{9AC02F42-21BF-4A96-883F-CFAA7ED98EFF}" srcOrd="0" destOrd="0" presId="urn:microsoft.com/office/officeart/2005/8/layout/vList6"/>
    <dgm:cxn modelId="{7382DDFF-1ABF-468F-B1BD-D58B323CAEF9}" type="presOf" srcId="{C0CB9EA7-8E54-4554-9478-C52E782196AA}" destId="{1764816E-4097-4A97-BF81-494B01D978A7}" srcOrd="0" destOrd="0" presId="urn:microsoft.com/office/officeart/2005/8/layout/vList6"/>
    <dgm:cxn modelId="{6AFA7542-63F8-47D8-BF92-720B7BA62617}" type="presParOf" srcId="{1764816E-4097-4A97-BF81-494B01D978A7}" destId="{2992D441-577B-491D-8104-339F61ED64CC}" srcOrd="0" destOrd="0" presId="urn:microsoft.com/office/officeart/2005/8/layout/vList6"/>
    <dgm:cxn modelId="{BDC86CA3-F567-40AC-96F7-FFA4F9785982}" type="presParOf" srcId="{2992D441-577B-491D-8104-339F61ED64CC}" destId="{25F89F97-50D4-4A4E-8E8D-7183F38EC508}" srcOrd="0" destOrd="0" presId="urn:microsoft.com/office/officeart/2005/8/layout/vList6"/>
    <dgm:cxn modelId="{6AE23DD7-CED1-4124-9AFC-83DF65B5C373}" type="presParOf" srcId="{2992D441-577B-491D-8104-339F61ED64CC}" destId="{0BFC3EA6-84C2-461D-B07A-36D241C9725D}" srcOrd="1" destOrd="0" presId="urn:microsoft.com/office/officeart/2005/8/layout/vList6"/>
    <dgm:cxn modelId="{4E79BC87-4F8D-4584-ACA5-8FA79CE85900}" type="presParOf" srcId="{1764816E-4097-4A97-BF81-494B01D978A7}" destId="{8800715A-EA61-43ED-B19B-5849BBE27A49}" srcOrd="1" destOrd="0" presId="urn:microsoft.com/office/officeart/2005/8/layout/vList6"/>
    <dgm:cxn modelId="{E6336796-DDAE-4B7F-8681-2A275E4E21E2}" type="presParOf" srcId="{1764816E-4097-4A97-BF81-494B01D978A7}" destId="{D7F9E0D4-11BB-43E1-BB28-319015674D99}" srcOrd="2" destOrd="0" presId="urn:microsoft.com/office/officeart/2005/8/layout/vList6"/>
    <dgm:cxn modelId="{EA0885C2-8CF3-4AA3-8FE7-993DD9FC624E}" type="presParOf" srcId="{D7F9E0D4-11BB-43E1-BB28-319015674D99}" destId="{DE02EA0E-7599-4846-B043-FD1217C7F6EA}" srcOrd="0" destOrd="0" presId="urn:microsoft.com/office/officeart/2005/8/layout/vList6"/>
    <dgm:cxn modelId="{D6504E1B-37C9-4432-94E3-2422D8B4F099}" type="presParOf" srcId="{D7F9E0D4-11BB-43E1-BB28-319015674D99}" destId="{A6588C23-84DC-45FC-B0BE-9C582CDA7B87}" srcOrd="1" destOrd="0" presId="urn:microsoft.com/office/officeart/2005/8/layout/vList6"/>
    <dgm:cxn modelId="{298E2153-6F3F-4957-B334-14CE57A3BD38}" type="presParOf" srcId="{1764816E-4097-4A97-BF81-494B01D978A7}" destId="{0EC640B7-EF84-42D3-A0FC-7DBF6D1AC73E}" srcOrd="3" destOrd="0" presId="urn:microsoft.com/office/officeart/2005/8/layout/vList6"/>
    <dgm:cxn modelId="{C7400F1B-270D-4579-808D-19F409A7055B}" type="presParOf" srcId="{1764816E-4097-4A97-BF81-494B01D978A7}" destId="{FE89B3AC-1004-44AA-BFCB-BB2A0A7A4F9C}" srcOrd="4" destOrd="0" presId="urn:microsoft.com/office/officeart/2005/8/layout/vList6"/>
    <dgm:cxn modelId="{11CBAC5A-3A55-4466-80A0-7B3289D8B1C0}" type="presParOf" srcId="{FE89B3AC-1004-44AA-BFCB-BB2A0A7A4F9C}" destId="{5BDA8100-EC44-4978-ACB5-ABFCF6719408}" srcOrd="0" destOrd="0" presId="urn:microsoft.com/office/officeart/2005/8/layout/vList6"/>
    <dgm:cxn modelId="{0D56CDEC-750A-4ACA-80A6-60F17F783664}" type="presParOf" srcId="{FE89B3AC-1004-44AA-BFCB-BB2A0A7A4F9C}" destId="{2C810BC6-397B-47FC-9A17-0B6327A40F78}" srcOrd="1" destOrd="0" presId="urn:microsoft.com/office/officeart/2005/8/layout/vList6"/>
    <dgm:cxn modelId="{B1056107-B93D-4240-8009-C926C3EB9D74}" type="presParOf" srcId="{1764816E-4097-4A97-BF81-494B01D978A7}" destId="{38C465B4-2538-478A-AE6A-EBCF3687A9D6}" srcOrd="5" destOrd="0" presId="urn:microsoft.com/office/officeart/2005/8/layout/vList6"/>
    <dgm:cxn modelId="{7F76A0C9-2B46-4F16-AC5B-62F70715D7A8}" type="presParOf" srcId="{1764816E-4097-4A97-BF81-494B01D978A7}" destId="{1EA1C7D4-E71A-497A-A14B-AED983FA27B8}" srcOrd="6" destOrd="0" presId="urn:microsoft.com/office/officeart/2005/8/layout/vList6"/>
    <dgm:cxn modelId="{3A9D8E7D-283C-4B10-8940-7ED24DB320E5}" type="presParOf" srcId="{1EA1C7D4-E71A-497A-A14B-AED983FA27B8}" destId="{3EA53BCA-1223-46E2-81A0-5C1752CFD4A6}" srcOrd="0" destOrd="0" presId="urn:microsoft.com/office/officeart/2005/8/layout/vList6"/>
    <dgm:cxn modelId="{88687C98-096B-44C6-9A68-2F5B425CE5AA}" type="presParOf" srcId="{1EA1C7D4-E71A-497A-A14B-AED983FA27B8}" destId="{57366C1C-DE19-454D-B5BA-3D8FF24965D7}" srcOrd="1" destOrd="0" presId="urn:microsoft.com/office/officeart/2005/8/layout/vList6"/>
    <dgm:cxn modelId="{8E67EB92-FDE4-46AC-9D2C-9392E89F8DB2}" type="presParOf" srcId="{1764816E-4097-4A97-BF81-494B01D978A7}" destId="{D832BEAF-10C7-406C-9248-58444BAD4223}" srcOrd="7" destOrd="0" presId="urn:microsoft.com/office/officeart/2005/8/layout/vList6"/>
    <dgm:cxn modelId="{481B8D82-DA03-4882-AACA-EE61DE542B14}" type="presParOf" srcId="{1764816E-4097-4A97-BF81-494B01D978A7}" destId="{AC7C42B3-41AB-4D62-AA80-FB12D83057E2}" srcOrd="8" destOrd="0" presId="urn:microsoft.com/office/officeart/2005/8/layout/vList6"/>
    <dgm:cxn modelId="{F26EF0FE-1339-4D7C-A89C-F1CA1DB4AF8C}" type="presParOf" srcId="{AC7C42B3-41AB-4D62-AA80-FB12D83057E2}" destId="{9AC02F42-21BF-4A96-883F-CFAA7ED98EFF}" srcOrd="0" destOrd="0" presId="urn:microsoft.com/office/officeart/2005/8/layout/vList6"/>
    <dgm:cxn modelId="{F6D72882-B890-4817-BD58-E3F2836C48CE}" type="presParOf" srcId="{AC7C42B3-41AB-4D62-AA80-FB12D83057E2}" destId="{867EEB12-F024-4429-B5E2-6E68400547F8}"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0CB9EA7-8E54-4554-9478-C52E782196AA}"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587DBFA9-E399-4780-B8C8-5835E44FFDAF}">
      <dgm:prSet phldrT="[Text]"/>
      <dgm:spPr/>
      <dgm:t>
        <a:bodyPr/>
        <a:lstStyle/>
        <a:p>
          <a:pPr>
            <a:buNone/>
          </a:pPr>
          <a:r>
            <a:rPr lang="en-US" dirty="0">
              <a:latin typeface="Times New Roman" panose="02020603050405020304" pitchFamily="18" charset="0"/>
              <a:cs typeface="Times New Roman" panose="02020603050405020304" pitchFamily="18" charset="0"/>
            </a:rPr>
            <a:t>CXS Packet Formatter</a:t>
          </a:r>
        </a:p>
      </dgm:t>
    </dgm:pt>
    <dgm:pt modelId="{FA9B13A3-2E0D-4BEC-BD0C-5056051139F9}" type="parTrans" cxnId="{1D87B82D-E6B4-4D09-B0FF-8B98421B2A20}">
      <dgm:prSet/>
      <dgm:spPr/>
      <dgm:t>
        <a:bodyPr/>
        <a:lstStyle/>
        <a:p>
          <a:endParaRPr lang="en-US"/>
        </a:p>
      </dgm:t>
    </dgm:pt>
    <dgm:pt modelId="{250C3B0D-635A-48A5-A0EC-52D433D293F4}" type="sibTrans" cxnId="{1D87B82D-E6B4-4D09-B0FF-8B98421B2A20}">
      <dgm:prSet/>
      <dgm:spPr/>
      <dgm:t>
        <a:bodyPr/>
        <a:lstStyle/>
        <a:p>
          <a:endParaRPr lang="en-US"/>
        </a:p>
      </dgm:t>
    </dgm:pt>
    <dgm:pt modelId="{78D37829-E7DD-4E2B-9C40-EFC0929B2B82}">
      <dgm:prSet phldrT="[Text]" custT="1"/>
      <dgm:spPr/>
      <dgm:t>
        <a:bodyPr/>
        <a:lstStyle/>
        <a:p>
          <a:pPr>
            <a:buNone/>
          </a:pPr>
          <a:r>
            <a:rPr lang="en-US" sz="900" dirty="0">
              <a:solidFill>
                <a:srgbClr val="1E2761"/>
              </a:solidFill>
              <a:latin typeface="Times New Roman" panose="02020603050405020304" pitchFamily="18" charset="0"/>
              <a:cs typeface="Times New Roman" panose="02020603050405020304" pitchFamily="18" charset="0"/>
            </a:rPr>
            <a:t>Converts </a:t>
          </a:r>
          <a:r>
            <a:rPr lang="en-US" sz="900" dirty="0" err="1">
              <a:solidFill>
                <a:srgbClr val="1E2761"/>
              </a:solidFill>
              <a:latin typeface="Times New Roman" panose="02020603050405020304" pitchFamily="18" charset="0"/>
              <a:cs typeface="Times New Roman" panose="02020603050405020304" pitchFamily="18" charset="0"/>
            </a:rPr>
            <a:t>status_valid</a:t>
          </a:r>
          <a:r>
            <a:rPr lang="en-US" sz="900" dirty="0">
              <a:solidFill>
                <a:srgbClr val="1E2761"/>
              </a:solidFill>
              <a:latin typeface="Times New Roman" panose="02020603050405020304" pitchFamily="18" charset="0"/>
              <a:cs typeface="Times New Roman" panose="02020603050405020304" pitchFamily="18" charset="0"/>
            </a:rPr>
            <a:t>/</a:t>
          </a:r>
          <a:r>
            <a:rPr lang="en-US" sz="900" dirty="0" err="1">
              <a:solidFill>
                <a:srgbClr val="1E2761"/>
              </a:solidFill>
              <a:latin typeface="Times New Roman" panose="02020603050405020304" pitchFamily="18" charset="0"/>
              <a:cs typeface="Times New Roman" panose="02020603050405020304" pitchFamily="18" charset="0"/>
            </a:rPr>
            <a:t>pkt_type</a:t>
          </a:r>
          <a:r>
            <a:rPr lang="en-US" sz="900" dirty="0">
              <a:solidFill>
                <a:srgbClr val="1E2761"/>
              </a:solidFill>
              <a:latin typeface="Times New Roman" panose="02020603050405020304" pitchFamily="18" charset="0"/>
              <a:cs typeface="Times New Roman" panose="02020603050405020304" pitchFamily="18" charset="0"/>
            </a:rPr>
            <a:t>/</a:t>
          </a:r>
          <a:r>
            <a:rPr lang="en-US" sz="900" dirty="0" err="1">
              <a:solidFill>
                <a:srgbClr val="1E2761"/>
              </a:solidFill>
              <a:latin typeface="Times New Roman" panose="02020603050405020304" pitchFamily="18" charset="0"/>
              <a:cs typeface="Times New Roman" panose="02020603050405020304" pitchFamily="18" charset="0"/>
            </a:rPr>
            <a:t>error_type</a:t>
          </a:r>
          <a:r>
            <a:rPr lang="en-US" sz="900" dirty="0">
              <a:solidFill>
                <a:srgbClr val="1E2761"/>
              </a:solidFill>
              <a:latin typeface="Times New Roman" panose="02020603050405020304" pitchFamily="18" charset="0"/>
              <a:cs typeface="Times New Roman" panose="02020603050405020304" pitchFamily="18" charset="0"/>
            </a:rPr>
            <a:t> into internal packet format with start/end markers</a:t>
          </a:r>
        </a:p>
      </dgm:t>
    </dgm:pt>
    <dgm:pt modelId="{FB5D4021-0DBC-476F-81AB-C06003D5969A}" type="parTrans" cxnId="{D6C0F97C-0EEE-4854-BEE9-B8A31A2E8537}">
      <dgm:prSet/>
      <dgm:spPr/>
      <dgm:t>
        <a:bodyPr/>
        <a:lstStyle/>
        <a:p>
          <a:endParaRPr lang="en-US"/>
        </a:p>
      </dgm:t>
    </dgm:pt>
    <dgm:pt modelId="{6FF33F86-815E-4AC2-9BFE-BE675DE29A47}" type="sibTrans" cxnId="{D6C0F97C-0EEE-4854-BEE9-B8A31A2E8537}">
      <dgm:prSet/>
      <dgm:spPr/>
      <dgm:t>
        <a:bodyPr/>
        <a:lstStyle/>
        <a:p>
          <a:endParaRPr lang="en-US"/>
        </a:p>
      </dgm:t>
    </dgm:pt>
    <dgm:pt modelId="{D60FA8B2-50A5-413C-9408-28591DEAA567}">
      <dgm:prSet phldrT="[Text]"/>
      <dgm:spPr/>
      <dgm:t>
        <a:bodyPr/>
        <a:lstStyle/>
        <a:p>
          <a:pPr>
            <a:buNone/>
          </a:pPr>
          <a:r>
            <a:rPr lang="en-US" dirty="0">
              <a:latin typeface="Times New Roman" panose="02020603050405020304" pitchFamily="18" charset="0"/>
              <a:cs typeface="Times New Roman" panose="02020603050405020304" pitchFamily="18" charset="0"/>
            </a:rPr>
            <a:t>CXS TX Credit Counter</a:t>
          </a:r>
        </a:p>
      </dgm:t>
    </dgm:pt>
    <dgm:pt modelId="{FCC1F11B-22C5-4417-B0A5-C271AC32C65F}" type="parTrans" cxnId="{772557BD-585E-42B9-9F2C-91FB0D9D9B54}">
      <dgm:prSet/>
      <dgm:spPr/>
      <dgm:t>
        <a:bodyPr/>
        <a:lstStyle/>
        <a:p>
          <a:endParaRPr lang="en-US"/>
        </a:p>
      </dgm:t>
    </dgm:pt>
    <dgm:pt modelId="{0E8F797D-5428-4D89-8238-DE4D8976A0E0}" type="sibTrans" cxnId="{772557BD-585E-42B9-9F2C-91FB0D9D9B54}">
      <dgm:prSet/>
      <dgm:spPr/>
      <dgm:t>
        <a:bodyPr/>
        <a:lstStyle/>
        <a:p>
          <a:endParaRPr lang="en-US"/>
        </a:p>
      </dgm:t>
    </dgm:pt>
    <dgm:pt modelId="{AFDE22E2-4165-49A7-86B9-D09F1E76A3F7}">
      <dgm:prSet phldrT="[Text]" custT="1"/>
      <dgm:spPr/>
      <dgm:t>
        <a:bodyPr/>
        <a:lstStyle/>
        <a:p>
          <a:pPr>
            <a:buNone/>
          </a:pPr>
          <a:r>
            <a:rPr lang="en-US" sz="900" dirty="0">
              <a:solidFill>
                <a:srgbClr val="1E2761"/>
              </a:solidFill>
              <a:latin typeface="Times New Roman" panose="02020603050405020304" pitchFamily="18" charset="0"/>
              <a:cs typeface="Times New Roman" panose="02020603050405020304" pitchFamily="18" charset="0"/>
            </a:rPr>
            <a:t>Tracks available transmission credits (CXSTXCRDGNT in, consumed on each flit sent, max 15)</a:t>
          </a:r>
        </a:p>
      </dgm:t>
    </dgm:pt>
    <dgm:pt modelId="{E1C6C9E4-D8EA-4FC9-993F-11B16BD40349}" type="parTrans" cxnId="{90A11E29-B2C7-4455-B20D-93BB74E82532}">
      <dgm:prSet/>
      <dgm:spPr/>
      <dgm:t>
        <a:bodyPr/>
        <a:lstStyle/>
        <a:p>
          <a:endParaRPr lang="en-US"/>
        </a:p>
      </dgm:t>
    </dgm:pt>
    <dgm:pt modelId="{C22AEB32-68E0-4225-9076-CB056509BC07}" type="sibTrans" cxnId="{90A11E29-B2C7-4455-B20D-93BB74E82532}">
      <dgm:prSet/>
      <dgm:spPr/>
      <dgm:t>
        <a:bodyPr/>
        <a:lstStyle/>
        <a:p>
          <a:endParaRPr lang="en-US"/>
        </a:p>
      </dgm:t>
    </dgm:pt>
    <dgm:pt modelId="{1DA748D1-0299-4A50-B5A4-5D11A6819543}">
      <dgm:prSet phldrT="[Text]" custT="1"/>
      <dgm:spPr/>
      <dgm:t>
        <a:bodyPr/>
        <a:lstStyle/>
        <a:p>
          <a:pPr>
            <a:buNone/>
          </a:pPr>
          <a:r>
            <a:rPr lang="en-US" sz="1200" dirty="0">
              <a:latin typeface="Times New Roman" panose="02020603050405020304" pitchFamily="18" charset="0"/>
              <a:cs typeface="Times New Roman" panose="02020603050405020304" pitchFamily="18" charset="0"/>
            </a:rPr>
            <a:t>CXS Flit Transmitter</a:t>
          </a:r>
        </a:p>
      </dgm:t>
    </dgm:pt>
    <dgm:pt modelId="{0FD87663-F0FA-4F47-8063-5818DE418996}" type="parTrans" cxnId="{A2CF2858-0AC2-420E-908B-31A9B64E7F98}">
      <dgm:prSet/>
      <dgm:spPr/>
      <dgm:t>
        <a:bodyPr/>
        <a:lstStyle/>
        <a:p>
          <a:endParaRPr lang="en-US"/>
        </a:p>
      </dgm:t>
    </dgm:pt>
    <dgm:pt modelId="{04053A23-5446-4A62-A621-0B91F0E87708}" type="sibTrans" cxnId="{A2CF2858-0AC2-420E-908B-31A9B64E7F98}">
      <dgm:prSet/>
      <dgm:spPr/>
      <dgm:t>
        <a:bodyPr/>
        <a:lstStyle/>
        <a:p>
          <a:endParaRPr lang="en-US"/>
        </a:p>
      </dgm:t>
    </dgm:pt>
    <dgm:pt modelId="{B42D00DA-3A68-4D80-856A-C41F57E525F8}">
      <dgm:prSet phldrT="[Text]" custT="1"/>
      <dgm:spPr/>
      <dgm:t>
        <a:bodyPr/>
        <a:lstStyle/>
        <a:p>
          <a:pPr>
            <a:buNone/>
          </a:pPr>
          <a:r>
            <a:rPr lang="en-US" sz="900" dirty="0">
              <a:solidFill>
                <a:srgbClr val="1E2761"/>
              </a:solidFill>
              <a:latin typeface="Times New Roman" panose="02020603050405020304" pitchFamily="18" charset="0"/>
              <a:cs typeface="Times New Roman" panose="02020603050405020304" pitchFamily="18" charset="0"/>
            </a:rPr>
            <a:t>Transmits the flit only when packet is available, link permits sending, and credit is available</a:t>
          </a:r>
        </a:p>
      </dgm:t>
    </dgm:pt>
    <dgm:pt modelId="{194D30A2-7E5B-4B11-9CFE-3C7D2A4DD3B4}" type="parTrans" cxnId="{00083175-4192-4663-8223-CB3EF07BD8B7}">
      <dgm:prSet/>
      <dgm:spPr/>
      <dgm:t>
        <a:bodyPr/>
        <a:lstStyle/>
        <a:p>
          <a:endParaRPr lang="en-US"/>
        </a:p>
      </dgm:t>
    </dgm:pt>
    <dgm:pt modelId="{28B2DA2E-4723-4E7C-904A-F53F92141AF2}" type="sibTrans" cxnId="{00083175-4192-4663-8223-CB3EF07BD8B7}">
      <dgm:prSet/>
      <dgm:spPr/>
      <dgm:t>
        <a:bodyPr/>
        <a:lstStyle/>
        <a:p>
          <a:endParaRPr lang="en-US"/>
        </a:p>
      </dgm:t>
    </dgm:pt>
    <dgm:pt modelId="{C572F834-F33A-4189-A470-B523A86ADA09}">
      <dgm:prSet phldrT="[Text]"/>
      <dgm:spPr/>
      <dgm:t>
        <a:bodyPr/>
        <a:lstStyle/>
        <a:p>
          <a:pPr>
            <a:buNone/>
          </a:pPr>
          <a:r>
            <a:rPr lang="en-US" b="1" dirty="0">
              <a:latin typeface="Times New Roman" panose="02020603050405020304" pitchFamily="18" charset="0"/>
              <a:cs typeface="Times New Roman" panose="02020603050405020304" pitchFamily="18" charset="0"/>
            </a:rPr>
            <a:t>CXS Control Encoder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cxscntl_encoder</a:t>
          </a:r>
          <a:r>
            <a:rPr lang="en-US" dirty="0">
              <a:latin typeface="Times New Roman" panose="02020603050405020304" pitchFamily="18" charset="0"/>
              <a:cs typeface="Times New Roman" panose="02020603050405020304" pitchFamily="18" charset="0"/>
            </a:rPr>
            <a:t>)</a:t>
          </a:r>
        </a:p>
      </dgm:t>
    </dgm:pt>
    <dgm:pt modelId="{1C85CA04-570D-4CBA-A506-221A2E18C27A}" type="parTrans" cxnId="{5348EF65-A493-4F43-B08F-3E26C8B088CD}">
      <dgm:prSet/>
      <dgm:spPr/>
      <dgm:t>
        <a:bodyPr/>
        <a:lstStyle/>
        <a:p>
          <a:endParaRPr lang="en-US"/>
        </a:p>
      </dgm:t>
    </dgm:pt>
    <dgm:pt modelId="{3DCFEB92-0445-4DDF-A841-30442DED6FB0}" type="sibTrans" cxnId="{5348EF65-A493-4F43-B08F-3E26C8B088CD}">
      <dgm:prSet/>
      <dgm:spPr/>
      <dgm:t>
        <a:bodyPr/>
        <a:lstStyle/>
        <a:p>
          <a:endParaRPr lang="en-US"/>
        </a:p>
      </dgm:t>
    </dgm:pt>
    <dgm:pt modelId="{9D02684A-D1DF-40FC-B238-1330D6A1A71F}">
      <dgm:prSet phldrT="[Text]" custT="1"/>
      <dgm:spPr/>
      <dgm:t>
        <a:bodyPr/>
        <a:lstStyle/>
        <a:p>
          <a:pPr>
            <a:buNone/>
          </a:pPr>
          <a:r>
            <a:rPr lang="en-US" sz="900" dirty="0">
              <a:solidFill>
                <a:srgbClr val="1E2761"/>
              </a:solidFill>
              <a:latin typeface="Times New Roman" panose="02020603050405020304" pitchFamily="18" charset="0"/>
              <a:cs typeface="Times New Roman" panose="02020603050405020304" pitchFamily="18" charset="0"/>
            </a:rPr>
            <a:t>Encodes START/END/ENDERROR into the final CXSTXCNTL field</a:t>
          </a:r>
        </a:p>
      </dgm:t>
    </dgm:pt>
    <dgm:pt modelId="{A00FAED5-6627-45FA-B63B-9DD4DB82A1C1}" type="parTrans" cxnId="{3D6F927A-4D50-406E-852F-DB421710256F}">
      <dgm:prSet/>
      <dgm:spPr/>
      <dgm:t>
        <a:bodyPr/>
        <a:lstStyle/>
        <a:p>
          <a:endParaRPr lang="en-US"/>
        </a:p>
      </dgm:t>
    </dgm:pt>
    <dgm:pt modelId="{327881BB-A4F9-4DDC-8643-16493CAB0380}" type="sibTrans" cxnId="{3D6F927A-4D50-406E-852F-DB421710256F}">
      <dgm:prSet/>
      <dgm:spPr/>
      <dgm:t>
        <a:bodyPr/>
        <a:lstStyle/>
        <a:p>
          <a:endParaRPr lang="en-US"/>
        </a:p>
      </dgm:t>
    </dgm:pt>
    <dgm:pt modelId="{986BE5F8-2982-4850-B7AC-030CA92F7F24}">
      <dgm:prSet phldrT="[Text]" custT="1"/>
      <dgm:spPr/>
      <dgm:t>
        <a:bodyPr/>
        <a:lstStyle/>
        <a:p>
          <a:pPr>
            <a:buNone/>
          </a:pPr>
          <a:r>
            <a:rPr lang="en-US" sz="1100" dirty="0">
              <a:latin typeface="Times New Roman" panose="02020603050405020304" pitchFamily="18" charset="0"/>
              <a:cs typeface="Times New Roman" panose="02020603050405020304" pitchFamily="18" charset="0"/>
            </a:rPr>
            <a:t>Link Control (TX)</a:t>
          </a:r>
        </a:p>
      </dgm:t>
    </dgm:pt>
    <dgm:pt modelId="{AF86D660-AACA-479F-B3E4-EF351B5BF180}" type="parTrans" cxnId="{F718854C-6727-458B-8B6B-A63620F747BE}">
      <dgm:prSet/>
      <dgm:spPr/>
      <dgm:t>
        <a:bodyPr/>
        <a:lstStyle/>
        <a:p>
          <a:endParaRPr lang="en-US"/>
        </a:p>
      </dgm:t>
    </dgm:pt>
    <dgm:pt modelId="{A30A38CA-BCFD-481A-B1FE-EF5EAD3FA6C6}" type="sibTrans" cxnId="{F718854C-6727-458B-8B6B-A63620F747BE}">
      <dgm:prSet/>
      <dgm:spPr/>
      <dgm:t>
        <a:bodyPr/>
        <a:lstStyle/>
        <a:p>
          <a:endParaRPr lang="en-US"/>
        </a:p>
      </dgm:t>
    </dgm:pt>
    <dgm:pt modelId="{D437EAB9-5470-4B72-A756-CC5FFEFB4274}">
      <dgm:prSet phldrT="[Text]"/>
      <dgm:spPr/>
      <dgm:t>
        <a:bodyPr/>
        <a:lstStyle/>
        <a:p>
          <a:pPr>
            <a:buNone/>
          </a:pPr>
          <a:r>
            <a:rPr lang="en-US" dirty="0">
              <a:solidFill>
                <a:srgbClr val="1E2761"/>
              </a:solidFill>
              <a:latin typeface="Times New Roman" panose="02020603050405020304" pitchFamily="18" charset="0"/>
              <a:cs typeface="Times New Roman" panose="02020603050405020304" pitchFamily="18" charset="0"/>
            </a:rPr>
            <a:t>Manages CXSTXACTIVEREQ/ACK handshake and gates transmission permission</a:t>
          </a:r>
        </a:p>
      </dgm:t>
    </dgm:pt>
    <dgm:pt modelId="{DAFE08C0-1E11-487D-BB96-2D63E9048243}" type="parTrans" cxnId="{3BF48B08-619A-43F0-AA83-4BCFB2990E23}">
      <dgm:prSet/>
      <dgm:spPr/>
      <dgm:t>
        <a:bodyPr/>
        <a:lstStyle/>
        <a:p>
          <a:endParaRPr lang="en-US"/>
        </a:p>
      </dgm:t>
    </dgm:pt>
    <dgm:pt modelId="{FB56BF77-804A-43C4-A1F9-283F73A33556}" type="sibTrans" cxnId="{3BF48B08-619A-43F0-AA83-4BCFB2990E23}">
      <dgm:prSet/>
      <dgm:spPr/>
      <dgm:t>
        <a:bodyPr/>
        <a:lstStyle/>
        <a:p>
          <a:endParaRPr lang="en-US"/>
        </a:p>
      </dgm:t>
    </dgm:pt>
    <dgm:pt modelId="{1764816E-4097-4A97-BF81-494B01D978A7}" type="pres">
      <dgm:prSet presAssocID="{C0CB9EA7-8E54-4554-9478-C52E782196AA}" presName="Name0" presStyleCnt="0">
        <dgm:presLayoutVars>
          <dgm:dir/>
          <dgm:animLvl val="lvl"/>
          <dgm:resizeHandles/>
        </dgm:presLayoutVars>
      </dgm:prSet>
      <dgm:spPr/>
    </dgm:pt>
    <dgm:pt modelId="{2992D441-577B-491D-8104-339F61ED64CC}" type="pres">
      <dgm:prSet presAssocID="{587DBFA9-E399-4780-B8C8-5835E44FFDAF}" presName="linNode" presStyleCnt="0"/>
      <dgm:spPr/>
    </dgm:pt>
    <dgm:pt modelId="{25F89F97-50D4-4A4E-8E8D-7183F38EC508}" type="pres">
      <dgm:prSet presAssocID="{587DBFA9-E399-4780-B8C8-5835E44FFDAF}" presName="parentShp" presStyleLbl="node1" presStyleIdx="0" presStyleCnt="5">
        <dgm:presLayoutVars>
          <dgm:bulletEnabled val="1"/>
        </dgm:presLayoutVars>
      </dgm:prSet>
      <dgm:spPr/>
    </dgm:pt>
    <dgm:pt modelId="{0BFC3EA6-84C2-461D-B07A-36D241C9725D}" type="pres">
      <dgm:prSet presAssocID="{587DBFA9-E399-4780-B8C8-5835E44FFDAF}" presName="childShp" presStyleLbl="bgAccFollowNode1" presStyleIdx="0" presStyleCnt="5">
        <dgm:presLayoutVars>
          <dgm:bulletEnabled val="1"/>
        </dgm:presLayoutVars>
      </dgm:prSet>
      <dgm:spPr/>
    </dgm:pt>
    <dgm:pt modelId="{8800715A-EA61-43ED-B19B-5849BBE27A49}" type="pres">
      <dgm:prSet presAssocID="{250C3B0D-635A-48A5-A0EC-52D433D293F4}" presName="spacing" presStyleCnt="0"/>
      <dgm:spPr/>
    </dgm:pt>
    <dgm:pt modelId="{D7F9E0D4-11BB-43E1-BB28-319015674D99}" type="pres">
      <dgm:prSet presAssocID="{D60FA8B2-50A5-413C-9408-28591DEAA567}" presName="linNode" presStyleCnt="0"/>
      <dgm:spPr/>
    </dgm:pt>
    <dgm:pt modelId="{DE02EA0E-7599-4846-B043-FD1217C7F6EA}" type="pres">
      <dgm:prSet presAssocID="{D60FA8B2-50A5-413C-9408-28591DEAA567}" presName="parentShp" presStyleLbl="node1" presStyleIdx="1" presStyleCnt="5">
        <dgm:presLayoutVars>
          <dgm:bulletEnabled val="1"/>
        </dgm:presLayoutVars>
      </dgm:prSet>
      <dgm:spPr/>
    </dgm:pt>
    <dgm:pt modelId="{A6588C23-84DC-45FC-B0BE-9C582CDA7B87}" type="pres">
      <dgm:prSet presAssocID="{D60FA8B2-50A5-413C-9408-28591DEAA567}" presName="childShp" presStyleLbl="bgAccFollowNode1" presStyleIdx="1" presStyleCnt="5">
        <dgm:presLayoutVars>
          <dgm:bulletEnabled val="1"/>
        </dgm:presLayoutVars>
      </dgm:prSet>
      <dgm:spPr/>
    </dgm:pt>
    <dgm:pt modelId="{0EC640B7-EF84-42D3-A0FC-7DBF6D1AC73E}" type="pres">
      <dgm:prSet presAssocID="{0E8F797D-5428-4D89-8238-DE4D8976A0E0}" presName="spacing" presStyleCnt="0"/>
      <dgm:spPr/>
    </dgm:pt>
    <dgm:pt modelId="{FE89B3AC-1004-44AA-BFCB-BB2A0A7A4F9C}" type="pres">
      <dgm:prSet presAssocID="{1DA748D1-0299-4A50-B5A4-5D11A6819543}" presName="linNode" presStyleCnt="0"/>
      <dgm:spPr/>
    </dgm:pt>
    <dgm:pt modelId="{5BDA8100-EC44-4978-ACB5-ABFCF6719408}" type="pres">
      <dgm:prSet presAssocID="{1DA748D1-0299-4A50-B5A4-5D11A6819543}" presName="parentShp" presStyleLbl="node1" presStyleIdx="2" presStyleCnt="5">
        <dgm:presLayoutVars>
          <dgm:bulletEnabled val="1"/>
        </dgm:presLayoutVars>
      </dgm:prSet>
      <dgm:spPr/>
    </dgm:pt>
    <dgm:pt modelId="{2C810BC6-397B-47FC-9A17-0B6327A40F78}" type="pres">
      <dgm:prSet presAssocID="{1DA748D1-0299-4A50-B5A4-5D11A6819543}" presName="childShp" presStyleLbl="bgAccFollowNode1" presStyleIdx="2" presStyleCnt="5">
        <dgm:presLayoutVars>
          <dgm:bulletEnabled val="1"/>
        </dgm:presLayoutVars>
      </dgm:prSet>
      <dgm:spPr/>
    </dgm:pt>
    <dgm:pt modelId="{38C465B4-2538-478A-AE6A-EBCF3687A9D6}" type="pres">
      <dgm:prSet presAssocID="{04053A23-5446-4A62-A621-0B91F0E87708}" presName="spacing" presStyleCnt="0"/>
      <dgm:spPr/>
    </dgm:pt>
    <dgm:pt modelId="{1EA1C7D4-E71A-497A-A14B-AED983FA27B8}" type="pres">
      <dgm:prSet presAssocID="{C572F834-F33A-4189-A470-B523A86ADA09}" presName="linNode" presStyleCnt="0"/>
      <dgm:spPr/>
    </dgm:pt>
    <dgm:pt modelId="{3EA53BCA-1223-46E2-81A0-5C1752CFD4A6}" type="pres">
      <dgm:prSet presAssocID="{C572F834-F33A-4189-A470-B523A86ADA09}" presName="parentShp" presStyleLbl="node1" presStyleIdx="3" presStyleCnt="5">
        <dgm:presLayoutVars>
          <dgm:bulletEnabled val="1"/>
        </dgm:presLayoutVars>
      </dgm:prSet>
      <dgm:spPr/>
    </dgm:pt>
    <dgm:pt modelId="{57366C1C-DE19-454D-B5BA-3D8FF24965D7}" type="pres">
      <dgm:prSet presAssocID="{C572F834-F33A-4189-A470-B523A86ADA09}" presName="childShp" presStyleLbl="bgAccFollowNode1" presStyleIdx="3" presStyleCnt="5">
        <dgm:presLayoutVars>
          <dgm:bulletEnabled val="1"/>
        </dgm:presLayoutVars>
      </dgm:prSet>
      <dgm:spPr/>
    </dgm:pt>
    <dgm:pt modelId="{D832BEAF-10C7-406C-9248-58444BAD4223}" type="pres">
      <dgm:prSet presAssocID="{3DCFEB92-0445-4DDF-A841-30442DED6FB0}" presName="spacing" presStyleCnt="0"/>
      <dgm:spPr/>
    </dgm:pt>
    <dgm:pt modelId="{AC7C42B3-41AB-4D62-AA80-FB12D83057E2}" type="pres">
      <dgm:prSet presAssocID="{986BE5F8-2982-4850-B7AC-030CA92F7F24}" presName="linNode" presStyleCnt="0"/>
      <dgm:spPr/>
    </dgm:pt>
    <dgm:pt modelId="{9AC02F42-21BF-4A96-883F-CFAA7ED98EFF}" type="pres">
      <dgm:prSet presAssocID="{986BE5F8-2982-4850-B7AC-030CA92F7F24}" presName="parentShp" presStyleLbl="node1" presStyleIdx="4" presStyleCnt="5">
        <dgm:presLayoutVars>
          <dgm:bulletEnabled val="1"/>
        </dgm:presLayoutVars>
      </dgm:prSet>
      <dgm:spPr/>
    </dgm:pt>
    <dgm:pt modelId="{867EEB12-F024-4429-B5E2-6E68400547F8}" type="pres">
      <dgm:prSet presAssocID="{986BE5F8-2982-4850-B7AC-030CA92F7F24}" presName="childShp" presStyleLbl="bgAccFollowNode1" presStyleIdx="4" presStyleCnt="5" custLinFactNeighborX="0" custLinFactNeighborY="185">
        <dgm:presLayoutVars>
          <dgm:bulletEnabled val="1"/>
        </dgm:presLayoutVars>
      </dgm:prSet>
      <dgm:spPr/>
    </dgm:pt>
  </dgm:ptLst>
  <dgm:cxnLst>
    <dgm:cxn modelId="{10533402-6A6A-4DF3-9632-F1122D90BB80}" type="presOf" srcId="{9D02684A-D1DF-40FC-B238-1330D6A1A71F}" destId="{57366C1C-DE19-454D-B5BA-3D8FF24965D7}" srcOrd="0" destOrd="0" presId="urn:microsoft.com/office/officeart/2005/8/layout/vList6"/>
    <dgm:cxn modelId="{C99FC607-BE0B-4CD8-86EC-3BAA92F5FA05}" type="presOf" srcId="{78D37829-E7DD-4E2B-9C40-EFC0929B2B82}" destId="{0BFC3EA6-84C2-461D-B07A-36D241C9725D}" srcOrd="0" destOrd="0" presId="urn:microsoft.com/office/officeart/2005/8/layout/vList6"/>
    <dgm:cxn modelId="{3BF48B08-619A-43F0-AA83-4BCFB2990E23}" srcId="{986BE5F8-2982-4850-B7AC-030CA92F7F24}" destId="{D437EAB9-5470-4B72-A756-CC5FFEFB4274}" srcOrd="0" destOrd="0" parTransId="{DAFE08C0-1E11-487D-BB96-2D63E9048243}" sibTransId="{FB56BF77-804A-43C4-A1F9-283F73A33556}"/>
    <dgm:cxn modelId="{E1622E0D-958A-414A-A838-5527EB32A4E1}" type="presOf" srcId="{D60FA8B2-50A5-413C-9408-28591DEAA567}" destId="{DE02EA0E-7599-4846-B043-FD1217C7F6EA}" srcOrd="0" destOrd="0" presId="urn:microsoft.com/office/officeart/2005/8/layout/vList6"/>
    <dgm:cxn modelId="{7F400312-ED75-42BA-823A-1525C8FB3A65}" type="presOf" srcId="{B42D00DA-3A68-4D80-856A-C41F57E525F8}" destId="{2C810BC6-397B-47FC-9A17-0B6327A40F78}" srcOrd="0" destOrd="0" presId="urn:microsoft.com/office/officeart/2005/8/layout/vList6"/>
    <dgm:cxn modelId="{74B4121B-AD2B-4746-9126-45D834A0ECBF}" type="presOf" srcId="{D437EAB9-5470-4B72-A756-CC5FFEFB4274}" destId="{867EEB12-F024-4429-B5E2-6E68400547F8}" srcOrd="0" destOrd="0" presId="urn:microsoft.com/office/officeart/2005/8/layout/vList6"/>
    <dgm:cxn modelId="{90A11E29-B2C7-4455-B20D-93BB74E82532}" srcId="{D60FA8B2-50A5-413C-9408-28591DEAA567}" destId="{AFDE22E2-4165-49A7-86B9-D09F1E76A3F7}" srcOrd="0" destOrd="0" parTransId="{E1C6C9E4-D8EA-4FC9-993F-11B16BD40349}" sibTransId="{C22AEB32-68E0-4225-9076-CB056509BC07}"/>
    <dgm:cxn modelId="{1D87B82D-E6B4-4D09-B0FF-8B98421B2A20}" srcId="{C0CB9EA7-8E54-4554-9478-C52E782196AA}" destId="{587DBFA9-E399-4780-B8C8-5835E44FFDAF}" srcOrd="0" destOrd="0" parTransId="{FA9B13A3-2E0D-4BEC-BD0C-5056051139F9}" sibTransId="{250C3B0D-635A-48A5-A0EC-52D433D293F4}"/>
    <dgm:cxn modelId="{5348EF65-A493-4F43-B08F-3E26C8B088CD}" srcId="{C0CB9EA7-8E54-4554-9478-C52E782196AA}" destId="{C572F834-F33A-4189-A470-B523A86ADA09}" srcOrd="3" destOrd="0" parTransId="{1C85CA04-570D-4CBA-A506-221A2E18C27A}" sibTransId="{3DCFEB92-0445-4DDF-A841-30442DED6FB0}"/>
    <dgm:cxn modelId="{F718854C-6727-458B-8B6B-A63620F747BE}" srcId="{C0CB9EA7-8E54-4554-9478-C52E782196AA}" destId="{986BE5F8-2982-4850-B7AC-030CA92F7F24}" srcOrd="4" destOrd="0" parTransId="{AF86D660-AACA-479F-B3E4-EF351B5BF180}" sibTransId="{A30A38CA-BCFD-481A-B1FE-EF5EAD3FA6C6}"/>
    <dgm:cxn modelId="{00083175-4192-4663-8223-CB3EF07BD8B7}" srcId="{1DA748D1-0299-4A50-B5A4-5D11A6819543}" destId="{B42D00DA-3A68-4D80-856A-C41F57E525F8}" srcOrd="0" destOrd="0" parTransId="{194D30A2-7E5B-4B11-9CFE-3C7D2A4DD3B4}" sibTransId="{28B2DA2E-4723-4E7C-904A-F53F92141AF2}"/>
    <dgm:cxn modelId="{A2CF2858-0AC2-420E-908B-31A9B64E7F98}" srcId="{C0CB9EA7-8E54-4554-9478-C52E782196AA}" destId="{1DA748D1-0299-4A50-B5A4-5D11A6819543}" srcOrd="2" destOrd="0" parTransId="{0FD87663-F0FA-4F47-8063-5818DE418996}" sibTransId="{04053A23-5446-4A62-A621-0B91F0E87708}"/>
    <dgm:cxn modelId="{3D6F927A-4D50-406E-852F-DB421710256F}" srcId="{C572F834-F33A-4189-A470-B523A86ADA09}" destId="{9D02684A-D1DF-40FC-B238-1330D6A1A71F}" srcOrd="0" destOrd="0" parTransId="{A00FAED5-6627-45FA-B63B-9DD4DB82A1C1}" sibTransId="{327881BB-A4F9-4DDC-8643-16493CAB0380}"/>
    <dgm:cxn modelId="{D6C0F97C-0EEE-4854-BEE9-B8A31A2E8537}" srcId="{587DBFA9-E399-4780-B8C8-5835E44FFDAF}" destId="{78D37829-E7DD-4E2B-9C40-EFC0929B2B82}" srcOrd="0" destOrd="0" parTransId="{FB5D4021-0DBC-476F-81AB-C06003D5969A}" sibTransId="{6FF33F86-815E-4AC2-9BFE-BE675DE29A47}"/>
    <dgm:cxn modelId="{7F275DB7-89A7-4561-91D2-C35CC29C8076}" type="presOf" srcId="{AFDE22E2-4165-49A7-86B9-D09F1E76A3F7}" destId="{A6588C23-84DC-45FC-B0BE-9C582CDA7B87}" srcOrd="0" destOrd="0" presId="urn:microsoft.com/office/officeart/2005/8/layout/vList6"/>
    <dgm:cxn modelId="{772557BD-585E-42B9-9F2C-91FB0D9D9B54}" srcId="{C0CB9EA7-8E54-4554-9478-C52E782196AA}" destId="{D60FA8B2-50A5-413C-9408-28591DEAA567}" srcOrd="1" destOrd="0" parTransId="{FCC1F11B-22C5-4417-B0A5-C271AC32C65F}" sibTransId="{0E8F797D-5428-4D89-8238-DE4D8976A0E0}"/>
    <dgm:cxn modelId="{B0AC8ECF-3155-4670-A132-9D4718AB168D}" type="presOf" srcId="{587DBFA9-E399-4780-B8C8-5835E44FFDAF}" destId="{25F89F97-50D4-4A4E-8E8D-7183F38EC508}" srcOrd="0" destOrd="0" presId="urn:microsoft.com/office/officeart/2005/8/layout/vList6"/>
    <dgm:cxn modelId="{06E870D0-5EB9-4C59-98E1-748C9E962B4E}" type="presOf" srcId="{C572F834-F33A-4189-A470-B523A86ADA09}" destId="{3EA53BCA-1223-46E2-81A0-5C1752CFD4A6}" srcOrd="0" destOrd="0" presId="urn:microsoft.com/office/officeart/2005/8/layout/vList6"/>
    <dgm:cxn modelId="{F83E92DE-50D7-40F4-A0E0-30CBCA126B42}" type="presOf" srcId="{1DA748D1-0299-4A50-B5A4-5D11A6819543}" destId="{5BDA8100-EC44-4978-ACB5-ABFCF6719408}" srcOrd="0" destOrd="0" presId="urn:microsoft.com/office/officeart/2005/8/layout/vList6"/>
    <dgm:cxn modelId="{4B4E74F6-060E-4DE7-BD21-D104F6F46E8F}" type="presOf" srcId="{986BE5F8-2982-4850-B7AC-030CA92F7F24}" destId="{9AC02F42-21BF-4A96-883F-CFAA7ED98EFF}" srcOrd="0" destOrd="0" presId="urn:microsoft.com/office/officeart/2005/8/layout/vList6"/>
    <dgm:cxn modelId="{7382DDFF-1ABF-468F-B1BD-D58B323CAEF9}" type="presOf" srcId="{C0CB9EA7-8E54-4554-9478-C52E782196AA}" destId="{1764816E-4097-4A97-BF81-494B01D978A7}" srcOrd="0" destOrd="0" presId="urn:microsoft.com/office/officeart/2005/8/layout/vList6"/>
    <dgm:cxn modelId="{6AFA7542-63F8-47D8-BF92-720B7BA62617}" type="presParOf" srcId="{1764816E-4097-4A97-BF81-494B01D978A7}" destId="{2992D441-577B-491D-8104-339F61ED64CC}" srcOrd="0" destOrd="0" presId="urn:microsoft.com/office/officeart/2005/8/layout/vList6"/>
    <dgm:cxn modelId="{BDC86CA3-F567-40AC-96F7-FFA4F9785982}" type="presParOf" srcId="{2992D441-577B-491D-8104-339F61ED64CC}" destId="{25F89F97-50D4-4A4E-8E8D-7183F38EC508}" srcOrd="0" destOrd="0" presId="urn:microsoft.com/office/officeart/2005/8/layout/vList6"/>
    <dgm:cxn modelId="{6AE23DD7-CED1-4124-9AFC-83DF65B5C373}" type="presParOf" srcId="{2992D441-577B-491D-8104-339F61ED64CC}" destId="{0BFC3EA6-84C2-461D-B07A-36D241C9725D}" srcOrd="1" destOrd="0" presId="urn:microsoft.com/office/officeart/2005/8/layout/vList6"/>
    <dgm:cxn modelId="{4E79BC87-4F8D-4584-ACA5-8FA79CE85900}" type="presParOf" srcId="{1764816E-4097-4A97-BF81-494B01D978A7}" destId="{8800715A-EA61-43ED-B19B-5849BBE27A49}" srcOrd="1" destOrd="0" presId="urn:microsoft.com/office/officeart/2005/8/layout/vList6"/>
    <dgm:cxn modelId="{E6336796-DDAE-4B7F-8681-2A275E4E21E2}" type="presParOf" srcId="{1764816E-4097-4A97-BF81-494B01D978A7}" destId="{D7F9E0D4-11BB-43E1-BB28-319015674D99}" srcOrd="2" destOrd="0" presId="urn:microsoft.com/office/officeart/2005/8/layout/vList6"/>
    <dgm:cxn modelId="{EA0885C2-8CF3-4AA3-8FE7-993DD9FC624E}" type="presParOf" srcId="{D7F9E0D4-11BB-43E1-BB28-319015674D99}" destId="{DE02EA0E-7599-4846-B043-FD1217C7F6EA}" srcOrd="0" destOrd="0" presId="urn:microsoft.com/office/officeart/2005/8/layout/vList6"/>
    <dgm:cxn modelId="{D6504E1B-37C9-4432-94E3-2422D8B4F099}" type="presParOf" srcId="{D7F9E0D4-11BB-43E1-BB28-319015674D99}" destId="{A6588C23-84DC-45FC-B0BE-9C582CDA7B87}" srcOrd="1" destOrd="0" presId="urn:microsoft.com/office/officeart/2005/8/layout/vList6"/>
    <dgm:cxn modelId="{298E2153-6F3F-4957-B334-14CE57A3BD38}" type="presParOf" srcId="{1764816E-4097-4A97-BF81-494B01D978A7}" destId="{0EC640B7-EF84-42D3-A0FC-7DBF6D1AC73E}" srcOrd="3" destOrd="0" presId="urn:microsoft.com/office/officeart/2005/8/layout/vList6"/>
    <dgm:cxn modelId="{C7400F1B-270D-4579-808D-19F409A7055B}" type="presParOf" srcId="{1764816E-4097-4A97-BF81-494B01D978A7}" destId="{FE89B3AC-1004-44AA-BFCB-BB2A0A7A4F9C}" srcOrd="4" destOrd="0" presId="urn:microsoft.com/office/officeart/2005/8/layout/vList6"/>
    <dgm:cxn modelId="{11CBAC5A-3A55-4466-80A0-7B3289D8B1C0}" type="presParOf" srcId="{FE89B3AC-1004-44AA-BFCB-BB2A0A7A4F9C}" destId="{5BDA8100-EC44-4978-ACB5-ABFCF6719408}" srcOrd="0" destOrd="0" presId="urn:microsoft.com/office/officeart/2005/8/layout/vList6"/>
    <dgm:cxn modelId="{0D56CDEC-750A-4ACA-80A6-60F17F783664}" type="presParOf" srcId="{FE89B3AC-1004-44AA-BFCB-BB2A0A7A4F9C}" destId="{2C810BC6-397B-47FC-9A17-0B6327A40F78}" srcOrd="1" destOrd="0" presId="urn:microsoft.com/office/officeart/2005/8/layout/vList6"/>
    <dgm:cxn modelId="{B1056107-B93D-4240-8009-C926C3EB9D74}" type="presParOf" srcId="{1764816E-4097-4A97-BF81-494B01D978A7}" destId="{38C465B4-2538-478A-AE6A-EBCF3687A9D6}" srcOrd="5" destOrd="0" presId="urn:microsoft.com/office/officeart/2005/8/layout/vList6"/>
    <dgm:cxn modelId="{7F76A0C9-2B46-4F16-AC5B-62F70715D7A8}" type="presParOf" srcId="{1764816E-4097-4A97-BF81-494B01D978A7}" destId="{1EA1C7D4-E71A-497A-A14B-AED983FA27B8}" srcOrd="6" destOrd="0" presId="urn:microsoft.com/office/officeart/2005/8/layout/vList6"/>
    <dgm:cxn modelId="{3A9D8E7D-283C-4B10-8940-7ED24DB320E5}" type="presParOf" srcId="{1EA1C7D4-E71A-497A-A14B-AED983FA27B8}" destId="{3EA53BCA-1223-46E2-81A0-5C1752CFD4A6}" srcOrd="0" destOrd="0" presId="urn:microsoft.com/office/officeart/2005/8/layout/vList6"/>
    <dgm:cxn modelId="{88687C98-096B-44C6-9A68-2F5B425CE5AA}" type="presParOf" srcId="{1EA1C7D4-E71A-497A-A14B-AED983FA27B8}" destId="{57366C1C-DE19-454D-B5BA-3D8FF24965D7}" srcOrd="1" destOrd="0" presId="urn:microsoft.com/office/officeart/2005/8/layout/vList6"/>
    <dgm:cxn modelId="{8E67EB92-FDE4-46AC-9D2C-9392E89F8DB2}" type="presParOf" srcId="{1764816E-4097-4A97-BF81-494B01D978A7}" destId="{D832BEAF-10C7-406C-9248-58444BAD4223}" srcOrd="7" destOrd="0" presId="urn:microsoft.com/office/officeart/2005/8/layout/vList6"/>
    <dgm:cxn modelId="{481B8D82-DA03-4882-AACA-EE61DE542B14}" type="presParOf" srcId="{1764816E-4097-4A97-BF81-494B01D978A7}" destId="{AC7C42B3-41AB-4D62-AA80-FB12D83057E2}" srcOrd="8" destOrd="0" presId="urn:microsoft.com/office/officeart/2005/8/layout/vList6"/>
    <dgm:cxn modelId="{F26EF0FE-1339-4D7C-A89C-F1CA1DB4AF8C}" type="presParOf" srcId="{AC7C42B3-41AB-4D62-AA80-FB12D83057E2}" destId="{9AC02F42-21BF-4A96-883F-CFAA7ED98EFF}" srcOrd="0" destOrd="0" presId="urn:microsoft.com/office/officeart/2005/8/layout/vList6"/>
    <dgm:cxn modelId="{F6D72882-B890-4817-BD58-E3F2836C48CE}" type="presParOf" srcId="{AC7C42B3-41AB-4D62-AA80-FB12D83057E2}" destId="{867EEB12-F024-4429-B5E2-6E68400547F8}" srcOrd="1" destOrd="0" presId="urn:microsoft.com/office/officeart/2005/8/layout/v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497AAF4-4166-44F3-B41D-7ADF125095AC}"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US"/>
        </a:p>
      </dgm:t>
    </dgm:pt>
    <dgm:pt modelId="{2582BC46-E232-481A-9C06-FAFE940F83BB}">
      <dgm:prSet phldrT="[Text]" custT="1"/>
      <dgm:spPr/>
      <dgm:t>
        <a:bodyPr/>
        <a:lstStyle/>
        <a:p>
          <a:pPr>
            <a:buNone/>
          </a:pPr>
          <a:r>
            <a:rPr lang="en-US" sz="1000" dirty="0">
              <a:solidFill>
                <a:schemeClr val="bg1"/>
              </a:solidFill>
              <a:latin typeface="Times New Roman" panose="02020603050405020304" pitchFamily="18" charset="0"/>
              <a:cs typeface="Times New Roman" panose="02020603050405020304" pitchFamily="18" charset="0"/>
            </a:rPr>
            <a:t>IDLE</a:t>
          </a:r>
        </a:p>
      </dgm:t>
    </dgm:pt>
    <dgm:pt modelId="{968288CC-8935-4A0A-BA6E-4B70FA7E8AD6}" type="parTrans" cxnId="{AE211433-B65A-4B7E-84A4-33A3204794B9}">
      <dgm:prSet/>
      <dgm:spPr/>
      <dgm:t>
        <a:bodyPr/>
        <a:lstStyle/>
        <a:p>
          <a:endParaRPr lang="en-US"/>
        </a:p>
      </dgm:t>
    </dgm:pt>
    <dgm:pt modelId="{5604CB5C-22D8-43F3-AA78-52C2BC39FAE4}" type="sibTrans" cxnId="{AE211433-B65A-4B7E-84A4-33A3204794B9}">
      <dgm:prSet/>
      <dgm:spPr/>
      <dgm:t>
        <a:bodyPr/>
        <a:lstStyle/>
        <a:p>
          <a:endParaRPr lang="en-US"/>
        </a:p>
      </dgm:t>
    </dgm:pt>
    <dgm:pt modelId="{76F97C03-08B4-49C4-8B06-12C8E94081CB}">
      <dgm:prSet phldrT="[Text]" custT="1"/>
      <dgm:spPr/>
      <dgm:t>
        <a:bodyPr/>
        <a:lstStyle/>
        <a:p>
          <a:pPr>
            <a:buNone/>
          </a:pPr>
          <a:r>
            <a:rPr lang="en-US" sz="1200" dirty="0">
              <a:solidFill>
                <a:srgbClr val="1E2761"/>
              </a:solidFill>
              <a:latin typeface="Times New Roman" panose="02020603050405020304" pitchFamily="18" charset="0"/>
              <a:cs typeface="Times New Roman" panose="02020603050405020304" pitchFamily="18" charset="0"/>
            </a:rPr>
            <a:t>Default/reset state; waits while FIFO </a:t>
          </a:r>
          <a:r>
            <a:rPr lang="en-US" sz="1200">
              <a:solidFill>
                <a:srgbClr val="1E2761"/>
              </a:solidFill>
              <a:latin typeface="Times New Roman" panose="02020603050405020304" pitchFamily="18" charset="0"/>
              <a:cs typeface="Times New Roman" panose="02020603050405020304" pitchFamily="18" charset="0"/>
            </a:rPr>
            <a:t>is empty</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60E169D8-B51E-42DF-B77E-D6245AE7CA8A}" type="parTrans" cxnId="{9F9C9E78-0454-4143-91E8-8B2C86A87B6D}">
      <dgm:prSet/>
      <dgm:spPr/>
      <dgm:t>
        <a:bodyPr/>
        <a:lstStyle/>
        <a:p>
          <a:endParaRPr lang="en-US"/>
        </a:p>
      </dgm:t>
    </dgm:pt>
    <dgm:pt modelId="{133AFC37-175C-4F10-94F6-42B0287E34BC}" type="sibTrans" cxnId="{9F9C9E78-0454-4143-91E8-8B2C86A87B6D}">
      <dgm:prSet/>
      <dgm:spPr/>
      <dgm:t>
        <a:bodyPr/>
        <a:lstStyle/>
        <a:p>
          <a:endParaRPr lang="en-US"/>
        </a:p>
      </dgm:t>
    </dgm:pt>
    <dgm:pt modelId="{08BF887D-4E4A-497E-A69B-D5C1B0980EC2}">
      <dgm:prSet phldrT="[Text]" custT="1"/>
      <dgm:spPr/>
      <dgm:t>
        <a:bodyPr/>
        <a:lstStyle/>
        <a:p>
          <a:pPr>
            <a:buNone/>
          </a:pPr>
          <a:r>
            <a:rPr lang="en-US" sz="800" dirty="0">
              <a:solidFill>
                <a:schemeClr val="bg1"/>
              </a:solidFill>
              <a:latin typeface="Times New Roman" panose="02020603050405020304" pitchFamily="18" charset="0"/>
              <a:cs typeface="Times New Roman" panose="02020603050405020304" pitchFamily="18" charset="0"/>
            </a:rPr>
            <a:t>CFG</a:t>
          </a:r>
        </a:p>
        <a:p>
          <a:pPr>
            <a:buNone/>
          </a:pPr>
          <a:r>
            <a:rPr lang="en-US" sz="800" dirty="0">
              <a:solidFill>
                <a:schemeClr val="bg1"/>
              </a:solidFill>
              <a:latin typeface="Times New Roman" panose="02020603050405020304" pitchFamily="18" charset="0"/>
              <a:cs typeface="Times New Roman" panose="02020603050405020304" pitchFamily="18" charset="0"/>
            </a:rPr>
            <a:t>SCAN</a:t>
          </a:r>
        </a:p>
      </dgm:t>
    </dgm:pt>
    <dgm:pt modelId="{DEE623BC-EC9B-4101-9022-388C1C18DDFC}" type="parTrans" cxnId="{892CE4F3-E71F-4191-9C9F-E4F093E8E666}">
      <dgm:prSet/>
      <dgm:spPr/>
      <dgm:t>
        <a:bodyPr/>
        <a:lstStyle/>
        <a:p>
          <a:endParaRPr lang="en-US"/>
        </a:p>
      </dgm:t>
    </dgm:pt>
    <dgm:pt modelId="{BC7F0093-1191-488E-9211-CFFF45C4B3AC}" type="sibTrans" cxnId="{892CE4F3-E71F-4191-9C9F-E4F093E8E666}">
      <dgm:prSet/>
      <dgm:spPr/>
      <dgm:t>
        <a:bodyPr/>
        <a:lstStyle/>
        <a:p>
          <a:endParaRPr lang="en-US"/>
        </a:p>
      </dgm:t>
    </dgm:pt>
    <dgm:pt modelId="{845ACA10-77CD-455C-A5A0-A46BDA813DCF}">
      <dgm:prSet phldrT="[Text]" custT="1"/>
      <dgm:spPr/>
      <dgm:t>
        <a:bodyPr/>
        <a:lstStyle/>
        <a:p>
          <a:pPr>
            <a:buNone/>
          </a:pPr>
          <a:r>
            <a:rPr lang="en-US" sz="1200" dirty="0">
              <a:solidFill>
                <a:srgbClr val="1E2761"/>
              </a:solidFill>
              <a:latin typeface="Times New Roman" panose="02020603050405020304" pitchFamily="18" charset="0"/>
              <a:cs typeface="Times New Roman" panose="02020603050405020304" pitchFamily="18" charset="0"/>
            </a:rPr>
            <a:t>Reads first flit, checks if it's a config header</a:t>
          </a:r>
        </a:p>
      </dgm:t>
    </dgm:pt>
    <dgm:pt modelId="{AAA1BCE0-3534-407A-9016-FDCAF9F6637E}" type="parTrans" cxnId="{4C393BC5-74A3-45C9-8487-B451C90E21FF}">
      <dgm:prSet/>
      <dgm:spPr/>
      <dgm:t>
        <a:bodyPr/>
        <a:lstStyle/>
        <a:p>
          <a:endParaRPr lang="en-US"/>
        </a:p>
      </dgm:t>
    </dgm:pt>
    <dgm:pt modelId="{32C215D3-C479-49EC-BC0E-8881E7DDEC48}" type="sibTrans" cxnId="{4C393BC5-74A3-45C9-8487-B451C90E21FF}">
      <dgm:prSet/>
      <dgm:spPr/>
      <dgm:t>
        <a:bodyPr/>
        <a:lstStyle/>
        <a:p>
          <a:endParaRPr lang="en-US"/>
        </a:p>
      </dgm:t>
    </dgm:pt>
    <dgm:pt modelId="{10DB8F95-506B-4B58-ABDE-07B6CE8E6251}">
      <dgm:prSet phldrT="[Text]" custT="1"/>
      <dgm:spPr/>
      <dgm:t>
        <a:bodyPr/>
        <a:lstStyle/>
        <a:p>
          <a:pPr>
            <a:buNone/>
          </a:pPr>
          <a:r>
            <a:rPr lang="en-US" sz="1200" dirty="0" err="1">
              <a:solidFill>
                <a:srgbClr val="1E2761"/>
              </a:solidFill>
              <a:latin typeface="Times New Roman" panose="02020603050405020304" pitchFamily="18" charset="0"/>
              <a:cs typeface="Times New Roman" panose="02020603050405020304" pitchFamily="18" charset="0"/>
            </a:rPr>
            <a:t>rd_fifo_en</a:t>
          </a:r>
          <a:r>
            <a:rPr lang="en-US" sz="1200" dirty="0">
              <a:solidFill>
                <a:srgbClr val="1E2761"/>
              </a:solidFill>
              <a:latin typeface="Times New Roman" panose="02020603050405020304" pitchFamily="18" charset="0"/>
              <a:cs typeface="Times New Roman" panose="02020603050405020304" pitchFamily="18" charset="0"/>
            </a:rPr>
            <a:t>=1, </a:t>
          </a:r>
          <a:r>
            <a:rPr lang="en-US" sz="1200" dirty="0" err="1">
              <a:solidFill>
                <a:srgbClr val="1E2761"/>
              </a:solidFill>
              <a:latin typeface="Times New Roman" panose="02020603050405020304" pitchFamily="18" charset="0"/>
              <a:cs typeface="Times New Roman" panose="02020603050405020304" pitchFamily="18" charset="0"/>
            </a:rPr>
            <a:t>addr_counte</a:t>
          </a:r>
          <a:r>
            <a:rPr lang="en-US" sz="1200" dirty="0">
              <a:solidFill>
                <a:srgbClr val="1E2761"/>
              </a:solidFill>
              <a:latin typeface="Times New Roman" panose="02020603050405020304" pitchFamily="18" charset="0"/>
              <a:cs typeface="Times New Roman" panose="02020603050405020304" pitchFamily="18" charset="0"/>
            </a:rPr>
            <a:t>=1</a:t>
          </a:r>
        </a:p>
      </dgm:t>
    </dgm:pt>
    <dgm:pt modelId="{970D5377-BE29-40B6-B359-45B41A618CCA}" type="parTrans" cxnId="{2F40C074-B3F1-4D1B-985B-87B3B1DA8598}">
      <dgm:prSet/>
      <dgm:spPr/>
      <dgm:t>
        <a:bodyPr/>
        <a:lstStyle/>
        <a:p>
          <a:endParaRPr lang="en-US"/>
        </a:p>
      </dgm:t>
    </dgm:pt>
    <dgm:pt modelId="{5816503D-1A72-4825-9214-ECE1D002201E}" type="sibTrans" cxnId="{2F40C074-B3F1-4D1B-985B-87B3B1DA8598}">
      <dgm:prSet/>
      <dgm:spPr/>
      <dgm:t>
        <a:bodyPr/>
        <a:lstStyle/>
        <a:p>
          <a:endParaRPr lang="en-US"/>
        </a:p>
      </dgm:t>
    </dgm:pt>
    <dgm:pt modelId="{375F7198-1050-4880-B9ED-60FFBFF40057}">
      <dgm:prSet phldrT="[Text]" custT="1"/>
      <dgm:spPr/>
      <dgm:t>
        <a:bodyPr/>
        <a:lstStyle/>
        <a:p>
          <a:pPr>
            <a:buNone/>
          </a:pPr>
          <a:r>
            <a:rPr lang="en-US" sz="1000" dirty="0">
              <a:solidFill>
                <a:schemeClr val="bg1"/>
              </a:solidFill>
              <a:latin typeface="Times New Roman" panose="02020603050405020304" pitchFamily="18" charset="0"/>
              <a:cs typeface="Times New Roman" panose="02020603050405020304" pitchFamily="18" charset="0"/>
            </a:rPr>
            <a:t>CFG_WR</a:t>
          </a:r>
        </a:p>
      </dgm:t>
    </dgm:pt>
    <dgm:pt modelId="{EAD3F313-425F-4728-8142-F19678097E9F}" type="parTrans" cxnId="{F822C9C3-482F-45A2-B1B4-E9C15368DC01}">
      <dgm:prSet/>
      <dgm:spPr/>
      <dgm:t>
        <a:bodyPr/>
        <a:lstStyle/>
        <a:p>
          <a:endParaRPr lang="en-US"/>
        </a:p>
      </dgm:t>
    </dgm:pt>
    <dgm:pt modelId="{406BFB44-E643-4C9A-BCE5-57CDF290F933}" type="sibTrans" cxnId="{F822C9C3-482F-45A2-B1B4-E9C15368DC01}">
      <dgm:prSet/>
      <dgm:spPr/>
      <dgm:t>
        <a:bodyPr/>
        <a:lstStyle/>
        <a:p>
          <a:endParaRPr lang="en-US"/>
        </a:p>
      </dgm:t>
    </dgm:pt>
    <dgm:pt modelId="{04EAA028-CA75-441D-9AC3-0A127377751A}">
      <dgm:prSet phldrT="[Text]" custT="1"/>
      <dgm:spPr/>
      <dgm:t>
        <a:bodyPr/>
        <a:lstStyle/>
        <a:p>
          <a:pPr>
            <a:buNone/>
          </a:pPr>
          <a:r>
            <a:rPr lang="en-US" sz="1200" dirty="0">
              <a:solidFill>
                <a:srgbClr val="1E2761"/>
              </a:solidFill>
              <a:latin typeface="Times New Roman" panose="02020603050405020304" pitchFamily="18" charset="0"/>
              <a:cs typeface="Times New Roman" panose="02020603050405020304" pitchFamily="18" charset="0"/>
            </a:rPr>
            <a:t>Writes config payload into CDM</a:t>
          </a:r>
        </a:p>
      </dgm:t>
    </dgm:pt>
    <dgm:pt modelId="{8E195479-2187-4686-8CE6-4542CB5B0A75}" type="parTrans" cxnId="{071853F3-207D-4779-A4E4-00F0C6E6CB2C}">
      <dgm:prSet/>
      <dgm:spPr/>
      <dgm:t>
        <a:bodyPr/>
        <a:lstStyle/>
        <a:p>
          <a:endParaRPr lang="en-US"/>
        </a:p>
      </dgm:t>
    </dgm:pt>
    <dgm:pt modelId="{F70BB797-3591-46D5-A26A-9D84484ABD74}" type="sibTrans" cxnId="{071853F3-207D-4779-A4E4-00F0C6E6CB2C}">
      <dgm:prSet/>
      <dgm:spPr/>
      <dgm:t>
        <a:bodyPr/>
        <a:lstStyle/>
        <a:p>
          <a:endParaRPr lang="en-US"/>
        </a:p>
      </dgm:t>
    </dgm:pt>
    <dgm:pt modelId="{0493E1E7-2C11-4F56-929F-3B8CC3C67E5B}">
      <dgm:prSet phldrT="[Text]" custT="1"/>
      <dgm:spPr/>
      <dgm:t>
        <a:bodyPr/>
        <a:lstStyle/>
        <a:p>
          <a:pPr>
            <a:buNone/>
          </a:pPr>
          <a:r>
            <a:rPr lang="en-US" sz="1200" dirty="0" err="1">
              <a:solidFill>
                <a:srgbClr val="1E2761"/>
              </a:solidFill>
              <a:latin typeface="Times New Roman" panose="02020603050405020304" pitchFamily="18" charset="0"/>
              <a:cs typeface="Times New Roman" panose="02020603050405020304" pitchFamily="18" charset="0"/>
            </a:rPr>
            <a:t>config_we</a:t>
          </a:r>
          <a:r>
            <a:rPr lang="en-US" sz="1200" dirty="0">
              <a:solidFill>
                <a:srgbClr val="1E2761"/>
              </a:solidFill>
              <a:latin typeface="Times New Roman" panose="02020603050405020304" pitchFamily="18" charset="0"/>
              <a:cs typeface="Times New Roman" panose="02020603050405020304" pitchFamily="18" charset="0"/>
            </a:rPr>
            <a:t>=1</a:t>
          </a:r>
        </a:p>
      </dgm:t>
    </dgm:pt>
    <dgm:pt modelId="{98B225A0-1E5C-4F99-9523-3CCAE892809F}" type="parTrans" cxnId="{3102010D-BD9B-476A-934F-D89FABE5BD58}">
      <dgm:prSet/>
      <dgm:spPr/>
      <dgm:t>
        <a:bodyPr/>
        <a:lstStyle/>
        <a:p>
          <a:endParaRPr lang="en-US"/>
        </a:p>
      </dgm:t>
    </dgm:pt>
    <dgm:pt modelId="{45D0FDDC-BDD0-49F4-888E-A50FEBC067AE}" type="sibTrans" cxnId="{3102010D-BD9B-476A-934F-D89FABE5BD58}">
      <dgm:prSet/>
      <dgm:spPr/>
      <dgm:t>
        <a:bodyPr/>
        <a:lstStyle/>
        <a:p>
          <a:endParaRPr lang="en-US"/>
        </a:p>
      </dgm:t>
    </dgm:pt>
    <dgm:pt modelId="{4418A05F-8845-4971-81B2-555DCEFEC916}">
      <dgm:prSet phldrT="[Text]" custT="1"/>
      <dgm:spPr/>
      <dgm:t>
        <a:bodyPr/>
        <a:lstStyle/>
        <a:p>
          <a:pPr>
            <a:buNone/>
          </a:pPr>
          <a:r>
            <a:rPr lang="en-US" sz="1200" dirty="0">
              <a:solidFill>
                <a:srgbClr val="1E2761"/>
              </a:solidFill>
              <a:latin typeface="Times New Roman" panose="02020603050405020304" pitchFamily="18" charset="0"/>
              <a:cs typeface="Times New Roman" panose="02020603050405020304" pitchFamily="18" charset="0"/>
            </a:rPr>
            <a:t>At system deactivation </a:t>
          </a:r>
        </a:p>
      </dgm:t>
    </dgm:pt>
    <dgm:pt modelId="{3A45CF0A-9714-4643-89FF-CAE003F6C5CD}" type="parTrans" cxnId="{3A672070-EFDE-45B9-B0A1-126767FF209A}">
      <dgm:prSet/>
      <dgm:spPr/>
      <dgm:t>
        <a:bodyPr/>
        <a:lstStyle/>
        <a:p>
          <a:endParaRPr lang="en-US"/>
        </a:p>
      </dgm:t>
    </dgm:pt>
    <dgm:pt modelId="{E85CBD41-9A1A-4DBE-93C1-EFAB7A4CABE3}" type="sibTrans" cxnId="{3A672070-EFDE-45B9-B0A1-126767FF209A}">
      <dgm:prSet/>
      <dgm:spPr/>
      <dgm:t>
        <a:bodyPr/>
        <a:lstStyle/>
        <a:p>
          <a:endParaRPr lang="en-US"/>
        </a:p>
      </dgm:t>
    </dgm:pt>
    <dgm:pt modelId="{B5F91042-3D4C-40B5-A59D-37D347FAF613}">
      <dgm:prSet phldrT="[Text]" custT="1"/>
      <dgm:spPr/>
      <dgm:t>
        <a:bodyPr/>
        <a:lstStyle/>
        <a:p>
          <a:pPr>
            <a:buNone/>
          </a:pPr>
          <a:r>
            <a:rPr lang="en-US" sz="900" dirty="0">
              <a:solidFill>
                <a:schemeClr val="bg1"/>
              </a:solidFill>
              <a:latin typeface="Times New Roman" panose="02020603050405020304" pitchFamily="18" charset="0"/>
              <a:cs typeface="Times New Roman" panose="02020603050405020304" pitchFamily="18" charset="0"/>
            </a:rPr>
            <a:t>LINK_SCAN</a:t>
          </a:r>
        </a:p>
      </dgm:t>
    </dgm:pt>
    <dgm:pt modelId="{A0FFC2BB-C4E5-40CA-8AEA-13D296EB04A5}" type="parTrans" cxnId="{5FDAE67A-B868-47DA-A9FF-A2C93D42AA6E}">
      <dgm:prSet/>
      <dgm:spPr/>
      <dgm:t>
        <a:bodyPr/>
        <a:lstStyle/>
        <a:p>
          <a:endParaRPr lang="en-US"/>
        </a:p>
      </dgm:t>
    </dgm:pt>
    <dgm:pt modelId="{3E3E2FD2-6DB9-4811-8965-1ADB43ABDC0D}" type="sibTrans" cxnId="{5FDAE67A-B868-47DA-A9FF-A2C93D42AA6E}">
      <dgm:prSet/>
      <dgm:spPr/>
      <dgm:t>
        <a:bodyPr/>
        <a:lstStyle/>
        <a:p>
          <a:endParaRPr lang="en-US"/>
        </a:p>
      </dgm:t>
    </dgm:pt>
    <dgm:pt modelId="{6BF78014-5564-4F58-8D02-EED6BA78D9D1}">
      <dgm:prSet phldrT="[Text]" custT="1"/>
      <dgm:spPr/>
      <dgm:t>
        <a:bodyPr/>
        <a:lstStyle/>
        <a:p>
          <a:pPr>
            <a:buNone/>
          </a:pPr>
          <a:r>
            <a:rPr lang="en-US" sz="1200" dirty="0">
              <a:solidFill>
                <a:srgbClr val="1E2761"/>
              </a:solidFill>
              <a:latin typeface="Times New Roman" panose="02020603050405020304" pitchFamily="18" charset="0"/>
              <a:cs typeface="Times New Roman" panose="02020603050405020304" pitchFamily="18" charset="0"/>
            </a:rPr>
            <a:t>Verifies Link-Up packet after config is done</a:t>
          </a:r>
        </a:p>
      </dgm:t>
    </dgm:pt>
    <dgm:pt modelId="{4F8350E0-3D4E-485C-BDC4-45A2576F7E9F}" type="parTrans" cxnId="{1BEBA603-8B7C-43F9-A329-1DC27EF759C2}">
      <dgm:prSet/>
      <dgm:spPr/>
      <dgm:t>
        <a:bodyPr/>
        <a:lstStyle/>
        <a:p>
          <a:endParaRPr lang="en-US"/>
        </a:p>
      </dgm:t>
    </dgm:pt>
    <dgm:pt modelId="{B21914F1-0861-4610-95E2-985746DF7A0C}" type="sibTrans" cxnId="{1BEBA603-8B7C-43F9-A329-1DC27EF759C2}">
      <dgm:prSet/>
      <dgm:spPr/>
      <dgm:t>
        <a:bodyPr/>
        <a:lstStyle/>
        <a:p>
          <a:endParaRPr lang="en-US"/>
        </a:p>
      </dgm:t>
    </dgm:pt>
    <dgm:pt modelId="{65BBF56F-CBDD-427F-9FC5-A6ECD6B999BA}">
      <dgm:prSet phldrT="[Text]" custT="1"/>
      <dgm:spPr/>
      <dgm:t>
        <a:bodyPr/>
        <a:lstStyle/>
        <a:p>
          <a:pPr>
            <a:buNone/>
          </a:pPr>
          <a:r>
            <a:rPr lang="en-US" sz="1200" dirty="0" err="1">
              <a:solidFill>
                <a:srgbClr val="1E2761"/>
              </a:solidFill>
              <a:latin typeface="Times New Roman" panose="02020603050405020304" pitchFamily="18" charset="0"/>
              <a:cs typeface="Times New Roman" panose="02020603050405020304" pitchFamily="18" charset="0"/>
            </a:rPr>
            <a:t>rd_fifo_en</a:t>
          </a:r>
          <a:r>
            <a:rPr lang="en-US" sz="1200" dirty="0">
              <a:solidFill>
                <a:srgbClr val="1E2761"/>
              </a:solidFill>
              <a:latin typeface="Times New Roman" panose="02020603050405020304" pitchFamily="18" charset="0"/>
              <a:cs typeface="Times New Roman" panose="02020603050405020304" pitchFamily="18" charset="0"/>
            </a:rPr>
            <a:t>=1</a:t>
          </a:r>
        </a:p>
      </dgm:t>
    </dgm:pt>
    <dgm:pt modelId="{03EB6E6F-0BD6-469A-9633-4FDAE9E522A5}" type="parTrans" cxnId="{67FBF3AA-9A4E-48C1-81F6-08AD2DE76BF7}">
      <dgm:prSet/>
      <dgm:spPr/>
      <dgm:t>
        <a:bodyPr/>
        <a:lstStyle/>
        <a:p>
          <a:endParaRPr lang="en-US"/>
        </a:p>
      </dgm:t>
    </dgm:pt>
    <dgm:pt modelId="{C216FA31-672F-46C4-8BFE-979417FE4617}" type="sibTrans" cxnId="{67FBF3AA-9A4E-48C1-81F6-08AD2DE76BF7}">
      <dgm:prSet/>
      <dgm:spPr/>
      <dgm:t>
        <a:bodyPr/>
        <a:lstStyle/>
        <a:p>
          <a:endParaRPr lang="en-US"/>
        </a:p>
      </dgm:t>
    </dgm:pt>
    <dgm:pt modelId="{81F28A41-3CDE-4062-A507-679A1FB6725B}">
      <dgm:prSet phldrT="[Text]" custT="1"/>
      <dgm:spPr/>
      <dgm:t>
        <a:bodyPr/>
        <a:lstStyle/>
        <a:p>
          <a:pPr>
            <a:buNone/>
          </a:pPr>
          <a:r>
            <a:rPr lang="en-US" sz="1000" dirty="0">
              <a:solidFill>
                <a:schemeClr val="bg1"/>
              </a:solidFill>
              <a:latin typeface="Times New Roman" panose="02020603050405020304" pitchFamily="18" charset="0"/>
              <a:cs typeface="Times New Roman" panose="02020603050405020304" pitchFamily="18" charset="0"/>
            </a:rPr>
            <a:t>LINK</a:t>
          </a:r>
        </a:p>
      </dgm:t>
    </dgm:pt>
    <dgm:pt modelId="{34E8A72B-1FA3-4682-BFDD-E49E171BB337}" type="parTrans" cxnId="{36004170-280A-4163-BB8A-03B33DD00930}">
      <dgm:prSet/>
      <dgm:spPr/>
      <dgm:t>
        <a:bodyPr/>
        <a:lstStyle/>
        <a:p>
          <a:endParaRPr lang="en-US"/>
        </a:p>
      </dgm:t>
    </dgm:pt>
    <dgm:pt modelId="{A6CC9332-D532-4E59-8AC8-C73B2F5376E9}" type="sibTrans" cxnId="{36004170-280A-4163-BB8A-03B33DD00930}">
      <dgm:prSet/>
      <dgm:spPr/>
      <dgm:t>
        <a:bodyPr/>
        <a:lstStyle/>
        <a:p>
          <a:endParaRPr lang="en-US"/>
        </a:p>
      </dgm:t>
    </dgm:pt>
    <dgm:pt modelId="{660A4060-3333-43F6-BC5E-E905E36D7558}">
      <dgm:prSet phldrT="[Text]" custT="1"/>
      <dgm:spPr/>
      <dgm:t>
        <a:bodyPr/>
        <a:lstStyle/>
        <a:p>
          <a:pPr>
            <a:buNone/>
          </a:pPr>
          <a:r>
            <a:rPr lang="en-US" sz="1200" dirty="0">
              <a:solidFill>
                <a:srgbClr val="1E2761"/>
              </a:solidFill>
              <a:latin typeface="Times New Roman" panose="02020603050405020304" pitchFamily="18" charset="0"/>
              <a:cs typeface="Times New Roman" panose="02020603050405020304" pitchFamily="18" charset="0"/>
            </a:rPr>
            <a:t>Link validated; ready for data transfer</a:t>
          </a:r>
        </a:p>
      </dgm:t>
    </dgm:pt>
    <dgm:pt modelId="{32106AA9-1C2F-4B09-BB03-0B81BCB38834}" type="parTrans" cxnId="{84A7264C-3779-4878-943E-83C84F4E2509}">
      <dgm:prSet/>
      <dgm:spPr/>
      <dgm:t>
        <a:bodyPr/>
        <a:lstStyle/>
        <a:p>
          <a:endParaRPr lang="en-US"/>
        </a:p>
      </dgm:t>
    </dgm:pt>
    <dgm:pt modelId="{D557D483-8912-40FB-9207-BB2B84D796EB}" type="sibTrans" cxnId="{84A7264C-3779-4878-943E-83C84F4E2509}">
      <dgm:prSet/>
      <dgm:spPr/>
      <dgm:t>
        <a:bodyPr/>
        <a:lstStyle/>
        <a:p>
          <a:endParaRPr lang="en-US"/>
        </a:p>
      </dgm:t>
    </dgm:pt>
    <dgm:pt modelId="{9A6B563A-45F3-42DA-A136-5A5DFDD24D8D}">
      <dgm:prSet phldrT="[Text]" custT="1"/>
      <dgm:spPr/>
      <dgm:t>
        <a:bodyPr/>
        <a:lstStyle/>
        <a:p>
          <a:pPr>
            <a:buNone/>
          </a:pPr>
          <a:r>
            <a:rPr lang="en-US" sz="1200" dirty="0" err="1">
              <a:solidFill>
                <a:srgbClr val="1E2761"/>
              </a:solidFill>
              <a:latin typeface="Times New Roman" panose="02020603050405020304" pitchFamily="18" charset="0"/>
              <a:cs typeface="Times New Roman" panose="02020603050405020304" pitchFamily="18" charset="0"/>
            </a:rPr>
            <a:t>status_valid</a:t>
          </a:r>
          <a:r>
            <a:rPr lang="en-US" sz="1200" dirty="0">
              <a:solidFill>
                <a:srgbClr val="1E2761"/>
              </a:solidFill>
              <a:latin typeface="Times New Roman" panose="02020603050405020304" pitchFamily="18" charset="0"/>
              <a:cs typeface="Times New Roman" panose="02020603050405020304" pitchFamily="18" charset="0"/>
            </a:rPr>
            <a:t>=1</a:t>
          </a:r>
        </a:p>
      </dgm:t>
    </dgm:pt>
    <dgm:pt modelId="{806609BC-E7DA-4640-9F8D-DAA7BC027258}" type="parTrans" cxnId="{0A28101B-4E6C-4EDA-9F2E-0F1CD442D4F2}">
      <dgm:prSet/>
      <dgm:spPr/>
      <dgm:t>
        <a:bodyPr/>
        <a:lstStyle/>
        <a:p>
          <a:endParaRPr lang="en-US"/>
        </a:p>
      </dgm:t>
    </dgm:pt>
    <dgm:pt modelId="{E4C635E7-ED51-4ADE-A9E7-AEC54C1F6FAC}" type="sibTrans" cxnId="{0A28101B-4E6C-4EDA-9F2E-0F1CD442D4F2}">
      <dgm:prSet/>
      <dgm:spPr/>
      <dgm:t>
        <a:bodyPr/>
        <a:lstStyle/>
        <a:p>
          <a:endParaRPr lang="en-US"/>
        </a:p>
      </dgm:t>
    </dgm:pt>
    <dgm:pt modelId="{9607B169-CB53-47C6-9527-3AA339A238B6}">
      <dgm:prSet phldrT="[Text]" custT="1"/>
      <dgm:spPr/>
      <dgm:t>
        <a:bodyPr/>
        <a:lstStyle/>
        <a:p>
          <a:pPr>
            <a:buNone/>
          </a:pPr>
          <a:r>
            <a:rPr lang="en-US" sz="900" dirty="0">
              <a:solidFill>
                <a:schemeClr val="bg1"/>
              </a:solidFill>
              <a:latin typeface="Times New Roman" panose="02020603050405020304" pitchFamily="18" charset="0"/>
              <a:cs typeface="Times New Roman" panose="02020603050405020304" pitchFamily="18" charset="0"/>
            </a:rPr>
            <a:t>DATA_SCAN</a:t>
          </a:r>
        </a:p>
      </dgm:t>
    </dgm:pt>
    <dgm:pt modelId="{7EFF9607-26AA-423B-86C6-656AEA27DF27}" type="parTrans" cxnId="{453846DC-F394-4390-A448-125C548A2E76}">
      <dgm:prSet/>
      <dgm:spPr/>
      <dgm:t>
        <a:bodyPr/>
        <a:lstStyle/>
        <a:p>
          <a:endParaRPr lang="en-US"/>
        </a:p>
      </dgm:t>
    </dgm:pt>
    <dgm:pt modelId="{7A4C7762-8EF2-40C3-BA75-4077FE22A019}" type="sibTrans" cxnId="{453846DC-F394-4390-A448-125C548A2E76}">
      <dgm:prSet/>
      <dgm:spPr/>
      <dgm:t>
        <a:bodyPr/>
        <a:lstStyle/>
        <a:p>
          <a:endParaRPr lang="en-US"/>
        </a:p>
      </dgm:t>
    </dgm:pt>
    <dgm:pt modelId="{2EDD85D7-466B-407A-9B53-F65B6C37E343}">
      <dgm:prSet phldrT="[Text]" custT="1"/>
      <dgm:spPr/>
      <dgm:t>
        <a:bodyPr/>
        <a:lstStyle/>
        <a:p>
          <a:pPr>
            <a:buNone/>
          </a:pPr>
          <a:r>
            <a:rPr lang="en-US" sz="1200" dirty="0">
              <a:solidFill>
                <a:srgbClr val="1E2761"/>
              </a:solidFill>
              <a:latin typeface="Times New Roman" panose="02020603050405020304" pitchFamily="18" charset="0"/>
              <a:cs typeface="Times New Roman" panose="02020603050405020304" pitchFamily="18" charset="0"/>
            </a:rPr>
            <a:t>Detects start of payload packet</a:t>
          </a:r>
        </a:p>
      </dgm:t>
    </dgm:pt>
    <dgm:pt modelId="{0D1BAB44-086D-4918-915D-4DDA64649636}" type="parTrans" cxnId="{50BFE9F2-0C1F-46E3-94F2-37F140E02BF7}">
      <dgm:prSet/>
      <dgm:spPr/>
      <dgm:t>
        <a:bodyPr/>
        <a:lstStyle/>
        <a:p>
          <a:endParaRPr lang="en-US"/>
        </a:p>
      </dgm:t>
    </dgm:pt>
    <dgm:pt modelId="{9DFE767E-D6DE-4C12-B5BC-F6BC7804D36B}" type="sibTrans" cxnId="{50BFE9F2-0C1F-46E3-94F2-37F140E02BF7}">
      <dgm:prSet/>
      <dgm:spPr/>
      <dgm:t>
        <a:bodyPr/>
        <a:lstStyle/>
        <a:p>
          <a:endParaRPr lang="en-US"/>
        </a:p>
      </dgm:t>
    </dgm:pt>
    <dgm:pt modelId="{9A020123-72C0-4A25-B6B0-B26D8E2A3835}">
      <dgm:prSet phldrT="[Text]" custT="1"/>
      <dgm:spPr/>
      <dgm:t>
        <a:bodyPr/>
        <a:lstStyle/>
        <a:p>
          <a:pPr>
            <a:buNone/>
          </a:pPr>
          <a:r>
            <a:rPr lang="en-US" sz="1200" dirty="0" err="1">
              <a:solidFill>
                <a:srgbClr val="1E2761"/>
              </a:solidFill>
              <a:latin typeface="Times New Roman" panose="02020603050405020304" pitchFamily="18" charset="0"/>
              <a:cs typeface="Times New Roman" panose="02020603050405020304" pitchFamily="18" charset="0"/>
            </a:rPr>
            <a:t>rd_fifo_en</a:t>
          </a:r>
          <a:r>
            <a:rPr lang="en-US" sz="1200" dirty="0">
              <a:solidFill>
                <a:srgbClr val="1E2761"/>
              </a:solidFill>
              <a:latin typeface="Times New Roman" panose="02020603050405020304" pitchFamily="18" charset="0"/>
              <a:cs typeface="Times New Roman" panose="02020603050405020304" pitchFamily="18" charset="0"/>
            </a:rPr>
            <a:t>=1, </a:t>
          </a:r>
          <a:r>
            <a:rPr lang="en-US" sz="1200" dirty="0" err="1">
              <a:solidFill>
                <a:srgbClr val="1E2761"/>
              </a:solidFill>
              <a:latin typeface="Times New Roman" panose="02020603050405020304" pitchFamily="18" charset="0"/>
              <a:cs typeface="Times New Roman" panose="02020603050405020304" pitchFamily="18" charset="0"/>
            </a:rPr>
            <a:t>rd_configen</a:t>
          </a:r>
          <a:r>
            <a:rPr lang="en-US" sz="1200" dirty="0">
              <a:solidFill>
                <a:srgbClr val="1E2761"/>
              </a:solidFill>
              <a:latin typeface="Times New Roman" panose="02020603050405020304" pitchFamily="18" charset="0"/>
              <a:cs typeface="Times New Roman" panose="02020603050405020304" pitchFamily="18" charset="0"/>
            </a:rPr>
            <a:t>=1</a:t>
          </a:r>
        </a:p>
      </dgm:t>
    </dgm:pt>
    <dgm:pt modelId="{C844239E-E994-406A-AC04-9DD5E69A7FFF}" type="parTrans" cxnId="{B5C26C9B-3E8E-435C-9781-827A892E01B9}">
      <dgm:prSet/>
      <dgm:spPr/>
      <dgm:t>
        <a:bodyPr/>
        <a:lstStyle/>
        <a:p>
          <a:endParaRPr lang="en-US"/>
        </a:p>
      </dgm:t>
    </dgm:pt>
    <dgm:pt modelId="{16177E7A-147C-454F-B8E3-763E33B2F547}" type="sibTrans" cxnId="{B5C26C9B-3E8E-435C-9781-827A892E01B9}">
      <dgm:prSet/>
      <dgm:spPr/>
      <dgm:t>
        <a:bodyPr/>
        <a:lstStyle/>
        <a:p>
          <a:endParaRPr lang="en-US"/>
        </a:p>
      </dgm:t>
    </dgm:pt>
    <dgm:pt modelId="{B0424092-95C1-4909-AFD3-21BCFC8A6125}">
      <dgm:prSet phldrT="[Text]" custT="1"/>
      <dgm:spPr/>
      <dgm:t>
        <a:bodyPr/>
        <a:lstStyle/>
        <a:p>
          <a:pPr>
            <a:buNone/>
          </a:pPr>
          <a:r>
            <a:rPr lang="en-US" sz="800" dirty="0">
              <a:solidFill>
                <a:schemeClr val="bg1"/>
              </a:solidFill>
              <a:latin typeface="Times New Roman" panose="02020603050405020304" pitchFamily="18" charset="0"/>
              <a:cs typeface="Times New Roman" panose="02020603050405020304" pitchFamily="18" charset="0"/>
            </a:rPr>
            <a:t>DATA_BODY</a:t>
          </a:r>
        </a:p>
      </dgm:t>
    </dgm:pt>
    <dgm:pt modelId="{0F1593BA-9C3B-4BDF-A552-F91C021DCA0A}" type="parTrans" cxnId="{E6D95844-169D-4EFD-998B-CD2E6F89467D}">
      <dgm:prSet/>
      <dgm:spPr/>
      <dgm:t>
        <a:bodyPr/>
        <a:lstStyle/>
        <a:p>
          <a:endParaRPr lang="en-US"/>
        </a:p>
      </dgm:t>
    </dgm:pt>
    <dgm:pt modelId="{115B7757-D1CB-4E06-A9DC-9346FC59D52E}" type="sibTrans" cxnId="{E6D95844-169D-4EFD-998B-CD2E6F89467D}">
      <dgm:prSet/>
      <dgm:spPr/>
      <dgm:t>
        <a:bodyPr/>
        <a:lstStyle/>
        <a:p>
          <a:endParaRPr lang="en-US"/>
        </a:p>
      </dgm:t>
    </dgm:pt>
    <dgm:pt modelId="{6CB8935C-ADB4-4FF1-9B69-9A9CB4160AC4}">
      <dgm:prSet phldrT="[Text]" custT="1"/>
      <dgm:spPr/>
      <dgm:t>
        <a:bodyPr/>
        <a:lstStyle/>
        <a:p>
          <a:pPr>
            <a:buNone/>
          </a:pPr>
          <a:r>
            <a:rPr lang="en-US" sz="1200" dirty="0">
              <a:solidFill>
                <a:srgbClr val="1E2761"/>
              </a:solidFill>
              <a:latin typeface="Times New Roman" panose="02020603050405020304" pitchFamily="18" charset="0"/>
              <a:cs typeface="Times New Roman" panose="02020603050405020304" pitchFamily="18" charset="0"/>
            </a:rPr>
            <a:t>Processes payload data until </a:t>
          </a:r>
          <a:r>
            <a:rPr lang="en-US" sz="1200" dirty="0" err="1">
              <a:solidFill>
                <a:srgbClr val="1E2761"/>
              </a:solidFill>
              <a:latin typeface="Times New Roman" panose="02020603050405020304" pitchFamily="18" charset="0"/>
              <a:cs typeface="Times New Roman" panose="02020603050405020304" pitchFamily="18" charset="0"/>
            </a:rPr>
            <a:t>pkt_end</a:t>
          </a:r>
          <a:endParaRPr lang="en-US" sz="1200" dirty="0">
            <a:solidFill>
              <a:srgbClr val="1E2761"/>
            </a:solidFill>
            <a:latin typeface="Times New Roman" panose="02020603050405020304" pitchFamily="18" charset="0"/>
            <a:cs typeface="Times New Roman" panose="02020603050405020304" pitchFamily="18" charset="0"/>
          </a:endParaRPr>
        </a:p>
      </dgm:t>
    </dgm:pt>
    <dgm:pt modelId="{4C4BDB76-4866-4A09-95F3-69CEC0190F36}" type="parTrans" cxnId="{062D29DB-D19D-4DED-9157-16A6B8668F44}">
      <dgm:prSet/>
      <dgm:spPr/>
      <dgm:t>
        <a:bodyPr/>
        <a:lstStyle/>
        <a:p>
          <a:endParaRPr lang="en-US"/>
        </a:p>
      </dgm:t>
    </dgm:pt>
    <dgm:pt modelId="{BF162937-8350-4F68-BE88-F5F576C754B4}" type="sibTrans" cxnId="{062D29DB-D19D-4DED-9157-16A6B8668F44}">
      <dgm:prSet/>
      <dgm:spPr/>
      <dgm:t>
        <a:bodyPr/>
        <a:lstStyle/>
        <a:p>
          <a:endParaRPr lang="en-US"/>
        </a:p>
      </dgm:t>
    </dgm:pt>
    <dgm:pt modelId="{37876190-2E47-4992-8769-8DFC95DC71C3}">
      <dgm:prSet phldrT="[Text]" custT="1"/>
      <dgm:spPr/>
      <dgm:t>
        <a:bodyPr/>
        <a:lstStyle/>
        <a:p>
          <a:pPr>
            <a:buNone/>
          </a:pPr>
          <a:r>
            <a:rPr lang="en-US" sz="1200" dirty="0" err="1">
              <a:solidFill>
                <a:srgbClr val="1E2761"/>
              </a:solidFill>
              <a:latin typeface="Times New Roman" panose="02020603050405020304" pitchFamily="18" charset="0"/>
              <a:cs typeface="Times New Roman" panose="02020603050405020304" pitchFamily="18" charset="0"/>
            </a:rPr>
            <a:t>payload_valid</a:t>
          </a:r>
          <a:r>
            <a:rPr lang="en-US" sz="1200" dirty="0">
              <a:solidFill>
                <a:srgbClr val="1E2761"/>
              </a:solidFill>
              <a:latin typeface="Times New Roman" panose="02020603050405020304" pitchFamily="18" charset="0"/>
              <a:cs typeface="Times New Roman" panose="02020603050405020304" pitchFamily="18" charset="0"/>
            </a:rPr>
            <a:t>=1, </a:t>
          </a:r>
          <a:r>
            <a:rPr lang="en-US" sz="1200" dirty="0" err="1">
              <a:solidFill>
                <a:srgbClr val="1E2761"/>
              </a:solidFill>
              <a:latin typeface="Times New Roman" panose="02020603050405020304" pitchFamily="18" charset="0"/>
              <a:cs typeface="Times New Roman" panose="02020603050405020304" pitchFamily="18" charset="0"/>
            </a:rPr>
            <a:t>rd_config_en</a:t>
          </a:r>
          <a:r>
            <a:rPr lang="en-US" sz="1200" dirty="0">
              <a:solidFill>
                <a:srgbClr val="1E2761"/>
              </a:solidFill>
              <a:latin typeface="Times New Roman" panose="02020603050405020304" pitchFamily="18" charset="0"/>
              <a:cs typeface="Times New Roman" panose="02020603050405020304" pitchFamily="18" charset="0"/>
            </a:rPr>
            <a:t>=1</a:t>
          </a:r>
        </a:p>
      </dgm:t>
    </dgm:pt>
    <dgm:pt modelId="{85BFB3F3-AB73-4A4D-92CC-CA9C1E9B1428}" type="parTrans" cxnId="{818C270C-F180-4E5B-882C-01AF51A91B44}">
      <dgm:prSet/>
      <dgm:spPr/>
      <dgm:t>
        <a:bodyPr/>
        <a:lstStyle/>
        <a:p>
          <a:endParaRPr lang="en-US"/>
        </a:p>
      </dgm:t>
    </dgm:pt>
    <dgm:pt modelId="{AF4E0022-D71F-4441-A844-2197B400498A}" type="sibTrans" cxnId="{818C270C-F180-4E5B-882C-01AF51A91B44}">
      <dgm:prSet/>
      <dgm:spPr/>
      <dgm:t>
        <a:bodyPr/>
        <a:lstStyle/>
        <a:p>
          <a:endParaRPr lang="en-US"/>
        </a:p>
      </dgm:t>
    </dgm:pt>
    <dgm:pt modelId="{B7E90A1F-D106-4AD8-B113-14D3D092EA5F}">
      <dgm:prSet phldrT="[Text]" custT="1"/>
      <dgm:spPr/>
      <dgm:t>
        <a:bodyPr/>
        <a:lstStyle/>
        <a:p>
          <a:pPr>
            <a:buNone/>
          </a:pPr>
          <a:r>
            <a:rPr lang="en-US" sz="900" dirty="0">
              <a:solidFill>
                <a:schemeClr val="bg1"/>
              </a:solidFill>
              <a:latin typeface="Times New Roman" panose="02020603050405020304" pitchFamily="18" charset="0"/>
              <a:cs typeface="Times New Roman" panose="02020603050405020304" pitchFamily="18" charset="0"/>
            </a:rPr>
            <a:t>ERROR</a:t>
          </a:r>
        </a:p>
      </dgm:t>
    </dgm:pt>
    <dgm:pt modelId="{DB01BB9E-F6B1-4169-A661-E0F31675B617}" type="parTrans" cxnId="{473A20DD-2ABF-400C-BE2D-00F2A3713056}">
      <dgm:prSet/>
      <dgm:spPr/>
      <dgm:t>
        <a:bodyPr/>
        <a:lstStyle/>
        <a:p>
          <a:endParaRPr lang="en-US"/>
        </a:p>
      </dgm:t>
    </dgm:pt>
    <dgm:pt modelId="{10F99A2C-7E70-4EF1-981C-344D6B46FEF0}" type="sibTrans" cxnId="{473A20DD-2ABF-400C-BE2D-00F2A3713056}">
      <dgm:prSet/>
      <dgm:spPr/>
      <dgm:t>
        <a:bodyPr/>
        <a:lstStyle/>
        <a:p>
          <a:endParaRPr lang="en-US"/>
        </a:p>
      </dgm:t>
    </dgm:pt>
    <dgm:pt modelId="{C7BD7521-4E7B-41E8-833F-3C41348F2702}">
      <dgm:prSet phldrT="[Text]" custT="1"/>
      <dgm:spPr/>
      <dgm:t>
        <a:bodyPr/>
        <a:lstStyle/>
        <a:p>
          <a:pPr>
            <a:buNone/>
          </a:pPr>
          <a:r>
            <a:rPr lang="en-US" sz="1200" dirty="0">
              <a:solidFill>
                <a:srgbClr val="1E2761"/>
              </a:solidFill>
              <a:latin typeface="Times New Roman" panose="02020603050405020304" pitchFamily="18" charset="0"/>
              <a:cs typeface="Times New Roman" panose="02020603050405020304" pitchFamily="18" charset="0"/>
            </a:rPr>
            <a:t>Entered on invalid header/type/protocol violation; holds until reset</a:t>
          </a:r>
        </a:p>
      </dgm:t>
    </dgm:pt>
    <dgm:pt modelId="{8E432EA0-99E0-449F-9CFD-7892B82053D6}" type="parTrans" cxnId="{71E2EA67-A290-4E66-AB78-F6FC43EF6324}">
      <dgm:prSet/>
      <dgm:spPr/>
      <dgm:t>
        <a:bodyPr/>
        <a:lstStyle/>
        <a:p>
          <a:endParaRPr lang="en-US"/>
        </a:p>
      </dgm:t>
    </dgm:pt>
    <dgm:pt modelId="{312AB1F5-8700-4ED2-9044-EC07E952C9EA}" type="sibTrans" cxnId="{71E2EA67-A290-4E66-AB78-F6FC43EF6324}">
      <dgm:prSet/>
      <dgm:spPr/>
      <dgm:t>
        <a:bodyPr/>
        <a:lstStyle/>
        <a:p>
          <a:endParaRPr lang="en-US"/>
        </a:p>
      </dgm:t>
    </dgm:pt>
    <dgm:pt modelId="{AC08DD9C-186B-471F-97D3-22B7938C4FDA}">
      <dgm:prSet phldrT="[Text]" custT="1"/>
      <dgm:spPr/>
      <dgm:t>
        <a:bodyPr/>
        <a:lstStyle/>
        <a:p>
          <a:pPr>
            <a:buNone/>
          </a:pPr>
          <a:r>
            <a:rPr lang="en-US" sz="1200" dirty="0" err="1">
              <a:solidFill>
                <a:srgbClr val="1E2761"/>
              </a:solidFill>
              <a:latin typeface="Times New Roman" panose="02020603050405020304" pitchFamily="18" charset="0"/>
              <a:cs typeface="Times New Roman" panose="02020603050405020304" pitchFamily="18" charset="0"/>
            </a:rPr>
            <a:t>status_valid</a:t>
          </a:r>
          <a:r>
            <a:rPr lang="en-US" sz="1200" dirty="0">
              <a:solidFill>
                <a:srgbClr val="1E2761"/>
              </a:solidFill>
              <a:latin typeface="Times New Roman" panose="02020603050405020304" pitchFamily="18" charset="0"/>
              <a:cs typeface="Times New Roman" panose="02020603050405020304" pitchFamily="18" charset="0"/>
            </a:rPr>
            <a:t>=1, </a:t>
          </a:r>
          <a:r>
            <a:rPr lang="en-US" sz="1200" dirty="0" err="1">
              <a:solidFill>
                <a:srgbClr val="1E2761"/>
              </a:solidFill>
              <a:latin typeface="Times New Roman" panose="02020603050405020304" pitchFamily="18" charset="0"/>
              <a:cs typeface="Times New Roman" panose="02020603050405020304" pitchFamily="18" charset="0"/>
            </a:rPr>
            <a:t>rd_fifo_en</a:t>
          </a:r>
          <a:r>
            <a:rPr lang="en-US" sz="1200" dirty="0">
              <a:solidFill>
                <a:srgbClr val="1E2761"/>
              </a:solidFill>
              <a:latin typeface="Times New Roman" panose="02020603050405020304" pitchFamily="18" charset="0"/>
              <a:cs typeface="Times New Roman" panose="02020603050405020304" pitchFamily="18" charset="0"/>
            </a:rPr>
            <a:t>=1</a:t>
          </a:r>
        </a:p>
      </dgm:t>
    </dgm:pt>
    <dgm:pt modelId="{A428354A-B771-42A0-BE73-3054C1767FF2}" type="parTrans" cxnId="{5DD50709-F99E-466E-89D0-21EE18DF1B47}">
      <dgm:prSet/>
      <dgm:spPr/>
      <dgm:t>
        <a:bodyPr/>
        <a:lstStyle/>
        <a:p>
          <a:endParaRPr lang="en-US"/>
        </a:p>
      </dgm:t>
    </dgm:pt>
    <dgm:pt modelId="{1F962EC0-35D0-4A7D-BF25-0CAFBF3D80E5}" type="sibTrans" cxnId="{5DD50709-F99E-466E-89D0-21EE18DF1B47}">
      <dgm:prSet/>
      <dgm:spPr/>
      <dgm:t>
        <a:bodyPr/>
        <a:lstStyle/>
        <a:p>
          <a:endParaRPr lang="en-US"/>
        </a:p>
      </dgm:t>
    </dgm:pt>
    <dgm:pt modelId="{20FCF45B-FD2D-4245-AC5E-28807BE00CBF}" type="pres">
      <dgm:prSet presAssocID="{A497AAF4-4166-44F3-B41D-7ADF125095AC}" presName="linearFlow" presStyleCnt="0">
        <dgm:presLayoutVars>
          <dgm:dir/>
          <dgm:animLvl val="lvl"/>
          <dgm:resizeHandles val="exact"/>
        </dgm:presLayoutVars>
      </dgm:prSet>
      <dgm:spPr/>
    </dgm:pt>
    <dgm:pt modelId="{BDEFE608-7C6C-4FBD-BA4B-D68EA71E3677}" type="pres">
      <dgm:prSet presAssocID="{2582BC46-E232-481A-9C06-FAFE940F83BB}" presName="composite" presStyleCnt="0"/>
      <dgm:spPr/>
    </dgm:pt>
    <dgm:pt modelId="{7EEAEA3C-198E-4428-91F5-5D40AC471D03}" type="pres">
      <dgm:prSet presAssocID="{2582BC46-E232-481A-9C06-FAFE940F83BB}" presName="parentText" presStyleLbl="alignNode1" presStyleIdx="0" presStyleCnt="8">
        <dgm:presLayoutVars>
          <dgm:chMax val="1"/>
          <dgm:bulletEnabled val="1"/>
        </dgm:presLayoutVars>
      </dgm:prSet>
      <dgm:spPr/>
    </dgm:pt>
    <dgm:pt modelId="{F05F49B7-E57A-4430-8446-DFC1C1F638EA}" type="pres">
      <dgm:prSet presAssocID="{2582BC46-E232-481A-9C06-FAFE940F83BB}" presName="descendantText" presStyleLbl="alignAcc1" presStyleIdx="0" presStyleCnt="8">
        <dgm:presLayoutVars>
          <dgm:bulletEnabled val="1"/>
        </dgm:presLayoutVars>
      </dgm:prSet>
      <dgm:spPr/>
    </dgm:pt>
    <dgm:pt modelId="{FDAA26FA-2F38-4C34-8837-5D578CEB621B}" type="pres">
      <dgm:prSet presAssocID="{5604CB5C-22D8-43F3-AA78-52C2BC39FAE4}" presName="sp" presStyleCnt="0"/>
      <dgm:spPr/>
    </dgm:pt>
    <dgm:pt modelId="{BF661CA9-1358-41AA-83EA-EBB25BC901D9}" type="pres">
      <dgm:prSet presAssocID="{08BF887D-4E4A-497E-A69B-D5C1B0980EC2}" presName="composite" presStyleCnt="0"/>
      <dgm:spPr/>
    </dgm:pt>
    <dgm:pt modelId="{1E631251-D50F-4103-BFBF-990C9568DF11}" type="pres">
      <dgm:prSet presAssocID="{08BF887D-4E4A-497E-A69B-D5C1B0980EC2}" presName="parentText" presStyleLbl="alignNode1" presStyleIdx="1" presStyleCnt="8">
        <dgm:presLayoutVars>
          <dgm:chMax val="1"/>
          <dgm:bulletEnabled val="1"/>
        </dgm:presLayoutVars>
      </dgm:prSet>
      <dgm:spPr/>
    </dgm:pt>
    <dgm:pt modelId="{84D39791-37A5-4786-8C16-C3F8789281C3}" type="pres">
      <dgm:prSet presAssocID="{08BF887D-4E4A-497E-A69B-D5C1B0980EC2}" presName="descendantText" presStyleLbl="alignAcc1" presStyleIdx="1" presStyleCnt="8">
        <dgm:presLayoutVars>
          <dgm:bulletEnabled val="1"/>
        </dgm:presLayoutVars>
      </dgm:prSet>
      <dgm:spPr/>
    </dgm:pt>
    <dgm:pt modelId="{D4F0E12F-8F4F-484E-A59C-62B02BC895E1}" type="pres">
      <dgm:prSet presAssocID="{BC7F0093-1191-488E-9211-CFFF45C4B3AC}" presName="sp" presStyleCnt="0"/>
      <dgm:spPr/>
    </dgm:pt>
    <dgm:pt modelId="{26B34F77-E883-4215-897A-87EB0CB9D032}" type="pres">
      <dgm:prSet presAssocID="{375F7198-1050-4880-B9ED-60FFBFF40057}" presName="composite" presStyleCnt="0"/>
      <dgm:spPr/>
    </dgm:pt>
    <dgm:pt modelId="{E7E0AF17-56E0-410F-9CE5-0C1A889F3C58}" type="pres">
      <dgm:prSet presAssocID="{375F7198-1050-4880-B9ED-60FFBFF40057}" presName="parentText" presStyleLbl="alignNode1" presStyleIdx="2" presStyleCnt="8">
        <dgm:presLayoutVars>
          <dgm:chMax val="1"/>
          <dgm:bulletEnabled val="1"/>
        </dgm:presLayoutVars>
      </dgm:prSet>
      <dgm:spPr/>
    </dgm:pt>
    <dgm:pt modelId="{209C89DD-2555-4ACD-B62E-C40608D078AF}" type="pres">
      <dgm:prSet presAssocID="{375F7198-1050-4880-B9ED-60FFBFF40057}" presName="descendantText" presStyleLbl="alignAcc1" presStyleIdx="2" presStyleCnt="8">
        <dgm:presLayoutVars>
          <dgm:bulletEnabled val="1"/>
        </dgm:presLayoutVars>
      </dgm:prSet>
      <dgm:spPr/>
    </dgm:pt>
    <dgm:pt modelId="{4F1E35CF-4133-44FB-9FF6-2D00E3F7D646}" type="pres">
      <dgm:prSet presAssocID="{406BFB44-E643-4C9A-BCE5-57CDF290F933}" presName="sp" presStyleCnt="0"/>
      <dgm:spPr/>
    </dgm:pt>
    <dgm:pt modelId="{37F3C621-476D-4DC1-BEDC-40F6B982196B}" type="pres">
      <dgm:prSet presAssocID="{B5F91042-3D4C-40B5-A59D-37D347FAF613}" presName="composite" presStyleCnt="0"/>
      <dgm:spPr/>
    </dgm:pt>
    <dgm:pt modelId="{9AEABF67-0F5F-4110-AEBC-7EC940420F45}" type="pres">
      <dgm:prSet presAssocID="{B5F91042-3D4C-40B5-A59D-37D347FAF613}" presName="parentText" presStyleLbl="alignNode1" presStyleIdx="3" presStyleCnt="8">
        <dgm:presLayoutVars>
          <dgm:chMax val="1"/>
          <dgm:bulletEnabled val="1"/>
        </dgm:presLayoutVars>
      </dgm:prSet>
      <dgm:spPr/>
    </dgm:pt>
    <dgm:pt modelId="{E638C40D-F786-40C7-81A9-EFB374C2939C}" type="pres">
      <dgm:prSet presAssocID="{B5F91042-3D4C-40B5-A59D-37D347FAF613}" presName="descendantText" presStyleLbl="alignAcc1" presStyleIdx="3" presStyleCnt="8">
        <dgm:presLayoutVars>
          <dgm:bulletEnabled val="1"/>
        </dgm:presLayoutVars>
      </dgm:prSet>
      <dgm:spPr/>
    </dgm:pt>
    <dgm:pt modelId="{624A2994-783A-4726-BA71-6808676B3382}" type="pres">
      <dgm:prSet presAssocID="{3E3E2FD2-6DB9-4811-8965-1ADB43ABDC0D}" presName="sp" presStyleCnt="0"/>
      <dgm:spPr/>
    </dgm:pt>
    <dgm:pt modelId="{CEDBFA2F-9A53-4185-8C68-4FE1003BE6D9}" type="pres">
      <dgm:prSet presAssocID="{81F28A41-3CDE-4062-A507-679A1FB6725B}" presName="composite" presStyleCnt="0"/>
      <dgm:spPr/>
    </dgm:pt>
    <dgm:pt modelId="{16F7BE88-8E8A-4CFD-80F2-89CD3B9C1FAE}" type="pres">
      <dgm:prSet presAssocID="{81F28A41-3CDE-4062-A507-679A1FB6725B}" presName="parentText" presStyleLbl="alignNode1" presStyleIdx="4" presStyleCnt="8">
        <dgm:presLayoutVars>
          <dgm:chMax val="1"/>
          <dgm:bulletEnabled val="1"/>
        </dgm:presLayoutVars>
      </dgm:prSet>
      <dgm:spPr/>
    </dgm:pt>
    <dgm:pt modelId="{25B04A7F-920C-454F-BB75-FD6E48F42E45}" type="pres">
      <dgm:prSet presAssocID="{81F28A41-3CDE-4062-A507-679A1FB6725B}" presName="descendantText" presStyleLbl="alignAcc1" presStyleIdx="4" presStyleCnt="8">
        <dgm:presLayoutVars>
          <dgm:bulletEnabled val="1"/>
        </dgm:presLayoutVars>
      </dgm:prSet>
      <dgm:spPr/>
    </dgm:pt>
    <dgm:pt modelId="{52BD94F4-A76E-4983-80EC-D9D1D35FEEA6}" type="pres">
      <dgm:prSet presAssocID="{A6CC9332-D532-4E59-8AC8-C73B2F5376E9}" presName="sp" presStyleCnt="0"/>
      <dgm:spPr/>
    </dgm:pt>
    <dgm:pt modelId="{2D2B9DC0-9033-4DB1-8746-8FF8389249F2}" type="pres">
      <dgm:prSet presAssocID="{9607B169-CB53-47C6-9527-3AA339A238B6}" presName="composite" presStyleCnt="0"/>
      <dgm:spPr/>
    </dgm:pt>
    <dgm:pt modelId="{9ECE4B3C-795A-44AB-A03E-F317E85195DB}" type="pres">
      <dgm:prSet presAssocID="{9607B169-CB53-47C6-9527-3AA339A238B6}" presName="parentText" presStyleLbl="alignNode1" presStyleIdx="5" presStyleCnt="8">
        <dgm:presLayoutVars>
          <dgm:chMax val="1"/>
          <dgm:bulletEnabled val="1"/>
        </dgm:presLayoutVars>
      </dgm:prSet>
      <dgm:spPr/>
    </dgm:pt>
    <dgm:pt modelId="{A259482F-8C26-4D79-9730-8BFEE3D6A50F}" type="pres">
      <dgm:prSet presAssocID="{9607B169-CB53-47C6-9527-3AA339A238B6}" presName="descendantText" presStyleLbl="alignAcc1" presStyleIdx="5" presStyleCnt="8">
        <dgm:presLayoutVars>
          <dgm:bulletEnabled val="1"/>
        </dgm:presLayoutVars>
      </dgm:prSet>
      <dgm:spPr/>
    </dgm:pt>
    <dgm:pt modelId="{3EDE7057-6840-44B2-9F46-9FEFE84E1AD9}" type="pres">
      <dgm:prSet presAssocID="{7A4C7762-8EF2-40C3-BA75-4077FE22A019}" presName="sp" presStyleCnt="0"/>
      <dgm:spPr/>
    </dgm:pt>
    <dgm:pt modelId="{57A98274-DB50-4D20-9990-6F73BAF18462}" type="pres">
      <dgm:prSet presAssocID="{B0424092-95C1-4909-AFD3-21BCFC8A6125}" presName="composite" presStyleCnt="0"/>
      <dgm:spPr/>
    </dgm:pt>
    <dgm:pt modelId="{78CD9323-2AFA-4CDA-ABF1-290278A751EE}" type="pres">
      <dgm:prSet presAssocID="{B0424092-95C1-4909-AFD3-21BCFC8A6125}" presName="parentText" presStyleLbl="alignNode1" presStyleIdx="6" presStyleCnt="8">
        <dgm:presLayoutVars>
          <dgm:chMax val="1"/>
          <dgm:bulletEnabled val="1"/>
        </dgm:presLayoutVars>
      </dgm:prSet>
      <dgm:spPr/>
    </dgm:pt>
    <dgm:pt modelId="{1E00D41F-ECEC-4617-81C5-61F6D0BFC399}" type="pres">
      <dgm:prSet presAssocID="{B0424092-95C1-4909-AFD3-21BCFC8A6125}" presName="descendantText" presStyleLbl="alignAcc1" presStyleIdx="6" presStyleCnt="8">
        <dgm:presLayoutVars>
          <dgm:bulletEnabled val="1"/>
        </dgm:presLayoutVars>
      </dgm:prSet>
      <dgm:spPr/>
    </dgm:pt>
    <dgm:pt modelId="{9C08E457-82AF-4230-8DFD-D67040D8E7B1}" type="pres">
      <dgm:prSet presAssocID="{115B7757-D1CB-4E06-A9DC-9346FC59D52E}" presName="sp" presStyleCnt="0"/>
      <dgm:spPr/>
    </dgm:pt>
    <dgm:pt modelId="{EB1AA62D-92BF-4B2F-B149-B54E8445D791}" type="pres">
      <dgm:prSet presAssocID="{B7E90A1F-D106-4AD8-B113-14D3D092EA5F}" presName="composite" presStyleCnt="0"/>
      <dgm:spPr/>
    </dgm:pt>
    <dgm:pt modelId="{2482E046-E71E-49D8-8096-12C3DB13CD23}" type="pres">
      <dgm:prSet presAssocID="{B7E90A1F-D106-4AD8-B113-14D3D092EA5F}" presName="parentText" presStyleLbl="alignNode1" presStyleIdx="7" presStyleCnt="8">
        <dgm:presLayoutVars>
          <dgm:chMax val="1"/>
          <dgm:bulletEnabled val="1"/>
        </dgm:presLayoutVars>
      </dgm:prSet>
      <dgm:spPr/>
    </dgm:pt>
    <dgm:pt modelId="{BF1D22C6-0319-47F4-84E2-81E81E1614B8}" type="pres">
      <dgm:prSet presAssocID="{B7E90A1F-D106-4AD8-B113-14D3D092EA5F}" presName="descendantText" presStyleLbl="alignAcc1" presStyleIdx="7" presStyleCnt="8">
        <dgm:presLayoutVars>
          <dgm:bulletEnabled val="1"/>
        </dgm:presLayoutVars>
      </dgm:prSet>
      <dgm:spPr/>
    </dgm:pt>
  </dgm:ptLst>
  <dgm:cxnLst>
    <dgm:cxn modelId="{DCBE6402-18C6-45A5-9734-CE9337B10824}" type="presOf" srcId="{4418A05F-8845-4971-81B2-555DCEFEC916}" destId="{F05F49B7-E57A-4430-8446-DFC1C1F638EA}" srcOrd="0" destOrd="1" presId="urn:microsoft.com/office/officeart/2005/8/layout/chevron2"/>
    <dgm:cxn modelId="{1BEBA603-8B7C-43F9-A329-1DC27EF759C2}" srcId="{B5F91042-3D4C-40B5-A59D-37D347FAF613}" destId="{6BF78014-5564-4F58-8D02-EED6BA78D9D1}" srcOrd="0" destOrd="0" parTransId="{4F8350E0-3D4E-485C-BDC4-45A2576F7E9F}" sibTransId="{B21914F1-0861-4610-95E2-985746DF7A0C}"/>
    <dgm:cxn modelId="{5DD50709-F99E-466E-89D0-21EE18DF1B47}" srcId="{B7E90A1F-D106-4AD8-B113-14D3D092EA5F}" destId="{AC08DD9C-186B-471F-97D3-22B7938C4FDA}" srcOrd="1" destOrd="0" parTransId="{A428354A-B771-42A0-BE73-3054C1767FF2}" sibTransId="{1F962EC0-35D0-4A7D-BF25-0CAFBF3D80E5}"/>
    <dgm:cxn modelId="{13D7F10A-5153-4B84-B2E1-F7A35690A8BF}" type="presOf" srcId="{08BF887D-4E4A-497E-A69B-D5C1B0980EC2}" destId="{1E631251-D50F-4103-BFBF-990C9568DF11}" srcOrd="0" destOrd="0" presId="urn:microsoft.com/office/officeart/2005/8/layout/chevron2"/>
    <dgm:cxn modelId="{818C270C-F180-4E5B-882C-01AF51A91B44}" srcId="{B0424092-95C1-4909-AFD3-21BCFC8A6125}" destId="{37876190-2E47-4992-8769-8DFC95DC71C3}" srcOrd="1" destOrd="0" parTransId="{85BFB3F3-AB73-4A4D-92CC-CA9C1E9B1428}" sibTransId="{AF4E0022-D71F-4441-A844-2197B400498A}"/>
    <dgm:cxn modelId="{3102010D-BD9B-476A-934F-D89FABE5BD58}" srcId="{375F7198-1050-4880-B9ED-60FFBFF40057}" destId="{0493E1E7-2C11-4F56-929F-3B8CC3C67E5B}" srcOrd="1" destOrd="0" parTransId="{98B225A0-1E5C-4F99-9523-3CCAE892809F}" sibTransId="{45D0FDDC-BDD0-49F4-888E-A50FEBC067AE}"/>
    <dgm:cxn modelId="{1C0CE116-F45C-4466-B03D-AF38061AB594}" type="presOf" srcId="{2EDD85D7-466B-407A-9B53-F65B6C37E343}" destId="{A259482F-8C26-4D79-9730-8BFEE3D6A50F}" srcOrd="0" destOrd="0" presId="urn:microsoft.com/office/officeart/2005/8/layout/chevron2"/>
    <dgm:cxn modelId="{0A28101B-4E6C-4EDA-9F2E-0F1CD442D4F2}" srcId="{81F28A41-3CDE-4062-A507-679A1FB6725B}" destId="{9A6B563A-45F3-42DA-A136-5A5DFDD24D8D}" srcOrd="1" destOrd="0" parTransId="{806609BC-E7DA-4640-9F8D-DAA7BC027258}" sibTransId="{E4C635E7-ED51-4ADE-A9E7-AEC54C1F6FAC}"/>
    <dgm:cxn modelId="{B5155124-200D-4935-A0C7-B294E1A8B488}" type="presOf" srcId="{C7BD7521-4E7B-41E8-833F-3C41348F2702}" destId="{BF1D22C6-0319-47F4-84E2-81E81E1614B8}" srcOrd="0" destOrd="0" presId="urn:microsoft.com/office/officeart/2005/8/layout/chevron2"/>
    <dgm:cxn modelId="{872F4726-2B2A-4ED7-B6B3-54E7BF7C8192}" type="presOf" srcId="{0493E1E7-2C11-4F56-929F-3B8CC3C67E5B}" destId="{209C89DD-2555-4ACD-B62E-C40608D078AF}" srcOrd="0" destOrd="1" presId="urn:microsoft.com/office/officeart/2005/8/layout/chevron2"/>
    <dgm:cxn modelId="{E29D7E26-D59B-4B51-8038-D5F6EFFD5DF1}" type="presOf" srcId="{9607B169-CB53-47C6-9527-3AA339A238B6}" destId="{9ECE4B3C-795A-44AB-A03E-F317E85195DB}" srcOrd="0" destOrd="0" presId="urn:microsoft.com/office/officeart/2005/8/layout/chevron2"/>
    <dgm:cxn modelId="{AE211433-B65A-4B7E-84A4-33A3204794B9}" srcId="{A497AAF4-4166-44F3-B41D-7ADF125095AC}" destId="{2582BC46-E232-481A-9C06-FAFE940F83BB}" srcOrd="0" destOrd="0" parTransId="{968288CC-8935-4A0A-BA6E-4B70FA7E8AD6}" sibTransId="{5604CB5C-22D8-43F3-AA78-52C2BC39FAE4}"/>
    <dgm:cxn modelId="{D3930A34-89E9-445D-BC88-4A7BD2BEE1BD}" type="presOf" srcId="{AC08DD9C-186B-471F-97D3-22B7938C4FDA}" destId="{BF1D22C6-0319-47F4-84E2-81E81E1614B8}" srcOrd="0" destOrd="1" presId="urn:microsoft.com/office/officeart/2005/8/layout/chevron2"/>
    <dgm:cxn modelId="{D2D64C36-CA47-4310-8D1C-CF03D55DA9A7}" type="presOf" srcId="{A497AAF4-4166-44F3-B41D-7ADF125095AC}" destId="{20FCF45B-FD2D-4245-AC5E-28807BE00CBF}" srcOrd="0" destOrd="0" presId="urn:microsoft.com/office/officeart/2005/8/layout/chevron2"/>
    <dgm:cxn modelId="{7DE75A3C-CF52-4083-950C-F3302C7675A4}" type="presOf" srcId="{9A020123-72C0-4A25-B6B0-B26D8E2A3835}" destId="{A259482F-8C26-4D79-9730-8BFEE3D6A50F}" srcOrd="0" destOrd="1" presId="urn:microsoft.com/office/officeart/2005/8/layout/chevron2"/>
    <dgm:cxn modelId="{7D94275B-DA36-4465-BB97-5094C25A3497}" type="presOf" srcId="{375F7198-1050-4880-B9ED-60FFBFF40057}" destId="{E7E0AF17-56E0-410F-9CE5-0C1A889F3C58}" srcOrd="0" destOrd="0" presId="urn:microsoft.com/office/officeart/2005/8/layout/chevron2"/>
    <dgm:cxn modelId="{1EBC4B42-BC43-4F22-B97E-9C1856F9340A}" type="presOf" srcId="{B5F91042-3D4C-40B5-A59D-37D347FAF613}" destId="{9AEABF67-0F5F-4110-AEBC-7EC940420F45}" srcOrd="0" destOrd="0" presId="urn:microsoft.com/office/officeart/2005/8/layout/chevron2"/>
    <dgm:cxn modelId="{E6D95844-169D-4EFD-998B-CD2E6F89467D}" srcId="{A497AAF4-4166-44F3-B41D-7ADF125095AC}" destId="{B0424092-95C1-4909-AFD3-21BCFC8A6125}" srcOrd="6" destOrd="0" parTransId="{0F1593BA-9C3B-4BDF-A552-F91C021DCA0A}" sibTransId="{115B7757-D1CB-4E06-A9DC-9346FC59D52E}"/>
    <dgm:cxn modelId="{4D859967-BD2B-46B4-9F29-FB5EFB57F662}" type="presOf" srcId="{6BF78014-5564-4F58-8D02-EED6BA78D9D1}" destId="{E638C40D-F786-40C7-81A9-EFB374C2939C}" srcOrd="0" destOrd="0" presId="urn:microsoft.com/office/officeart/2005/8/layout/chevron2"/>
    <dgm:cxn modelId="{71E2EA67-A290-4E66-AB78-F6FC43EF6324}" srcId="{B7E90A1F-D106-4AD8-B113-14D3D092EA5F}" destId="{C7BD7521-4E7B-41E8-833F-3C41348F2702}" srcOrd="0" destOrd="0" parTransId="{8E432EA0-99E0-449F-9CFD-7892B82053D6}" sibTransId="{312AB1F5-8700-4ED2-9044-EC07E952C9EA}"/>
    <dgm:cxn modelId="{51EFC668-5977-4942-A8CF-FB3F5585773B}" type="presOf" srcId="{76F97C03-08B4-49C4-8B06-12C8E94081CB}" destId="{F05F49B7-E57A-4430-8446-DFC1C1F638EA}" srcOrd="0" destOrd="0" presId="urn:microsoft.com/office/officeart/2005/8/layout/chevron2"/>
    <dgm:cxn modelId="{84A7264C-3779-4878-943E-83C84F4E2509}" srcId="{81F28A41-3CDE-4062-A507-679A1FB6725B}" destId="{660A4060-3333-43F6-BC5E-E905E36D7558}" srcOrd="0" destOrd="0" parTransId="{32106AA9-1C2F-4B09-BB03-0B81BCB38834}" sibTransId="{D557D483-8912-40FB-9207-BB2B84D796EB}"/>
    <dgm:cxn modelId="{3A672070-EFDE-45B9-B0A1-126767FF209A}" srcId="{2582BC46-E232-481A-9C06-FAFE940F83BB}" destId="{4418A05F-8845-4971-81B2-555DCEFEC916}" srcOrd="1" destOrd="0" parTransId="{3A45CF0A-9714-4643-89FF-CAE003F6C5CD}" sibTransId="{E85CBD41-9A1A-4DBE-93C1-EFAB7A4CABE3}"/>
    <dgm:cxn modelId="{36004170-280A-4163-BB8A-03B33DD00930}" srcId="{A497AAF4-4166-44F3-B41D-7ADF125095AC}" destId="{81F28A41-3CDE-4062-A507-679A1FB6725B}" srcOrd="4" destOrd="0" parTransId="{34E8A72B-1FA3-4682-BFDD-E49E171BB337}" sibTransId="{A6CC9332-D532-4E59-8AC8-C73B2F5376E9}"/>
    <dgm:cxn modelId="{2F40C074-B3F1-4D1B-985B-87B3B1DA8598}" srcId="{08BF887D-4E4A-497E-A69B-D5C1B0980EC2}" destId="{10DB8F95-506B-4B58-ABDE-07B6CE8E6251}" srcOrd="1" destOrd="0" parTransId="{970D5377-BE29-40B6-B359-45B41A618CCA}" sibTransId="{5816503D-1A72-4825-9214-ECE1D002201E}"/>
    <dgm:cxn modelId="{9F9C9E78-0454-4143-91E8-8B2C86A87B6D}" srcId="{2582BC46-E232-481A-9C06-FAFE940F83BB}" destId="{76F97C03-08B4-49C4-8B06-12C8E94081CB}" srcOrd="0" destOrd="0" parTransId="{60E169D8-B51E-42DF-B77E-D6245AE7CA8A}" sibTransId="{133AFC37-175C-4F10-94F6-42B0287E34BC}"/>
    <dgm:cxn modelId="{5FDAE67A-B868-47DA-A9FF-A2C93D42AA6E}" srcId="{A497AAF4-4166-44F3-B41D-7ADF125095AC}" destId="{B5F91042-3D4C-40B5-A59D-37D347FAF613}" srcOrd="3" destOrd="0" parTransId="{A0FFC2BB-C4E5-40CA-8AEA-13D296EB04A5}" sibTransId="{3E3E2FD2-6DB9-4811-8965-1ADB43ABDC0D}"/>
    <dgm:cxn modelId="{AB4E1385-1F7F-4981-974E-D516124FE16B}" type="presOf" srcId="{04EAA028-CA75-441D-9AC3-0A127377751A}" destId="{209C89DD-2555-4ACD-B62E-C40608D078AF}" srcOrd="0" destOrd="0" presId="urn:microsoft.com/office/officeart/2005/8/layout/chevron2"/>
    <dgm:cxn modelId="{18BD918A-4127-4684-BF20-97EE62EE19AB}" type="presOf" srcId="{37876190-2E47-4992-8769-8DFC95DC71C3}" destId="{1E00D41F-ECEC-4617-81C5-61F6D0BFC399}" srcOrd="0" destOrd="1" presId="urn:microsoft.com/office/officeart/2005/8/layout/chevron2"/>
    <dgm:cxn modelId="{B83FBE8F-89C4-4D1C-BB78-A99DDEA6F49C}" type="presOf" srcId="{B7E90A1F-D106-4AD8-B113-14D3D092EA5F}" destId="{2482E046-E71E-49D8-8096-12C3DB13CD23}" srcOrd="0" destOrd="0" presId="urn:microsoft.com/office/officeart/2005/8/layout/chevron2"/>
    <dgm:cxn modelId="{638B4294-D295-4F1C-A4C6-7ABD9F09555B}" type="presOf" srcId="{81F28A41-3CDE-4062-A507-679A1FB6725B}" destId="{16F7BE88-8E8A-4CFD-80F2-89CD3B9C1FAE}" srcOrd="0" destOrd="0" presId="urn:microsoft.com/office/officeart/2005/8/layout/chevron2"/>
    <dgm:cxn modelId="{B5C26C9B-3E8E-435C-9781-827A892E01B9}" srcId="{9607B169-CB53-47C6-9527-3AA339A238B6}" destId="{9A020123-72C0-4A25-B6B0-B26D8E2A3835}" srcOrd="1" destOrd="0" parTransId="{C844239E-E994-406A-AC04-9DD5E69A7FFF}" sibTransId="{16177E7A-147C-454F-B8E3-763E33B2F547}"/>
    <dgm:cxn modelId="{0D16009E-7F57-45D8-B703-B132607BE687}" type="presOf" srcId="{10DB8F95-506B-4B58-ABDE-07B6CE8E6251}" destId="{84D39791-37A5-4786-8C16-C3F8789281C3}" srcOrd="0" destOrd="1" presId="urn:microsoft.com/office/officeart/2005/8/layout/chevron2"/>
    <dgm:cxn modelId="{CA791FA1-7E16-4BF3-A9CF-9E5F32F7CBBB}" type="presOf" srcId="{65BBF56F-CBDD-427F-9FC5-A6ECD6B999BA}" destId="{E638C40D-F786-40C7-81A9-EFB374C2939C}" srcOrd="0" destOrd="1" presId="urn:microsoft.com/office/officeart/2005/8/layout/chevron2"/>
    <dgm:cxn modelId="{482783A6-5C81-4F5B-A7A7-12AB7F72EE8C}" type="presOf" srcId="{6CB8935C-ADB4-4FF1-9B69-9A9CB4160AC4}" destId="{1E00D41F-ECEC-4617-81C5-61F6D0BFC399}" srcOrd="0" destOrd="0" presId="urn:microsoft.com/office/officeart/2005/8/layout/chevron2"/>
    <dgm:cxn modelId="{BBD23DA8-3835-4DA3-9CAB-5B28F9518FA1}" type="presOf" srcId="{845ACA10-77CD-455C-A5A0-A46BDA813DCF}" destId="{84D39791-37A5-4786-8C16-C3F8789281C3}" srcOrd="0" destOrd="0" presId="urn:microsoft.com/office/officeart/2005/8/layout/chevron2"/>
    <dgm:cxn modelId="{67FBF3AA-9A4E-48C1-81F6-08AD2DE76BF7}" srcId="{B5F91042-3D4C-40B5-A59D-37D347FAF613}" destId="{65BBF56F-CBDD-427F-9FC5-A6ECD6B999BA}" srcOrd="1" destOrd="0" parTransId="{03EB6E6F-0BD6-469A-9633-4FDAE9E522A5}" sibTransId="{C216FA31-672F-46C4-8BFE-979417FE4617}"/>
    <dgm:cxn modelId="{A8592DBB-9124-4DED-A7B7-A086AB7A7EF3}" type="presOf" srcId="{9A6B563A-45F3-42DA-A136-5A5DFDD24D8D}" destId="{25B04A7F-920C-454F-BB75-FD6E48F42E45}" srcOrd="0" destOrd="1" presId="urn:microsoft.com/office/officeart/2005/8/layout/chevron2"/>
    <dgm:cxn modelId="{F822C9C3-482F-45A2-B1B4-E9C15368DC01}" srcId="{A497AAF4-4166-44F3-B41D-7ADF125095AC}" destId="{375F7198-1050-4880-B9ED-60FFBFF40057}" srcOrd="2" destOrd="0" parTransId="{EAD3F313-425F-4728-8142-F19678097E9F}" sibTransId="{406BFB44-E643-4C9A-BCE5-57CDF290F933}"/>
    <dgm:cxn modelId="{4C393BC5-74A3-45C9-8487-B451C90E21FF}" srcId="{08BF887D-4E4A-497E-A69B-D5C1B0980EC2}" destId="{845ACA10-77CD-455C-A5A0-A46BDA813DCF}" srcOrd="0" destOrd="0" parTransId="{AAA1BCE0-3534-407A-9016-FDCAF9F6637E}" sibTransId="{32C215D3-C479-49EC-BC0E-8881E7DDEC48}"/>
    <dgm:cxn modelId="{F2127DD7-7D26-4F6B-B89C-783F1F385BE0}" type="presOf" srcId="{B0424092-95C1-4909-AFD3-21BCFC8A6125}" destId="{78CD9323-2AFA-4CDA-ABF1-290278A751EE}" srcOrd="0" destOrd="0" presId="urn:microsoft.com/office/officeart/2005/8/layout/chevron2"/>
    <dgm:cxn modelId="{A2E5D9D7-5A33-48C9-A989-D42E74DB0566}" type="presOf" srcId="{660A4060-3333-43F6-BC5E-E905E36D7558}" destId="{25B04A7F-920C-454F-BB75-FD6E48F42E45}" srcOrd="0" destOrd="0" presId="urn:microsoft.com/office/officeart/2005/8/layout/chevron2"/>
    <dgm:cxn modelId="{062D29DB-D19D-4DED-9157-16A6B8668F44}" srcId="{B0424092-95C1-4909-AFD3-21BCFC8A6125}" destId="{6CB8935C-ADB4-4FF1-9B69-9A9CB4160AC4}" srcOrd="0" destOrd="0" parTransId="{4C4BDB76-4866-4A09-95F3-69CEC0190F36}" sibTransId="{BF162937-8350-4F68-BE88-F5F576C754B4}"/>
    <dgm:cxn modelId="{453846DC-F394-4390-A448-125C548A2E76}" srcId="{A497AAF4-4166-44F3-B41D-7ADF125095AC}" destId="{9607B169-CB53-47C6-9527-3AA339A238B6}" srcOrd="5" destOrd="0" parTransId="{7EFF9607-26AA-423B-86C6-656AEA27DF27}" sibTransId="{7A4C7762-8EF2-40C3-BA75-4077FE22A019}"/>
    <dgm:cxn modelId="{473A20DD-2ABF-400C-BE2D-00F2A3713056}" srcId="{A497AAF4-4166-44F3-B41D-7ADF125095AC}" destId="{B7E90A1F-D106-4AD8-B113-14D3D092EA5F}" srcOrd="7" destOrd="0" parTransId="{DB01BB9E-F6B1-4169-A661-E0F31675B617}" sibTransId="{10F99A2C-7E70-4EF1-981C-344D6B46FEF0}"/>
    <dgm:cxn modelId="{50BFE9F2-0C1F-46E3-94F2-37F140E02BF7}" srcId="{9607B169-CB53-47C6-9527-3AA339A238B6}" destId="{2EDD85D7-466B-407A-9B53-F65B6C37E343}" srcOrd="0" destOrd="0" parTransId="{0D1BAB44-086D-4918-915D-4DDA64649636}" sibTransId="{9DFE767E-D6DE-4C12-B5BC-F6BC7804D36B}"/>
    <dgm:cxn modelId="{071853F3-207D-4779-A4E4-00F0C6E6CB2C}" srcId="{375F7198-1050-4880-B9ED-60FFBFF40057}" destId="{04EAA028-CA75-441D-9AC3-0A127377751A}" srcOrd="0" destOrd="0" parTransId="{8E195479-2187-4686-8CE6-4542CB5B0A75}" sibTransId="{F70BB797-3591-46D5-A26A-9D84484ABD74}"/>
    <dgm:cxn modelId="{892CE4F3-E71F-4191-9C9F-E4F093E8E666}" srcId="{A497AAF4-4166-44F3-B41D-7ADF125095AC}" destId="{08BF887D-4E4A-497E-A69B-D5C1B0980EC2}" srcOrd="1" destOrd="0" parTransId="{DEE623BC-EC9B-4101-9022-388C1C18DDFC}" sibTransId="{BC7F0093-1191-488E-9211-CFFF45C4B3AC}"/>
    <dgm:cxn modelId="{FFAF93FB-D50F-41D3-A5BE-170F9F281463}" type="presOf" srcId="{2582BC46-E232-481A-9C06-FAFE940F83BB}" destId="{7EEAEA3C-198E-4428-91F5-5D40AC471D03}" srcOrd="0" destOrd="0" presId="urn:microsoft.com/office/officeart/2005/8/layout/chevron2"/>
    <dgm:cxn modelId="{51D927CC-49BA-47F1-990E-5998F35EEB03}" type="presParOf" srcId="{20FCF45B-FD2D-4245-AC5E-28807BE00CBF}" destId="{BDEFE608-7C6C-4FBD-BA4B-D68EA71E3677}" srcOrd="0" destOrd="0" presId="urn:microsoft.com/office/officeart/2005/8/layout/chevron2"/>
    <dgm:cxn modelId="{12DEA46C-07E1-4372-A837-F5407B304211}" type="presParOf" srcId="{BDEFE608-7C6C-4FBD-BA4B-D68EA71E3677}" destId="{7EEAEA3C-198E-4428-91F5-5D40AC471D03}" srcOrd="0" destOrd="0" presId="urn:microsoft.com/office/officeart/2005/8/layout/chevron2"/>
    <dgm:cxn modelId="{5930B324-D51E-4E9E-83C2-C4FF93874CF4}" type="presParOf" srcId="{BDEFE608-7C6C-4FBD-BA4B-D68EA71E3677}" destId="{F05F49B7-E57A-4430-8446-DFC1C1F638EA}" srcOrd="1" destOrd="0" presId="urn:microsoft.com/office/officeart/2005/8/layout/chevron2"/>
    <dgm:cxn modelId="{C4850FF5-D1FC-4E3E-846C-454BBED76420}" type="presParOf" srcId="{20FCF45B-FD2D-4245-AC5E-28807BE00CBF}" destId="{FDAA26FA-2F38-4C34-8837-5D578CEB621B}" srcOrd="1" destOrd="0" presId="urn:microsoft.com/office/officeart/2005/8/layout/chevron2"/>
    <dgm:cxn modelId="{3E83F4E6-3214-4C86-BCEB-EC63DBD197D3}" type="presParOf" srcId="{20FCF45B-FD2D-4245-AC5E-28807BE00CBF}" destId="{BF661CA9-1358-41AA-83EA-EBB25BC901D9}" srcOrd="2" destOrd="0" presId="urn:microsoft.com/office/officeart/2005/8/layout/chevron2"/>
    <dgm:cxn modelId="{FD49A833-DB57-4EEE-9399-10EAE18FF371}" type="presParOf" srcId="{BF661CA9-1358-41AA-83EA-EBB25BC901D9}" destId="{1E631251-D50F-4103-BFBF-990C9568DF11}" srcOrd="0" destOrd="0" presId="urn:microsoft.com/office/officeart/2005/8/layout/chevron2"/>
    <dgm:cxn modelId="{068F2E9D-62E8-4027-91DB-46CA2597F9C6}" type="presParOf" srcId="{BF661CA9-1358-41AA-83EA-EBB25BC901D9}" destId="{84D39791-37A5-4786-8C16-C3F8789281C3}" srcOrd="1" destOrd="0" presId="urn:microsoft.com/office/officeart/2005/8/layout/chevron2"/>
    <dgm:cxn modelId="{1ED15FD6-A24F-4928-BFC8-0AAF670D808F}" type="presParOf" srcId="{20FCF45B-FD2D-4245-AC5E-28807BE00CBF}" destId="{D4F0E12F-8F4F-484E-A59C-62B02BC895E1}" srcOrd="3" destOrd="0" presId="urn:microsoft.com/office/officeart/2005/8/layout/chevron2"/>
    <dgm:cxn modelId="{66209EA3-7D67-49E1-8822-58FB00611F08}" type="presParOf" srcId="{20FCF45B-FD2D-4245-AC5E-28807BE00CBF}" destId="{26B34F77-E883-4215-897A-87EB0CB9D032}" srcOrd="4" destOrd="0" presId="urn:microsoft.com/office/officeart/2005/8/layout/chevron2"/>
    <dgm:cxn modelId="{04197162-20AD-435C-986B-D5D3625876AC}" type="presParOf" srcId="{26B34F77-E883-4215-897A-87EB0CB9D032}" destId="{E7E0AF17-56E0-410F-9CE5-0C1A889F3C58}" srcOrd="0" destOrd="0" presId="urn:microsoft.com/office/officeart/2005/8/layout/chevron2"/>
    <dgm:cxn modelId="{F1873962-70AA-4619-A484-EAA17B6050C0}" type="presParOf" srcId="{26B34F77-E883-4215-897A-87EB0CB9D032}" destId="{209C89DD-2555-4ACD-B62E-C40608D078AF}" srcOrd="1" destOrd="0" presId="urn:microsoft.com/office/officeart/2005/8/layout/chevron2"/>
    <dgm:cxn modelId="{EF799CC1-0F14-440E-9FF5-A28EFB8F585A}" type="presParOf" srcId="{20FCF45B-FD2D-4245-AC5E-28807BE00CBF}" destId="{4F1E35CF-4133-44FB-9FF6-2D00E3F7D646}" srcOrd="5" destOrd="0" presId="urn:microsoft.com/office/officeart/2005/8/layout/chevron2"/>
    <dgm:cxn modelId="{BF5ABDF4-0E16-4413-AFA5-28CD37946EC2}" type="presParOf" srcId="{20FCF45B-FD2D-4245-AC5E-28807BE00CBF}" destId="{37F3C621-476D-4DC1-BEDC-40F6B982196B}" srcOrd="6" destOrd="0" presId="urn:microsoft.com/office/officeart/2005/8/layout/chevron2"/>
    <dgm:cxn modelId="{998AFD77-5957-42F7-B006-230AB578667D}" type="presParOf" srcId="{37F3C621-476D-4DC1-BEDC-40F6B982196B}" destId="{9AEABF67-0F5F-4110-AEBC-7EC940420F45}" srcOrd="0" destOrd="0" presId="urn:microsoft.com/office/officeart/2005/8/layout/chevron2"/>
    <dgm:cxn modelId="{866FA3FD-543B-4085-9AAB-1FB5687CDED5}" type="presParOf" srcId="{37F3C621-476D-4DC1-BEDC-40F6B982196B}" destId="{E638C40D-F786-40C7-81A9-EFB374C2939C}" srcOrd="1" destOrd="0" presId="urn:microsoft.com/office/officeart/2005/8/layout/chevron2"/>
    <dgm:cxn modelId="{50C8D347-CAA5-4C56-9C2B-A019D93E80A0}" type="presParOf" srcId="{20FCF45B-FD2D-4245-AC5E-28807BE00CBF}" destId="{624A2994-783A-4726-BA71-6808676B3382}" srcOrd="7" destOrd="0" presId="urn:microsoft.com/office/officeart/2005/8/layout/chevron2"/>
    <dgm:cxn modelId="{7C1121EE-2995-4D48-A434-638494349B0C}" type="presParOf" srcId="{20FCF45B-FD2D-4245-AC5E-28807BE00CBF}" destId="{CEDBFA2F-9A53-4185-8C68-4FE1003BE6D9}" srcOrd="8" destOrd="0" presId="urn:microsoft.com/office/officeart/2005/8/layout/chevron2"/>
    <dgm:cxn modelId="{DB389A79-A1ED-4BCB-BB59-87C5BCE0CFBE}" type="presParOf" srcId="{CEDBFA2F-9A53-4185-8C68-4FE1003BE6D9}" destId="{16F7BE88-8E8A-4CFD-80F2-89CD3B9C1FAE}" srcOrd="0" destOrd="0" presId="urn:microsoft.com/office/officeart/2005/8/layout/chevron2"/>
    <dgm:cxn modelId="{62292164-97C8-4476-895F-BD3A7D7836A9}" type="presParOf" srcId="{CEDBFA2F-9A53-4185-8C68-4FE1003BE6D9}" destId="{25B04A7F-920C-454F-BB75-FD6E48F42E45}" srcOrd="1" destOrd="0" presId="urn:microsoft.com/office/officeart/2005/8/layout/chevron2"/>
    <dgm:cxn modelId="{155337C9-F6D6-4714-B0ED-05F05BFBF897}" type="presParOf" srcId="{20FCF45B-FD2D-4245-AC5E-28807BE00CBF}" destId="{52BD94F4-A76E-4983-80EC-D9D1D35FEEA6}" srcOrd="9" destOrd="0" presId="urn:microsoft.com/office/officeart/2005/8/layout/chevron2"/>
    <dgm:cxn modelId="{820A94F6-07FF-4B20-A873-93965A2B4CF6}" type="presParOf" srcId="{20FCF45B-FD2D-4245-AC5E-28807BE00CBF}" destId="{2D2B9DC0-9033-4DB1-8746-8FF8389249F2}" srcOrd="10" destOrd="0" presId="urn:microsoft.com/office/officeart/2005/8/layout/chevron2"/>
    <dgm:cxn modelId="{7A4292D5-27AE-469B-BD5E-77B004AD7F4B}" type="presParOf" srcId="{2D2B9DC0-9033-4DB1-8746-8FF8389249F2}" destId="{9ECE4B3C-795A-44AB-A03E-F317E85195DB}" srcOrd="0" destOrd="0" presId="urn:microsoft.com/office/officeart/2005/8/layout/chevron2"/>
    <dgm:cxn modelId="{B24FE550-9C1E-46B5-8B33-6610A4691700}" type="presParOf" srcId="{2D2B9DC0-9033-4DB1-8746-8FF8389249F2}" destId="{A259482F-8C26-4D79-9730-8BFEE3D6A50F}" srcOrd="1" destOrd="0" presId="urn:microsoft.com/office/officeart/2005/8/layout/chevron2"/>
    <dgm:cxn modelId="{D53B67CB-39DC-4428-A4E8-9B0AF06F4B6A}" type="presParOf" srcId="{20FCF45B-FD2D-4245-AC5E-28807BE00CBF}" destId="{3EDE7057-6840-44B2-9F46-9FEFE84E1AD9}" srcOrd="11" destOrd="0" presId="urn:microsoft.com/office/officeart/2005/8/layout/chevron2"/>
    <dgm:cxn modelId="{9D0A6A71-0EAD-45E2-A46C-A5A994F429E8}" type="presParOf" srcId="{20FCF45B-FD2D-4245-AC5E-28807BE00CBF}" destId="{57A98274-DB50-4D20-9990-6F73BAF18462}" srcOrd="12" destOrd="0" presId="urn:microsoft.com/office/officeart/2005/8/layout/chevron2"/>
    <dgm:cxn modelId="{D13B3EBD-D7C3-4F75-95AC-E536A133FD1C}" type="presParOf" srcId="{57A98274-DB50-4D20-9990-6F73BAF18462}" destId="{78CD9323-2AFA-4CDA-ABF1-290278A751EE}" srcOrd="0" destOrd="0" presId="urn:microsoft.com/office/officeart/2005/8/layout/chevron2"/>
    <dgm:cxn modelId="{196BB19B-26D9-4CEB-AFF6-3B384A0275E7}" type="presParOf" srcId="{57A98274-DB50-4D20-9990-6F73BAF18462}" destId="{1E00D41F-ECEC-4617-81C5-61F6D0BFC399}" srcOrd="1" destOrd="0" presId="urn:microsoft.com/office/officeart/2005/8/layout/chevron2"/>
    <dgm:cxn modelId="{8116710B-8BAC-4603-B585-EEEC89BE520C}" type="presParOf" srcId="{20FCF45B-FD2D-4245-AC5E-28807BE00CBF}" destId="{9C08E457-82AF-4230-8DFD-D67040D8E7B1}" srcOrd="13" destOrd="0" presId="urn:microsoft.com/office/officeart/2005/8/layout/chevron2"/>
    <dgm:cxn modelId="{5F72DF9F-742D-46B6-AD80-16B8ABCEB650}" type="presParOf" srcId="{20FCF45B-FD2D-4245-AC5E-28807BE00CBF}" destId="{EB1AA62D-92BF-4B2F-B149-B54E8445D791}" srcOrd="14" destOrd="0" presId="urn:microsoft.com/office/officeart/2005/8/layout/chevron2"/>
    <dgm:cxn modelId="{1DC6820D-E4EB-4E36-A5FE-37287044D0B9}" type="presParOf" srcId="{EB1AA62D-92BF-4B2F-B149-B54E8445D791}" destId="{2482E046-E71E-49D8-8096-12C3DB13CD23}" srcOrd="0" destOrd="0" presId="urn:microsoft.com/office/officeart/2005/8/layout/chevron2"/>
    <dgm:cxn modelId="{50F38FB3-E32E-4AD7-8A8D-85FF55800EDF}" type="presParOf" srcId="{EB1AA62D-92BF-4B2F-B149-B54E8445D791}" destId="{BF1D22C6-0319-47F4-84E2-81E81E1614B8}"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52100C8-DE46-4AA0-81C6-255B835B5DC9}" type="doc">
      <dgm:prSet loTypeId="urn:microsoft.com/office/officeart/2005/8/layout/process3" loCatId="process" qsTypeId="urn:microsoft.com/office/officeart/2005/8/quickstyle/simple5#5" qsCatId="simple" csTypeId="urn:microsoft.com/office/officeart/2005/8/colors/accent1_2#2" csCatId="accent1" phldr="1"/>
      <dgm:spPr/>
      <dgm:t>
        <a:bodyPr/>
        <a:lstStyle/>
        <a:p>
          <a:endParaRPr lang="en-US"/>
        </a:p>
      </dgm:t>
    </dgm:pt>
    <dgm:pt modelId="{D76E9974-C6F8-40F5-8DC1-9292E56590B2}">
      <dgm:prSet/>
      <dgm:spPr/>
      <dgm:t>
        <a:bodyPr/>
        <a:lstStyle/>
        <a:p>
          <a:r>
            <a:rPr lang="en-US" dirty="0">
              <a:latin typeface="Times New Roman" panose="02020603050405020304" pitchFamily="18" charset="0"/>
              <a:cs typeface="Times New Roman" panose="02020603050405020304" pitchFamily="18" charset="0"/>
            </a:rPr>
            <a:t>Asynchronous FIFO</a:t>
          </a:r>
        </a:p>
      </dgm:t>
    </dgm:pt>
    <dgm:pt modelId="{CA0DF663-6B29-432F-A07C-23788B8F895F}" type="parTrans" cxnId="{8723C2CC-92E4-4B68-BF54-AE5FE44EABDD}">
      <dgm:prSet/>
      <dgm:spPr/>
      <dgm:t>
        <a:bodyPr/>
        <a:lstStyle/>
        <a:p>
          <a:endParaRPr lang="en-US"/>
        </a:p>
      </dgm:t>
    </dgm:pt>
    <dgm:pt modelId="{FA208C1A-281A-4345-BC7A-2F9CE7969FB0}" type="sibTrans" cxnId="{8723C2CC-92E4-4B68-BF54-AE5FE44EABDD}">
      <dgm:prSet/>
      <dgm:spPr/>
      <dgm:t>
        <a:bodyPr/>
        <a:lstStyle/>
        <a:p>
          <a:endParaRPr lang="en-US"/>
        </a:p>
      </dgm:t>
    </dgm:pt>
    <dgm:pt modelId="{CF5EAFF3-8806-4657-8B01-6DD15DF7330C}">
      <dgm:prSet custT="1"/>
      <dgm:spPr/>
      <dgm:t>
        <a:bodyPr/>
        <a:lstStyle/>
        <a:p>
          <a:r>
            <a:rPr lang="en-US" sz="1200" dirty="0">
              <a:latin typeface="Times New Roman" panose="02020603050405020304" pitchFamily="18" charset="0"/>
              <a:cs typeface="Times New Roman" panose="02020603050405020304" pitchFamily="18" charset="0"/>
            </a:rPr>
            <a:t>Safe multi-bit data transfer between </a:t>
          </a:r>
          <a:r>
            <a:rPr lang="en-US" sz="1200" b="1" dirty="0">
              <a:latin typeface="Times New Roman" panose="02020603050405020304" pitchFamily="18" charset="0"/>
              <a:cs typeface="Times New Roman" panose="02020603050405020304" pitchFamily="18" charset="0"/>
            </a:rPr>
            <a:t>37 MHz CXS domain → 25 MHz System domain</a:t>
          </a:r>
          <a:r>
            <a:rPr lang="en-US" sz="1200" dirty="0">
              <a:latin typeface="Times New Roman" panose="02020603050405020304" pitchFamily="18" charset="0"/>
              <a:cs typeface="Times New Roman" panose="02020603050405020304" pitchFamily="18" charset="0"/>
            </a:rPr>
            <a:t>.</a:t>
          </a:r>
        </a:p>
      </dgm:t>
    </dgm:pt>
    <dgm:pt modelId="{7C434D0A-C1C6-42FA-8E38-741442CE01B5}" type="parTrans" cxnId="{C8BB076D-9F58-402B-A9B4-5C6323AE3EF3}">
      <dgm:prSet/>
      <dgm:spPr/>
      <dgm:t>
        <a:bodyPr/>
        <a:lstStyle/>
        <a:p>
          <a:endParaRPr lang="en-US"/>
        </a:p>
      </dgm:t>
    </dgm:pt>
    <dgm:pt modelId="{D8E53934-5D54-4FAC-9BF4-E2F15E79EA3B}" type="sibTrans" cxnId="{C8BB076D-9F58-402B-A9B4-5C6323AE3EF3}">
      <dgm:prSet/>
      <dgm:spPr/>
      <dgm:t>
        <a:bodyPr/>
        <a:lstStyle/>
        <a:p>
          <a:endParaRPr lang="en-US"/>
        </a:p>
      </dgm:t>
    </dgm:pt>
    <dgm:pt modelId="{8E5BE796-364C-4E68-9C33-5D4441F77362}">
      <dgm:prSet/>
      <dgm:spPr/>
      <dgm:t>
        <a:bodyPr/>
        <a:lstStyle/>
        <a:p>
          <a:r>
            <a:rPr lang="en-US" dirty="0">
              <a:latin typeface="Times New Roman" panose="02020603050405020304" pitchFamily="18" charset="0"/>
              <a:cs typeface="Times New Roman" panose="02020603050405020304" pitchFamily="18" charset="0"/>
            </a:rPr>
            <a:t>Data Synchronizer</a:t>
          </a:r>
        </a:p>
      </dgm:t>
    </dgm:pt>
    <dgm:pt modelId="{58AF6691-646C-4BF0-8DFF-A6DA90AB43D9}" type="parTrans" cxnId="{EBCA6866-E28E-4385-B7A5-D976106EFB63}">
      <dgm:prSet/>
      <dgm:spPr/>
      <dgm:t>
        <a:bodyPr/>
        <a:lstStyle/>
        <a:p>
          <a:endParaRPr lang="en-US"/>
        </a:p>
      </dgm:t>
    </dgm:pt>
    <dgm:pt modelId="{2E4D6E7F-982E-461D-9DA4-3803D974B061}" type="sibTrans" cxnId="{EBCA6866-E28E-4385-B7A5-D976106EFB63}">
      <dgm:prSet/>
      <dgm:spPr/>
      <dgm:t>
        <a:bodyPr/>
        <a:lstStyle/>
        <a:p>
          <a:endParaRPr lang="en-US"/>
        </a:p>
      </dgm:t>
    </dgm:pt>
    <dgm:pt modelId="{3D7B6D96-9DAC-4CCF-8286-FF49A63AE6F4}">
      <dgm:prSet custT="1"/>
      <dgm:spPr/>
      <dgm:t>
        <a:bodyPr/>
        <a:lstStyle/>
        <a:p>
          <a:pPr>
            <a:buSzPct val="100000"/>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Transfers status information from </a:t>
          </a:r>
          <a:r>
            <a:rPr lang="en-US" sz="1200" b="1" dirty="0">
              <a:latin typeface="Times New Roman" panose="02020603050405020304" pitchFamily="18" charset="0"/>
              <a:cs typeface="Times New Roman" panose="02020603050405020304" pitchFamily="18" charset="0"/>
            </a:rPr>
            <a:t>System domain → CXS domain</a:t>
          </a:r>
          <a:r>
            <a:rPr lang="en-US" sz="1200" dirty="0">
              <a:latin typeface="Times New Roman" panose="02020603050405020304" pitchFamily="18" charset="0"/>
              <a:cs typeface="Times New Roman" panose="02020603050405020304" pitchFamily="18" charset="0"/>
            </a:rPr>
            <a:t>.</a:t>
          </a:r>
        </a:p>
      </dgm:t>
    </dgm:pt>
    <dgm:pt modelId="{13274551-4495-43C2-8E13-E720094EC858}" type="parTrans" cxnId="{5FCDF906-BECF-45EB-8162-54CA183C4022}">
      <dgm:prSet/>
      <dgm:spPr/>
      <dgm:t>
        <a:bodyPr/>
        <a:lstStyle/>
        <a:p>
          <a:endParaRPr lang="en-US"/>
        </a:p>
      </dgm:t>
    </dgm:pt>
    <dgm:pt modelId="{478B2097-5ED7-460D-94F1-F06571788A07}" type="sibTrans" cxnId="{5FCDF906-BECF-45EB-8162-54CA183C4022}">
      <dgm:prSet/>
      <dgm:spPr/>
      <dgm:t>
        <a:bodyPr/>
        <a:lstStyle/>
        <a:p>
          <a:endParaRPr lang="en-US"/>
        </a:p>
      </dgm:t>
    </dgm:pt>
    <dgm:pt modelId="{8677E879-343E-4D4F-975F-0C3D080E6C94}">
      <dgm:prSet/>
      <dgm:spPr/>
      <dgm:t>
        <a:bodyPr/>
        <a:lstStyle/>
        <a:p>
          <a:r>
            <a:rPr lang="en-US" dirty="0">
              <a:latin typeface="Times New Roman" panose="02020603050405020304" pitchFamily="18" charset="0"/>
              <a:cs typeface="Times New Roman" panose="02020603050405020304" pitchFamily="18" charset="0"/>
            </a:rPr>
            <a:t>Reset Synchronizer</a:t>
          </a:r>
        </a:p>
      </dgm:t>
    </dgm:pt>
    <dgm:pt modelId="{DF6D0A11-4C38-4FB0-BC17-686B837DEDEA}" type="parTrans" cxnId="{ED2F1C0E-AEA3-4BC1-AD39-03FF2F4EB05F}">
      <dgm:prSet/>
      <dgm:spPr/>
      <dgm:t>
        <a:bodyPr/>
        <a:lstStyle/>
        <a:p>
          <a:endParaRPr lang="en-US"/>
        </a:p>
      </dgm:t>
    </dgm:pt>
    <dgm:pt modelId="{4F1BA0F3-38D0-4A29-B33F-6F91DDA76B22}" type="sibTrans" cxnId="{ED2F1C0E-AEA3-4BC1-AD39-03FF2F4EB05F}">
      <dgm:prSet/>
      <dgm:spPr/>
      <dgm:t>
        <a:bodyPr/>
        <a:lstStyle/>
        <a:p>
          <a:endParaRPr lang="en-US"/>
        </a:p>
      </dgm:t>
    </dgm:pt>
    <dgm:pt modelId="{AC7D8412-AE2E-4384-8580-87FE7DF75CF1}">
      <dgm:prSet custT="1"/>
      <dgm:spPr/>
      <dgm:t>
        <a:bodyPr/>
        <a:lstStyle/>
        <a:p>
          <a:pPr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Separate reset synchronization for each clock domain.</a:t>
          </a:r>
        </a:p>
      </dgm:t>
    </dgm:pt>
    <dgm:pt modelId="{1349681E-6588-44B9-A75D-20D5889A4B1B}" type="parTrans" cxnId="{F5E57ABA-6504-4FF4-B829-47BB87208846}">
      <dgm:prSet/>
      <dgm:spPr/>
      <dgm:t>
        <a:bodyPr/>
        <a:lstStyle/>
        <a:p>
          <a:endParaRPr lang="en-US"/>
        </a:p>
      </dgm:t>
    </dgm:pt>
    <dgm:pt modelId="{AA79805A-4B44-4047-918C-B206CF2A2C1D}" type="sibTrans" cxnId="{F5E57ABA-6504-4FF4-B829-47BB87208846}">
      <dgm:prSet/>
      <dgm:spPr/>
      <dgm:t>
        <a:bodyPr/>
        <a:lstStyle/>
        <a:p>
          <a:endParaRPr lang="en-US"/>
        </a:p>
      </dgm:t>
    </dgm:pt>
    <dgm:pt modelId="{0BE5F91B-41E3-4FFF-81A3-E39DB4537FDE}">
      <dgm:prSet custT="1"/>
      <dgm:spPr/>
      <dgm:t>
        <a:bodyPr/>
        <a:lstStyle/>
        <a:p>
          <a:pPr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Asynchronous reset assertion</a:t>
          </a:r>
        </a:p>
      </dgm:t>
    </dgm:pt>
    <dgm:pt modelId="{5E51E73B-3EFE-4201-B888-5D5FDF4B25E9}" type="parTrans" cxnId="{2540630B-6714-4AD9-8498-97A61BFB6C0C}">
      <dgm:prSet/>
      <dgm:spPr/>
      <dgm:t>
        <a:bodyPr/>
        <a:lstStyle/>
        <a:p>
          <a:endParaRPr lang="en-US"/>
        </a:p>
      </dgm:t>
    </dgm:pt>
    <dgm:pt modelId="{16222925-33BD-4DE7-BBD3-C4614A1AEC46}" type="sibTrans" cxnId="{2540630B-6714-4AD9-8498-97A61BFB6C0C}">
      <dgm:prSet/>
      <dgm:spPr/>
      <dgm:t>
        <a:bodyPr/>
        <a:lstStyle/>
        <a:p>
          <a:endParaRPr lang="en-US"/>
        </a:p>
      </dgm:t>
    </dgm:pt>
    <dgm:pt modelId="{50880755-5091-4AD2-A8D3-64EAB9152FF8}">
      <dgm:prSet custT="1"/>
      <dgm:spPr/>
      <dgm:t>
        <a:bodyPr/>
        <a:lstStyle/>
        <a:p>
          <a:r>
            <a:rPr lang="en-US" sz="1200" dirty="0">
              <a:latin typeface="Times New Roman" panose="02020603050405020304" pitchFamily="18" charset="0"/>
              <a:cs typeface="Times New Roman" panose="02020603050405020304" pitchFamily="18" charset="0"/>
            </a:rPr>
            <a:t>Rate matching and buffering</a:t>
          </a:r>
        </a:p>
      </dgm:t>
    </dgm:pt>
    <dgm:pt modelId="{23755F8D-E2F3-48D0-B86C-88A94028440B}" type="sibTrans" cxnId="{4C4C19F2-180A-4E90-91F8-A45A2CD2D889}">
      <dgm:prSet/>
      <dgm:spPr/>
      <dgm:t>
        <a:bodyPr/>
        <a:lstStyle/>
        <a:p>
          <a:endParaRPr lang="en-US"/>
        </a:p>
      </dgm:t>
    </dgm:pt>
    <dgm:pt modelId="{CCAFF2C8-3C01-4FFC-B7B8-5646CE37D1B2}" type="parTrans" cxnId="{4C4C19F2-180A-4E90-91F8-A45A2CD2D889}">
      <dgm:prSet/>
      <dgm:spPr/>
      <dgm:t>
        <a:bodyPr/>
        <a:lstStyle/>
        <a:p>
          <a:endParaRPr lang="en-US"/>
        </a:p>
      </dgm:t>
    </dgm:pt>
    <dgm:pt modelId="{3A2A51C6-4610-4C41-99E6-8E617126F043}">
      <dgm:prSet custT="1"/>
      <dgm:spPr/>
      <dgm:t>
        <a:bodyPr/>
        <a:lstStyle/>
        <a:p>
          <a:r>
            <a:rPr lang="en-US" sz="1200" dirty="0">
              <a:latin typeface="Times New Roman" panose="02020603050405020304" pitchFamily="18" charset="0"/>
              <a:cs typeface="Times New Roman" panose="02020603050405020304" pitchFamily="18" charset="0"/>
            </a:rPr>
            <a:t>Full/Empty status generation</a:t>
          </a:r>
        </a:p>
      </dgm:t>
    </dgm:pt>
    <dgm:pt modelId="{C69837C6-5D59-4F51-BF55-C9168BEC3F02}" type="sibTrans" cxnId="{1A6278E7-EEAE-49AA-85CE-F4A3F1961D4F}">
      <dgm:prSet/>
      <dgm:spPr/>
      <dgm:t>
        <a:bodyPr/>
        <a:lstStyle/>
        <a:p>
          <a:endParaRPr lang="en-US"/>
        </a:p>
      </dgm:t>
    </dgm:pt>
    <dgm:pt modelId="{5478249C-3F98-4411-9716-8B15D0A45A0D}" type="parTrans" cxnId="{1A6278E7-EEAE-49AA-85CE-F4A3F1961D4F}">
      <dgm:prSet/>
      <dgm:spPr/>
      <dgm:t>
        <a:bodyPr/>
        <a:lstStyle/>
        <a:p>
          <a:endParaRPr lang="en-US"/>
        </a:p>
      </dgm:t>
    </dgm:pt>
    <dgm:pt modelId="{8E3C9265-EA39-413D-BDA3-94BF5AB184DE}">
      <dgm:prSet custT="1"/>
      <dgm:spPr/>
      <dgm:t>
        <a:bodyPr/>
        <a:lstStyle/>
        <a:p>
          <a:r>
            <a:rPr lang="en-US" sz="1200" dirty="0">
              <a:latin typeface="Times New Roman" panose="02020603050405020304" pitchFamily="18" charset="0"/>
              <a:cs typeface="Times New Roman" panose="02020603050405020304" pitchFamily="18" charset="0"/>
            </a:rPr>
            <a:t>Prevention of data loss between different clock rates</a:t>
          </a:r>
        </a:p>
      </dgm:t>
    </dgm:pt>
    <dgm:pt modelId="{89B84D0B-EB47-4F53-BBD7-5A5E8B90D483}" type="sibTrans" cxnId="{A3A04720-6117-4162-A750-D8F594E02719}">
      <dgm:prSet/>
      <dgm:spPr/>
      <dgm:t>
        <a:bodyPr/>
        <a:lstStyle/>
        <a:p>
          <a:endParaRPr lang="en-US"/>
        </a:p>
      </dgm:t>
    </dgm:pt>
    <dgm:pt modelId="{95ED1A9E-A3F6-4DA3-9373-8DC466F279B6}" type="parTrans" cxnId="{A3A04720-6117-4162-A750-D8F594E02719}">
      <dgm:prSet/>
      <dgm:spPr/>
      <dgm:t>
        <a:bodyPr/>
        <a:lstStyle/>
        <a:p>
          <a:endParaRPr lang="en-US"/>
        </a:p>
      </dgm:t>
    </dgm:pt>
    <dgm:pt modelId="{4D80C65D-06EE-44F7-93DC-881436859C63}">
      <dgm:prSet custT="1"/>
      <dgm:spPr/>
      <dgm:t>
        <a:bodyPr/>
        <a:lstStyle/>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Uses a configurable multi-stage flip-flop synchronizer.</a:t>
          </a:r>
        </a:p>
      </dgm:t>
    </dgm:pt>
    <dgm:pt modelId="{3DB4B65B-DBA6-4D9D-9BC2-6FB9EB7C06DD}" type="parTrans" cxnId="{8E3809BA-B37C-489B-99FF-59DB3D73B909}">
      <dgm:prSet/>
      <dgm:spPr/>
      <dgm:t>
        <a:bodyPr/>
        <a:lstStyle/>
        <a:p>
          <a:endParaRPr lang="en-US"/>
        </a:p>
      </dgm:t>
    </dgm:pt>
    <dgm:pt modelId="{147E6983-BC71-419C-A7E2-585FCF7DB94E}" type="sibTrans" cxnId="{8E3809BA-B37C-489B-99FF-59DB3D73B909}">
      <dgm:prSet/>
      <dgm:spPr/>
      <dgm:t>
        <a:bodyPr/>
        <a:lstStyle/>
        <a:p>
          <a:endParaRPr lang="en-US"/>
        </a:p>
      </dgm:t>
    </dgm:pt>
    <dgm:pt modelId="{879D7B82-FDDC-4430-B83E-163F6210733A}">
      <dgm:prSet custT="1"/>
      <dgm:spPr/>
      <dgm:t>
        <a:bodyPr/>
        <a:lstStyle/>
        <a:p>
          <a:pPr>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Synchronizes the enable/control signal.</a:t>
          </a:r>
        </a:p>
      </dgm:t>
    </dgm:pt>
    <dgm:pt modelId="{C9AE52EE-2877-49F9-9575-DF33EF87B9DA}" type="parTrans" cxnId="{4C149F5B-F835-46BA-A214-154311BD8B03}">
      <dgm:prSet/>
      <dgm:spPr/>
      <dgm:t>
        <a:bodyPr/>
        <a:lstStyle/>
        <a:p>
          <a:endParaRPr lang="en-US"/>
        </a:p>
      </dgm:t>
    </dgm:pt>
    <dgm:pt modelId="{766004B8-DE32-4533-9C41-58E7030BF68C}" type="sibTrans" cxnId="{4C149F5B-F835-46BA-A214-154311BD8B03}">
      <dgm:prSet/>
      <dgm:spPr/>
      <dgm:t>
        <a:bodyPr/>
        <a:lstStyle/>
        <a:p>
          <a:endParaRPr lang="en-US"/>
        </a:p>
      </dgm:t>
    </dgm:pt>
    <dgm:pt modelId="{3D4D0E94-A4D1-4A2C-94B7-02F400BB78D9}">
      <dgm:prSet custT="1"/>
      <dgm:spPr/>
      <dgm:t>
        <a:bodyPr/>
        <a:lstStyle/>
        <a:p>
          <a:pPr>
            <a:buFont typeface="Arial" panose="020B0604020202020204" pitchFamily="34" charset="0"/>
            <a:buChar char="•"/>
          </a:pPr>
          <a:endParaRPr lang="en-US" sz="1200" dirty="0">
            <a:latin typeface="Times New Roman" panose="02020603050405020304" pitchFamily="18" charset="0"/>
            <a:cs typeface="Times New Roman" panose="02020603050405020304" pitchFamily="18" charset="0"/>
          </a:endParaRPr>
        </a:p>
      </dgm:t>
    </dgm:pt>
    <dgm:pt modelId="{35248FBC-367C-4079-A23B-D466AE56EE42}" type="parTrans" cxnId="{91986C9B-BF32-4947-BFE0-0C3011E7BA12}">
      <dgm:prSet/>
      <dgm:spPr/>
      <dgm:t>
        <a:bodyPr/>
        <a:lstStyle/>
        <a:p>
          <a:endParaRPr lang="en-US"/>
        </a:p>
      </dgm:t>
    </dgm:pt>
    <dgm:pt modelId="{B8A48EA5-37D7-49D0-B6FD-8916E9CB58BB}" type="sibTrans" cxnId="{91986C9B-BF32-4947-BFE0-0C3011E7BA12}">
      <dgm:prSet/>
      <dgm:spPr/>
      <dgm:t>
        <a:bodyPr/>
        <a:lstStyle/>
        <a:p>
          <a:endParaRPr lang="en-US"/>
        </a:p>
      </dgm:t>
    </dgm:pt>
    <dgm:pt modelId="{B6D38544-448D-47FA-8561-A98FE204DAA9}">
      <dgm:prSet custT="1"/>
      <dgm:spPr/>
      <dgm:t>
        <a:bodyPr/>
        <a:lstStyle/>
        <a:p>
          <a:pPr algn="l">
            <a:buFont typeface="Arial" panose="020B0604020202020204" pitchFamily="34" charset="0"/>
            <a:buChar char="•"/>
          </a:pPr>
          <a:r>
            <a:rPr lang="en-US" sz="1200" dirty="0">
              <a:latin typeface="Times New Roman" panose="02020603050405020304" pitchFamily="18" charset="0"/>
              <a:cs typeface="Times New Roman" panose="02020603050405020304" pitchFamily="18" charset="0"/>
            </a:rPr>
            <a:t>Synchronous reset </a:t>
          </a:r>
          <a:r>
            <a:rPr lang="en-US" sz="1200" dirty="0" err="1">
              <a:latin typeface="Times New Roman" panose="02020603050405020304" pitchFamily="18" charset="0"/>
              <a:cs typeface="Times New Roman" panose="02020603050405020304" pitchFamily="18" charset="0"/>
            </a:rPr>
            <a:t>deassertion</a:t>
          </a:r>
          <a:endParaRPr lang="en-US" sz="1200" dirty="0">
            <a:latin typeface="Times New Roman" panose="02020603050405020304" pitchFamily="18" charset="0"/>
            <a:cs typeface="Times New Roman" panose="02020603050405020304" pitchFamily="18" charset="0"/>
          </a:endParaRPr>
        </a:p>
      </dgm:t>
    </dgm:pt>
    <dgm:pt modelId="{91DCC399-C92E-4285-A49E-2ACA7E63D351}" type="parTrans" cxnId="{DA0F093D-975F-4B5B-9064-8AAC224DE0C9}">
      <dgm:prSet/>
      <dgm:spPr/>
      <dgm:t>
        <a:bodyPr/>
        <a:lstStyle/>
        <a:p>
          <a:endParaRPr lang="en-US"/>
        </a:p>
      </dgm:t>
    </dgm:pt>
    <dgm:pt modelId="{D5F5C418-FBEB-44E7-8160-CB9F816BB8B8}" type="sibTrans" cxnId="{DA0F093D-975F-4B5B-9064-8AAC224DE0C9}">
      <dgm:prSet/>
      <dgm:spPr/>
      <dgm:t>
        <a:bodyPr/>
        <a:lstStyle/>
        <a:p>
          <a:endParaRPr lang="en-US"/>
        </a:p>
      </dgm:t>
    </dgm:pt>
    <dgm:pt modelId="{54EA4E44-5E00-4520-B01F-801273F1DE65}" type="pres">
      <dgm:prSet presAssocID="{952100C8-DE46-4AA0-81C6-255B835B5DC9}" presName="linearFlow" presStyleCnt="0">
        <dgm:presLayoutVars>
          <dgm:dir/>
          <dgm:animLvl val="lvl"/>
          <dgm:resizeHandles val="exact"/>
        </dgm:presLayoutVars>
      </dgm:prSet>
      <dgm:spPr/>
    </dgm:pt>
    <dgm:pt modelId="{55E72F47-B327-46DB-A974-BEEC9EF00AB2}" type="pres">
      <dgm:prSet presAssocID="{D76E9974-C6F8-40F5-8DC1-9292E56590B2}" presName="composite" presStyleCnt="0"/>
      <dgm:spPr/>
    </dgm:pt>
    <dgm:pt modelId="{1103B58E-3C02-4A60-B1A4-734BF21BAC24}" type="pres">
      <dgm:prSet presAssocID="{D76E9974-C6F8-40F5-8DC1-9292E56590B2}" presName="parTx" presStyleLbl="node1" presStyleIdx="0" presStyleCnt="3">
        <dgm:presLayoutVars>
          <dgm:chMax val="0"/>
          <dgm:chPref val="0"/>
          <dgm:bulletEnabled val="1"/>
        </dgm:presLayoutVars>
      </dgm:prSet>
      <dgm:spPr/>
    </dgm:pt>
    <dgm:pt modelId="{E51C8D6F-EFB3-4DC0-BD9B-BBFD2E18D5C6}" type="pres">
      <dgm:prSet presAssocID="{D76E9974-C6F8-40F5-8DC1-9292E56590B2}" presName="parSh" presStyleLbl="node1" presStyleIdx="0" presStyleCnt="3"/>
      <dgm:spPr/>
    </dgm:pt>
    <dgm:pt modelId="{009BC3D3-CC39-45A2-B77B-68ABB4094C99}" type="pres">
      <dgm:prSet presAssocID="{D76E9974-C6F8-40F5-8DC1-9292E56590B2}" presName="desTx" presStyleLbl="fgAcc1" presStyleIdx="0" presStyleCnt="3">
        <dgm:presLayoutVars>
          <dgm:bulletEnabled val="1"/>
        </dgm:presLayoutVars>
      </dgm:prSet>
      <dgm:spPr/>
    </dgm:pt>
    <dgm:pt modelId="{A5C863C1-3E94-47FB-98C6-34B197FA4C7A}" type="pres">
      <dgm:prSet presAssocID="{FA208C1A-281A-4345-BC7A-2F9CE7969FB0}" presName="sibTrans" presStyleLbl="sibTrans2D1" presStyleIdx="0" presStyleCnt="2"/>
      <dgm:spPr/>
    </dgm:pt>
    <dgm:pt modelId="{D5DBA31F-CDD4-4765-9F19-BCE9D3E49259}" type="pres">
      <dgm:prSet presAssocID="{FA208C1A-281A-4345-BC7A-2F9CE7969FB0}" presName="connTx" presStyleLbl="sibTrans2D1" presStyleIdx="0" presStyleCnt="2"/>
      <dgm:spPr/>
    </dgm:pt>
    <dgm:pt modelId="{BF79C3FA-6460-467D-A747-1C033C0DCDD4}" type="pres">
      <dgm:prSet presAssocID="{8E5BE796-364C-4E68-9C33-5D4441F77362}" presName="composite" presStyleCnt="0"/>
      <dgm:spPr/>
    </dgm:pt>
    <dgm:pt modelId="{A89BD499-F8CE-4F5A-9BE3-FC8ADA2EBA4B}" type="pres">
      <dgm:prSet presAssocID="{8E5BE796-364C-4E68-9C33-5D4441F77362}" presName="parTx" presStyleLbl="node1" presStyleIdx="0" presStyleCnt="3">
        <dgm:presLayoutVars>
          <dgm:chMax val="0"/>
          <dgm:chPref val="0"/>
          <dgm:bulletEnabled val="1"/>
        </dgm:presLayoutVars>
      </dgm:prSet>
      <dgm:spPr/>
    </dgm:pt>
    <dgm:pt modelId="{083402C0-C91A-4AB2-BE0D-2DA7FD13F750}" type="pres">
      <dgm:prSet presAssocID="{8E5BE796-364C-4E68-9C33-5D4441F77362}" presName="parSh" presStyleLbl="node1" presStyleIdx="1" presStyleCnt="3"/>
      <dgm:spPr/>
    </dgm:pt>
    <dgm:pt modelId="{42BB05AA-495E-490B-A415-AA34521D721D}" type="pres">
      <dgm:prSet presAssocID="{8E5BE796-364C-4E68-9C33-5D4441F77362}" presName="desTx" presStyleLbl="fgAcc1" presStyleIdx="1" presStyleCnt="3">
        <dgm:presLayoutVars>
          <dgm:bulletEnabled val="1"/>
        </dgm:presLayoutVars>
      </dgm:prSet>
      <dgm:spPr/>
    </dgm:pt>
    <dgm:pt modelId="{42ED7FFA-AA35-4ED7-90B2-CD0562E75404}" type="pres">
      <dgm:prSet presAssocID="{2E4D6E7F-982E-461D-9DA4-3803D974B061}" presName="sibTrans" presStyleLbl="sibTrans2D1" presStyleIdx="1" presStyleCnt="2"/>
      <dgm:spPr/>
    </dgm:pt>
    <dgm:pt modelId="{07BED6A5-F201-4454-AFB6-EAD75CADA513}" type="pres">
      <dgm:prSet presAssocID="{2E4D6E7F-982E-461D-9DA4-3803D974B061}" presName="connTx" presStyleLbl="sibTrans2D1" presStyleIdx="1" presStyleCnt="2"/>
      <dgm:spPr/>
    </dgm:pt>
    <dgm:pt modelId="{6501B85B-9703-458D-9AEE-413B1DE20EE0}" type="pres">
      <dgm:prSet presAssocID="{8677E879-343E-4D4F-975F-0C3D080E6C94}" presName="composite" presStyleCnt="0"/>
      <dgm:spPr/>
    </dgm:pt>
    <dgm:pt modelId="{C0DCEFD8-C425-46DF-8138-AC3D98477B74}" type="pres">
      <dgm:prSet presAssocID="{8677E879-343E-4D4F-975F-0C3D080E6C94}" presName="parTx" presStyleLbl="node1" presStyleIdx="1" presStyleCnt="3">
        <dgm:presLayoutVars>
          <dgm:chMax val="0"/>
          <dgm:chPref val="0"/>
          <dgm:bulletEnabled val="1"/>
        </dgm:presLayoutVars>
      </dgm:prSet>
      <dgm:spPr/>
    </dgm:pt>
    <dgm:pt modelId="{87703A5A-DC03-49DD-A097-746ECB3FE60D}" type="pres">
      <dgm:prSet presAssocID="{8677E879-343E-4D4F-975F-0C3D080E6C94}" presName="parSh" presStyleLbl="node1" presStyleIdx="2" presStyleCnt="3"/>
      <dgm:spPr/>
    </dgm:pt>
    <dgm:pt modelId="{D08BA6F5-4B30-4583-A486-69CD12F029DC}" type="pres">
      <dgm:prSet presAssocID="{8677E879-343E-4D4F-975F-0C3D080E6C94}" presName="desTx" presStyleLbl="fgAcc1" presStyleIdx="2" presStyleCnt="3">
        <dgm:presLayoutVars>
          <dgm:bulletEnabled val="1"/>
        </dgm:presLayoutVars>
      </dgm:prSet>
      <dgm:spPr/>
    </dgm:pt>
  </dgm:ptLst>
  <dgm:cxnLst>
    <dgm:cxn modelId="{8C10A503-6B22-4774-B3F0-6D18B74AF97C}" type="presOf" srcId="{879D7B82-FDDC-4430-B83E-163F6210733A}" destId="{42BB05AA-495E-490B-A415-AA34521D721D}" srcOrd="0" destOrd="2" presId="urn:microsoft.com/office/officeart/2005/8/layout/process3"/>
    <dgm:cxn modelId="{5FCDF906-BECF-45EB-8162-54CA183C4022}" srcId="{8E5BE796-364C-4E68-9C33-5D4441F77362}" destId="{3D7B6D96-9DAC-4CCF-8286-FF49A63AE6F4}" srcOrd="0" destOrd="0" parTransId="{13274551-4495-43C2-8E13-E720094EC858}" sibTransId="{478B2097-5ED7-460D-94F1-F06571788A07}"/>
    <dgm:cxn modelId="{2540630B-6714-4AD9-8498-97A61BFB6C0C}" srcId="{8677E879-343E-4D4F-975F-0C3D080E6C94}" destId="{0BE5F91B-41E3-4FFF-81A3-E39DB4537FDE}" srcOrd="1" destOrd="0" parTransId="{5E51E73B-3EFE-4201-B888-5D5FDF4B25E9}" sibTransId="{16222925-33BD-4DE7-BBD3-C4614A1AEC46}"/>
    <dgm:cxn modelId="{ED2F1C0E-AEA3-4BC1-AD39-03FF2F4EB05F}" srcId="{952100C8-DE46-4AA0-81C6-255B835B5DC9}" destId="{8677E879-343E-4D4F-975F-0C3D080E6C94}" srcOrd="2" destOrd="0" parTransId="{DF6D0A11-4C38-4FB0-BC17-686B837DEDEA}" sibTransId="{4F1BA0F3-38D0-4A29-B33F-6F91DDA76B22}"/>
    <dgm:cxn modelId="{C16D5113-9F02-4BF3-9642-3E0E35CAB526}" type="presOf" srcId="{FA208C1A-281A-4345-BC7A-2F9CE7969FB0}" destId="{A5C863C1-3E94-47FB-98C6-34B197FA4C7A}" srcOrd="0" destOrd="0" presId="urn:microsoft.com/office/officeart/2005/8/layout/process3"/>
    <dgm:cxn modelId="{88877C18-C0BA-48E9-824D-5DBBD8F3369C}" type="presOf" srcId="{FA208C1A-281A-4345-BC7A-2F9CE7969FB0}" destId="{D5DBA31F-CDD4-4765-9F19-BCE9D3E49259}" srcOrd="1" destOrd="0" presId="urn:microsoft.com/office/officeart/2005/8/layout/process3"/>
    <dgm:cxn modelId="{D0C61E1A-6232-40CB-96B8-5F0EA6608568}" type="presOf" srcId="{3A2A51C6-4610-4C41-99E6-8E617126F043}" destId="{009BC3D3-CC39-45A2-B77B-68ABB4094C99}" srcOrd="0" destOrd="2" presId="urn:microsoft.com/office/officeart/2005/8/layout/process3"/>
    <dgm:cxn modelId="{63A21F1D-95BF-4068-AFBA-D9A2EFFAD8CE}" type="presOf" srcId="{952100C8-DE46-4AA0-81C6-255B835B5DC9}" destId="{54EA4E44-5E00-4520-B01F-801273F1DE65}" srcOrd="0" destOrd="0" presId="urn:microsoft.com/office/officeart/2005/8/layout/process3"/>
    <dgm:cxn modelId="{A3A04720-6117-4162-A750-D8F594E02719}" srcId="{D76E9974-C6F8-40F5-8DC1-9292E56590B2}" destId="{8E3C9265-EA39-413D-BDA3-94BF5AB184DE}" srcOrd="3" destOrd="0" parTransId="{95ED1A9E-A3F6-4DA3-9373-8DC466F279B6}" sibTransId="{89B84D0B-EB47-4F53-BBD7-5A5E8B90D483}"/>
    <dgm:cxn modelId="{9C53F728-8DEB-4B6D-BBA5-41CE7CD3B34E}" type="presOf" srcId="{AC7D8412-AE2E-4384-8580-87FE7DF75CF1}" destId="{D08BA6F5-4B30-4583-A486-69CD12F029DC}" srcOrd="0" destOrd="0" presId="urn:microsoft.com/office/officeart/2005/8/layout/process3"/>
    <dgm:cxn modelId="{49333834-E930-4241-8322-8936FB21A92E}" type="presOf" srcId="{2E4D6E7F-982E-461D-9DA4-3803D974B061}" destId="{07BED6A5-F201-4454-AFB6-EAD75CADA513}" srcOrd="1" destOrd="0" presId="urn:microsoft.com/office/officeart/2005/8/layout/process3"/>
    <dgm:cxn modelId="{2B7A3D36-9EC1-4C75-B531-D65EABC18CB7}" type="presOf" srcId="{8E5BE796-364C-4E68-9C33-5D4441F77362}" destId="{A89BD499-F8CE-4F5A-9BE3-FC8ADA2EBA4B}" srcOrd="0" destOrd="0" presId="urn:microsoft.com/office/officeart/2005/8/layout/process3"/>
    <dgm:cxn modelId="{35BA3837-CB85-434A-A357-E3E786E1B0AD}" type="presOf" srcId="{3D4D0E94-A4D1-4A2C-94B7-02F400BB78D9}" destId="{42BB05AA-495E-490B-A415-AA34521D721D}" srcOrd="0" destOrd="3" presId="urn:microsoft.com/office/officeart/2005/8/layout/process3"/>
    <dgm:cxn modelId="{FD39A738-0F0C-4CB2-9BEF-C9AE5F256CDC}" type="presOf" srcId="{D76E9974-C6F8-40F5-8DC1-9292E56590B2}" destId="{E51C8D6F-EFB3-4DC0-BD9B-BBFD2E18D5C6}" srcOrd="1" destOrd="0" presId="urn:microsoft.com/office/officeart/2005/8/layout/process3"/>
    <dgm:cxn modelId="{2291843A-3205-4E34-B638-AAB52580E0F1}" type="presOf" srcId="{8677E879-343E-4D4F-975F-0C3D080E6C94}" destId="{87703A5A-DC03-49DD-A097-746ECB3FE60D}" srcOrd="1" destOrd="0" presId="urn:microsoft.com/office/officeart/2005/8/layout/process3"/>
    <dgm:cxn modelId="{DA0F093D-975F-4B5B-9064-8AAC224DE0C9}" srcId="{8677E879-343E-4D4F-975F-0C3D080E6C94}" destId="{B6D38544-448D-47FA-8561-A98FE204DAA9}" srcOrd="2" destOrd="0" parTransId="{91DCC399-C92E-4285-A49E-2ACA7E63D351}" sibTransId="{D5F5C418-FBEB-44E7-8160-CB9F816BB8B8}"/>
    <dgm:cxn modelId="{4C149F5B-F835-46BA-A214-154311BD8B03}" srcId="{8E5BE796-364C-4E68-9C33-5D4441F77362}" destId="{879D7B82-FDDC-4430-B83E-163F6210733A}" srcOrd="2" destOrd="0" parTransId="{C9AE52EE-2877-49F9-9575-DF33EF87B9DA}" sibTransId="{766004B8-DE32-4533-9C41-58E7030BF68C}"/>
    <dgm:cxn modelId="{5650435C-9B59-4E7B-944F-C78A52E97770}" type="presOf" srcId="{50880755-5091-4AD2-A8D3-64EAB9152FF8}" destId="{009BC3D3-CC39-45A2-B77B-68ABB4094C99}" srcOrd="0" destOrd="1" presId="urn:microsoft.com/office/officeart/2005/8/layout/process3"/>
    <dgm:cxn modelId="{94464B41-1EFF-445F-9E5A-A8BC79F10BFD}" type="presOf" srcId="{CF5EAFF3-8806-4657-8B01-6DD15DF7330C}" destId="{009BC3D3-CC39-45A2-B77B-68ABB4094C99}" srcOrd="0" destOrd="0" presId="urn:microsoft.com/office/officeart/2005/8/layout/process3"/>
    <dgm:cxn modelId="{8AABC063-4E46-4414-9F1A-83C345EDFEDF}" type="presOf" srcId="{2E4D6E7F-982E-461D-9DA4-3803D974B061}" destId="{42ED7FFA-AA35-4ED7-90B2-CD0562E75404}" srcOrd="0" destOrd="0" presId="urn:microsoft.com/office/officeart/2005/8/layout/process3"/>
    <dgm:cxn modelId="{EBCA6866-E28E-4385-B7A5-D976106EFB63}" srcId="{952100C8-DE46-4AA0-81C6-255B835B5DC9}" destId="{8E5BE796-364C-4E68-9C33-5D4441F77362}" srcOrd="1" destOrd="0" parTransId="{58AF6691-646C-4BF0-8DFF-A6DA90AB43D9}" sibTransId="{2E4D6E7F-982E-461D-9DA4-3803D974B061}"/>
    <dgm:cxn modelId="{C8BB076D-9F58-402B-A9B4-5C6323AE3EF3}" srcId="{D76E9974-C6F8-40F5-8DC1-9292E56590B2}" destId="{CF5EAFF3-8806-4657-8B01-6DD15DF7330C}" srcOrd="0" destOrd="0" parTransId="{7C434D0A-C1C6-42FA-8E38-741442CE01B5}" sibTransId="{D8E53934-5D54-4FAC-9BF4-E2F15E79EA3B}"/>
    <dgm:cxn modelId="{494E7A7C-A841-4C5E-A180-DF0A05CE3757}" type="presOf" srcId="{8677E879-343E-4D4F-975F-0C3D080E6C94}" destId="{C0DCEFD8-C425-46DF-8138-AC3D98477B74}" srcOrd="0" destOrd="0" presId="urn:microsoft.com/office/officeart/2005/8/layout/process3"/>
    <dgm:cxn modelId="{42A8977F-4407-4563-954E-6674EC76B1EA}" type="presOf" srcId="{8E5BE796-364C-4E68-9C33-5D4441F77362}" destId="{083402C0-C91A-4AB2-BE0D-2DA7FD13F750}" srcOrd="1" destOrd="0" presId="urn:microsoft.com/office/officeart/2005/8/layout/process3"/>
    <dgm:cxn modelId="{55EC1D82-88AA-4DAE-B3D3-C1DDF075FA7B}" type="presOf" srcId="{8E3C9265-EA39-413D-BDA3-94BF5AB184DE}" destId="{009BC3D3-CC39-45A2-B77B-68ABB4094C99}" srcOrd="0" destOrd="3" presId="urn:microsoft.com/office/officeart/2005/8/layout/process3"/>
    <dgm:cxn modelId="{1289EB8B-37A9-45AB-B849-A8A18C05EC5B}" type="presOf" srcId="{3D7B6D96-9DAC-4CCF-8286-FF49A63AE6F4}" destId="{42BB05AA-495E-490B-A415-AA34521D721D}" srcOrd="0" destOrd="0" presId="urn:microsoft.com/office/officeart/2005/8/layout/process3"/>
    <dgm:cxn modelId="{DD7D6291-D1D1-44D6-8C83-3815DF34B9A1}" type="presOf" srcId="{D76E9974-C6F8-40F5-8DC1-9292E56590B2}" destId="{1103B58E-3C02-4A60-B1A4-734BF21BAC24}" srcOrd="0" destOrd="0" presId="urn:microsoft.com/office/officeart/2005/8/layout/process3"/>
    <dgm:cxn modelId="{91986C9B-BF32-4947-BFE0-0C3011E7BA12}" srcId="{8E5BE796-364C-4E68-9C33-5D4441F77362}" destId="{3D4D0E94-A4D1-4A2C-94B7-02F400BB78D9}" srcOrd="3" destOrd="0" parTransId="{35248FBC-367C-4079-A23B-D466AE56EE42}" sibTransId="{B8A48EA5-37D7-49D0-B6FD-8916E9CB58BB}"/>
    <dgm:cxn modelId="{8E3809BA-B37C-489B-99FF-59DB3D73B909}" srcId="{8E5BE796-364C-4E68-9C33-5D4441F77362}" destId="{4D80C65D-06EE-44F7-93DC-881436859C63}" srcOrd="1" destOrd="0" parTransId="{3DB4B65B-DBA6-4D9D-9BC2-6FB9EB7C06DD}" sibTransId="{147E6983-BC71-419C-A7E2-585FCF7DB94E}"/>
    <dgm:cxn modelId="{F5E57ABA-6504-4FF4-B829-47BB87208846}" srcId="{8677E879-343E-4D4F-975F-0C3D080E6C94}" destId="{AC7D8412-AE2E-4384-8580-87FE7DF75CF1}" srcOrd="0" destOrd="0" parTransId="{1349681E-6588-44B9-A75D-20D5889A4B1B}" sibTransId="{AA79805A-4B44-4047-918C-B206CF2A2C1D}"/>
    <dgm:cxn modelId="{8723C2CC-92E4-4B68-BF54-AE5FE44EABDD}" srcId="{952100C8-DE46-4AA0-81C6-255B835B5DC9}" destId="{D76E9974-C6F8-40F5-8DC1-9292E56590B2}" srcOrd="0" destOrd="0" parTransId="{CA0DF663-6B29-432F-A07C-23788B8F895F}" sibTransId="{FA208C1A-281A-4345-BC7A-2F9CE7969FB0}"/>
    <dgm:cxn modelId="{92CAE0D1-65E5-4EB5-9BA4-391D95E3F87E}" type="presOf" srcId="{B6D38544-448D-47FA-8561-A98FE204DAA9}" destId="{D08BA6F5-4B30-4583-A486-69CD12F029DC}" srcOrd="0" destOrd="2" presId="urn:microsoft.com/office/officeart/2005/8/layout/process3"/>
    <dgm:cxn modelId="{FA985EE4-767F-4DA1-889F-F5098B0B561A}" type="presOf" srcId="{0BE5F91B-41E3-4FFF-81A3-E39DB4537FDE}" destId="{D08BA6F5-4B30-4583-A486-69CD12F029DC}" srcOrd="0" destOrd="1" presId="urn:microsoft.com/office/officeart/2005/8/layout/process3"/>
    <dgm:cxn modelId="{A90256E6-BDE4-4A63-B95F-6CF81F8C2B5B}" type="presOf" srcId="{4D80C65D-06EE-44F7-93DC-881436859C63}" destId="{42BB05AA-495E-490B-A415-AA34521D721D}" srcOrd="0" destOrd="1" presId="urn:microsoft.com/office/officeart/2005/8/layout/process3"/>
    <dgm:cxn modelId="{1A6278E7-EEAE-49AA-85CE-F4A3F1961D4F}" srcId="{D76E9974-C6F8-40F5-8DC1-9292E56590B2}" destId="{3A2A51C6-4610-4C41-99E6-8E617126F043}" srcOrd="2" destOrd="0" parTransId="{5478249C-3F98-4411-9716-8B15D0A45A0D}" sibTransId="{C69837C6-5D59-4F51-BF55-C9168BEC3F02}"/>
    <dgm:cxn modelId="{4C4C19F2-180A-4E90-91F8-A45A2CD2D889}" srcId="{D76E9974-C6F8-40F5-8DC1-9292E56590B2}" destId="{50880755-5091-4AD2-A8D3-64EAB9152FF8}" srcOrd="1" destOrd="0" parTransId="{CCAFF2C8-3C01-4FFC-B7B8-5646CE37D1B2}" sibTransId="{23755F8D-E2F3-48D0-B86C-88A94028440B}"/>
    <dgm:cxn modelId="{9D601E6C-AF9D-4638-9A00-857D17283502}" type="presParOf" srcId="{54EA4E44-5E00-4520-B01F-801273F1DE65}" destId="{55E72F47-B327-46DB-A974-BEEC9EF00AB2}" srcOrd="0" destOrd="0" presId="urn:microsoft.com/office/officeart/2005/8/layout/process3"/>
    <dgm:cxn modelId="{33AF1A85-815C-45DD-9FAD-03A548589E3D}" type="presParOf" srcId="{55E72F47-B327-46DB-A974-BEEC9EF00AB2}" destId="{1103B58E-3C02-4A60-B1A4-734BF21BAC24}" srcOrd="0" destOrd="0" presId="urn:microsoft.com/office/officeart/2005/8/layout/process3"/>
    <dgm:cxn modelId="{915DD44E-725B-4CD9-A320-F50D5C078DA3}" type="presParOf" srcId="{55E72F47-B327-46DB-A974-BEEC9EF00AB2}" destId="{E51C8D6F-EFB3-4DC0-BD9B-BBFD2E18D5C6}" srcOrd="1" destOrd="0" presId="urn:microsoft.com/office/officeart/2005/8/layout/process3"/>
    <dgm:cxn modelId="{245232D7-700C-4F27-9BF6-3824027D1FEC}" type="presParOf" srcId="{55E72F47-B327-46DB-A974-BEEC9EF00AB2}" destId="{009BC3D3-CC39-45A2-B77B-68ABB4094C99}" srcOrd="2" destOrd="0" presId="urn:microsoft.com/office/officeart/2005/8/layout/process3"/>
    <dgm:cxn modelId="{0A75FAE9-9EDA-4759-B720-0FD3C8507D01}" type="presParOf" srcId="{54EA4E44-5E00-4520-B01F-801273F1DE65}" destId="{A5C863C1-3E94-47FB-98C6-34B197FA4C7A}" srcOrd="1" destOrd="0" presId="urn:microsoft.com/office/officeart/2005/8/layout/process3"/>
    <dgm:cxn modelId="{7F80052A-A5F6-4372-A4B4-AFD532CD6899}" type="presParOf" srcId="{A5C863C1-3E94-47FB-98C6-34B197FA4C7A}" destId="{D5DBA31F-CDD4-4765-9F19-BCE9D3E49259}" srcOrd="0" destOrd="0" presId="urn:microsoft.com/office/officeart/2005/8/layout/process3"/>
    <dgm:cxn modelId="{C83EFFAA-94D7-42BB-A51B-D2ECC2F41F5C}" type="presParOf" srcId="{54EA4E44-5E00-4520-B01F-801273F1DE65}" destId="{BF79C3FA-6460-467D-A747-1C033C0DCDD4}" srcOrd="2" destOrd="0" presId="urn:microsoft.com/office/officeart/2005/8/layout/process3"/>
    <dgm:cxn modelId="{9FE8CF35-FA95-4DBC-85E2-0A65353C9CD2}" type="presParOf" srcId="{BF79C3FA-6460-467D-A747-1C033C0DCDD4}" destId="{A89BD499-F8CE-4F5A-9BE3-FC8ADA2EBA4B}" srcOrd="0" destOrd="0" presId="urn:microsoft.com/office/officeart/2005/8/layout/process3"/>
    <dgm:cxn modelId="{B5A8F370-AD84-400D-88DA-592ECC24B9F7}" type="presParOf" srcId="{BF79C3FA-6460-467D-A747-1C033C0DCDD4}" destId="{083402C0-C91A-4AB2-BE0D-2DA7FD13F750}" srcOrd="1" destOrd="0" presId="urn:microsoft.com/office/officeart/2005/8/layout/process3"/>
    <dgm:cxn modelId="{61841CE2-C433-4C12-AE23-A2FF1EE76640}" type="presParOf" srcId="{BF79C3FA-6460-467D-A747-1C033C0DCDD4}" destId="{42BB05AA-495E-490B-A415-AA34521D721D}" srcOrd="2" destOrd="0" presId="urn:microsoft.com/office/officeart/2005/8/layout/process3"/>
    <dgm:cxn modelId="{AC48AB9E-8F85-429D-AA32-595E249E6EF3}" type="presParOf" srcId="{54EA4E44-5E00-4520-B01F-801273F1DE65}" destId="{42ED7FFA-AA35-4ED7-90B2-CD0562E75404}" srcOrd="3" destOrd="0" presId="urn:microsoft.com/office/officeart/2005/8/layout/process3"/>
    <dgm:cxn modelId="{FBAE82EA-CBDC-4604-88BA-200EC2A6D838}" type="presParOf" srcId="{42ED7FFA-AA35-4ED7-90B2-CD0562E75404}" destId="{07BED6A5-F201-4454-AFB6-EAD75CADA513}" srcOrd="0" destOrd="0" presId="urn:microsoft.com/office/officeart/2005/8/layout/process3"/>
    <dgm:cxn modelId="{BDB8979B-A8B5-4BC1-97DC-1AB1D5EDCDD3}" type="presParOf" srcId="{54EA4E44-5E00-4520-B01F-801273F1DE65}" destId="{6501B85B-9703-458D-9AEE-413B1DE20EE0}" srcOrd="4" destOrd="0" presId="urn:microsoft.com/office/officeart/2005/8/layout/process3"/>
    <dgm:cxn modelId="{199E8DE2-50FC-4901-A985-B2B938029687}" type="presParOf" srcId="{6501B85B-9703-458D-9AEE-413B1DE20EE0}" destId="{C0DCEFD8-C425-46DF-8138-AC3D98477B74}" srcOrd="0" destOrd="0" presId="urn:microsoft.com/office/officeart/2005/8/layout/process3"/>
    <dgm:cxn modelId="{D14C9597-F001-4DD4-BFE0-6C6BEAF52328}" type="presParOf" srcId="{6501B85B-9703-458D-9AEE-413B1DE20EE0}" destId="{87703A5A-DC03-49DD-A097-746ECB3FE60D}" srcOrd="1" destOrd="0" presId="urn:microsoft.com/office/officeart/2005/8/layout/process3"/>
    <dgm:cxn modelId="{58CAE820-B497-432A-8D37-C500A97B0A23}" type="presParOf" srcId="{6501B85B-9703-458D-9AEE-413B1DE20EE0}" destId="{D08BA6F5-4B30-4583-A486-69CD12F029DC}"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8.xml><?xml version="1.0" encoding="utf-8"?>
<dgm:dataModel xmlns:dgm="http://schemas.openxmlformats.org/drawingml/2006/diagram" xmlns:a="http://schemas.openxmlformats.org/drawingml/2006/main">
  <dgm:ptLst>
    <dgm:pt modelId="{8A14C725-258B-4030-B292-9300D40AD7AF}" type="doc">
      <dgm:prSet loTypeId="urn:microsoft.com/office/officeart/2005/8/layout/process2" loCatId="process" qsTypeId="urn:microsoft.com/office/officeart/2005/8/quickstyle/simple1" qsCatId="simple" csTypeId="urn:microsoft.com/office/officeart/2005/8/colors/accent1_2" csCatId="accent1" phldr="1"/>
      <dgm:spPr/>
    </dgm:pt>
    <dgm:pt modelId="{D23FE703-604B-4925-AA13-B3CF14EF17D3}">
      <dgm:prSet custT="1"/>
      <dgm:spPr/>
      <dgm:t>
        <a:bodyPr/>
        <a:lstStyle/>
        <a:p>
          <a:pPr>
            <a:buNone/>
          </a:pPr>
          <a:r>
            <a:rPr lang="en-US" sz="1100" b="1" dirty="0">
              <a:latin typeface="Times New Roman" panose="02020603050405020304" pitchFamily="18" charset="0"/>
              <a:cs typeface="Times New Roman" panose="02020603050405020304" pitchFamily="18" charset="0"/>
            </a:rPr>
            <a:t>CDC / Asynchronous FIFO</a:t>
          </a:r>
          <a:endParaRPr lang="en-US" sz="1100" dirty="0">
            <a:latin typeface="Times New Roman" panose="02020603050405020304" pitchFamily="18" charset="0"/>
            <a:cs typeface="Times New Roman" panose="02020603050405020304" pitchFamily="18" charset="0"/>
          </a:endParaRPr>
        </a:p>
      </dgm:t>
    </dgm:pt>
    <dgm:pt modelId="{2170B5CB-7960-41A7-BEAA-0259AB17196B}" type="parTrans" cxnId="{2BA76263-16BB-4DC9-AA7C-E04A7972B8F2}">
      <dgm:prSet/>
      <dgm:spPr/>
      <dgm:t>
        <a:bodyPr/>
        <a:lstStyle/>
        <a:p>
          <a:endParaRPr lang="en-US"/>
        </a:p>
      </dgm:t>
    </dgm:pt>
    <dgm:pt modelId="{49280FC6-FCA5-44E8-A614-DFA1CB213B72}" type="sibTrans" cxnId="{2BA76263-16BB-4DC9-AA7C-E04A7972B8F2}">
      <dgm:prSet/>
      <dgm:spPr/>
      <dgm:t>
        <a:bodyPr/>
        <a:lstStyle/>
        <a:p>
          <a:endParaRPr lang="en-US"/>
        </a:p>
      </dgm:t>
    </dgm:pt>
    <dgm:pt modelId="{A09A79CA-7A59-4E54-B2E9-3EDACEEC63FD}">
      <dgm:prSet custT="1"/>
      <dgm:spPr/>
      <dgm:t>
        <a:bodyPr/>
        <a:lstStyle/>
        <a:p>
          <a:pPr>
            <a:buNone/>
          </a:pPr>
          <a:r>
            <a:rPr lang="en-US" sz="1100" b="1" dirty="0">
              <a:latin typeface="Times New Roman" panose="02020603050405020304" pitchFamily="18" charset="0"/>
              <a:cs typeface="Times New Roman" panose="02020603050405020304" pitchFamily="18" charset="0"/>
            </a:rPr>
            <a:t>Control Unit</a:t>
          </a:r>
          <a:endParaRPr lang="en-US" sz="1100" dirty="0">
            <a:latin typeface="Times New Roman" panose="02020603050405020304" pitchFamily="18" charset="0"/>
            <a:cs typeface="Times New Roman" panose="02020603050405020304" pitchFamily="18" charset="0"/>
          </a:endParaRPr>
        </a:p>
      </dgm:t>
    </dgm:pt>
    <dgm:pt modelId="{793FCF26-B661-4351-B302-44535D8C909B}" type="parTrans" cxnId="{47B58D5C-CECF-422D-930F-74A9ED32AB52}">
      <dgm:prSet/>
      <dgm:spPr/>
      <dgm:t>
        <a:bodyPr/>
        <a:lstStyle/>
        <a:p>
          <a:endParaRPr lang="en-US"/>
        </a:p>
      </dgm:t>
    </dgm:pt>
    <dgm:pt modelId="{6072AA47-03F7-449F-AD5E-9F765E104A8E}" type="sibTrans" cxnId="{47B58D5C-CECF-422D-930F-74A9ED32AB52}">
      <dgm:prSet/>
      <dgm:spPr/>
      <dgm:t>
        <a:bodyPr/>
        <a:lstStyle/>
        <a:p>
          <a:endParaRPr lang="en-US"/>
        </a:p>
      </dgm:t>
    </dgm:pt>
    <dgm:pt modelId="{2BBAA2C4-C8A7-42AB-9FFF-D52D0DA7C97E}">
      <dgm:prSet custT="1"/>
      <dgm:spPr/>
      <dgm:t>
        <a:bodyPr/>
        <a:lstStyle/>
        <a:p>
          <a:pPr>
            <a:buNone/>
          </a:pPr>
          <a:r>
            <a:rPr lang="en-US" sz="1100" b="1" dirty="0">
              <a:latin typeface="Times New Roman" panose="02020603050405020304" pitchFamily="18" charset="0"/>
              <a:cs typeface="Times New Roman" panose="02020603050405020304" pitchFamily="18" charset="0"/>
            </a:rPr>
            <a:t>ATU</a:t>
          </a:r>
          <a:endParaRPr lang="en-US" sz="1100" dirty="0">
            <a:latin typeface="Times New Roman" panose="02020603050405020304" pitchFamily="18" charset="0"/>
            <a:cs typeface="Times New Roman" panose="02020603050405020304" pitchFamily="18" charset="0"/>
          </a:endParaRPr>
        </a:p>
      </dgm:t>
    </dgm:pt>
    <dgm:pt modelId="{EDCF0F31-9E83-4088-A52F-69A717EBCF83}" type="parTrans" cxnId="{F41D06E4-51D7-4916-84CD-B73347BADD02}">
      <dgm:prSet/>
      <dgm:spPr/>
      <dgm:t>
        <a:bodyPr/>
        <a:lstStyle/>
        <a:p>
          <a:endParaRPr lang="en-US"/>
        </a:p>
      </dgm:t>
    </dgm:pt>
    <dgm:pt modelId="{20A86531-7F30-41C1-9808-BCFB71F4E74C}" type="sibTrans" cxnId="{F41D06E4-51D7-4916-84CD-B73347BADD02}">
      <dgm:prSet/>
      <dgm:spPr/>
      <dgm:t>
        <a:bodyPr/>
        <a:lstStyle/>
        <a:p>
          <a:endParaRPr lang="en-US"/>
        </a:p>
      </dgm:t>
    </dgm:pt>
    <dgm:pt modelId="{CEF06755-0B9A-4700-9657-D0AFDA22953B}">
      <dgm:prSet custT="1"/>
      <dgm:spPr/>
      <dgm:t>
        <a:bodyPr/>
        <a:lstStyle/>
        <a:p>
          <a:pPr>
            <a:buNone/>
          </a:pPr>
          <a:r>
            <a:rPr lang="en-US" sz="1100" b="1" dirty="0">
              <a:latin typeface="Times New Roman" panose="02020603050405020304" pitchFamily="18" charset="0"/>
              <a:cs typeface="Times New Roman" panose="02020603050405020304" pitchFamily="18" charset="0"/>
            </a:rPr>
            <a:t>CXS RX Interface</a:t>
          </a:r>
          <a:endParaRPr lang="en-US" sz="1100" dirty="0">
            <a:latin typeface="Times New Roman" panose="02020603050405020304" pitchFamily="18" charset="0"/>
            <a:cs typeface="Times New Roman" panose="02020603050405020304" pitchFamily="18" charset="0"/>
          </a:endParaRPr>
        </a:p>
      </dgm:t>
    </dgm:pt>
    <dgm:pt modelId="{6FC1A8D6-0017-480B-9C3A-719C3FECCBA7}" type="parTrans" cxnId="{F0E3652C-D76A-402F-B624-C52ED22A6B1B}">
      <dgm:prSet/>
      <dgm:spPr/>
      <dgm:t>
        <a:bodyPr/>
        <a:lstStyle/>
        <a:p>
          <a:endParaRPr lang="en-US"/>
        </a:p>
      </dgm:t>
    </dgm:pt>
    <dgm:pt modelId="{80A42439-3F80-4D5B-9161-1A1E21C4627E}" type="sibTrans" cxnId="{F0E3652C-D76A-402F-B624-C52ED22A6B1B}">
      <dgm:prSet/>
      <dgm:spPr/>
      <dgm:t>
        <a:bodyPr/>
        <a:lstStyle/>
        <a:p>
          <a:endParaRPr lang="en-US"/>
        </a:p>
      </dgm:t>
    </dgm:pt>
    <dgm:pt modelId="{21E470E7-09E8-46F1-9FD1-29131FDF5405}">
      <dgm:prSet custT="1"/>
      <dgm:spPr/>
      <dgm:t>
        <a:bodyPr/>
        <a:lstStyle/>
        <a:p>
          <a:pPr>
            <a:buNone/>
          </a:pPr>
          <a:r>
            <a:rPr lang="en-US" sz="1100" b="1" dirty="0">
              <a:latin typeface="Times New Roman" panose="02020603050405020304" pitchFamily="18" charset="0"/>
              <a:cs typeface="Times New Roman" panose="02020603050405020304" pitchFamily="18" charset="0"/>
            </a:rPr>
            <a:t>Encryption + Parity</a:t>
          </a:r>
          <a:endParaRPr lang="en-US" sz="1100" dirty="0">
            <a:latin typeface="Times New Roman" panose="02020603050405020304" pitchFamily="18" charset="0"/>
            <a:cs typeface="Times New Roman" panose="02020603050405020304" pitchFamily="18" charset="0"/>
          </a:endParaRPr>
        </a:p>
      </dgm:t>
    </dgm:pt>
    <dgm:pt modelId="{48E1DC3D-F1F7-47AE-A825-1296B963A32D}" type="parTrans" cxnId="{426AE2B7-38A6-4C4A-BC0B-E737B3E181B2}">
      <dgm:prSet/>
      <dgm:spPr/>
      <dgm:t>
        <a:bodyPr/>
        <a:lstStyle/>
        <a:p>
          <a:endParaRPr lang="en-US"/>
        </a:p>
      </dgm:t>
    </dgm:pt>
    <dgm:pt modelId="{0ACC0D43-758E-422D-8A03-8DB75666B1A0}" type="sibTrans" cxnId="{426AE2B7-38A6-4C4A-BC0B-E737B3E181B2}">
      <dgm:prSet/>
      <dgm:spPr/>
      <dgm:t>
        <a:bodyPr/>
        <a:lstStyle/>
        <a:p>
          <a:endParaRPr lang="en-US"/>
        </a:p>
      </dgm:t>
    </dgm:pt>
    <dgm:pt modelId="{5A2D20CF-5E7A-4D31-8407-4CF7CCB53DE6}">
      <dgm:prSet custT="1"/>
      <dgm:spPr/>
      <dgm:t>
        <a:bodyPr/>
        <a:lstStyle/>
        <a:p>
          <a:pPr>
            <a:buNone/>
          </a:pPr>
          <a:r>
            <a:rPr lang="en-US" sz="1100" b="1" dirty="0">
              <a:latin typeface="Times New Roman" panose="02020603050405020304" pitchFamily="18" charset="0"/>
              <a:cs typeface="Times New Roman" panose="02020603050405020304" pitchFamily="18" charset="0"/>
            </a:rPr>
            <a:t>Central Data Memory</a:t>
          </a:r>
          <a:endParaRPr lang="en-US" sz="1100" dirty="0">
            <a:latin typeface="Times New Roman" panose="02020603050405020304" pitchFamily="18" charset="0"/>
            <a:cs typeface="Times New Roman" panose="02020603050405020304" pitchFamily="18" charset="0"/>
          </a:endParaRPr>
        </a:p>
      </dgm:t>
    </dgm:pt>
    <dgm:pt modelId="{E8FA05FD-707D-494E-9E26-20F1DEE7D2EF}" type="parTrans" cxnId="{3EF2E8CF-31CF-40D5-9BF7-2068DCE9492A}">
      <dgm:prSet/>
      <dgm:spPr/>
      <dgm:t>
        <a:bodyPr/>
        <a:lstStyle/>
        <a:p>
          <a:endParaRPr lang="en-US"/>
        </a:p>
      </dgm:t>
    </dgm:pt>
    <dgm:pt modelId="{B47522DE-76A3-4F62-A111-4F0D27750897}" type="sibTrans" cxnId="{3EF2E8CF-31CF-40D5-9BF7-2068DCE9492A}">
      <dgm:prSet/>
      <dgm:spPr/>
      <dgm:t>
        <a:bodyPr/>
        <a:lstStyle/>
        <a:p>
          <a:endParaRPr lang="en-US"/>
        </a:p>
      </dgm:t>
    </dgm:pt>
    <dgm:pt modelId="{610ADA6E-B21A-41E2-A0C5-7468C21A2B64}">
      <dgm:prSet custT="1"/>
      <dgm:spPr/>
      <dgm:t>
        <a:bodyPr/>
        <a:lstStyle/>
        <a:p>
          <a:pPr>
            <a:buNone/>
          </a:pPr>
          <a:r>
            <a:rPr lang="en-US" sz="1100" b="1" dirty="0">
              <a:latin typeface="Times New Roman" panose="02020603050405020304" pitchFamily="18" charset="0"/>
              <a:cs typeface="Times New Roman" panose="02020603050405020304" pitchFamily="18" charset="0"/>
            </a:rPr>
            <a:t>Application Interface</a:t>
          </a:r>
          <a:endParaRPr lang="en-US" sz="1100" dirty="0">
            <a:latin typeface="Times New Roman" panose="02020603050405020304" pitchFamily="18" charset="0"/>
            <a:cs typeface="Times New Roman" panose="02020603050405020304" pitchFamily="18" charset="0"/>
          </a:endParaRPr>
        </a:p>
      </dgm:t>
    </dgm:pt>
    <dgm:pt modelId="{D579C5C3-F99B-4745-8815-D24787966684}" type="parTrans" cxnId="{AE21DF34-2F4A-430D-92FC-26E6902F03A8}">
      <dgm:prSet/>
      <dgm:spPr/>
      <dgm:t>
        <a:bodyPr/>
        <a:lstStyle/>
        <a:p>
          <a:endParaRPr lang="en-US"/>
        </a:p>
      </dgm:t>
    </dgm:pt>
    <dgm:pt modelId="{768F070B-D48E-4B31-BEFE-ACC03F80FB32}" type="sibTrans" cxnId="{AE21DF34-2F4A-430D-92FC-26E6902F03A8}">
      <dgm:prSet/>
      <dgm:spPr/>
      <dgm:t>
        <a:bodyPr/>
        <a:lstStyle/>
        <a:p>
          <a:endParaRPr lang="en-US"/>
        </a:p>
      </dgm:t>
    </dgm:pt>
    <dgm:pt modelId="{0D039CCC-E8F8-4D63-8136-76F645254D9F}">
      <dgm:prSet custT="1"/>
      <dgm:spPr/>
      <dgm:t>
        <a:bodyPr/>
        <a:lstStyle/>
        <a:p>
          <a:pPr>
            <a:buNone/>
          </a:pPr>
          <a:r>
            <a:rPr lang="en-US" sz="1100" b="1" dirty="0">
              <a:latin typeface="Times New Roman" panose="02020603050405020304" pitchFamily="18" charset="0"/>
              <a:cs typeface="Times New Roman" panose="02020603050405020304" pitchFamily="18" charset="0"/>
            </a:rPr>
            <a:t>CXS TX Interface</a:t>
          </a:r>
          <a:endParaRPr lang="en-US" sz="1100" dirty="0">
            <a:latin typeface="Times New Roman" panose="02020603050405020304" pitchFamily="18" charset="0"/>
            <a:cs typeface="Times New Roman" panose="02020603050405020304" pitchFamily="18" charset="0"/>
          </a:endParaRPr>
        </a:p>
      </dgm:t>
    </dgm:pt>
    <dgm:pt modelId="{97D20CEF-7AFB-40CE-B68F-DAB71AC963C3}" type="parTrans" cxnId="{7F212122-02F0-43B9-B8D2-EFD42462C12F}">
      <dgm:prSet/>
      <dgm:spPr/>
      <dgm:t>
        <a:bodyPr/>
        <a:lstStyle/>
        <a:p>
          <a:endParaRPr lang="en-US"/>
        </a:p>
      </dgm:t>
    </dgm:pt>
    <dgm:pt modelId="{1DBF64CA-E848-4587-81AF-3B482B23D05F}" type="sibTrans" cxnId="{7F212122-02F0-43B9-B8D2-EFD42462C12F}">
      <dgm:prSet/>
      <dgm:spPr/>
      <dgm:t>
        <a:bodyPr/>
        <a:lstStyle/>
        <a:p>
          <a:endParaRPr lang="en-US"/>
        </a:p>
      </dgm:t>
    </dgm:pt>
    <dgm:pt modelId="{03DBD784-7597-4C99-B96F-E0F0688524B2}" type="pres">
      <dgm:prSet presAssocID="{8A14C725-258B-4030-B292-9300D40AD7AF}" presName="linearFlow" presStyleCnt="0">
        <dgm:presLayoutVars>
          <dgm:resizeHandles val="exact"/>
        </dgm:presLayoutVars>
      </dgm:prSet>
      <dgm:spPr/>
    </dgm:pt>
    <dgm:pt modelId="{DA85CECA-B47B-4AC3-B71F-3270DC00B3C3}" type="pres">
      <dgm:prSet presAssocID="{CEF06755-0B9A-4700-9657-D0AFDA22953B}" presName="node" presStyleLbl="node1" presStyleIdx="0" presStyleCnt="8">
        <dgm:presLayoutVars>
          <dgm:bulletEnabled val="1"/>
        </dgm:presLayoutVars>
      </dgm:prSet>
      <dgm:spPr/>
    </dgm:pt>
    <dgm:pt modelId="{AAE297F5-E414-4C16-8D02-D93561D76E4B}" type="pres">
      <dgm:prSet presAssocID="{80A42439-3F80-4D5B-9161-1A1E21C4627E}" presName="sibTrans" presStyleLbl="sibTrans2D1" presStyleIdx="0" presStyleCnt="7"/>
      <dgm:spPr/>
    </dgm:pt>
    <dgm:pt modelId="{63FECCBE-2077-4AFC-B9E7-B1C68C969FAC}" type="pres">
      <dgm:prSet presAssocID="{80A42439-3F80-4D5B-9161-1A1E21C4627E}" presName="connectorText" presStyleLbl="sibTrans2D1" presStyleIdx="0" presStyleCnt="7"/>
      <dgm:spPr/>
    </dgm:pt>
    <dgm:pt modelId="{22A06CE7-71FD-4A3E-8AA0-B0BF43360726}" type="pres">
      <dgm:prSet presAssocID="{D23FE703-604B-4925-AA13-B3CF14EF17D3}" presName="node" presStyleLbl="node1" presStyleIdx="1" presStyleCnt="8">
        <dgm:presLayoutVars>
          <dgm:bulletEnabled val="1"/>
        </dgm:presLayoutVars>
      </dgm:prSet>
      <dgm:spPr/>
    </dgm:pt>
    <dgm:pt modelId="{9EAE36D1-8898-429B-A077-72F3F6CC1EEF}" type="pres">
      <dgm:prSet presAssocID="{49280FC6-FCA5-44E8-A614-DFA1CB213B72}" presName="sibTrans" presStyleLbl="sibTrans2D1" presStyleIdx="1" presStyleCnt="7"/>
      <dgm:spPr/>
    </dgm:pt>
    <dgm:pt modelId="{41EB3015-48E1-4B94-B5CE-2137210FA193}" type="pres">
      <dgm:prSet presAssocID="{49280FC6-FCA5-44E8-A614-DFA1CB213B72}" presName="connectorText" presStyleLbl="sibTrans2D1" presStyleIdx="1" presStyleCnt="7"/>
      <dgm:spPr/>
    </dgm:pt>
    <dgm:pt modelId="{8AD7772D-ADC1-4804-BA53-EB944761E580}" type="pres">
      <dgm:prSet presAssocID="{A09A79CA-7A59-4E54-B2E9-3EDACEEC63FD}" presName="node" presStyleLbl="node1" presStyleIdx="2" presStyleCnt="8">
        <dgm:presLayoutVars>
          <dgm:bulletEnabled val="1"/>
        </dgm:presLayoutVars>
      </dgm:prSet>
      <dgm:spPr/>
    </dgm:pt>
    <dgm:pt modelId="{1BC99E1D-AC4A-40EA-A0B6-F95C8180936A}" type="pres">
      <dgm:prSet presAssocID="{6072AA47-03F7-449F-AD5E-9F765E104A8E}" presName="sibTrans" presStyleLbl="sibTrans2D1" presStyleIdx="2" presStyleCnt="7"/>
      <dgm:spPr/>
    </dgm:pt>
    <dgm:pt modelId="{F7CFAB2C-7702-4260-9389-0BB9C803FA09}" type="pres">
      <dgm:prSet presAssocID="{6072AA47-03F7-449F-AD5E-9F765E104A8E}" presName="connectorText" presStyleLbl="sibTrans2D1" presStyleIdx="2" presStyleCnt="7"/>
      <dgm:spPr/>
    </dgm:pt>
    <dgm:pt modelId="{04FEF770-4FA3-49F1-B40C-94AF5528AB63}" type="pres">
      <dgm:prSet presAssocID="{21E470E7-09E8-46F1-9FD1-29131FDF5405}" presName="node" presStyleLbl="node1" presStyleIdx="3" presStyleCnt="8">
        <dgm:presLayoutVars>
          <dgm:bulletEnabled val="1"/>
        </dgm:presLayoutVars>
      </dgm:prSet>
      <dgm:spPr/>
    </dgm:pt>
    <dgm:pt modelId="{92C8DFCA-D1E0-417F-A686-D9FC0385CCBD}" type="pres">
      <dgm:prSet presAssocID="{0ACC0D43-758E-422D-8A03-8DB75666B1A0}" presName="sibTrans" presStyleLbl="sibTrans2D1" presStyleIdx="3" presStyleCnt="7"/>
      <dgm:spPr/>
    </dgm:pt>
    <dgm:pt modelId="{066AF965-FFB6-4165-B52F-960640510DA8}" type="pres">
      <dgm:prSet presAssocID="{0ACC0D43-758E-422D-8A03-8DB75666B1A0}" presName="connectorText" presStyleLbl="sibTrans2D1" presStyleIdx="3" presStyleCnt="7"/>
      <dgm:spPr/>
    </dgm:pt>
    <dgm:pt modelId="{A21DDB2C-3D52-4CBE-B695-D35904610A55}" type="pres">
      <dgm:prSet presAssocID="{2BBAA2C4-C8A7-42AB-9FFF-D52D0DA7C97E}" presName="node" presStyleLbl="node1" presStyleIdx="4" presStyleCnt="8">
        <dgm:presLayoutVars>
          <dgm:bulletEnabled val="1"/>
        </dgm:presLayoutVars>
      </dgm:prSet>
      <dgm:spPr/>
    </dgm:pt>
    <dgm:pt modelId="{7B043563-BB29-4C24-9B83-DDD46A0E5F83}" type="pres">
      <dgm:prSet presAssocID="{20A86531-7F30-41C1-9808-BCFB71F4E74C}" presName="sibTrans" presStyleLbl="sibTrans2D1" presStyleIdx="4" presStyleCnt="7"/>
      <dgm:spPr/>
    </dgm:pt>
    <dgm:pt modelId="{97A9AA41-DE84-49FA-9321-D3AB3D313FF5}" type="pres">
      <dgm:prSet presAssocID="{20A86531-7F30-41C1-9808-BCFB71F4E74C}" presName="connectorText" presStyleLbl="sibTrans2D1" presStyleIdx="4" presStyleCnt="7"/>
      <dgm:spPr/>
    </dgm:pt>
    <dgm:pt modelId="{30EB8C55-69CE-44C7-A4F0-6CD3073EC855}" type="pres">
      <dgm:prSet presAssocID="{5A2D20CF-5E7A-4D31-8407-4CF7CCB53DE6}" presName="node" presStyleLbl="node1" presStyleIdx="5" presStyleCnt="8">
        <dgm:presLayoutVars>
          <dgm:bulletEnabled val="1"/>
        </dgm:presLayoutVars>
      </dgm:prSet>
      <dgm:spPr/>
    </dgm:pt>
    <dgm:pt modelId="{F36AD347-3B70-4415-AD7C-B2E31B184B05}" type="pres">
      <dgm:prSet presAssocID="{B47522DE-76A3-4F62-A111-4F0D27750897}" presName="sibTrans" presStyleLbl="sibTrans2D1" presStyleIdx="5" presStyleCnt="7"/>
      <dgm:spPr/>
    </dgm:pt>
    <dgm:pt modelId="{E28FCBA7-C573-4603-877B-8536BFD456AB}" type="pres">
      <dgm:prSet presAssocID="{B47522DE-76A3-4F62-A111-4F0D27750897}" presName="connectorText" presStyleLbl="sibTrans2D1" presStyleIdx="5" presStyleCnt="7"/>
      <dgm:spPr/>
    </dgm:pt>
    <dgm:pt modelId="{14E450D8-C657-42A3-B035-BCB31151C7C3}" type="pres">
      <dgm:prSet presAssocID="{610ADA6E-B21A-41E2-A0C5-7468C21A2B64}" presName="node" presStyleLbl="node1" presStyleIdx="6" presStyleCnt="8">
        <dgm:presLayoutVars>
          <dgm:bulletEnabled val="1"/>
        </dgm:presLayoutVars>
      </dgm:prSet>
      <dgm:spPr/>
    </dgm:pt>
    <dgm:pt modelId="{853C280A-8C96-435C-A0B6-1965EFD56927}" type="pres">
      <dgm:prSet presAssocID="{768F070B-D48E-4B31-BEFE-ACC03F80FB32}" presName="sibTrans" presStyleLbl="sibTrans2D1" presStyleIdx="6" presStyleCnt="7"/>
      <dgm:spPr/>
    </dgm:pt>
    <dgm:pt modelId="{43704DC0-5F67-40A9-B0B9-99F20200AD98}" type="pres">
      <dgm:prSet presAssocID="{768F070B-D48E-4B31-BEFE-ACC03F80FB32}" presName="connectorText" presStyleLbl="sibTrans2D1" presStyleIdx="6" presStyleCnt="7"/>
      <dgm:spPr/>
    </dgm:pt>
    <dgm:pt modelId="{70E6639B-1389-440E-A27A-3EAE3C642B0D}" type="pres">
      <dgm:prSet presAssocID="{0D039CCC-E8F8-4D63-8136-76F645254D9F}" presName="node" presStyleLbl="node1" presStyleIdx="7" presStyleCnt="8">
        <dgm:presLayoutVars>
          <dgm:bulletEnabled val="1"/>
        </dgm:presLayoutVars>
      </dgm:prSet>
      <dgm:spPr/>
    </dgm:pt>
  </dgm:ptLst>
  <dgm:cxnLst>
    <dgm:cxn modelId="{FC27BB0A-4E47-49D6-92F4-FB1B6A44C0D9}" type="presOf" srcId="{49280FC6-FCA5-44E8-A614-DFA1CB213B72}" destId="{41EB3015-48E1-4B94-B5CE-2137210FA193}" srcOrd="1" destOrd="0" presId="urn:microsoft.com/office/officeart/2005/8/layout/process2"/>
    <dgm:cxn modelId="{5ED91112-F350-40E4-99FD-7916CA1AAB46}" type="presOf" srcId="{0D039CCC-E8F8-4D63-8136-76F645254D9F}" destId="{70E6639B-1389-440E-A27A-3EAE3C642B0D}" srcOrd="0" destOrd="0" presId="urn:microsoft.com/office/officeart/2005/8/layout/process2"/>
    <dgm:cxn modelId="{7F212122-02F0-43B9-B8D2-EFD42462C12F}" srcId="{8A14C725-258B-4030-B292-9300D40AD7AF}" destId="{0D039CCC-E8F8-4D63-8136-76F645254D9F}" srcOrd="7" destOrd="0" parTransId="{97D20CEF-7AFB-40CE-B68F-DAB71AC963C3}" sibTransId="{1DBF64CA-E848-4587-81AF-3B482B23D05F}"/>
    <dgm:cxn modelId="{2AD81E2B-3FDD-4F62-8407-9B248557AFC4}" type="presOf" srcId="{610ADA6E-B21A-41E2-A0C5-7468C21A2B64}" destId="{14E450D8-C657-42A3-B035-BCB31151C7C3}" srcOrd="0" destOrd="0" presId="urn:microsoft.com/office/officeart/2005/8/layout/process2"/>
    <dgm:cxn modelId="{F0E3652C-D76A-402F-B624-C52ED22A6B1B}" srcId="{8A14C725-258B-4030-B292-9300D40AD7AF}" destId="{CEF06755-0B9A-4700-9657-D0AFDA22953B}" srcOrd="0" destOrd="0" parTransId="{6FC1A8D6-0017-480B-9C3A-719C3FECCBA7}" sibTransId="{80A42439-3F80-4D5B-9161-1A1E21C4627E}"/>
    <dgm:cxn modelId="{C134F42D-C71F-4F3F-A9AF-DF217F51F7B6}" type="presOf" srcId="{B47522DE-76A3-4F62-A111-4F0D27750897}" destId="{E28FCBA7-C573-4603-877B-8536BFD456AB}" srcOrd="1" destOrd="0" presId="urn:microsoft.com/office/officeart/2005/8/layout/process2"/>
    <dgm:cxn modelId="{AE21DF34-2F4A-430D-92FC-26E6902F03A8}" srcId="{8A14C725-258B-4030-B292-9300D40AD7AF}" destId="{610ADA6E-B21A-41E2-A0C5-7468C21A2B64}" srcOrd="6" destOrd="0" parTransId="{D579C5C3-F99B-4745-8815-D24787966684}" sibTransId="{768F070B-D48E-4B31-BEFE-ACC03F80FB32}"/>
    <dgm:cxn modelId="{81982637-1296-4ED2-B8A3-4AD97B9DEB01}" type="presOf" srcId="{8A14C725-258B-4030-B292-9300D40AD7AF}" destId="{03DBD784-7597-4C99-B96F-E0F0688524B2}" srcOrd="0" destOrd="0" presId="urn:microsoft.com/office/officeart/2005/8/layout/process2"/>
    <dgm:cxn modelId="{69B42E40-484C-484D-88D8-E1A67F4666D5}" type="presOf" srcId="{2BBAA2C4-C8A7-42AB-9FFF-D52D0DA7C97E}" destId="{A21DDB2C-3D52-4CBE-B695-D35904610A55}" srcOrd="0" destOrd="0" presId="urn:microsoft.com/office/officeart/2005/8/layout/process2"/>
    <dgm:cxn modelId="{47B58D5C-CECF-422D-930F-74A9ED32AB52}" srcId="{8A14C725-258B-4030-B292-9300D40AD7AF}" destId="{A09A79CA-7A59-4E54-B2E9-3EDACEEC63FD}" srcOrd="2" destOrd="0" parTransId="{793FCF26-B661-4351-B302-44535D8C909B}" sibTransId="{6072AA47-03F7-449F-AD5E-9F765E104A8E}"/>
    <dgm:cxn modelId="{D149EF5E-8775-4A3F-8C74-575D3858F96D}" type="presOf" srcId="{B47522DE-76A3-4F62-A111-4F0D27750897}" destId="{F36AD347-3B70-4415-AD7C-B2E31B184B05}" srcOrd="0" destOrd="0" presId="urn:microsoft.com/office/officeart/2005/8/layout/process2"/>
    <dgm:cxn modelId="{2BA76263-16BB-4DC9-AA7C-E04A7972B8F2}" srcId="{8A14C725-258B-4030-B292-9300D40AD7AF}" destId="{D23FE703-604B-4925-AA13-B3CF14EF17D3}" srcOrd="1" destOrd="0" parTransId="{2170B5CB-7960-41A7-BEAA-0259AB17196B}" sibTransId="{49280FC6-FCA5-44E8-A614-DFA1CB213B72}"/>
    <dgm:cxn modelId="{DAC91865-EA0F-4B35-85AF-2F067D4B02C6}" type="presOf" srcId="{5A2D20CF-5E7A-4D31-8407-4CF7CCB53DE6}" destId="{30EB8C55-69CE-44C7-A4F0-6CD3073EC855}" srcOrd="0" destOrd="0" presId="urn:microsoft.com/office/officeart/2005/8/layout/process2"/>
    <dgm:cxn modelId="{083BAE54-E189-4D1F-A1CC-860BACE12A48}" type="presOf" srcId="{6072AA47-03F7-449F-AD5E-9F765E104A8E}" destId="{1BC99E1D-AC4A-40EA-A0B6-F95C8180936A}" srcOrd="0" destOrd="0" presId="urn:microsoft.com/office/officeart/2005/8/layout/process2"/>
    <dgm:cxn modelId="{485ABD74-4B2D-4EB9-A44B-3948CA374447}" type="presOf" srcId="{80A42439-3F80-4D5B-9161-1A1E21C4627E}" destId="{AAE297F5-E414-4C16-8D02-D93561D76E4B}" srcOrd="0" destOrd="0" presId="urn:microsoft.com/office/officeart/2005/8/layout/process2"/>
    <dgm:cxn modelId="{8BC7BB76-4C72-4340-BDF7-18FDD24C9D3F}" type="presOf" srcId="{0ACC0D43-758E-422D-8A03-8DB75666B1A0}" destId="{066AF965-FFB6-4165-B52F-960640510DA8}" srcOrd="1" destOrd="0" presId="urn:microsoft.com/office/officeart/2005/8/layout/process2"/>
    <dgm:cxn modelId="{FA725B7F-DF58-48AF-9B3A-8BD36FE3C48D}" type="presOf" srcId="{6072AA47-03F7-449F-AD5E-9F765E104A8E}" destId="{F7CFAB2C-7702-4260-9389-0BB9C803FA09}" srcOrd="1" destOrd="0" presId="urn:microsoft.com/office/officeart/2005/8/layout/process2"/>
    <dgm:cxn modelId="{38E8E981-4FFD-455A-8A74-A5E7B07209F2}" type="presOf" srcId="{21E470E7-09E8-46F1-9FD1-29131FDF5405}" destId="{04FEF770-4FA3-49F1-B40C-94AF5528AB63}" srcOrd="0" destOrd="0" presId="urn:microsoft.com/office/officeart/2005/8/layout/process2"/>
    <dgm:cxn modelId="{553D8E89-C0B9-4030-B76B-7C415488D233}" type="presOf" srcId="{CEF06755-0B9A-4700-9657-D0AFDA22953B}" destId="{DA85CECA-B47B-4AC3-B71F-3270DC00B3C3}" srcOrd="0" destOrd="0" presId="urn:microsoft.com/office/officeart/2005/8/layout/process2"/>
    <dgm:cxn modelId="{C7CB9B8D-32E6-4CC3-85D6-5FBAB772D846}" type="presOf" srcId="{49280FC6-FCA5-44E8-A614-DFA1CB213B72}" destId="{9EAE36D1-8898-429B-A077-72F3F6CC1EEF}" srcOrd="0" destOrd="0" presId="urn:microsoft.com/office/officeart/2005/8/layout/process2"/>
    <dgm:cxn modelId="{E2609599-0792-4EF7-AE21-DF56460F895E}" type="presOf" srcId="{768F070B-D48E-4B31-BEFE-ACC03F80FB32}" destId="{43704DC0-5F67-40A9-B0B9-99F20200AD98}" srcOrd="1" destOrd="0" presId="urn:microsoft.com/office/officeart/2005/8/layout/process2"/>
    <dgm:cxn modelId="{8BD8D0AC-F485-493D-9FC3-1E9CC7E3EDE8}" type="presOf" srcId="{20A86531-7F30-41C1-9808-BCFB71F4E74C}" destId="{97A9AA41-DE84-49FA-9321-D3AB3D313FF5}" srcOrd="1" destOrd="0" presId="urn:microsoft.com/office/officeart/2005/8/layout/process2"/>
    <dgm:cxn modelId="{426AE2B7-38A6-4C4A-BC0B-E737B3E181B2}" srcId="{8A14C725-258B-4030-B292-9300D40AD7AF}" destId="{21E470E7-09E8-46F1-9FD1-29131FDF5405}" srcOrd="3" destOrd="0" parTransId="{48E1DC3D-F1F7-47AE-A825-1296B963A32D}" sibTransId="{0ACC0D43-758E-422D-8A03-8DB75666B1A0}"/>
    <dgm:cxn modelId="{2393B5CB-27B5-4FF5-81AF-F7BE366F58DC}" type="presOf" srcId="{20A86531-7F30-41C1-9808-BCFB71F4E74C}" destId="{7B043563-BB29-4C24-9B83-DDD46A0E5F83}" srcOrd="0" destOrd="0" presId="urn:microsoft.com/office/officeart/2005/8/layout/process2"/>
    <dgm:cxn modelId="{3EF2E8CF-31CF-40D5-9BF7-2068DCE9492A}" srcId="{8A14C725-258B-4030-B292-9300D40AD7AF}" destId="{5A2D20CF-5E7A-4D31-8407-4CF7CCB53DE6}" srcOrd="5" destOrd="0" parTransId="{E8FA05FD-707D-494E-9E26-20F1DEE7D2EF}" sibTransId="{B47522DE-76A3-4F62-A111-4F0D27750897}"/>
    <dgm:cxn modelId="{F41D06E4-51D7-4916-84CD-B73347BADD02}" srcId="{8A14C725-258B-4030-B292-9300D40AD7AF}" destId="{2BBAA2C4-C8A7-42AB-9FFF-D52D0DA7C97E}" srcOrd="4" destOrd="0" parTransId="{EDCF0F31-9E83-4088-A52F-69A717EBCF83}" sibTransId="{20A86531-7F30-41C1-9808-BCFB71F4E74C}"/>
    <dgm:cxn modelId="{A40924E8-80CD-46B4-A4B5-DE62ADB94B52}" type="presOf" srcId="{A09A79CA-7A59-4E54-B2E9-3EDACEEC63FD}" destId="{8AD7772D-ADC1-4804-BA53-EB944761E580}" srcOrd="0" destOrd="0" presId="urn:microsoft.com/office/officeart/2005/8/layout/process2"/>
    <dgm:cxn modelId="{41CC54E8-83E1-43C3-9EF3-9214FF27C3B6}" type="presOf" srcId="{0ACC0D43-758E-422D-8A03-8DB75666B1A0}" destId="{92C8DFCA-D1E0-417F-A686-D9FC0385CCBD}" srcOrd="0" destOrd="0" presId="urn:microsoft.com/office/officeart/2005/8/layout/process2"/>
    <dgm:cxn modelId="{5456A0E8-6132-4965-A5A1-000DFD98843A}" type="presOf" srcId="{D23FE703-604B-4925-AA13-B3CF14EF17D3}" destId="{22A06CE7-71FD-4A3E-8AA0-B0BF43360726}" srcOrd="0" destOrd="0" presId="urn:microsoft.com/office/officeart/2005/8/layout/process2"/>
    <dgm:cxn modelId="{AD4281F0-10DF-49E4-BAE1-9697218364BA}" type="presOf" srcId="{80A42439-3F80-4D5B-9161-1A1E21C4627E}" destId="{63FECCBE-2077-4AFC-B9E7-B1C68C969FAC}" srcOrd="1" destOrd="0" presId="urn:microsoft.com/office/officeart/2005/8/layout/process2"/>
    <dgm:cxn modelId="{03F045FD-358C-42C3-B051-DD3348F8F560}" type="presOf" srcId="{768F070B-D48E-4B31-BEFE-ACC03F80FB32}" destId="{853C280A-8C96-435C-A0B6-1965EFD56927}" srcOrd="0" destOrd="0" presId="urn:microsoft.com/office/officeart/2005/8/layout/process2"/>
    <dgm:cxn modelId="{8D17FFA2-654E-46D9-8AA9-518F9853680D}" type="presParOf" srcId="{03DBD784-7597-4C99-B96F-E0F0688524B2}" destId="{DA85CECA-B47B-4AC3-B71F-3270DC00B3C3}" srcOrd="0" destOrd="0" presId="urn:microsoft.com/office/officeart/2005/8/layout/process2"/>
    <dgm:cxn modelId="{736A4840-02AD-47A7-B336-4517D9BDCA09}" type="presParOf" srcId="{03DBD784-7597-4C99-B96F-E0F0688524B2}" destId="{AAE297F5-E414-4C16-8D02-D93561D76E4B}" srcOrd="1" destOrd="0" presId="urn:microsoft.com/office/officeart/2005/8/layout/process2"/>
    <dgm:cxn modelId="{001AC0EB-585C-444B-A61B-042672A5C0E4}" type="presParOf" srcId="{AAE297F5-E414-4C16-8D02-D93561D76E4B}" destId="{63FECCBE-2077-4AFC-B9E7-B1C68C969FAC}" srcOrd="0" destOrd="0" presId="urn:microsoft.com/office/officeart/2005/8/layout/process2"/>
    <dgm:cxn modelId="{AD9CEFB5-60A7-4E18-A540-4BB4C0355DE4}" type="presParOf" srcId="{03DBD784-7597-4C99-B96F-E0F0688524B2}" destId="{22A06CE7-71FD-4A3E-8AA0-B0BF43360726}" srcOrd="2" destOrd="0" presId="urn:microsoft.com/office/officeart/2005/8/layout/process2"/>
    <dgm:cxn modelId="{2B529C25-D950-4993-8E30-088315E62D4A}" type="presParOf" srcId="{03DBD784-7597-4C99-B96F-E0F0688524B2}" destId="{9EAE36D1-8898-429B-A077-72F3F6CC1EEF}" srcOrd="3" destOrd="0" presId="urn:microsoft.com/office/officeart/2005/8/layout/process2"/>
    <dgm:cxn modelId="{FAEDE4AD-3DAC-493C-AC95-BA6DEACE0CFB}" type="presParOf" srcId="{9EAE36D1-8898-429B-A077-72F3F6CC1EEF}" destId="{41EB3015-48E1-4B94-B5CE-2137210FA193}" srcOrd="0" destOrd="0" presId="urn:microsoft.com/office/officeart/2005/8/layout/process2"/>
    <dgm:cxn modelId="{407D0F48-32A5-408B-985A-B4FD66652C43}" type="presParOf" srcId="{03DBD784-7597-4C99-B96F-E0F0688524B2}" destId="{8AD7772D-ADC1-4804-BA53-EB944761E580}" srcOrd="4" destOrd="0" presId="urn:microsoft.com/office/officeart/2005/8/layout/process2"/>
    <dgm:cxn modelId="{A6BDA1F4-E839-4A1A-B2F5-A9D3A0FB4B71}" type="presParOf" srcId="{03DBD784-7597-4C99-B96F-E0F0688524B2}" destId="{1BC99E1D-AC4A-40EA-A0B6-F95C8180936A}" srcOrd="5" destOrd="0" presId="urn:microsoft.com/office/officeart/2005/8/layout/process2"/>
    <dgm:cxn modelId="{98561711-DA81-4070-9CA4-AF38F7CEBED1}" type="presParOf" srcId="{1BC99E1D-AC4A-40EA-A0B6-F95C8180936A}" destId="{F7CFAB2C-7702-4260-9389-0BB9C803FA09}" srcOrd="0" destOrd="0" presId="urn:microsoft.com/office/officeart/2005/8/layout/process2"/>
    <dgm:cxn modelId="{05293E92-3B48-4BE0-BC7E-173CD7251084}" type="presParOf" srcId="{03DBD784-7597-4C99-B96F-E0F0688524B2}" destId="{04FEF770-4FA3-49F1-B40C-94AF5528AB63}" srcOrd="6" destOrd="0" presId="urn:microsoft.com/office/officeart/2005/8/layout/process2"/>
    <dgm:cxn modelId="{8AC31184-3452-4FC7-B204-232485C2837A}" type="presParOf" srcId="{03DBD784-7597-4C99-B96F-E0F0688524B2}" destId="{92C8DFCA-D1E0-417F-A686-D9FC0385CCBD}" srcOrd="7" destOrd="0" presId="urn:microsoft.com/office/officeart/2005/8/layout/process2"/>
    <dgm:cxn modelId="{561C3525-9D0A-439A-8417-49455AC375C2}" type="presParOf" srcId="{92C8DFCA-D1E0-417F-A686-D9FC0385CCBD}" destId="{066AF965-FFB6-4165-B52F-960640510DA8}" srcOrd="0" destOrd="0" presId="urn:microsoft.com/office/officeart/2005/8/layout/process2"/>
    <dgm:cxn modelId="{0763A2C9-697D-47BB-A7DD-80F259E34D58}" type="presParOf" srcId="{03DBD784-7597-4C99-B96F-E0F0688524B2}" destId="{A21DDB2C-3D52-4CBE-B695-D35904610A55}" srcOrd="8" destOrd="0" presId="urn:microsoft.com/office/officeart/2005/8/layout/process2"/>
    <dgm:cxn modelId="{775FFE17-0615-4F66-925F-453AE1D71FC9}" type="presParOf" srcId="{03DBD784-7597-4C99-B96F-E0F0688524B2}" destId="{7B043563-BB29-4C24-9B83-DDD46A0E5F83}" srcOrd="9" destOrd="0" presId="urn:microsoft.com/office/officeart/2005/8/layout/process2"/>
    <dgm:cxn modelId="{0BF3A274-9B44-47C6-92C8-D9C17CBEB052}" type="presParOf" srcId="{7B043563-BB29-4C24-9B83-DDD46A0E5F83}" destId="{97A9AA41-DE84-49FA-9321-D3AB3D313FF5}" srcOrd="0" destOrd="0" presId="urn:microsoft.com/office/officeart/2005/8/layout/process2"/>
    <dgm:cxn modelId="{C7D0DC81-91C9-49E8-8C48-0583491B2FD1}" type="presParOf" srcId="{03DBD784-7597-4C99-B96F-E0F0688524B2}" destId="{30EB8C55-69CE-44C7-A4F0-6CD3073EC855}" srcOrd="10" destOrd="0" presId="urn:microsoft.com/office/officeart/2005/8/layout/process2"/>
    <dgm:cxn modelId="{586B9779-7C5C-48E8-990A-0CA808CFA4C6}" type="presParOf" srcId="{03DBD784-7597-4C99-B96F-E0F0688524B2}" destId="{F36AD347-3B70-4415-AD7C-B2E31B184B05}" srcOrd="11" destOrd="0" presId="urn:microsoft.com/office/officeart/2005/8/layout/process2"/>
    <dgm:cxn modelId="{030B3396-5D97-415E-94E9-290A64840EDE}" type="presParOf" srcId="{F36AD347-3B70-4415-AD7C-B2E31B184B05}" destId="{E28FCBA7-C573-4603-877B-8536BFD456AB}" srcOrd="0" destOrd="0" presId="urn:microsoft.com/office/officeart/2005/8/layout/process2"/>
    <dgm:cxn modelId="{61737809-A709-4834-9CEE-81CEC3FA4B37}" type="presParOf" srcId="{03DBD784-7597-4C99-B96F-E0F0688524B2}" destId="{14E450D8-C657-42A3-B035-BCB31151C7C3}" srcOrd="12" destOrd="0" presId="urn:microsoft.com/office/officeart/2005/8/layout/process2"/>
    <dgm:cxn modelId="{FCD4ABC4-E1F9-4734-BC56-56ABC4CD92FC}" type="presParOf" srcId="{03DBD784-7597-4C99-B96F-E0F0688524B2}" destId="{853C280A-8C96-435C-A0B6-1965EFD56927}" srcOrd="13" destOrd="0" presId="urn:microsoft.com/office/officeart/2005/8/layout/process2"/>
    <dgm:cxn modelId="{93BBDD36-7493-4E9D-93A2-95B67EAB3B79}" type="presParOf" srcId="{853C280A-8C96-435C-A0B6-1965EFD56927}" destId="{43704DC0-5F67-40A9-B0B9-99F20200AD98}" srcOrd="0" destOrd="0" presId="urn:microsoft.com/office/officeart/2005/8/layout/process2"/>
    <dgm:cxn modelId="{32DE4AB5-5E36-4AD8-867B-EEA99A209567}" type="presParOf" srcId="{03DBD784-7597-4C99-B96F-E0F0688524B2}" destId="{70E6639B-1389-440E-A27A-3EAE3C642B0D}" srcOrd="14"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D8BF07-C71E-467F-9FB5-8F4EB5FADFA0}">
      <dsp:nvSpPr>
        <dsp:cNvPr id="0" name=""/>
        <dsp:cNvSpPr/>
      </dsp:nvSpPr>
      <dsp:spPr>
        <a:xfrm>
          <a:off x="4785656" y="679621"/>
          <a:ext cx="1432241" cy="1432314"/>
        </a:xfrm>
        <a:prstGeom prst="ellipse">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09CF40-E589-4609-8AB5-35177CD6BC7E}">
      <dsp:nvSpPr>
        <dsp:cNvPr id="0" name=""/>
        <dsp:cNvSpPr/>
      </dsp:nvSpPr>
      <dsp:spPr>
        <a:xfrm>
          <a:off x="4833562" y="727373"/>
          <a:ext cx="1337045" cy="133681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t>Storing</a:t>
          </a:r>
        </a:p>
      </dsp:txBody>
      <dsp:txXfrm>
        <a:off x="5024568" y="918382"/>
        <a:ext cx="955032" cy="954792"/>
      </dsp:txXfrm>
    </dsp:sp>
    <dsp:sp modelId="{A1FCC95A-8C82-4448-B9E2-36DA616DDD78}">
      <dsp:nvSpPr>
        <dsp:cNvPr id="0" name=""/>
        <dsp:cNvSpPr/>
      </dsp:nvSpPr>
      <dsp:spPr>
        <a:xfrm rot="2700000">
          <a:off x="3299356" y="679521"/>
          <a:ext cx="1432264" cy="1432264"/>
        </a:xfrm>
        <a:prstGeom prst="teardrop">
          <a:avLst>
            <a:gd name="adj" fmla="val 10000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12CE89-0B49-42EA-AF66-E3717E9B4297}">
      <dsp:nvSpPr>
        <dsp:cNvPr id="0" name=""/>
        <dsp:cNvSpPr/>
      </dsp:nvSpPr>
      <dsp:spPr>
        <a:xfrm>
          <a:off x="3353415" y="727373"/>
          <a:ext cx="1337045" cy="133681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t>Parity</a:t>
          </a:r>
          <a:r>
            <a:rPr lang="en-US" sz="1600" kern="1200" dirty="0"/>
            <a:t> </a:t>
          </a:r>
        </a:p>
      </dsp:txBody>
      <dsp:txXfrm>
        <a:off x="3544421" y="918382"/>
        <a:ext cx="955032" cy="954792"/>
      </dsp:txXfrm>
    </dsp:sp>
    <dsp:sp modelId="{E4962A0A-DFAD-4249-B2CE-5963F243EF6A}">
      <dsp:nvSpPr>
        <dsp:cNvPr id="0" name=""/>
        <dsp:cNvSpPr/>
      </dsp:nvSpPr>
      <dsp:spPr>
        <a:xfrm rot="2700000">
          <a:off x="1825351" y="679521"/>
          <a:ext cx="1432264" cy="1432264"/>
        </a:xfrm>
        <a:prstGeom prst="teardrop">
          <a:avLst>
            <a:gd name="adj" fmla="val 10000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F54E8AD-D6F4-44D5-93A3-51108CB89D87}">
      <dsp:nvSpPr>
        <dsp:cNvPr id="0" name=""/>
        <dsp:cNvSpPr/>
      </dsp:nvSpPr>
      <dsp:spPr>
        <a:xfrm>
          <a:off x="1873268" y="727373"/>
          <a:ext cx="1337045" cy="133681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a:t>Encryption</a:t>
          </a:r>
          <a:r>
            <a:rPr lang="en-US" sz="1600" kern="1200" dirty="0"/>
            <a:t> </a:t>
          </a:r>
        </a:p>
      </dsp:txBody>
      <dsp:txXfrm>
        <a:off x="2064275" y="918382"/>
        <a:ext cx="955032" cy="954792"/>
      </dsp:txXfrm>
    </dsp:sp>
    <dsp:sp modelId="{38EFC76C-5A8F-44DC-9760-F51F746588A8}">
      <dsp:nvSpPr>
        <dsp:cNvPr id="0" name=""/>
        <dsp:cNvSpPr/>
      </dsp:nvSpPr>
      <dsp:spPr>
        <a:xfrm rot="2700000">
          <a:off x="345205" y="679521"/>
          <a:ext cx="1432264" cy="1432264"/>
        </a:xfrm>
        <a:prstGeom prst="teardrop">
          <a:avLst>
            <a:gd name="adj" fmla="val 100000"/>
          </a:avLst>
        </a:prstGeom>
        <a:solidFill>
          <a:srgbClr val="00206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C3C89B-CE1D-4F85-BE1F-C9EE55283FF5}">
      <dsp:nvSpPr>
        <dsp:cNvPr id="0" name=""/>
        <dsp:cNvSpPr/>
      </dsp:nvSpPr>
      <dsp:spPr>
        <a:xfrm>
          <a:off x="393122" y="727373"/>
          <a:ext cx="1337045" cy="1336810"/>
        </a:xfrm>
        <a:prstGeom prst="ellipse">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b="1" kern="1200" dirty="0" err="1"/>
            <a:t>Recieving</a:t>
          </a:r>
          <a:endParaRPr lang="en-US" sz="1600" b="1" kern="1200" dirty="0"/>
        </a:p>
      </dsp:txBody>
      <dsp:txXfrm>
        <a:off x="584128" y="918382"/>
        <a:ext cx="955032" cy="9547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03D075-B81E-4B59-A186-4E09371BAC4B}">
      <dsp:nvSpPr>
        <dsp:cNvPr id="0" name=""/>
        <dsp:cNvSpPr/>
      </dsp:nvSpPr>
      <dsp:spPr>
        <a:xfrm>
          <a:off x="88902" y="771649"/>
          <a:ext cx="1296348" cy="4272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t>Incoming Data</a:t>
          </a:r>
          <a:endParaRPr lang="en-US" sz="1200" kern="1200" dirty="0"/>
        </a:p>
      </dsp:txBody>
      <dsp:txXfrm>
        <a:off x="88902" y="771649"/>
        <a:ext cx="1296348" cy="427205"/>
      </dsp:txXfrm>
    </dsp:sp>
    <dsp:sp modelId="{066C68C2-73A1-478B-AF64-52B3596557EC}">
      <dsp:nvSpPr>
        <dsp:cNvPr id="0" name=""/>
        <dsp:cNvSpPr/>
      </dsp:nvSpPr>
      <dsp:spPr>
        <a:xfrm>
          <a:off x="87429" y="641719"/>
          <a:ext cx="103118" cy="10311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88CB0C2-25A7-41F4-A2F8-AD40E0182692}">
      <dsp:nvSpPr>
        <dsp:cNvPr id="0" name=""/>
        <dsp:cNvSpPr/>
      </dsp:nvSpPr>
      <dsp:spPr>
        <a:xfrm>
          <a:off x="159612" y="497353"/>
          <a:ext cx="103118" cy="103118"/>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099179-74BC-41CB-8C4B-6C1D7EADE47F}">
      <dsp:nvSpPr>
        <dsp:cNvPr id="0" name=""/>
        <dsp:cNvSpPr/>
      </dsp:nvSpPr>
      <dsp:spPr>
        <a:xfrm>
          <a:off x="332851" y="526226"/>
          <a:ext cx="162043" cy="162043"/>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693B16-AE82-42FB-BC4B-6A3DAE214D2B}">
      <dsp:nvSpPr>
        <dsp:cNvPr id="0" name=""/>
        <dsp:cNvSpPr/>
      </dsp:nvSpPr>
      <dsp:spPr>
        <a:xfrm>
          <a:off x="477217" y="367424"/>
          <a:ext cx="103118" cy="103118"/>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1A6140-05E9-4F98-9F7A-0B5BF2F57554}">
      <dsp:nvSpPr>
        <dsp:cNvPr id="0" name=""/>
        <dsp:cNvSpPr/>
      </dsp:nvSpPr>
      <dsp:spPr>
        <a:xfrm>
          <a:off x="664893" y="309677"/>
          <a:ext cx="103118" cy="103118"/>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FE86FB-BFBD-4ADE-B86C-796325F2833C}">
      <dsp:nvSpPr>
        <dsp:cNvPr id="0" name=""/>
        <dsp:cNvSpPr/>
      </dsp:nvSpPr>
      <dsp:spPr>
        <a:xfrm>
          <a:off x="895879" y="410734"/>
          <a:ext cx="103118" cy="10311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310377-E442-40F3-99A8-5B86A75E257D}">
      <dsp:nvSpPr>
        <dsp:cNvPr id="0" name=""/>
        <dsp:cNvSpPr/>
      </dsp:nvSpPr>
      <dsp:spPr>
        <a:xfrm>
          <a:off x="1040245" y="482917"/>
          <a:ext cx="162043" cy="162043"/>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ACED0C-96CB-4CA1-95C8-0F152BFC642C}">
      <dsp:nvSpPr>
        <dsp:cNvPr id="0" name=""/>
        <dsp:cNvSpPr/>
      </dsp:nvSpPr>
      <dsp:spPr>
        <a:xfrm>
          <a:off x="1242357" y="641719"/>
          <a:ext cx="103118" cy="103118"/>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63EEF1-52A9-4049-BCEF-AC424DFF895A}">
      <dsp:nvSpPr>
        <dsp:cNvPr id="0" name=""/>
        <dsp:cNvSpPr/>
      </dsp:nvSpPr>
      <dsp:spPr>
        <a:xfrm>
          <a:off x="1328977" y="800522"/>
          <a:ext cx="103118" cy="103118"/>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0EC5D0-6D43-46D2-9245-D99330136064}">
      <dsp:nvSpPr>
        <dsp:cNvPr id="0" name=""/>
        <dsp:cNvSpPr/>
      </dsp:nvSpPr>
      <dsp:spPr>
        <a:xfrm>
          <a:off x="578273" y="497353"/>
          <a:ext cx="265162" cy="265162"/>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A98304-3CD7-4494-99C7-D1CA16B49053}">
      <dsp:nvSpPr>
        <dsp:cNvPr id="0" name=""/>
        <dsp:cNvSpPr/>
      </dsp:nvSpPr>
      <dsp:spPr>
        <a:xfrm>
          <a:off x="15246" y="1045944"/>
          <a:ext cx="103118" cy="10311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341ACA-3601-456E-A5D5-89E5E7BBAAA4}">
      <dsp:nvSpPr>
        <dsp:cNvPr id="0" name=""/>
        <dsp:cNvSpPr/>
      </dsp:nvSpPr>
      <dsp:spPr>
        <a:xfrm>
          <a:off x="101865" y="1175874"/>
          <a:ext cx="162043" cy="162043"/>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D892F0-6FE3-46E2-8DC9-4E071370BCF7}">
      <dsp:nvSpPr>
        <dsp:cNvPr id="0" name=""/>
        <dsp:cNvSpPr/>
      </dsp:nvSpPr>
      <dsp:spPr>
        <a:xfrm>
          <a:off x="318414" y="1291367"/>
          <a:ext cx="235699" cy="235699"/>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307AD2-4D80-4015-8CC6-9E43C09F5E7B}">
      <dsp:nvSpPr>
        <dsp:cNvPr id="0" name=""/>
        <dsp:cNvSpPr/>
      </dsp:nvSpPr>
      <dsp:spPr>
        <a:xfrm>
          <a:off x="621583" y="1479042"/>
          <a:ext cx="103118" cy="103118"/>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F91FCA-1EFC-4E2B-A118-6912597699A3}">
      <dsp:nvSpPr>
        <dsp:cNvPr id="0" name=""/>
        <dsp:cNvSpPr/>
      </dsp:nvSpPr>
      <dsp:spPr>
        <a:xfrm>
          <a:off x="679330" y="1291367"/>
          <a:ext cx="162043" cy="162043"/>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4B2583-6756-4750-8463-55A6F171DEDF}">
      <dsp:nvSpPr>
        <dsp:cNvPr id="0" name=""/>
        <dsp:cNvSpPr/>
      </dsp:nvSpPr>
      <dsp:spPr>
        <a:xfrm>
          <a:off x="823696" y="1493479"/>
          <a:ext cx="103118" cy="103118"/>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066DEE-5608-468C-B4ED-CE2C9660B4C6}">
      <dsp:nvSpPr>
        <dsp:cNvPr id="0" name=""/>
        <dsp:cNvSpPr/>
      </dsp:nvSpPr>
      <dsp:spPr>
        <a:xfrm>
          <a:off x="953625" y="1262493"/>
          <a:ext cx="235699" cy="235699"/>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243E42-7D8F-4A15-9CA6-E304DA063DF4}">
      <dsp:nvSpPr>
        <dsp:cNvPr id="0" name=""/>
        <dsp:cNvSpPr/>
      </dsp:nvSpPr>
      <dsp:spPr>
        <a:xfrm>
          <a:off x="1271230" y="1204747"/>
          <a:ext cx="162043" cy="162043"/>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49A7C9-3CC2-495D-8692-C808E2BEDD06}">
      <dsp:nvSpPr>
        <dsp:cNvPr id="0" name=""/>
        <dsp:cNvSpPr/>
      </dsp:nvSpPr>
      <dsp:spPr>
        <a:xfrm>
          <a:off x="1433274" y="525986"/>
          <a:ext cx="475898" cy="908542"/>
        </a:xfrm>
        <a:prstGeom prst="chevron">
          <a:avLst>
            <a:gd name="adj" fmla="val 6231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5A39F18-7032-4A26-94E0-678370AA7B70}">
      <dsp:nvSpPr>
        <dsp:cNvPr id="0" name=""/>
        <dsp:cNvSpPr/>
      </dsp:nvSpPr>
      <dsp:spPr>
        <a:xfrm>
          <a:off x="1909173" y="526428"/>
          <a:ext cx="1297905" cy="908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CXS Interface</a:t>
          </a:r>
        </a:p>
        <a:p>
          <a:pPr marL="0" lvl="0" indent="0" algn="ctr" defTabSz="533400">
            <a:lnSpc>
              <a:spcPct val="90000"/>
            </a:lnSpc>
            <a:spcBef>
              <a:spcPct val="0"/>
            </a:spcBef>
            <a:spcAft>
              <a:spcPct val="35000"/>
            </a:spcAft>
            <a:buNone/>
          </a:pPr>
          <a:r>
            <a:rPr lang="en-US" sz="1200" kern="1200" dirty="0"/>
            <a:t>Receives flit, credit-based flow control</a:t>
          </a:r>
        </a:p>
      </dsp:txBody>
      <dsp:txXfrm>
        <a:off x="1909173" y="526428"/>
        <a:ext cx="1297905" cy="908534"/>
      </dsp:txXfrm>
    </dsp:sp>
    <dsp:sp modelId="{C06ED2B1-1E49-41E1-96AF-AAF54FBC6D2C}">
      <dsp:nvSpPr>
        <dsp:cNvPr id="0" name=""/>
        <dsp:cNvSpPr/>
      </dsp:nvSpPr>
      <dsp:spPr>
        <a:xfrm>
          <a:off x="3207079" y="525986"/>
          <a:ext cx="475898" cy="908542"/>
        </a:xfrm>
        <a:prstGeom prst="chevron">
          <a:avLst>
            <a:gd name="adj" fmla="val 6231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E703FCD-7422-4A8C-8805-6333F4094639}">
      <dsp:nvSpPr>
        <dsp:cNvPr id="0" name=""/>
        <dsp:cNvSpPr/>
      </dsp:nvSpPr>
      <dsp:spPr>
        <a:xfrm>
          <a:off x="3682978" y="526428"/>
          <a:ext cx="1297905" cy="908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Async FIFO</a:t>
          </a:r>
        </a:p>
        <a:p>
          <a:pPr marL="0" lvl="0" indent="0" algn="ctr" defTabSz="533400">
            <a:lnSpc>
              <a:spcPct val="90000"/>
            </a:lnSpc>
            <a:spcBef>
              <a:spcPct val="0"/>
            </a:spcBef>
            <a:spcAft>
              <a:spcPct val="35000"/>
            </a:spcAft>
            <a:buNone/>
          </a:pPr>
          <a:r>
            <a:rPr lang="en-US" sz="1200" kern="1200" dirty="0"/>
            <a:t>CDC buffer: CXS clk → System clk</a:t>
          </a:r>
        </a:p>
      </dsp:txBody>
      <dsp:txXfrm>
        <a:off x="3682978" y="526428"/>
        <a:ext cx="1297905" cy="908534"/>
      </dsp:txXfrm>
    </dsp:sp>
    <dsp:sp modelId="{67CC8161-BB6A-4445-AC47-CC81C685EC85}">
      <dsp:nvSpPr>
        <dsp:cNvPr id="0" name=""/>
        <dsp:cNvSpPr/>
      </dsp:nvSpPr>
      <dsp:spPr>
        <a:xfrm>
          <a:off x="4980883" y="525986"/>
          <a:ext cx="475898" cy="908542"/>
        </a:xfrm>
        <a:prstGeom prst="chevron">
          <a:avLst>
            <a:gd name="adj" fmla="val 6231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0D481C-09E9-49F6-B246-1F797D8518E5}">
      <dsp:nvSpPr>
        <dsp:cNvPr id="0" name=""/>
        <dsp:cNvSpPr/>
      </dsp:nvSpPr>
      <dsp:spPr>
        <a:xfrm>
          <a:off x="5456782" y="526428"/>
          <a:ext cx="1297905" cy="9085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Flit Decoder</a:t>
          </a:r>
        </a:p>
        <a:p>
          <a:pPr marL="0" lvl="0" indent="0" algn="ctr" defTabSz="533400">
            <a:lnSpc>
              <a:spcPct val="90000"/>
            </a:lnSpc>
            <a:spcBef>
              <a:spcPct val="0"/>
            </a:spcBef>
            <a:spcAft>
              <a:spcPct val="35000"/>
            </a:spcAft>
            <a:buNone/>
          </a:pPr>
          <a:r>
            <a:rPr lang="en-US" sz="1200" kern="1200" dirty="0"/>
            <a:t>Extracts payload, to 16bit internal bath start/end/error flags</a:t>
          </a:r>
        </a:p>
      </dsp:txBody>
      <dsp:txXfrm>
        <a:off x="5456782" y="526428"/>
        <a:ext cx="1297905" cy="908534"/>
      </dsp:txXfrm>
    </dsp:sp>
    <dsp:sp modelId="{FE58C54D-ECCD-4013-BFE5-708F6ACE58EE}">
      <dsp:nvSpPr>
        <dsp:cNvPr id="0" name=""/>
        <dsp:cNvSpPr/>
      </dsp:nvSpPr>
      <dsp:spPr>
        <a:xfrm>
          <a:off x="6754688" y="525986"/>
          <a:ext cx="475898" cy="908542"/>
        </a:xfrm>
        <a:prstGeom prst="chevron">
          <a:avLst>
            <a:gd name="adj" fmla="val 6231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A22D33A-2DCE-4E88-B73B-770BD077B44C}">
      <dsp:nvSpPr>
        <dsp:cNvPr id="0" name=""/>
        <dsp:cNvSpPr/>
      </dsp:nvSpPr>
      <dsp:spPr>
        <a:xfrm>
          <a:off x="7282503" y="450902"/>
          <a:ext cx="1103220" cy="1103220"/>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US" sz="1200" kern="1200" dirty="0"/>
            <a:t>Control Unit</a:t>
          </a:r>
        </a:p>
      </dsp:txBody>
      <dsp:txXfrm>
        <a:off x="7444066" y="612465"/>
        <a:ext cx="780094" cy="7800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D4A26-DF03-44E0-90C0-7FE16DEB00A3}">
      <dsp:nvSpPr>
        <dsp:cNvPr id="0" name=""/>
        <dsp:cNvSpPr/>
      </dsp:nvSpPr>
      <dsp:spPr>
        <a:xfrm>
          <a:off x="1286803" y="590282"/>
          <a:ext cx="1612192" cy="531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ATU + Encryption + Parity</a:t>
          </a:r>
        </a:p>
        <a:p>
          <a:pPr marL="0" lvl="0" indent="0" algn="ctr" defTabSz="444500">
            <a:lnSpc>
              <a:spcPct val="90000"/>
            </a:lnSpc>
            <a:spcBef>
              <a:spcPct val="0"/>
            </a:spcBef>
            <a:spcAft>
              <a:spcPct val="35000"/>
            </a:spcAft>
            <a:buNone/>
          </a:pPr>
          <a:r>
            <a:rPr lang="en-US" sz="1000" kern="1200" dirty="0"/>
            <a:t>Translates address, encrypts payload, appends parity</a:t>
          </a:r>
        </a:p>
      </dsp:txBody>
      <dsp:txXfrm>
        <a:off x="1286803" y="590282"/>
        <a:ext cx="1612192" cy="531290"/>
      </dsp:txXfrm>
    </dsp:sp>
    <dsp:sp modelId="{56956B0C-A52F-4D18-B3A5-9A044355D7F7}">
      <dsp:nvSpPr>
        <dsp:cNvPr id="0" name=""/>
        <dsp:cNvSpPr/>
      </dsp:nvSpPr>
      <dsp:spPr>
        <a:xfrm>
          <a:off x="1284971" y="428696"/>
          <a:ext cx="128242" cy="12824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076EF9-67D6-4ACA-B8F9-C06F1D72CEA0}">
      <dsp:nvSpPr>
        <dsp:cNvPr id="0" name=""/>
        <dsp:cNvSpPr/>
      </dsp:nvSpPr>
      <dsp:spPr>
        <a:xfrm>
          <a:off x="1374741" y="249157"/>
          <a:ext cx="128242" cy="12824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4AFA6C-A619-4AE8-BC66-CEEE69D62EA3}">
      <dsp:nvSpPr>
        <dsp:cNvPr id="0" name=""/>
        <dsp:cNvSpPr/>
      </dsp:nvSpPr>
      <dsp:spPr>
        <a:xfrm>
          <a:off x="1590188" y="285065"/>
          <a:ext cx="201524" cy="201524"/>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6B33716-A694-4C07-97B9-5235BA67F503}">
      <dsp:nvSpPr>
        <dsp:cNvPr id="0" name=""/>
        <dsp:cNvSpPr/>
      </dsp:nvSpPr>
      <dsp:spPr>
        <a:xfrm>
          <a:off x="1769728" y="87571"/>
          <a:ext cx="128242" cy="128242"/>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98699B4-84C6-4C3C-9D67-C1DF3D646DC3}">
      <dsp:nvSpPr>
        <dsp:cNvPr id="0" name=""/>
        <dsp:cNvSpPr/>
      </dsp:nvSpPr>
      <dsp:spPr>
        <a:xfrm>
          <a:off x="2003129" y="15755"/>
          <a:ext cx="128242" cy="128242"/>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4B248F-FAFD-4467-A204-75A98BE5970C}">
      <dsp:nvSpPr>
        <dsp:cNvPr id="0" name=""/>
        <dsp:cNvSpPr/>
      </dsp:nvSpPr>
      <dsp:spPr>
        <a:xfrm>
          <a:off x="2290393" y="141433"/>
          <a:ext cx="128242" cy="12824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9D6872-0A5D-4928-8BAB-71F1709943FF}">
      <dsp:nvSpPr>
        <dsp:cNvPr id="0" name=""/>
        <dsp:cNvSpPr/>
      </dsp:nvSpPr>
      <dsp:spPr>
        <a:xfrm>
          <a:off x="2469932" y="231203"/>
          <a:ext cx="201524" cy="201524"/>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E6F582B-F955-4DC2-8917-1D439D9A3AEA}">
      <dsp:nvSpPr>
        <dsp:cNvPr id="0" name=""/>
        <dsp:cNvSpPr/>
      </dsp:nvSpPr>
      <dsp:spPr>
        <a:xfrm>
          <a:off x="2721288" y="428696"/>
          <a:ext cx="128242" cy="128242"/>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B7C42E7-DDA0-40B6-9E02-38A7A19A7653}">
      <dsp:nvSpPr>
        <dsp:cNvPr id="0" name=""/>
        <dsp:cNvSpPr/>
      </dsp:nvSpPr>
      <dsp:spPr>
        <a:xfrm>
          <a:off x="2829011" y="626190"/>
          <a:ext cx="128242" cy="128242"/>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F52567-6319-4AFD-8D96-02F9EFAB9362}">
      <dsp:nvSpPr>
        <dsp:cNvPr id="0" name=""/>
        <dsp:cNvSpPr/>
      </dsp:nvSpPr>
      <dsp:spPr>
        <a:xfrm>
          <a:off x="1895406" y="249157"/>
          <a:ext cx="329766" cy="329766"/>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7BFB5F1-4782-4A27-8DFF-CC6DE6E8A2A7}">
      <dsp:nvSpPr>
        <dsp:cNvPr id="0" name=""/>
        <dsp:cNvSpPr/>
      </dsp:nvSpPr>
      <dsp:spPr>
        <a:xfrm>
          <a:off x="1195201" y="931407"/>
          <a:ext cx="128242" cy="12824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5DEC05-2F75-4981-AC14-7249BD13BFC3}">
      <dsp:nvSpPr>
        <dsp:cNvPr id="0" name=""/>
        <dsp:cNvSpPr/>
      </dsp:nvSpPr>
      <dsp:spPr>
        <a:xfrm>
          <a:off x="1302925" y="1092993"/>
          <a:ext cx="201524" cy="201524"/>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6B692F-FCB3-4477-AEFB-804B1AF63466}">
      <dsp:nvSpPr>
        <dsp:cNvPr id="0" name=""/>
        <dsp:cNvSpPr/>
      </dsp:nvSpPr>
      <dsp:spPr>
        <a:xfrm>
          <a:off x="1572234" y="1236625"/>
          <a:ext cx="293125" cy="293125"/>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167764-4DC3-46F2-BE44-82DD2CD73ADC}">
      <dsp:nvSpPr>
        <dsp:cNvPr id="0" name=""/>
        <dsp:cNvSpPr/>
      </dsp:nvSpPr>
      <dsp:spPr>
        <a:xfrm>
          <a:off x="1949267" y="1470026"/>
          <a:ext cx="128242" cy="128242"/>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FE7225-B096-42CB-8FFD-EC5BB3ED8B04}">
      <dsp:nvSpPr>
        <dsp:cNvPr id="0" name=""/>
        <dsp:cNvSpPr/>
      </dsp:nvSpPr>
      <dsp:spPr>
        <a:xfrm>
          <a:off x="2021083" y="1236625"/>
          <a:ext cx="201524" cy="201524"/>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C17FDFA-316C-4C36-8094-56A3D0F51284}">
      <dsp:nvSpPr>
        <dsp:cNvPr id="0" name=""/>
        <dsp:cNvSpPr/>
      </dsp:nvSpPr>
      <dsp:spPr>
        <a:xfrm>
          <a:off x="2200623" y="1487980"/>
          <a:ext cx="128242" cy="12824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C8FD4E-0286-487A-83BD-67045791B957}">
      <dsp:nvSpPr>
        <dsp:cNvPr id="0" name=""/>
        <dsp:cNvSpPr/>
      </dsp:nvSpPr>
      <dsp:spPr>
        <a:xfrm>
          <a:off x="2362209" y="1200717"/>
          <a:ext cx="293125" cy="293125"/>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EA72891-DBA4-4583-842A-D01E5D67C2D4}">
      <dsp:nvSpPr>
        <dsp:cNvPr id="0" name=""/>
        <dsp:cNvSpPr/>
      </dsp:nvSpPr>
      <dsp:spPr>
        <a:xfrm>
          <a:off x="2757196" y="1128901"/>
          <a:ext cx="201524" cy="201524"/>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D6FBBAA-8B9D-4A8A-8FB7-04CAB0A37AAE}">
      <dsp:nvSpPr>
        <dsp:cNvPr id="0" name=""/>
        <dsp:cNvSpPr/>
      </dsp:nvSpPr>
      <dsp:spPr>
        <a:xfrm>
          <a:off x="2958720" y="284766"/>
          <a:ext cx="591847" cy="1129901"/>
        </a:xfrm>
        <a:prstGeom prst="chevron">
          <a:avLst>
            <a:gd name="adj" fmla="val 6231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2D5A58E-F798-4436-BB68-0C5B1027AE1A}">
      <dsp:nvSpPr>
        <dsp:cNvPr id="0" name=""/>
        <dsp:cNvSpPr/>
      </dsp:nvSpPr>
      <dsp:spPr>
        <a:xfrm>
          <a:off x="3550567" y="285315"/>
          <a:ext cx="1614129" cy="11298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sz="1000" kern="1200" dirty="0"/>
            <a:t>CDM</a:t>
          </a:r>
        </a:p>
        <a:p>
          <a:pPr marL="0" lvl="0" indent="0" algn="ctr" defTabSz="444500">
            <a:lnSpc>
              <a:spcPct val="90000"/>
            </a:lnSpc>
            <a:spcBef>
              <a:spcPct val="0"/>
            </a:spcBef>
            <a:spcAft>
              <a:spcPct val="35000"/>
            </a:spcAft>
            <a:buNone/>
          </a:pPr>
          <a:r>
            <a:rPr lang="en-US" sz="1000" kern="1200" dirty="0"/>
            <a:t>Stores config (direct write) or processed payload (ATU address)</a:t>
          </a:r>
        </a:p>
      </dsp:txBody>
      <dsp:txXfrm>
        <a:off x="3550567" y="285315"/>
        <a:ext cx="1614129" cy="1129890"/>
      </dsp:txXfrm>
    </dsp:sp>
    <dsp:sp modelId="{A507033C-DA96-4FB6-AB57-9FBC53A77E2C}">
      <dsp:nvSpPr>
        <dsp:cNvPr id="0" name=""/>
        <dsp:cNvSpPr/>
      </dsp:nvSpPr>
      <dsp:spPr>
        <a:xfrm>
          <a:off x="5164696" y="284766"/>
          <a:ext cx="591847" cy="1129901"/>
        </a:xfrm>
        <a:prstGeom prst="chevron">
          <a:avLst>
            <a:gd name="adj" fmla="val 6231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29FE0CA-5284-46B2-9270-FEE66F216410}">
      <dsp:nvSpPr>
        <dsp:cNvPr id="0" name=""/>
        <dsp:cNvSpPr/>
      </dsp:nvSpPr>
      <dsp:spPr>
        <a:xfrm>
          <a:off x="5821109" y="191389"/>
          <a:ext cx="1372009" cy="1372009"/>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r>
            <a:rPr lang="en-US" sz="1000" kern="1200" dirty="0"/>
            <a:t>Data Sync + CXS TX</a:t>
          </a:r>
        </a:p>
        <a:p>
          <a:pPr marL="0" lvl="0" indent="0" algn="ctr" defTabSz="444500">
            <a:lnSpc>
              <a:spcPct val="90000"/>
            </a:lnSpc>
            <a:spcBef>
              <a:spcPct val="0"/>
            </a:spcBef>
            <a:spcAft>
              <a:spcPct val="35000"/>
            </a:spcAft>
            <a:buNone/>
          </a:pPr>
          <a:r>
            <a:rPr lang="en-US" sz="1000" kern="1200" dirty="0"/>
            <a:t>CDC buffer: System clk → CXS clk; sends status flit back</a:t>
          </a:r>
        </a:p>
      </dsp:txBody>
      <dsp:txXfrm>
        <a:off x="6022035" y="392315"/>
        <a:ext cx="970157" cy="9701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FC3EA6-84C2-461D-B07A-36D241C9725D}">
      <dsp:nvSpPr>
        <dsp:cNvPr id="0" name=""/>
        <dsp:cNvSpPr/>
      </dsp:nvSpPr>
      <dsp:spPr>
        <a:xfrm>
          <a:off x="1515519" y="994"/>
          <a:ext cx="2273278" cy="538470"/>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 tIns="5080" rIns="5080" bIns="5080" numCol="1" spcCol="1270" anchor="t" anchorCtr="0">
          <a:noAutofit/>
        </a:bodyPr>
        <a:lstStyle/>
        <a:p>
          <a:pPr marL="57150" lvl="1" indent="-57150" algn="l" defTabSz="355600">
            <a:lnSpc>
              <a:spcPct val="90000"/>
            </a:lnSpc>
            <a:spcBef>
              <a:spcPct val="0"/>
            </a:spcBef>
            <a:spcAft>
              <a:spcPct val="15000"/>
            </a:spcAft>
            <a:buNone/>
          </a:pPr>
          <a:r>
            <a:rPr lang="en-US" sz="800" kern="1200" dirty="0">
              <a:latin typeface="Times New Roman" panose="02020603050405020304" pitchFamily="18" charset="0"/>
              <a:cs typeface="Times New Roman" panose="02020603050405020304" pitchFamily="18" charset="0"/>
            </a:rPr>
            <a:t> </a:t>
          </a:r>
          <a:r>
            <a:rPr lang="en-US" sz="800" kern="1200" dirty="0">
              <a:solidFill>
                <a:srgbClr val="1E2761"/>
              </a:solidFill>
              <a:latin typeface="Times New Roman" panose="02020603050405020304" pitchFamily="18" charset="0"/>
              <a:cs typeface="Times New Roman" panose="02020603050405020304" pitchFamily="18" charset="0"/>
            </a:rPr>
            <a:t>Samples 32 bit CXSDATA/ 6 bit CXSCNTL on the CXS clock when CXSVALID is asserted; registers the flit</a:t>
          </a:r>
        </a:p>
      </dsp:txBody>
      <dsp:txXfrm>
        <a:off x="1515519" y="68303"/>
        <a:ext cx="2071352" cy="403852"/>
      </dsp:txXfrm>
    </dsp:sp>
    <dsp:sp modelId="{25F89F97-50D4-4A4E-8E8D-7183F38EC508}">
      <dsp:nvSpPr>
        <dsp:cNvPr id="0" name=""/>
        <dsp:cNvSpPr/>
      </dsp:nvSpPr>
      <dsp:spPr>
        <a:xfrm>
          <a:off x="0" y="994"/>
          <a:ext cx="1515519" cy="5384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Flit Receiver</a:t>
          </a:r>
        </a:p>
      </dsp:txBody>
      <dsp:txXfrm>
        <a:off x="26286" y="27280"/>
        <a:ext cx="1462947" cy="485898"/>
      </dsp:txXfrm>
    </dsp:sp>
    <dsp:sp modelId="{A6588C23-84DC-45FC-B0BE-9C582CDA7B87}">
      <dsp:nvSpPr>
        <dsp:cNvPr id="0" name=""/>
        <dsp:cNvSpPr/>
      </dsp:nvSpPr>
      <dsp:spPr>
        <a:xfrm>
          <a:off x="1515519" y="593312"/>
          <a:ext cx="2273278" cy="538470"/>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 tIns="5080" rIns="5080" bIns="5080" numCol="1" spcCol="1270" anchor="t" anchorCtr="0">
          <a:noAutofit/>
        </a:bodyPr>
        <a:lstStyle/>
        <a:p>
          <a:pPr marL="57150" lvl="1" indent="-57150" algn="l" defTabSz="355600">
            <a:lnSpc>
              <a:spcPct val="90000"/>
            </a:lnSpc>
            <a:spcBef>
              <a:spcPct val="0"/>
            </a:spcBef>
            <a:spcAft>
              <a:spcPct val="15000"/>
            </a:spcAft>
            <a:buNone/>
          </a:pPr>
          <a:r>
            <a:rPr lang="en-US" sz="800" kern="1200" dirty="0">
              <a:solidFill>
                <a:srgbClr val="1E2761"/>
              </a:solidFill>
              <a:latin typeface="Times New Roman" panose="02020603050405020304" pitchFamily="18" charset="0"/>
              <a:cs typeface="Times New Roman" panose="02020603050405020304" pitchFamily="18" charset="0"/>
            </a:rPr>
            <a:t>Decodes the control field to identify packet start, end, and error boundaries</a:t>
          </a:r>
        </a:p>
      </dsp:txBody>
      <dsp:txXfrm>
        <a:off x="1515519" y="660621"/>
        <a:ext cx="2071352" cy="403852"/>
      </dsp:txXfrm>
    </dsp:sp>
    <dsp:sp modelId="{DE02EA0E-7599-4846-B043-FD1217C7F6EA}">
      <dsp:nvSpPr>
        <dsp:cNvPr id="0" name=""/>
        <dsp:cNvSpPr/>
      </dsp:nvSpPr>
      <dsp:spPr>
        <a:xfrm>
          <a:off x="0" y="593312"/>
          <a:ext cx="1515519" cy="5384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CXSCNTL Decoder</a:t>
          </a:r>
        </a:p>
      </dsp:txBody>
      <dsp:txXfrm>
        <a:off x="26286" y="619598"/>
        <a:ext cx="1462947" cy="485898"/>
      </dsp:txXfrm>
    </dsp:sp>
    <dsp:sp modelId="{2C810BC6-397B-47FC-9A17-0B6327A40F78}">
      <dsp:nvSpPr>
        <dsp:cNvPr id="0" name=""/>
        <dsp:cNvSpPr/>
      </dsp:nvSpPr>
      <dsp:spPr>
        <a:xfrm>
          <a:off x="1515519" y="1185629"/>
          <a:ext cx="2273278" cy="538470"/>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 tIns="5080" rIns="5080" bIns="5080" numCol="1" spcCol="1270" anchor="t" anchorCtr="0">
          <a:noAutofit/>
        </a:bodyPr>
        <a:lstStyle/>
        <a:p>
          <a:pPr marL="57150" lvl="1" indent="-57150" algn="l" defTabSz="355600">
            <a:lnSpc>
              <a:spcPct val="90000"/>
            </a:lnSpc>
            <a:spcBef>
              <a:spcPct val="0"/>
            </a:spcBef>
            <a:spcAft>
              <a:spcPct val="15000"/>
            </a:spcAft>
            <a:buNone/>
          </a:pPr>
          <a:r>
            <a:rPr lang="en-US" sz="800" kern="1200" dirty="0">
              <a:solidFill>
                <a:srgbClr val="1E2761"/>
              </a:solidFill>
              <a:latin typeface="Times New Roman" panose="02020603050405020304" pitchFamily="18" charset="0"/>
              <a:cs typeface="Times New Roman" panose="02020603050405020304" pitchFamily="18" charset="0"/>
            </a:rPr>
            <a:t>Formats the decoded flit + boundary info for storage into the Async FIFO</a:t>
          </a:r>
        </a:p>
      </dsp:txBody>
      <dsp:txXfrm>
        <a:off x="1515519" y="1252938"/>
        <a:ext cx="2071352" cy="403852"/>
      </dsp:txXfrm>
    </dsp:sp>
    <dsp:sp modelId="{5BDA8100-EC44-4978-ACB5-ABFCF6719408}">
      <dsp:nvSpPr>
        <dsp:cNvPr id="0" name=""/>
        <dsp:cNvSpPr/>
      </dsp:nvSpPr>
      <dsp:spPr>
        <a:xfrm>
          <a:off x="0" y="1185629"/>
          <a:ext cx="1515519" cy="5384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Boundary Extractor </a:t>
          </a:r>
        </a:p>
      </dsp:txBody>
      <dsp:txXfrm>
        <a:off x="26286" y="1211915"/>
        <a:ext cx="1462947" cy="485898"/>
      </dsp:txXfrm>
    </dsp:sp>
    <dsp:sp modelId="{57366C1C-DE19-454D-B5BA-3D8FF24965D7}">
      <dsp:nvSpPr>
        <dsp:cNvPr id="0" name=""/>
        <dsp:cNvSpPr/>
      </dsp:nvSpPr>
      <dsp:spPr>
        <a:xfrm>
          <a:off x="1515519" y="1777947"/>
          <a:ext cx="2273278" cy="538470"/>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 tIns="5080" rIns="5080" bIns="5080" numCol="1" spcCol="1270" anchor="t" anchorCtr="0">
          <a:noAutofit/>
        </a:bodyPr>
        <a:lstStyle/>
        <a:p>
          <a:pPr marL="57150" lvl="1" indent="-57150" algn="l" defTabSz="355600">
            <a:lnSpc>
              <a:spcPct val="90000"/>
            </a:lnSpc>
            <a:spcBef>
              <a:spcPct val="0"/>
            </a:spcBef>
            <a:spcAft>
              <a:spcPct val="15000"/>
            </a:spcAft>
            <a:buNone/>
          </a:pPr>
          <a:r>
            <a:rPr lang="en-US" sz="800" kern="1200" dirty="0">
              <a:solidFill>
                <a:srgbClr val="1E2761"/>
              </a:solidFill>
              <a:latin typeface="Times New Roman" panose="02020603050405020304" pitchFamily="18" charset="0"/>
              <a:cs typeface="Times New Roman" panose="02020603050405020304" pitchFamily="18" charset="0"/>
            </a:rPr>
            <a:t>Monitors FIFO space; asserts CXSRXCRDGNT when a read frees a buffer slot, </a:t>
          </a:r>
          <a:r>
            <a:rPr lang="en-US" sz="800" kern="1200" dirty="0" err="1">
              <a:solidFill>
                <a:srgbClr val="1E2761"/>
              </a:solidFill>
              <a:latin typeface="Times New Roman" panose="02020603050405020304" pitchFamily="18" charset="0"/>
              <a:cs typeface="Times New Roman" panose="02020603050405020304" pitchFamily="18" charset="0"/>
            </a:rPr>
            <a:t>deasserts</a:t>
          </a:r>
          <a:r>
            <a:rPr lang="en-US" sz="800" kern="1200" dirty="0">
              <a:solidFill>
                <a:srgbClr val="1E2761"/>
              </a:solidFill>
              <a:latin typeface="Times New Roman" panose="02020603050405020304" pitchFamily="18" charset="0"/>
              <a:cs typeface="Times New Roman" panose="02020603050405020304" pitchFamily="18" charset="0"/>
            </a:rPr>
            <a:t> when FIFO is full</a:t>
          </a:r>
        </a:p>
      </dsp:txBody>
      <dsp:txXfrm>
        <a:off x="1515519" y="1845256"/>
        <a:ext cx="2071352" cy="403852"/>
      </dsp:txXfrm>
    </dsp:sp>
    <dsp:sp modelId="{3EA53BCA-1223-46E2-81A0-5C1752CFD4A6}">
      <dsp:nvSpPr>
        <dsp:cNvPr id="0" name=""/>
        <dsp:cNvSpPr/>
      </dsp:nvSpPr>
      <dsp:spPr>
        <a:xfrm>
          <a:off x="0" y="1777947"/>
          <a:ext cx="1515519" cy="5384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Credit Generator</a:t>
          </a:r>
        </a:p>
      </dsp:txBody>
      <dsp:txXfrm>
        <a:off x="26286" y="1804233"/>
        <a:ext cx="1462947" cy="485898"/>
      </dsp:txXfrm>
    </dsp:sp>
    <dsp:sp modelId="{867EEB12-F024-4429-B5E2-6E68400547F8}">
      <dsp:nvSpPr>
        <dsp:cNvPr id="0" name=""/>
        <dsp:cNvSpPr/>
      </dsp:nvSpPr>
      <dsp:spPr>
        <a:xfrm>
          <a:off x="1515519" y="2371259"/>
          <a:ext cx="2273278" cy="538470"/>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 tIns="5080" rIns="5080" bIns="5080" numCol="1" spcCol="1270" anchor="t" anchorCtr="0">
          <a:noAutofit/>
        </a:bodyPr>
        <a:lstStyle/>
        <a:p>
          <a:pPr marL="57150" lvl="1" indent="-57150" algn="l" defTabSz="355600">
            <a:lnSpc>
              <a:spcPct val="90000"/>
            </a:lnSpc>
            <a:spcBef>
              <a:spcPct val="0"/>
            </a:spcBef>
            <a:spcAft>
              <a:spcPct val="15000"/>
            </a:spcAft>
            <a:buNone/>
          </a:pPr>
          <a:r>
            <a:rPr lang="en-US" sz="800" kern="1200" dirty="0">
              <a:solidFill>
                <a:srgbClr val="1E2761"/>
              </a:solidFill>
              <a:latin typeface="Times New Roman" panose="02020603050405020304" pitchFamily="18" charset="0"/>
              <a:cs typeface="Times New Roman" panose="02020603050405020304" pitchFamily="18" charset="0"/>
            </a:rPr>
            <a:t>FSM managing link activation/deactivation handshake (CXSRXACTIVEREQ/ACK)</a:t>
          </a:r>
        </a:p>
      </dsp:txBody>
      <dsp:txXfrm>
        <a:off x="1515519" y="2438568"/>
        <a:ext cx="2071352" cy="403852"/>
      </dsp:txXfrm>
    </dsp:sp>
    <dsp:sp modelId="{9AC02F42-21BF-4A96-883F-CFAA7ED98EFF}">
      <dsp:nvSpPr>
        <dsp:cNvPr id="0" name=""/>
        <dsp:cNvSpPr/>
      </dsp:nvSpPr>
      <dsp:spPr>
        <a:xfrm>
          <a:off x="0" y="2370264"/>
          <a:ext cx="1515519" cy="5384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Link Control (RX)</a:t>
          </a:r>
        </a:p>
      </dsp:txBody>
      <dsp:txXfrm>
        <a:off x="26286" y="2396550"/>
        <a:ext cx="1462947" cy="4858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FC3EA6-84C2-461D-B07A-36D241C9725D}">
      <dsp:nvSpPr>
        <dsp:cNvPr id="0" name=""/>
        <dsp:cNvSpPr/>
      </dsp:nvSpPr>
      <dsp:spPr>
        <a:xfrm>
          <a:off x="1515519" y="994"/>
          <a:ext cx="2273278" cy="538470"/>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dirty="0">
              <a:solidFill>
                <a:srgbClr val="1E2761"/>
              </a:solidFill>
              <a:latin typeface="Times New Roman" panose="02020603050405020304" pitchFamily="18" charset="0"/>
              <a:cs typeface="Times New Roman" panose="02020603050405020304" pitchFamily="18" charset="0"/>
            </a:rPr>
            <a:t>Converts </a:t>
          </a:r>
          <a:r>
            <a:rPr lang="en-US" sz="900" kern="1200" dirty="0" err="1">
              <a:solidFill>
                <a:srgbClr val="1E2761"/>
              </a:solidFill>
              <a:latin typeface="Times New Roman" panose="02020603050405020304" pitchFamily="18" charset="0"/>
              <a:cs typeface="Times New Roman" panose="02020603050405020304" pitchFamily="18" charset="0"/>
            </a:rPr>
            <a:t>status_valid</a:t>
          </a:r>
          <a:r>
            <a:rPr lang="en-US" sz="900" kern="1200" dirty="0">
              <a:solidFill>
                <a:srgbClr val="1E2761"/>
              </a:solidFill>
              <a:latin typeface="Times New Roman" panose="02020603050405020304" pitchFamily="18" charset="0"/>
              <a:cs typeface="Times New Roman" panose="02020603050405020304" pitchFamily="18" charset="0"/>
            </a:rPr>
            <a:t>/</a:t>
          </a:r>
          <a:r>
            <a:rPr lang="en-US" sz="900" kern="1200" dirty="0" err="1">
              <a:solidFill>
                <a:srgbClr val="1E2761"/>
              </a:solidFill>
              <a:latin typeface="Times New Roman" panose="02020603050405020304" pitchFamily="18" charset="0"/>
              <a:cs typeface="Times New Roman" panose="02020603050405020304" pitchFamily="18" charset="0"/>
            </a:rPr>
            <a:t>pkt_type</a:t>
          </a:r>
          <a:r>
            <a:rPr lang="en-US" sz="900" kern="1200" dirty="0">
              <a:solidFill>
                <a:srgbClr val="1E2761"/>
              </a:solidFill>
              <a:latin typeface="Times New Roman" panose="02020603050405020304" pitchFamily="18" charset="0"/>
              <a:cs typeface="Times New Roman" panose="02020603050405020304" pitchFamily="18" charset="0"/>
            </a:rPr>
            <a:t>/</a:t>
          </a:r>
          <a:r>
            <a:rPr lang="en-US" sz="900" kern="1200" dirty="0" err="1">
              <a:solidFill>
                <a:srgbClr val="1E2761"/>
              </a:solidFill>
              <a:latin typeface="Times New Roman" panose="02020603050405020304" pitchFamily="18" charset="0"/>
              <a:cs typeface="Times New Roman" panose="02020603050405020304" pitchFamily="18" charset="0"/>
            </a:rPr>
            <a:t>error_type</a:t>
          </a:r>
          <a:r>
            <a:rPr lang="en-US" sz="900" kern="1200" dirty="0">
              <a:solidFill>
                <a:srgbClr val="1E2761"/>
              </a:solidFill>
              <a:latin typeface="Times New Roman" panose="02020603050405020304" pitchFamily="18" charset="0"/>
              <a:cs typeface="Times New Roman" panose="02020603050405020304" pitchFamily="18" charset="0"/>
            </a:rPr>
            <a:t> into internal packet format with start/end markers</a:t>
          </a:r>
        </a:p>
      </dsp:txBody>
      <dsp:txXfrm>
        <a:off x="1515519" y="68303"/>
        <a:ext cx="2071352" cy="403852"/>
      </dsp:txXfrm>
    </dsp:sp>
    <dsp:sp modelId="{25F89F97-50D4-4A4E-8E8D-7183F38EC508}">
      <dsp:nvSpPr>
        <dsp:cNvPr id="0" name=""/>
        <dsp:cNvSpPr/>
      </dsp:nvSpPr>
      <dsp:spPr>
        <a:xfrm>
          <a:off x="0" y="994"/>
          <a:ext cx="1515519" cy="5384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CXS Packet Formatter</a:t>
          </a:r>
        </a:p>
      </dsp:txBody>
      <dsp:txXfrm>
        <a:off x="26286" y="27280"/>
        <a:ext cx="1462947" cy="485898"/>
      </dsp:txXfrm>
    </dsp:sp>
    <dsp:sp modelId="{A6588C23-84DC-45FC-B0BE-9C582CDA7B87}">
      <dsp:nvSpPr>
        <dsp:cNvPr id="0" name=""/>
        <dsp:cNvSpPr/>
      </dsp:nvSpPr>
      <dsp:spPr>
        <a:xfrm>
          <a:off x="1515519" y="593312"/>
          <a:ext cx="2273278" cy="538470"/>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dirty="0">
              <a:solidFill>
                <a:srgbClr val="1E2761"/>
              </a:solidFill>
              <a:latin typeface="Times New Roman" panose="02020603050405020304" pitchFamily="18" charset="0"/>
              <a:cs typeface="Times New Roman" panose="02020603050405020304" pitchFamily="18" charset="0"/>
            </a:rPr>
            <a:t>Tracks available transmission credits (CXSTXCRDGNT in, consumed on each flit sent, max 15)</a:t>
          </a:r>
        </a:p>
      </dsp:txBody>
      <dsp:txXfrm>
        <a:off x="1515519" y="660621"/>
        <a:ext cx="2071352" cy="403852"/>
      </dsp:txXfrm>
    </dsp:sp>
    <dsp:sp modelId="{DE02EA0E-7599-4846-B043-FD1217C7F6EA}">
      <dsp:nvSpPr>
        <dsp:cNvPr id="0" name=""/>
        <dsp:cNvSpPr/>
      </dsp:nvSpPr>
      <dsp:spPr>
        <a:xfrm>
          <a:off x="0" y="593312"/>
          <a:ext cx="1515519" cy="5384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CXS TX Credit Counter</a:t>
          </a:r>
        </a:p>
      </dsp:txBody>
      <dsp:txXfrm>
        <a:off x="26286" y="619598"/>
        <a:ext cx="1462947" cy="485898"/>
      </dsp:txXfrm>
    </dsp:sp>
    <dsp:sp modelId="{2C810BC6-397B-47FC-9A17-0B6327A40F78}">
      <dsp:nvSpPr>
        <dsp:cNvPr id="0" name=""/>
        <dsp:cNvSpPr/>
      </dsp:nvSpPr>
      <dsp:spPr>
        <a:xfrm>
          <a:off x="1515519" y="1185629"/>
          <a:ext cx="2273278" cy="538470"/>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dirty="0">
              <a:solidFill>
                <a:srgbClr val="1E2761"/>
              </a:solidFill>
              <a:latin typeface="Times New Roman" panose="02020603050405020304" pitchFamily="18" charset="0"/>
              <a:cs typeface="Times New Roman" panose="02020603050405020304" pitchFamily="18" charset="0"/>
            </a:rPr>
            <a:t>Transmits the flit only when packet is available, link permits sending, and credit is available</a:t>
          </a:r>
        </a:p>
      </dsp:txBody>
      <dsp:txXfrm>
        <a:off x="1515519" y="1252938"/>
        <a:ext cx="2071352" cy="403852"/>
      </dsp:txXfrm>
    </dsp:sp>
    <dsp:sp modelId="{5BDA8100-EC44-4978-ACB5-ABFCF6719408}">
      <dsp:nvSpPr>
        <dsp:cNvPr id="0" name=""/>
        <dsp:cNvSpPr/>
      </dsp:nvSpPr>
      <dsp:spPr>
        <a:xfrm>
          <a:off x="0" y="1185629"/>
          <a:ext cx="1515519" cy="5384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Times New Roman" panose="02020603050405020304" pitchFamily="18" charset="0"/>
              <a:cs typeface="Times New Roman" panose="02020603050405020304" pitchFamily="18" charset="0"/>
            </a:rPr>
            <a:t>CXS Flit Transmitter</a:t>
          </a:r>
        </a:p>
      </dsp:txBody>
      <dsp:txXfrm>
        <a:off x="26286" y="1211915"/>
        <a:ext cx="1462947" cy="485898"/>
      </dsp:txXfrm>
    </dsp:sp>
    <dsp:sp modelId="{57366C1C-DE19-454D-B5BA-3D8FF24965D7}">
      <dsp:nvSpPr>
        <dsp:cNvPr id="0" name=""/>
        <dsp:cNvSpPr/>
      </dsp:nvSpPr>
      <dsp:spPr>
        <a:xfrm>
          <a:off x="1515519" y="1777947"/>
          <a:ext cx="2273278" cy="538470"/>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dirty="0">
              <a:solidFill>
                <a:srgbClr val="1E2761"/>
              </a:solidFill>
              <a:latin typeface="Times New Roman" panose="02020603050405020304" pitchFamily="18" charset="0"/>
              <a:cs typeface="Times New Roman" panose="02020603050405020304" pitchFamily="18" charset="0"/>
            </a:rPr>
            <a:t>Encodes START/END/ENDERROR into the final CXSTXCNTL field</a:t>
          </a:r>
        </a:p>
      </dsp:txBody>
      <dsp:txXfrm>
        <a:off x="1515519" y="1845256"/>
        <a:ext cx="2071352" cy="403852"/>
      </dsp:txXfrm>
    </dsp:sp>
    <dsp:sp modelId="{3EA53BCA-1223-46E2-81A0-5C1752CFD4A6}">
      <dsp:nvSpPr>
        <dsp:cNvPr id="0" name=""/>
        <dsp:cNvSpPr/>
      </dsp:nvSpPr>
      <dsp:spPr>
        <a:xfrm>
          <a:off x="0" y="1777947"/>
          <a:ext cx="1515519" cy="5384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CXS Control Encoder</a:t>
          </a:r>
          <a:r>
            <a:rPr lang="en-US" sz="1100" kern="1200" dirty="0">
              <a:latin typeface="Times New Roman" panose="02020603050405020304" pitchFamily="18" charset="0"/>
              <a:cs typeface="Times New Roman" panose="02020603050405020304" pitchFamily="18" charset="0"/>
            </a:rPr>
            <a:t> (</a:t>
          </a:r>
          <a:r>
            <a:rPr lang="en-US" sz="1100" kern="1200" dirty="0" err="1">
              <a:latin typeface="Times New Roman" panose="02020603050405020304" pitchFamily="18" charset="0"/>
              <a:cs typeface="Times New Roman" panose="02020603050405020304" pitchFamily="18" charset="0"/>
            </a:rPr>
            <a:t>cxscntl_encoder</a:t>
          </a:r>
          <a:r>
            <a:rPr lang="en-US" sz="1100" kern="1200" dirty="0">
              <a:latin typeface="Times New Roman" panose="02020603050405020304" pitchFamily="18" charset="0"/>
              <a:cs typeface="Times New Roman" panose="02020603050405020304" pitchFamily="18" charset="0"/>
            </a:rPr>
            <a:t>)</a:t>
          </a:r>
        </a:p>
      </dsp:txBody>
      <dsp:txXfrm>
        <a:off x="26286" y="1804233"/>
        <a:ext cx="1462947" cy="485898"/>
      </dsp:txXfrm>
    </dsp:sp>
    <dsp:sp modelId="{867EEB12-F024-4429-B5E2-6E68400547F8}">
      <dsp:nvSpPr>
        <dsp:cNvPr id="0" name=""/>
        <dsp:cNvSpPr/>
      </dsp:nvSpPr>
      <dsp:spPr>
        <a:xfrm>
          <a:off x="1515519" y="2371259"/>
          <a:ext cx="2273278" cy="538470"/>
        </a:xfrm>
        <a:prstGeom prst="rightArrow">
          <a:avLst>
            <a:gd name="adj1" fmla="val 75000"/>
            <a:gd name="adj2" fmla="val 50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715" tIns="5715" rIns="5715" bIns="5715" numCol="1" spcCol="1270" anchor="t" anchorCtr="0">
          <a:noAutofit/>
        </a:bodyPr>
        <a:lstStyle/>
        <a:p>
          <a:pPr marL="57150" lvl="1" indent="-57150" algn="l" defTabSz="400050">
            <a:lnSpc>
              <a:spcPct val="90000"/>
            </a:lnSpc>
            <a:spcBef>
              <a:spcPct val="0"/>
            </a:spcBef>
            <a:spcAft>
              <a:spcPct val="15000"/>
            </a:spcAft>
            <a:buNone/>
          </a:pPr>
          <a:r>
            <a:rPr lang="en-US" sz="900" kern="1200" dirty="0">
              <a:solidFill>
                <a:srgbClr val="1E2761"/>
              </a:solidFill>
              <a:latin typeface="Times New Roman" panose="02020603050405020304" pitchFamily="18" charset="0"/>
              <a:cs typeface="Times New Roman" panose="02020603050405020304" pitchFamily="18" charset="0"/>
            </a:rPr>
            <a:t>Manages CXSTXACTIVEREQ/ACK handshake and gates transmission permission</a:t>
          </a:r>
        </a:p>
      </dsp:txBody>
      <dsp:txXfrm>
        <a:off x="1515519" y="2438568"/>
        <a:ext cx="2071352" cy="403852"/>
      </dsp:txXfrm>
    </dsp:sp>
    <dsp:sp modelId="{9AC02F42-21BF-4A96-883F-CFAA7ED98EFF}">
      <dsp:nvSpPr>
        <dsp:cNvPr id="0" name=""/>
        <dsp:cNvSpPr/>
      </dsp:nvSpPr>
      <dsp:spPr>
        <a:xfrm>
          <a:off x="0" y="2370264"/>
          <a:ext cx="1515519" cy="53847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US" sz="1100" kern="1200" dirty="0">
              <a:latin typeface="Times New Roman" panose="02020603050405020304" pitchFamily="18" charset="0"/>
              <a:cs typeface="Times New Roman" panose="02020603050405020304" pitchFamily="18" charset="0"/>
            </a:rPr>
            <a:t>Link Control (TX)</a:t>
          </a:r>
        </a:p>
      </dsp:txBody>
      <dsp:txXfrm>
        <a:off x="26286" y="2396550"/>
        <a:ext cx="1462947" cy="48589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EAEA3C-198E-4428-91F5-5D40AC471D03}">
      <dsp:nvSpPr>
        <dsp:cNvPr id="0" name=""/>
        <dsp:cNvSpPr/>
      </dsp:nvSpPr>
      <dsp:spPr>
        <a:xfrm rot="5400000">
          <a:off x="-85717" y="87958"/>
          <a:ext cx="571446" cy="4000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bg1"/>
              </a:solidFill>
              <a:latin typeface="Times New Roman" panose="02020603050405020304" pitchFamily="18" charset="0"/>
              <a:cs typeface="Times New Roman" panose="02020603050405020304" pitchFamily="18" charset="0"/>
            </a:rPr>
            <a:t>IDLE</a:t>
          </a:r>
        </a:p>
      </dsp:txBody>
      <dsp:txXfrm rot="-5400000">
        <a:off x="0" y="202247"/>
        <a:ext cx="400012" cy="171434"/>
      </dsp:txXfrm>
    </dsp:sp>
    <dsp:sp modelId="{F05F49B7-E57A-4430-8446-DFC1C1F638EA}">
      <dsp:nvSpPr>
        <dsp:cNvPr id="0" name=""/>
        <dsp:cNvSpPr/>
      </dsp:nvSpPr>
      <dsp:spPr>
        <a:xfrm rot="5400000">
          <a:off x="2657935" y="-2255681"/>
          <a:ext cx="371440" cy="488728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dirty="0">
              <a:solidFill>
                <a:srgbClr val="1E2761"/>
              </a:solidFill>
              <a:latin typeface="Times New Roman" panose="02020603050405020304" pitchFamily="18" charset="0"/>
              <a:cs typeface="Times New Roman" panose="02020603050405020304" pitchFamily="18" charset="0"/>
            </a:rPr>
            <a:t>Default/reset state; waits while FIFO </a:t>
          </a:r>
          <a:r>
            <a:rPr lang="en-US" sz="1200" kern="1200">
              <a:solidFill>
                <a:srgbClr val="1E2761"/>
              </a:solidFill>
              <a:latin typeface="Times New Roman" panose="02020603050405020304" pitchFamily="18" charset="0"/>
              <a:cs typeface="Times New Roman" panose="02020603050405020304" pitchFamily="18" charset="0"/>
            </a:rPr>
            <a:t>is empty</a:t>
          </a:r>
          <a:endParaRPr lang="en-US" sz="1200" kern="1200" dirty="0">
            <a:solidFill>
              <a:srgbClr val="1E2761"/>
            </a:solidFill>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None/>
          </a:pPr>
          <a:r>
            <a:rPr lang="en-US" sz="1200" kern="1200" dirty="0">
              <a:solidFill>
                <a:srgbClr val="1E2761"/>
              </a:solidFill>
              <a:latin typeface="Times New Roman" panose="02020603050405020304" pitchFamily="18" charset="0"/>
              <a:cs typeface="Times New Roman" panose="02020603050405020304" pitchFamily="18" charset="0"/>
            </a:rPr>
            <a:t>At system deactivation </a:t>
          </a:r>
        </a:p>
      </dsp:txBody>
      <dsp:txXfrm rot="-5400000">
        <a:off x="400013" y="20373"/>
        <a:ext cx="4869153" cy="335176"/>
      </dsp:txXfrm>
    </dsp:sp>
    <dsp:sp modelId="{1E631251-D50F-4103-BFBF-990C9568DF11}">
      <dsp:nvSpPr>
        <dsp:cNvPr id="0" name=""/>
        <dsp:cNvSpPr/>
      </dsp:nvSpPr>
      <dsp:spPr>
        <a:xfrm rot="5400000">
          <a:off x="-85717" y="583756"/>
          <a:ext cx="571446" cy="4000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chemeClr val="bg1"/>
              </a:solidFill>
              <a:latin typeface="Times New Roman" panose="02020603050405020304" pitchFamily="18" charset="0"/>
              <a:cs typeface="Times New Roman" panose="02020603050405020304" pitchFamily="18" charset="0"/>
            </a:rPr>
            <a:t>CFG</a:t>
          </a:r>
        </a:p>
        <a:p>
          <a:pPr marL="0" lvl="0" indent="0" algn="ctr" defTabSz="355600">
            <a:lnSpc>
              <a:spcPct val="90000"/>
            </a:lnSpc>
            <a:spcBef>
              <a:spcPct val="0"/>
            </a:spcBef>
            <a:spcAft>
              <a:spcPct val="35000"/>
            </a:spcAft>
            <a:buNone/>
          </a:pPr>
          <a:r>
            <a:rPr lang="en-US" sz="800" kern="1200" dirty="0">
              <a:solidFill>
                <a:schemeClr val="bg1"/>
              </a:solidFill>
              <a:latin typeface="Times New Roman" panose="02020603050405020304" pitchFamily="18" charset="0"/>
              <a:cs typeface="Times New Roman" panose="02020603050405020304" pitchFamily="18" charset="0"/>
            </a:rPr>
            <a:t>SCAN</a:t>
          </a:r>
        </a:p>
      </dsp:txBody>
      <dsp:txXfrm rot="-5400000">
        <a:off x="0" y="698045"/>
        <a:ext cx="400012" cy="171434"/>
      </dsp:txXfrm>
    </dsp:sp>
    <dsp:sp modelId="{84D39791-37A5-4786-8C16-C3F8789281C3}">
      <dsp:nvSpPr>
        <dsp:cNvPr id="0" name=""/>
        <dsp:cNvSpPr/>
      </dsp:nvSpPr>
      <dsp:spPr>
        <a:xfrm rot="5400000">
          <a:off x="2657837" y="-1759784"/>
          <a:ext cx="371635" cy="488728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dirty="0">
              <a:solidFill>
                <a:srgbClr val="1E2761"/>
              </a:solidFill>
              <a:latin typeface="Times New Roman" panose="02020603050405020304" pitchFamily="18" charset="0"/>
              <a:cs typeface="Times New Roman" panose="02020603050405020304" pitchFamily="18" charset="0"/>
            </a:rPr>
            <a:t>Reads first flit, checks if it's a config header</a:t>
          </a:r>
        </a:p>
        <a:p>
          <a:pPr marL="114300" lvl="1" indent="-114300" algn="l" defTabSz="533400">
            <a:lnSpc>
              <a:spcPct val="90000"/>
            </a:lnSpc>
            <a:spcBef>
              <a:spcPct val="0"/>
            </a:spcBef>
            <a:spcAft>
              <a:spcPct val="15000"/>
            </a:spcAft>
            <a:buNone/>
          </a:pPr>
          <a:r>
            <a:rPr lang="en-US" sz="1200" kern="1200" dirty="0" err="1">
              <a:solidFill>
                <a:srgbClr val="1E2761"/>
              </a:solidFill>
              <a:latin typeface="Times New Roman" panose="02020603050405020304" pitchFamily="18" charset="0"/>
              <a:cs typeface="Times New Roman" panose="02020603050405020304" pitchFamily="18" charset="0"/>
            </a:rPr>
            <a:t>rd_fifo_en</a:t>
          </a:r>
          <a:r>
            <a:rPr lang="en-US" sz="1200" kern="1200" dirty="0">
              <a:solidFill>
                <a:srgbClr val="1E2761"/>
              </a:solidFill>
              <a:latin typeface="Times New Roman" panose="02020603050405020304" pitchFamily="18" charset="0"/>
              <a:cs typeface="Times New Roman" panose="02020603050405020304" pitchFamily="18" charset="0"/>
            </a:rPr>
            <a:t>=1, </a:t>
          </a:r>
          <a:r>
            <a:rPr lang="en-US" sz="1200" kern="1200" dirty="0" err="1">
              <a:solidFill>
                <a:srgbClr val="1E2761"/>
              </a:solidFill>
              <a:latin typeface="Times New Roman" panose="02020603050405020304" pitchFamily="18" charset="0"/>
              <a:cs typeface="Times New Roman" panose="02020603050405020304" pitchFamily="18" charset="0"/>
            </a:rPr>
            <a:t>addr_counte</a:t>
          </a:r>
          <a:r>
            <a:rPr lang="en-US" sz="1200" kern="1200" dirty="0">
              <a:solidFill>
                <a:srgbClr val="1E2761"/>
              </a:solidFill>
              <a:latin typeface="Times New Roman" panose="02020603050405020304" pitchFamily="18" charset="0"/>
              <a:cs typeface="Times New Roman" panose="02020603050405020304" pitchFamily="18" charset="0"/>
            </a:rPr>
            <a:t>=1</a:t>
          </a:r>
        </a:p>
      </dsp:txBody>
      <dsp:txXfrm rot="-5400000">
        <a:off x="400012" y="516183"/>
        <a:ext cx="4869143" cy="335351"/>
      </dsp:txXfrm>
    </dsp:sp>
    <dsp:sp modelId="{E7E0AF17-56E0-410F-9CE5-0C1A889F3C58}">
      <dsp:nvSpPr>
        <dsp:cNvPr id="0" name=""/>
        <dsp:cNvSpPr/>
      </dsp:nvSpPr>
      <dsp:spPr>
        <a:xfrm rot="5400000">
          <a:off x="-85717" y="1079555"/>
          <a:ext cx="571446" cy="4000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bg1"/>
              </a:solidFill>
              <a:latin typeface="Times New Roman" panose="02020603050405020304" pitchFamily="18" charset="0"/>
              <a:cs typeface="Times New Roman" panose="02020603050405020304" pitchFamily="18" charset="0"/>
            </a:rPr>
            <a:t>CFG_WR</a:t>
          </a:r>
        </a:p>
      </dsp:txBody>
      <dsp:txXfrm rot="-5400000">
        <a:off x="0" y="1193844"/>
        <a:ext cx="400012" cy="171434"/>
      </dsp:txXfrm>
    </dsp:sp>
    <dsp:sp modelId="{209C89DD-2555-4ACD-B62E-C40608D078AF}">
      <dsp:nvSpPr>
        <dsp:cNvPr id="0" name=""/>
        <dsp:cNvSpPr/>
      </dsp:nvSpPr>
      <dsp:spPr>
        <a:xfrm rot="5400000">
          <a:off x="2657935" y="-1264084"/>
          <a:ext cx="371440" cy="488728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dirty="0">
              <a:solidFill>
                <a:srgbClr val="1E2761"/>
              </a:solidFill>
              <a:latin typeface="Times New Roman" panose="02020603050405020304" pitchFamily="18" charset="0"/>
              <a:cs typeface="Times New Roman" panose="02020603050405020304" pitchFamily="18" charset="0"/>
            </a:rPr>
            <a:t>Writes config payload into CDM</a:t>
          </a:r>
        </a:p>
        <a:p>
          <a:pPr marL="114300" lvl="1" indent="-114300" algn="l" defTabSz="533400">
            <a:lnSpc>
              <a:spcPct val="90000"/>
            </a:lnSpc>
            <a:spcBef>
              <a:spcPct val="0"/>
            </a:spcBef>
            <a:spcAft>
              <a:spcPct val="15000"/>
            </a:spcAft>
            <a:buNone/>
          </a:pPr>
          <a:r>
            <a:rPr lang="en-US" sz="1200" kern="1200" dirty="0" err="1">
              <a:solidFill>
                <a:srgbClr val="1E2761"/>
              </a:solidFill>
              <a:latin typeface="Times New Roman" panose="02020603050405020304" pitchFamily="18" charset="0"/>
              <a:cs typeface="Times New Roman" panose="02020603050405020304" pitchFamily="18" charset="0"/>
            </a:rPr>
            <a:t>config_we</a:t>
          </a:r>
          <a:r>
            <a:rPr lang="en-US" sz="1200" kern="1200" dirty="0">
              <a:solidFill>
                <a:srgbClr val="1E2761"/>
              </a:solidFill>
              <a:latin typeface="Times New Roman" panose="02020603050405020304" pitchFamily="18" charset="0"/>
              <a:cs typeface="Times New Roman" panose="02020603050405020304" pitchFamily="18" charset="0"/>
            </a:rPr>
            <a:t>=1</a:t>
          </a:r>
        </a:p>
      </dsp:txBody>
      <dsp:txXfrm rot="-5400000">
        <a:off x="400013" y="1011970"/>
        <a:ext cx="4869153" cy="335176"/>
      </dsp:txXfrm>
    </dsp:sp>
    <dsp:sp modelId="{9AEABF67-0F5F-4110-AEBC-7EC940420F45}">
      <dsp:nvSpPr>
        <dsp:cNvPr id="0" name=""/>
        <dsp:cNvSpPr/>
      </dsp:nvSpPr>
      <dsp:spPr>
        <a:xfrm rot="5400000">
          <a:off x="-85717" y="1575353"/>
          <a:ext cx="571446" cy="4000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Times New Roman" panose="02020603050405020304" pitchFamily="18" charset="0"/>
              <a:cs typeface="Times New Roman" panose="02020603050405020304" pitchFamily="18" charset="0"/>
            </a:rPr>
            <a:t>LINK_SCAN</a:t>
          </a:r>
        </a:p>
      </dsp:txBody>
      <dsp:txXfrm rot="-5400000">
        <a:off x="0" y="1689642"/>
        <a:ext cx="400012" cy="171434"/>
      </dsp:txXfrm>
    </dsp:sp>
    <dsp:sp modelId="{E638C40D-F786-40C7-81A9-EFB374C2939C}">
      <dsp:nvSpPr>
        <dsp:cNvPr id="0" name=""/>
        <dsp:cNvSpPr/>
      </dsp:nvSpPr>
      <dsp:spPr>
        <a:xfrm rot="5400000">
          <a:off x="2657935" y="-768285"/>
          <a:ext cx="371440" cy="488728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dirty="0">
              <a:solidFill>
                <a:srgbClr val="1E2761"/>
              </a:solidFill>
              <a:latin typeface="Times New Roman" panose="02020603050405020304" pitchFamily="18" charset="0"/>
              <a:cs typeface="Times New Roman" panose="02020603050405020304" pitchFamily="18" charset="0"/>
            </a:rPr>
            <a:t>Verifies Link-Up packet after config is done</a:t>
          </a:r>
        </a:p>
        <a:p>
          <a:pPr marL="114300" lvl="1" indent="-114300" algn="l" defTabSz="533400">
            <a:lnSpc>
              <a:spcPct val="90000"/>
            </a:lnSpc>
            <a:spcBef>
              <a:spcPct val="0"/>
            </a:spcBef>
            <a:spcAft>
              <a:spcPct val="15000"/>
            </a:spcAft>
            <a:buNone/>
          </a:pPr>
          <a:r>
            <a:rPr lang="en-US" sz="1200" kern="1200" dirty="0" err="1">
              <a:solidFill>
                <a:srgbClr val="1E2761"/>
              </a:solidFill>
              <a:latin typeface="Times New Roman" panose="02020603050405020304" pitchFamily="18" charset="0"/>
              <a:cs typeface="Times New Roman" panose="02020603050405020304" pitchFamily="18" charset="0"/>
            </a:rPr>
            <a:t>rd_fifo_en</a:t>
          </a:r>
          <a:r>
            <a:rPr lang="en-US" sz="1200" kern="1200" dirty="0">
              <a:solidFill>
                <a:srgbClr val="1E2761"/>
              </a:solidFill>
              <a:latin typeface="Times New Roman" panose="02020603050405020304" pitchFamily="18" charset="0"/>
              <a:cs typeface="Times New Roman" panose="02020603050405020304" pitchFamily="18" charset="0"/>
            </a:rPr>
            <a:t>=1</a:t>
          </a:r>
        </a:p>
      </dsp:txBody>
      <dsp:txXfrm rot="-5400000">
        <a:off x="400013" y="1507769"/>
        <a:ext cx="4869153" cy="335176"/>
      </dsp:txXfrm>
    </dsp:sp>
    <dsp:sp modelId="{16F7BE88-8E8A-4CFD-80F2-89CD3B9C1FAE}">
      <dsp:nvSpPr>
        <dsp:cNvPr id="0" name=""/>
        <dsp:cNvSpPr/>
      </dsp:nvSpPr>
      <dsp:spPr>
        <a:xfrm rot="5400000">
          <a:off x="-85717" y="2071152"/>
          <a:ext cx="571446" cy="4000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en-US" sz="1000" kern="1200" dirty="0">
              <a:solidFill>
                <a:schemeClr val="bg1"/>
              </a:solidFill>
              <a:latin typeface="Times New Roman" panose="02020603050405020304" pitchFamily="18" charset="0"/>
              <a:cs typeface="Times New Roman" panose="02020603050405020304" pitchFamily="18" charset="0"/>
            </a:rPr>
            <a:t>LINK</a:t>
          </a:r>
        </a:p>
      </dsp:txBody>
      <dsp:txXfrm rot="-5400000">
        <a:off x="0" y="2185441"/>
        <a:ext cx="400012" cy="171434"/>
      </dsp:txXfrm>
    </dsp:sp>
    <dsp:sp modelId="{25B04A7F-920C-454F-BB75-FD6E48F42E45}">
      <dsp:nvSpPr>
        <dsp:cNvPr id="0" name=""/>
        <dsp:cNvSpPr/>
      </dsp:nvSpPr>
      <dsp:spPr>
        <a:xfrm rot="5400000">
          <a:off x="2657935" y="-272487"/>
          <a:ext cx="371440" cy="488728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dirty="0">
              <a:solidFill>
                <a:srgbClr val="1E2761"/>
              </a:solidFill>
              <a:latin typeface="Times New Roman" panose="02020603050405020304" pitchFamily="18" charset="0"/>
              <a:cs typeface="Times New Roman" panose="02020603050405020304" pitchFamily="18" charset="0"/>
            </a:rPr>
            <a:t>Link validated; ready for data transfer</a:t>
          </a:r>
        </a:p>
        <a:p>
          <a:pPr marL="114300" lvl="1" indent="-114300" algn="l" defTabSz="533400">
            <a:lnSpc>
              <a:spcPct val="90000"/>
            </a:lnSpc>
            <a:spcBef>
              <a:spcPct val="0"/>
            </a:spcBef>
            <a:spcAft>
              <a:spcPct val="15000"/>
            </a:spcAft>
            <a:buNone/>
          </a:pPr>
          <a:r>
            <a:rPr lang="en-US" sz="1200" kern="1200" dirty="0" err="1">
              <a:solidFill>
                <a:srgbClr val="1E2761"/>
              </a:solidFill>
              <a:latin typeface="Times New Roman" panose="02020603050405020304" pitchFamily="18" charset="0"/>
              <a:cs typeface="Times New Roman" panose="02020603050405020304" pitchFamily="18" charset="0"/>
            </a:rPr>
            <a:t>status_valid</a:t>
          </a:r>
          <a:r>
            <a:rPr lang="en-US" sz="1200" kern="1200" dirty="0">
              <a:solidFill>
                <a:srgbClr val="1E2761"/>
              </a:solidFill>
              <a:latin typeface="Times New Roman" panose="02020603050405020304" pitchFamily="18" charset="0"/>
              <a:cs typeface="Times New Roman" panose="02020603050405020304" pitchFamily="18" charset="0"/>
            </a:rPr>
            <a:t>=1</a:t>
          </a:r>
        </a:p>
      </dsp:txBody>
      <dsp:txXfrm rot="-5400000">
        <a:off x="400013" y="2003567"/>
        <a:ext cx="4869153" cy="335176"/>
      </dsp:txXfrm>
    </dsp:sp>
    <dsp:sp modelId="{9ECE4B3C-795A-44AB-A03E-F317E85195DB}">
      <dsp:nvSpPr>
        <dsp:cNvPr id="0" name=""/>
        <dsp:cNvSpPr/>
      </dsp:nvSpPr>
      <dsp:spPr>
        <a:xfrm rot="5400000">
          <a:off x="-85717" y="2566950"/>
          <a:ext cx="571446" cy="4000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Times New Roman" panose="02020603050405020304" pitchFamily="18" charset="0"/>
              <a:cs typeface="Times New Roman" panose="02020603050405020304" pitchFamily="18" charset="0"/>
            </a:rPr>
            <a:t>DATA_SCAN</a:t>
          </a:r>
        </a:p>
      </dsp:txBody>
      <dsp:txXfrm rot="-5400000">
        <a:off x="0" y="2681239"/>
        <a:ext cx="400012" cy="171434"/>
      </dsp:txXfrm>
    </dsp:sp>
    <dsp:sp modelId="{A259482F-8C26-4D79-9730-8BFEE3D6A50F}">
      <dsp:nvSpPr>
        <dsp:cNvPr id="0" name=""/>
        <dsp:cNvSpPr/>
      </dsp:nvSpPr>
      <dsp:spPr>
        <a:xfrm rot="5400000">
          <a:off x="2657935" y="223311"/>
          <a:ext cx="371440" cy="488728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dirty="0">
              <a:solidFill>
                <a:srgbClr val="1E2761"/>
              </a:solidFill>
              <a:latin typeface="Times New Roman" panose="02020603050405020304" pitchFamily="18" charset="0"/>
              <a:cs typeface="Times New Roman" panose="02020603050405020304" pitchFamily="18" charset="0"/>
            </a:rPr>
            <a:t>Detects start of payload packet</a:t>
          </a:r>
        </a:p>
        <a:p>
          <a:pPr marL="114300" lvl="1" indent="-114300" algn="l" defTabSz="533400">
            <a:lnSpc>
              <a:spcPct val="90000"/>
            </a:lnSpc>
            <a:spcBef>
              <a:spcPct val="0"/>
            </a:spcBef>
            <a:spcAft>
              <a:spcPct val="15000"/>
            </a:spcAft>
            <a:buNone/>
          </a:pPr>
          <a:r>
            <a:rPr lang="en-US" sz="1200" kern="1200" dirty="0" err="1">
              <a:solidFill>
                <a:srgbClr val="1E2761"/>
              </a:solidFill>
              <a:latin typeface="Times New Roman" panose="02020603050405020304" pitchFamily="18" charset="0"/>
              <a:cs typeface="Times New Roman" panose="02020603050405020304" pitchFamily="18" charset="0"/>
            </a:rPr>
            <a:t>rd_fifo_en</a:t>
          </a:r>
          <a:r>
            <a:rPr lang="en-US" sz="1200" kern="1200" dirty="0">
              <a:solidFill>
                <a:srgbClr val="1E2761"/>
              </a:solidFill>
              <a:latin typeface="Times New Roman" panose="02020603050405020304" pitchFamily="18" charset="0"/>
              <a:cs typeface="Times New Roman" panose="02020603050405020304" pitchFamily="18" charset="0"/>
            </a:rPr>
            <a:t>=1, </a:t>
          </a:r>
          <a:r>
            <a:rPr lang="en-US" sz="1200" kern="1200" dirty="0" err="1">
              <a:solidFill>
                <a:srgbClr val="1E2761"/>
              </a:solidFill>
              <a:latin typeface="Times New Roman" panose="02020603050405020304" pitchFamily="18" charset="0"/>
              <a:cs typeface="Times New Roman" panose="02020603050405020304" pitchFamily="18" charset="0"/>
            </a:rPr>
            <a:t>rd_configen</a:t>
          </a:r>
          <a:r>
            <a:rPr lang="en-US" sz="1200" kern="1200" dirty="0">
              <a:solidFill>
                <a:srgbClr val="1E2761"/>
              </a:solidFill>
              <a:latin typeface="Times New Roman" panose="02020603050405020304" pitchFamily="18" charset="0"/>
              <a:cs typeface="Times New Roman" panose="02020603050405020304" pitchFamily="18" charset="0"/>
            </a:rPr>
            <a:t>=1</a:t>
          </a:r>
        </a:p>
      </dsp:txBody>
      <dsp:txXfrm rot="-5400000">
        <a:off x="400013" y="2499365"/>
        <a:ext cx="4869153" cy="335176"/>
      </dsp:txXfrm>
    </dsp:sp>
    <dsp:sp modelId="{78CD9323-2AFA-4CDA-ABF1-290278A751EE}">
      <dsp:nvSpPr>
        <dsp:cNvPr id="0" name=""/>
        <dsp:cNvSpPr/>
      </dsp:nvSpPr>
      <dsp:spPr>
        <a:xfrm rot="5400000">
          <a:off x="-85717" y="3062749"/>
          <a:ext cx="571446" cy="4000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r>
            <a:rPr lang="en-US" sz="800" kern="1200" dirty="0">
              <a:solidFill>
                <a:schemeClr val="bg1"/>
              </a:solidFill>
              <a:latin typeface="Times New Roman" panose="02020603050405020304" pitchFamily="18" charset="0"/>
              <a:cs typeface="Times New Roman" panose="02020603050405020304" pitchFamily="18" charset="0"/>
            </a:rPr>
            <a:t>DATA_BODY</a:t>
          </a:r>
        </a:p>
      </dsp:txBody>
      <dsp:txXfrm rot="-5400000">
        <a:off x="0" y="3177038"/>
        <a:ext cx="400012" cy="171434"/>
      </dsp:txXfrm>
    </dsp:sp>
    <dsp:sp modelId="{1E00D41F-ECEC-4617-81C5-61F6D0BFC399}">
      <dsp:nvSpPr>
        <dsp:cNvPr id="0" name=""/>
        <dsp:cNvSpPr/>
      </dsp:nvSpPr>
      <dsp:spPr>
        <a:xfrm rot="5400000">
          <a:off x="2657935" y="719109"/>
          <a:ext cx="371440" cy="488728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dirty="0">
              <a:solidFill>
                <a:srgbClr val="1E2761"/>
              </a:solidFill>
              <a:latin typeface="Times New Roman" panose="02020603050405020304" pitchFamily="18" charset="0"/>
              <a:cs typeface="Times New Roman" panose="02020603050405020304" pitchFamily="18" charset="0"/>
            </a:rPr>
            <a:t>Processes payload data until </a:t>
          </a:r>
          <a:r>
            <a:rPr lang="en-US" sz="1200" kern="1200" dirty="0" err="1">
              <a:solidFill>
                <a:srgbClr val="1E2761"/>
              </a:solidFill>
              <a:latin typeface="Times New Roman" panose="02020603050405020304" pitchFamily="18" charset="0"/>
              <a:cs typeface="Times New Roman" panose="02020603050405020304" pitchFamily="18" charset="0"/>
            </a:rPr>
            <a:t>pkt_end</a:t>
          </a:r>
          <a:endParaRPr lang="en-US" sz="1200" kern="1200" dirty="0">
            <a:solidFill>
              <a:srgbClr val="1E2761"/>
            </a:solidFill>
            <a:latin typeface="Times New Roman" panose="02020603050405020304" pitchFamily="18" charset="0"/>
            <a:cs typeface="Times New Roman" panose="02020603050405020304" pitchFamily="18" charset="0"/>
          </a:endParaRPr>
        </a:p>
        <a:p>
          <a:pPr marL="114300" lvl="1" indent="-114300" algn="l" defTabSz="533400">
            <a:lnSpc>
              <a:spcPct val="90000"/>
            </a:lnSpc>
            <a:spcBef>
              <a:spcPct val="0"/>
            </a:spcBef>
            <a:spcAft>
              <a:spcPct val="15000"/>
            </a:spcAft>
            <a:buNone/>
          </a:pPr>
          <a:r>
            <a:rPr lang="en-US" sz="1200" kern="1200" dirty="0" err="1">
              <a:solidFill>
                <a:srgbClr val="1E2761"/>
              </a:solidFill>
              <a:latin typeface="Times New Roman" panose="02020603050405020304" pitchFamily="18" charset="0"/>
              <a:cs typeface="Times New Roman" panose="02020603050405020304" pitchFamily="18" charset="0"/>
            </a:rPr>
            <a:t>payload_valid</a:t>
          </a:r>
          <a:r>
            <a:rPr lang="en-US" sz="1200" kern="1200" dirty="0">
              <a:solidFill>
                <a:srgbClr val="1E2761"/>
              </a:solidFill>
              <a:latin typeface="Times New Roman" panose="02020603050405020304" pitchFamily="18" charset="0"/>
              <a:cs typeface="Times New Roman" panose="02020603050405020304" pitchFamily="18" charset="0"/>
            </a:rPr>
            <a:t>=1, </a:t>
          </a:r>
          <a:r>
            <a:rPr lang="en-US" sz="1200" kern="1200" dirty="0" err="1">
              <a:solidFill>
                <a:srgbClr val="1E2761"/>
              </a:solidFill>
              <a:latin typeface="Times New Roman" panose="02020603050405020304" pitchFamily="18" charset="0"/>
              <a:cs typeface="Times New Roman" panose="02020603050405020304" pitchFamily="18" charset="0"/>
            </a:rPr>
            <a:t>rd_config_en</a:t>
          </a:r>
          <a:r>
            <a:rPr lang="en-US" sz="1200" kern="1200" dirty="0">
              <a:solidFill>
                <a:srgbClr val="1E2761"/>
              </a:solidFill>
              <a:latin typeface="Times New Roman" panose="02020603050405020304" pitchFamily="18" charset="0"/>
              <a:cs typeface="Times New Roman" panose="02020603050405020304" pitchFamily="18" charset="0"/>
            </a:rPr>
            <a:t>=1</a:t>
          </a:r>
        </a:p>
      </dsp:txBody>
      <dsp:txXfrm rot="-5400000">
        <a:off x="400013" y="2995163"/>
        <a:ext cx="4869153" cy="335176"/>
      </dsp:txXfrm>
    </dsp:sp>
    <dsp:sp modelId="{2482E046-E71E-49D8-8096-12C3DB13CD23}">
      <dsp:nvSpPr>
        <dsp:cNvPr id="0" name=""/>
        <dsp:cNvSpPr/>
      </dsp:nvSpPr>
      <dsp:spPr>
        <a:xfrm rot="5400000">
          <a:off x="-85717" y="3558547"/>
          <a:ext cx="571446" cy="400012"/>
        </a:xfrm>
        <a:prstGeom prst="chevron">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marL="0" lvl="0" indent="0" algn="ctr" defTabSz="400050">
            <a:lnSpc>
              <a:spcPct val="90000"/>
            </a:lnSpc>
            <a:spcBef>
              <a:spcPct val="0"/>
            </a:spcBef>
            <a:spcAft>
              <a:spcPct val="35000"/>
            </a:spcAft>
            <a:buNone/>
          </a:pPr>
          <a:r>
            <a:rPr lang="en-US" sz="900" kern="1200" dirty="0">
              <a:solidFill>
                <a:schemeClr val="bg1"/>
              </a:solidFill>
              <a:latin typeface="Times New Roman" panose="02020603050405020304" pitchFamily="18" charset="0"/>
              <a:cs typeface="Times New Roman" panose="02020603050405020304" pitchFamily="18" charset="0"/>
            </a:rPr>
            <a:t>ERROR</a:t>
          </a:r>
        </a:p>
      </dsp:txBody>
      <dsp:txXfrm rot="-5400000">
        <a:off x="0" y="3672836"/>
        <a:ext cx="400012" cy="171434"/>
      </dsp:txXfrm>
    </dsp:sp>
    <dsp:sp modelId="{BF1D22C6-0319-47F4-84E2-81E81E1614B8}">
      <dsp:nvSpPr>
        <dsp:cNvPr id="0" name=""/>
        <dsp:cNvSpPr/>
      </dsp:nvSpPr>
      <dsp:spPr>
        <a:xfrm rot="5400000">
          <a:off x="2657935" y="1214908"/>
          <a:ext cx="371440" cy="4887285"/>
        </a:xfrm>
        <a:prstGeom prst="round2Same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None/>
          </a:pPr>
          <a:r>
            <a:rPr lang="en-US" sz="1200" kern="1200" dirty="0">
              <a:solidFill>
                <a:srgbClr val="1E2761"/>
              </a:solidFill>
              <a:latin typeface="Times New Roman" panose="02020603050405020304" pitchFamily="18" charset="0"/>
              <a:cs typeface="Times New Roman" panose="02020603050405020304" pitchFamily="18" charset="0"/>
            </a:rPr>
            <a:t>Entered on invalid header/type/protocol violation; holds until reset</a:t>
          </a:r>
        </a:p>
        <a:p>
          <a:pPr marL="114300" lvl="1" indent="-114300" algn="l" defTabSz="533400">
            <a:lnSpc>
              <a:spcPct val="90000"/>
            </a:lnSpc>
            <a:spcBef>
              <a:spcPct val="0"/>
            </a:spcBef>
            <a:spcAft>
              <a:spcPct val="15000"/>
            </a:spcAft>
            <a:buNone/>
          </a:pPr>
          <a:r>
            <a:rPr lang="en-US" sz="1200" kern="1200" dirty="0" err="1">
              <a:solidFill>
                <a:srgbClr val="1E2761"/>
              </a:solidFill>
              <a:latin typeface="Times New Roman" panose="02020603050405020304" pitchFamily="18" charset="0"/>
              <a:cs typeface="Times New Roman" panose="02020603050405020304" pitchFamily="18" charset="0"/>
            </a:rPr>
            <a:t>status_valid</a:t>
          </a:r>
          <a:r>
            <a:rPr lang="en-US" sz="1200" kern="1200" dirty="0">
              <a:solidFill>
                <a:srgbClr val="1E2761"/>
              </a:solidFill>
              <a:latin typeface="Times New Roman" panose="02020603050405020304" pitchFamily="18" charset="0"/>
              <a:cs typeface="Times New Roman" panose="02020603050405020304" pitchFamily="18" charset="0"/>
            </a:rPr>
            <a:t>=1, </a:t>
          </a:r>
          <a:r>
            <a:rPr lang="en-US" sz="1200" kern="1200" dirty="0" err="1">
              <a:solidFill>
                <a:srgbClr val="1E2761"/>
              </a:solidFill>
              <a:latin typeface="Times New Roman" panose="02020603050405020304" pitchFamily="18" charset="0"/>
              <a:cs typeface="Times New Roman" panose="02020603050405020304" pitchFamily="18" charset="0"/>
            </a:rPr>
            <a:t>rd_fifo_en</a:t>
          </a:r>
          <a:r>
            <a:rPr lang="en-US" sz="1200" kern="1200" dirty="0">
              <a:solidFill>
                <a:srgbClr val="1E2761"/>
              </a:solidFill>
              <a:latin typeface="Times New Roman" panose="02020603050405020304" pitchFamily="18" charset="0"/>
              <a:cs typeface="Times New Roman" panose="02020603050405020304" pitchFamily="18" charset="0"/>
            </a:rPr>
            <a:t>=1</a:t>
          </a:r>
        </a:p>
      </dsp:txBody>
      <dsp:txXfrm rot="-5400000">
        <a:off x="400013" y="3490962"/>
        <a:ext cx="4869153" cy="3351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1C8D6F-EFB3-4DC0-BD9B-BBFD2E18D5C6}">
      <dsp:nvSpPr>
        <dsp:cNvPr id="0" name=""/>
        <dsp:cNvSpPr/>
      </dsp:nvSpPr>
      <dsp:spPr>
        <a:xfrm>
          <a:off x="4214" y="9795"/>
          <a:ext cx="1916299" cy="112298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Asynchronous FIFO</a:t>
          </a:r>
        </a:p>
      </dsp:txBody>
      <dsp:txXfrm>
        <a:off x="4214" y="9795"/>
        <a:ext cx="1916299" cy="748658"/>
      </dsp:txXfrm>
    </dsp:sp>
    <dsp:sp modelId="{009BC3D3-CC39-45A2-B77B-68ABB4094C99}">
      <dsp:nvSpPr>
        <dsp:cNvPr id="0" name=""/>
        <dsp:cNvSpPr/>
      </dsp:nvSpPr>
      <dsp:spPr>
        <a:xfrm>
          <a:off x="396709" y="758453"/>
          <a:ext cx="1916299" cy="2268000"/>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Char char="•"/>
          </a:pPr>
          <a:r>
            <a:rPr lang="en-US" sz="1200" kern="1200" dirty="0">
              <a:latin typeface="Times New Roman" panose="02020603050405020304" pitchFamily="18" charset="0"/>
              <a:cs typeface="Times New Roman" panose="02020603050405020304" pitchFamily="18" charset="0"/>
            </a:rPr>
            <a:t>Safe multi-bit data transfer between </a:t>
          </a:r>
          <a:r>
            <a:rPr lang="en-US" sz="1200" b="1" kern="1200" dirty="0">
              <a:latin typeface="Times New Roman" panose="02020603050405020304" pitchFamily="18" charset="0"/>
              <a:cs typeface="Times New Roman" panose="02020603050405020304" pitchFamily="18" charset="0"/>
            </a:rPr>
            <a:t>37 MHz CXS domain → 25 MHz System domain</a:t>
          </a:r>
          <a:r>
            <a:rPr lang="en-US" sz="1200" kern="1200" dirty="0">
              <a:latin typeface="Times New Roman" panose="02020603050405020304" pitchFamily="18" charset="0"/>
              <a:cs typeface="Times New Roman" panose="02020603050405020304" pitchFamily="18" charset="0"/>
            </a:rPr>
            <a:t>.</a:t>
          </a:r>
        </a:p>
        <a:p>
          <a:pPr marL="114300" lvl="1" indent="-114300" algn="l" defTabSz="533400">
            <a:lnSpc>
              <a:spcPct val="90000"/>
            </a:lnSpc>
            <a:spcBef>
              <a:spcPct val="0"/>
            </a:spcBef>
            <a:spcAft>
              <a:spcPct val="15000"/>
            </a:spcAft>
            <a:buChar char="•"/>
          </a:pPr>
          <a:r>
            <a:rPr lang="en-US" sz="1200" kern="1200" dirty="0">
              <a:latin typeface="Times New Roman" panose="02020603050405020304" pitchFamily="18" charset="0"/>
              <a:cs typeface="Times New Roman" panose="02020603050405020304" pitchFamily="18" charset="0"/>
            </a:rPr>
            <a:t>Rate matching and buffering</a:t>
          </a:r>
        </a:p>
        <a:p>
          <a:pPr marL="114300" lvl="1" indent="-114300" algn="l" defTabSz="533400">
            <a:lnSpc>
              <a:spcPct val="90000"/>
            </a:lnSpc>
            <a:spcBef>
              <a:spcPct val="0"/>
            </a:spcBef>
            <a:spcAft>
              <a:spcPct val="15000"/>
            </a:spcAft>
            <a:buChar char="•"/>
          </a:pPr>
          <a:r>
            <a:rPr lang="en-US" sz="1200" kern="1200" dirty="0">
              <a:latin typeface="Times New Roman" panose="02020603050405020304" pitchFamily="18" charset="0"/>
              <a:cs typeface="Times New Roman" panose="02020603050405020304" pitchFamily="18" charset="0"/>
            </a:rPr>
            <a:t>Full/Empty status generation</a:t>
          </a:r>
        </a:p>
        <a:p>
          <a:pPr marL="114300" lvl="1" indent="-114300" algn="l" defTabSz="533400">
            <a:lnSpc>
              <a:spcPct val="90000"/>
            </a:lnSpc>
            <a:spcBef>
              <a:spcPct val="0"/>
            </a:spcBef>
            <a:spcAft>
              <a:spcPct val="15000"/>
            </a:spcAft>
            <a:buChar char="•"/>
          </a:pPr>
          <a:r>
            <a:rPr lang="en-US" sz="1200" kern="1200" dirty="0">
              <a:latin typeface="Times New Roman" panose="02020603050405020304" pitchFamily="18" charset="0"/>
              <a:cs typeface="Times New Roman" panose="02020603050405020304" pitchFamily="18" charset="0"/>
            </a:rPr>
            <a:t>Prevention of data loss between different clock rates</a:t>
          </a:r>
        </a:p>
      </dsp:txBody>
      <dsp:txXfrm>
        <a:off x="452835" y="814579"/>
        <a:ext cx="1804047" cy="2155748"/>
      </dsp:txXfrm>
    </dsp:sp>
    <dsp:sp modelId="{A5C863C1-3E94-47FB-98C6-34B197FA4C7A}">
      <dsp:nvSpPr>
        <dsp:cNvPr id="0" name=""/>
        <dsp:cNvSpPr/>
      </dsp:nvSpPr>
      <dsp:spPr>
        <a:xfrm>
          <a:off x="2211018" y="145572"/>
          <a:ext cx="615868" cy="477103"/>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2211018" y="240993"/>
        <a:ext cx="472737" cy="286261"/>
      </dsp:txXfrm>
    </dsp:sp>
    <dsp:sp modelId="{083402C0-C91A-4AB2-BE0D-2DA7FD13F750}">
      <dsp:nvSpPr>
        <dsp:cNvPr id="0" name=""/>
        <dsp:cNvSpPr/>
      </dsp:nvSpPr>
      <dsp:spPr>
        <a:xfrm>
          <a:off x="3082530" y="9795"/>
          <a:ext cx="1916299" cy="112298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Data Synchronizer</a:t>
          </a:r>
        </a:p>
      </dsp:txBody>
      <dsp:txXfrm>
        <a:off x="3082530" y="9795"/>
        <a:ext cx="1916299" cy="748658"/>
      </dsp:txXfrm>
    </dsp:sp>
    <dsp:sp modelId="{42BB05AA-495E-490B-A415-AA34521D721D}">
      <dsp:nvSpPr>
        <dsp:cNvPr id="0" name=""/>
        <dsp:cNvSpPr/>
      </dsp:nvSpPr>
      <dsp:spPr>
        <a:xfrm>
          <a:off x="3475026" y="758453"/>
          <a:ext cx="1916299" cy="2268000"/>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SzPct val="100000"/>
            <a:buFont typeface="Arial" panose="020B0604020202020204" pitchFamily="34" charset="0"/>
            <a:buChar char="•"/>
          </a:pPr>
          <a:r>
            <a:rPr lang="en-US" sz="1200" kern="1200" dirty="0">
              <a:latin typeface="Times New Roman" panose="02020603050405020304" pitchFamily="18" charset="0"/>
              <a:cs typeface="Times New Roman" panose="02020603050405020304" pitchFamily="18" charset="0"/>
            </a:rPr>
            <a:t>Transfers status information from </a:t>
          </a:r>
          <a:r>
            <a:rPr lang="en-US" sz="1200" b="1" kern="1200" dirty="0">
              <a:latin typeface="Times New Roman" panose="02020603050405020304" pitchFamily="18" charset="0"/>
              <a:cs typeface="Times New Roman" panose="02020603050405020304" pitchFamily="18" charset="0"/>
            </a:rPr>
            <a:t>System domain → CXS domain</a:t>
          </a:r>
          <a:r>
            <a:rPr lang="en-US" sz="1200" kern="1200" dirty="0">
              <a:latin typeface="Times New Roman" panose="02020603050405020304" pitchFamily="18" charset="0"/>
              <a:cs typeface="Times New Roman" panose="02020603050405020304" pitchFamily="18" charset="0"/>
            </a:rPr>
            <a:t>.</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latin typeface="Times New Roman" panose="02020603050405020304" pitchFamily="18" charset="0"/>
              <a:cs typeface="Times New Roman" panose="02020603050405020304" pitchFamily="18" charset="0"/>
            </a:rPr>
            <a:t>Uses a configurable multi-stage flip-flop synchronizer.</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latin typeface="Times New Roman" panose="02020603050405020304" pitchFamily="18" charset="0"/>
              <a:cs typeface="Times New Roman" panose="02020603050405020304" pitchFamily="18" charset="0"/>
            </a:rPr>
            <a:t>Synchronizes the enable/control signal.</a:t>
          </a:r>
        </a:p>
        <a:p>
          <a:pPr marL="114300" lvl="1" indent="-114300" algn="l" defTabSz="533400">
            <a:lnSpc>
              <a:spcPct val="90000"/>
            </a:lnSpc>
            <a:spcBef>
              <a:spcPct val="0"/>
            </a:spcBef>
            <a:spcAft>
              <a:spcPct val="15000"/>
            </a:spcAft>
            <a:buFont typeface="Arial" panose="020B0604020202020204" pitchFamily="34" charset="0"/>
            <a:buChar char="•"/>
          </a:pPr>
          <a:endParaRPr lang="en-US" sz="1200" kern="1200" dirty="0">
            <a:latin typeface="Times New Roman" panose="02020603050405020304" pitchFamily="18" charset="0"/>
            <a:cs typeface="Times New Roman" panose="02020603050405020304" pitchFamily="18" charset="0"/>
          </a:endParaRPr>
        </a:p>
      </dsp:txBody>
      <dsp:txXfrm>
        <a:off x="3531152" y="814579"/>
        <a:ext cx="1804047" cy="2155748"/>
      </dsp:txXfrm>
    </dsp:sp>
    <dsp:sp modelId="{42ED7FFA-AA35-4ED7-90B2-CD0562E75404}">
      <dsp:nvSpPr>
        <dsp:cNvPr id="0" name=""/>
        <dsp:cNvSpPr/>
      </dsp:nvSpPr>
      <dsp:spPr>
        <a:xfrm>
          <a:off x="5289334" y="145572"/>
          <a:ext cx="615868" cy="477103"/>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5289334" y="240993"/>
        <a:ext cx="472737" cy="286261"/>
      </dsp:txXfrm>
    </dsp:sp>
    <dsp:sp modelId="{87703A5A-DC03-49DD-A097-746ECB3FE60D}">
      <dsp:nvSpPr>
        <dsp:cNvPr id="0" name=""/>
        <dsp:cNvSpPr/>
      </dsp:nvSpPr>
      <dsp:spPr>
        <a:xfrm>
          <a:off x="6160847" y="9795"/>
          <a:ext cx="1916299" cy="112298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76200" numCol="1" spcCol="1270" anchor="t" anchorCtr="0">
          <a:noAutofit/>
        </a:bodyPr>
        <a:lstStyle/>
        <a:p>
          <a:pPr marL="0" lvl="0" indent="0" algn="l" defTabSz="889000">
            <a:lnSpc>
              <a:spcPct val="90000"/>
            </a:lnSpc>
            <a:spcBef>
              <a:spcPct val="0"/>
            </a:spcBef>
            <a:spcAft>
              <a:spcPct val="35000"/>
            </a:spcAft>
            <a:buNone/>
          </a:pPr>
          <a:r>
            <a:rPr lang="en-US" sz="2000" kern="1200" dirty="0">
              <a:latin typeface="Times New Roman" panose="02020603050405020304" pitchFamily="18" charset="0"/>
              <a:cs typeface="Times New Roman" panose="02020603050405020304" pitchFamily="18" charset="0"/>
            </a:rPr>
            <a:t>Reset Synchronizer</a:t>
          </a:r>
        </a:p>
      </dsp:txBody>
      <dsp:txXfrm>
        <a:off x="6160847" y="9795"/>
        <a:ext cx="1916299" cy="748658"/>
      </dsp:txXfrm>
    </dsp:sp>
    <dsp:sp modelId="{D08BA6F5-4B30-4583-A486-69CD12F029DC}">
      <dsp:nvSpPr>
        <dsp:cNvPr id="0" name=""/>
        <dsp:cNvSpPr/>
      </dsp:nvSpPr>
      <dsp:spPr>
        <a:xfrm>
          <a:off x="6553342" y="758453"/>
          <a:ext cx="1916299" cy="2268000"/>
        </a:xfrm>
        <a:prstGeom prst="roundRect">
          <a:avLst>
            <a:gd name="adj" fmla="val 10000"/>
          </a:avLst>
        </a:prstGeom>
        <a:solidFill>
          <a:schemeClr val="lt1">
            <a:alpha val="90000"/>
            <a:hueOff val="0"/>
            <a:satOff val="0"/>
            <a:lumOff val="0"/>
            <a:alphaOff val="0"/>
          </a:schemeClr>
        </a:solidFill>
        <a:ln w="635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85344" tIns="85344" rIns="85344" bIns="85344" numCol="1" spcCol="1270" anchor="t"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latin typeface="Times New Roman" panose="02020603050405020304" pitchFamily="18" charset="0"/>
              <a:cs typeface="Times New Roman" panose="02020603050405020304" pitchFamily="18" charset="0"/>
            </a:rPr>
            <a:t>Separate reset synchronization for each clock domain.</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latin typeface="Times New Roman" panose="02020603050405020304" pitchFamily="18" charset="0"/>
              <a:cs typeface="Times New Roman" panose="02020603050405020304" pitchFamily="18" charset="0"/>
            </a:rPr>
            <a:t>Asynchronous reset assertion</a:t>
          </a:r>
        </a:p>
        <a:p>
          <a:pPr marL="114300" lvl="1" indent="-114300" algn="l" defTabSz="533400">
            <a:lnSpc>
              <a:spcPct val="90000"/>
            </a:lnSpc>
            <a:spcBef>
              <a:spcPct val="0"/>
            </a:spcBef>
            <a:spcAft>
              <a:spcPct val="15000"/>
            </a:spcAft>
            <a:buFont typeface="Arial" panose="020B0604020202020204" pitchFamily="34" charset="0"/>
            <a:buChar char="•"/>
          </a:pPr>
          <a:r>
            <a:rPr lang="en-US" sz="1200" kern="1200" dirty="0">
              <a:latin typeface="Times New Roman" panose="02020603050405020304" pitchFamily="18" charset="0"/>
              <a:cs typeface="Times New Roman" panose="02020603050405020304" pitchFamily="18" charset="0"/>
            </a:rPr>
            <a:t>Synchronous reset </a:t>
          </a:r>
          <a:r>
            <a:rPr lang="en-US" sz="1200" kern="1200" dirty="0" err="1">
              <a:latin typeface="Times New Roman" panose="02020603050405020304" pitchFamily="18" charset="0"/>
              <a:cs typeface="Times New Roman" panose="02020603050405020304" pitchFamily="18" charset="0"/>
            </a:rPr>
            <a:t>deassertion</a:t>
          </a:r>
          <a:endParaRPr lang="en-US" sz="1200" kern="1200" dirty="0">
            <a:latin typeface="Times New Roman" panose="02020603050405020304" pitchFamily="18" charset="0"/>
            <a:cs typeface="Times New Roman" panose="02020603050405020304" pitchFamily="18" charset="0"/>
          </a:endParaRPr>
        </a:p>
      </dsp:txBody>
      <dsp:txXfrm>
        <a:off x="6609468" y="814579"/>
        <a:ext cx="1804047" cy="215574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85CECA-B47B-4AC3-B71F-3270DC00B3C3}">
      <dsp:nvSpPr>
        <dsp:cNvPr id="0" name=""/>
        <dsp:cNvSpPr/>
      </dsp:nvSpPr>
      <dsp:spPr>
        <a:xfrm>
          <a:off x="265517" y="2975"/>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CXS RX Interface</a:t>
          </a:r>
          <a:endParaRPr lang="en-US" sz="1100" kern="1200" dirty="0">
            <a:latin typeface="Times New Roman" panose="02020603050405020304" pitchFamily="18" charset="0"/>
            <a:cs typeface="Times New Roman" panose="02020603050405020304" pitchFamily="18" charset="0"/>
          </a:endParaRPr>
        </a:p>
      </dsp:txBody>
      <dsp:txXfrm>
        <a:off x="275852" y="13310"/>
        <a:ext cx="1390825" cy="332203"/>
      </dsp:txXfrm>
    </dsp:sp>
    <dsp:sp modelId="{AAE297F5-E414-4C16-8D02-D93561D76E4B}">
      <dsp:nvSpPr>
        <dsp:cNvPr id="0" name=""/>
        <dsp:cNvSpPr/>
      </dsp:nvSpPr>
      <dsp:spPr>
        <a:xfrm rot="5400000">
          <a:off x="905101" y="364671"/>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377904"/>
        <a:ext cx="95275" cy="92629"/>
      </dsp:txXfrm>
    </dsp:sp>
    <dsp:sp modelId="{22A06CE7-71FD-4A3E-8AA0-B0BF43360726}">
      <dsp:nvSpPr>
        <dsp:cNvPr id="0" name=""/>
        <dsp:cNvSpPr/>
      </dsp:nvSpPr>
      <dsp:spPr>
        <a:xfrm>
          <a:off x="265517" y="532286"/>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CDC / Asynchronous FIFO</a:t>
          </a:r>
          <a:endParaRPr lang="en-US" sz="1100" kern="1200" dirty="0">
            <a:latin typeface="Times New Roman" panose="02020603050405020304" pitchFamily="18" charset="0"/>
            <a:cs typeface="Times New Roman" panose="02020603050405020304" pitchFamily="18" charset="0"/>
          </a:endParaRPr>
        </a:p>
      </dsp:txBody>
      <dsp:txXfrm>
        <a:off x="275852" y="542621"/>
        <a:ext cx="1390825" cy="332203"/>
      </dsp:txXfrm>
    </dsp:sp>
    <dsp:sp modelId="{9EAE36D1-8898-429B-A077-72F3F6CC1EEF}">
      <dsp:nvSpPr>
        <dsp:cNvPr id="0" name=""/>
        <dsp:cNvSpPr/>
      </dsp:nvSpPr>
      <dsp:spPr>
        <a:xfrm rot="5400000">
          <a:off x="905101" y="893981"/>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907214"/>
        <a:ext cx="95275" cy="92629"/>
      </dsp:txXfrm>
    </dsp:sp>
    <dsp:sp modelId="{8AD7772D-ADC1-4804-BA53-EB944761E580}">
      <dsp:nvSpPr>
        <dsp:cNvPr id="0" name=""/>
        <dsp:cNvSpPr/>
      </dsp:nvSpPr>
      <dsp:spPr>
        <a:xfrm>
          <a:off x="265517" y="1061597"/>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Control Unit</a:t>
          </a:r>
          <a:endParaRPr lang="en-US" sz="1100" kern="1200" dirty="0">
            <a:latin typeface="Times New Roman" panose="02020603050405020304" pitchFamily="18" charset="0"/>
            <a:cs typeface="Times New Roman" panose="02020603050405020304" pitchFamily="18" charset="0"/>
          </a:endParaRPr>
        </a:p>
      </dsp:txBody>
      <dsp:txXfrm>
        <a:off x="275852" y="1071932"/>
        <a:ext cx="1390825" cy="332203"/>
      </dsp:txXfrm>
    </dsp:sp>
    <dsp:sp modelId="{1BC99E1D-AC4A-40EA-A0B6-F95C8180936A}">
      <dsp:nvSpPr>
        <dsp:cNvPr id="0" name=""/>
        <dsp:cNvSpPr/>
      </dsp:nvSpPr>
      <dsp:spPr>
        <a:xfrm rot="5400000">
          <a:off x="905101" y="1423292"/>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1436525"/>
        <a:ext cx="95275" cy="92629"/>
      </dsp:txXfrm>
    </dsp:sp>
    <dsp:sp modelId="{04FEF770-4FA3-49F1-B40C-94AF5528AB63}">
      <dsp:nvSpPr>
        <dsp:cNvPr id="0" name=""/>
        <dsp:cNvSpPr/>
      </dsp:nvSpPr>
      <dsp:spPr>
        <a:xfrm>
          <a:off x="265517" y="1590907"/>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Encryption + Parity</a:t>
          </a:r>
          <a:endParaRPr lang="en-US" sz="1100" kern="1200" dirty="0">
            <a:latin typeface="Times New Roman" panose="02020603050405020304" pitchFamily="18" charset="0"/>
            <a:cs typeface="Times New Roman" panose="02020603050405020304" pitchFamily="18" charset="0"/>
          </a:endParaRPr>
        </a:p>
      </dsp:txBody>
      <dsp:txXfrm>
        <a:off x="275852" y="1601242"/>
        <a:ext cx="1390825" cy="332203"/>
      </dsp:txXfrm>
    </dsp:sp>
    <dsp:sp modelId="{92C8DFCA-D1E0-417F-A686-D9FC0385CCBD}">
      <dsp:nvSpPr>
        <dsp:cNvPr id="0" name=""/>
        <dsp:cNvSpPr/>
      </dsp:nvSpPr>
      <dsp:spPr>
        <a:xfrm rot="5400000">
          <a:off x="905101" y="1952603"/>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1965836"/>
        <a:ext cx="95275" cy="92629"/>
      </dsp:txXfrm>
    </dsp:sp>
    <dsp:sp modelId="{A21DDB2C-3D52-4CBE-B695-D35904610A55}">
      <dsp:nvSpPr>
        <dsp:cNvPr id="0" name=""/>
        <dsp:cNvSpPr/>
      </dsp:nvSpPr>
      <dsp:spPr>
        <a:xfrm>
          <a:off x="265517" y="2120218"/>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ATU</a:t>
          </a:r>
          <a:endParaRPr lang="en-US" sz="1100" kern="1200" dirty="0">
            <a:latin typeface="Times New Roman" panose="02020603050405020304" pitchFamily="18" charset="0"/>
            <a:cs typeface="Times New Roman" panose="02020603050405020304" pitchFamily="18" charset="0"/>
          </a:endParaRPr>
        </a:p>
      </dsp:txBody>
      <dsp:txXfrm>
        <a:off x="275852" y="2130553"/>
        <a:ext cx="1390825" cy="332203"/>
      </dsp:txXfrm>
    </dsp:sp>
    <dsp:sp modelId="{7B043563-BB29-4C24-9B83-DDD46A0E5F83}">
      <dsp:nvSpPr>
        <dsp:cNvPr id="0" name=""/>
        <dsp:cNvSpPr/>
      </dsp:nvSpPr>
      <dsp:spPr>
        <a:xfrm rot="5400000">
          <a:off x="905101" y="2481914"/>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2495147"/>
        <a:ext cx="95275" cy="92629"/>
      </dsp:txXfrm>
    </dsp:sp>
    <dsp:sp modelId="{30EB8C55-69CE-44C7-A4F0-6CD3073EC855}">
      <dsp:nvSpPr>
        <dsp:cNvPr id="0" name=""/>
        <dsp:cNvSpPr/>
      </dsp:nvSpPr>
      <dsp:spPr>
        <a:xfrm>
          <a:off x="265517" y="2649529"/>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Central Data Memory</a:t>
          </a:r>
          <a:endParaRPr lang="en-US" sz="1100" kern="1200" dirty="0">
            <a:latin typeface="Times New Roman" panose="02020603050405020304" pitchFamily="18" charset="0"/>
            <a:cs typeface="Times New Roman" panose="02020603050405020304" pitchFamily="18" charset="0"/>
          </a:endParaRPr>
        </a:p>
      </dsp:txBody>
      <dsp:txXfrm>
        <a:off x="275852" y="2659864"/>
        <a:ext cx="1390825" cy="332203"/>
      </dsp:txXfrm>
    </dsp:sp>
    <dsp:sp modelId="{F36AD347-3B70-4415-AD7C-B2E31B184B05}">
      <dsp:nvSpPr>
        <dsp:cNvPr id="0" name=""/>
        <dsp:cNvSpPr/>
      </dsp:nvSpPr>
      <dsp:spPr>
        <a:xfrm rot="5400000">
          <a:off x="905101" y="3011224"/>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3024457"/>
        <a:ext cx="95275" cy="92629"/>
      </dsp:txXfrm>
    </dsp:sp>
    <dsp:sp modelId="{14E450D8-C657-42A3-B035-BCB31151C7C3}">
      <dsp:nvSpPr>
        <dsp:cNvPr id="0" name=""/>
        <dsp:cNvSpPr/>
      </dsp:nvSpPr>
      <dsp:spPr>
        <a:xfrm>
          <a:off x="265517" y="3178839"/>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Application Interface</a:t>
          </a:r>
          <a:endParaRPr lang="en-US" sz="1100" kern="1200" dirty="0">
            <a:latin typeface="Times New Roman" panose="02020603050405020304" pitchFamily="18" charset="0"/>
            <a:cs typeface="Times New Roman" panose="02020603050405020304" pitchFamily="18" charset="0"/>
          </a:endParaRPr>
        </a:p>
      </dsp:txBody>
      <dsp:txXfrm>
        <a:off x="275852" y="3189174"/>
        <a:ext cx="1390825" cy="332203"/>
      </dsp:txXfrm>
    </dsp:sp>
    <dsp:sp modelId="{853C280A-8C96-435C-A0B6-1965EFD56927}">
      <dsp:nvSpPr>
        <dsp:cNvPr id="0" name=""/>
        <dsp:cNvSpPr/>
      </dsp:nvSpPr>
      <dsp:spPr>
        <a:xfrm rot="5400000">
          <a:off x="905101" y="3540535"/>
          <a:ext cx="132327" cy="15879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rot="-5400000">
        <a:off x="923627" y="3553768"/>
        <a:ext cx="95275" cy="92629"/>
      </dsp:txXfrm>
    </dsp:sp>
    <dsp:sp modelId="{70E6639B-1389-440E-A27A-3EAE3C642B0D}">
      <dsp:nvSpPr>
        <dsp:cNvPr id="0" name=""/>
        <dsp:cNvSpPr/>
      </dsp:nvSpPr>
      <dsp:spPr>
        <a:xfrm>
          <a:off x="265517" y="3708150"/>
          <a:ext cx="1411495" cy="35287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b="1" kern="1200" dirty="0">
              <a:latin typeface="Times New Roman" panose="02020603050405020304" pitchFamily="18" charset="0"/>
              <a:cs typeface="Times New Roman" panose="02020603050405020304" pitchFamily="18" charset="0"/>
            </a:rPr>
            <a:t>CXS TX Interface</a:t>
          </a:r>
          <a:endParaRPr lang="en-US" sz="1100" kern="1200" dirty="0">
            <a:latin typeface="Times New Roman" panose="02020603050405020304" pitchFamily="18" charset="0"/>
            <a:cs typeface="Times New Roman" panose="02020603050405020304" pitchFamily="18" charset="0"/>
          </a:endParaRPr>
        </a:p>
      </dsp:txBody>
      <dsp:txXfrm>
        <a:off x="275852" y="3718485"/>
        <a:ext cx="1390825" cy="332203"/>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0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1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ltNode1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NoLn">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4412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A1359-FDAD-9BF5-92CE-1D293F3DE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F83055-8CBC-A54C-2705-DE24D4C0FA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B7DC1-83DE-1AC0-44E6-24A51B9D15F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AAAFF7-7E9D-3482-EE55-FDFC05D02425}"/>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488100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20E43-D35D-3709-EE3C-59D9A4ABE6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5A38B-85CF-2D61-09F9-D37F46562A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A0BF10-B7CC-807C-6143-9EF9716597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1E9E7C-F25D-259C-B869-0F4D99E0147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315247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833884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33884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8DAFA-2ECC-B8EC-A00D-7FDF46793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9929E9-B52C-074F-44B4-F4E0B6BFDF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F96F84-F983-AF0E-1C44-3596F705CD9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C4F6B2-D037-E132-EC3E-349D2AE8275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55790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3B7C3-26A6-E74B-AB57-0B2A9A182B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841DF-4A59-AEA4-0690-7D484FBE6D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D4DA5F-E974-FD26-E17E-9E283C1FB0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051352-11A9-4ACD-E893-42A47944607B}"/>
              </a:ext>
            </a:extLst>
          </p:cNvPr>
          <p:cNvSpPr>
            <a:spLocks noGrp="1"/>
          </p:cNvSpPr>
          <p:nvPr>
            <p:ph type="sldNum" sz="quarter" idx="10"/>
          </p:nvPr>
        </p:nvSpPr>
        <p:spPr/>
        <p:txBody>
          <a:bodyPr/>
          <a:lstStyle/>
          <a:p>
            <a:fld id="{F7021451-1387-4CA6-816F-3879F97B5CBC}" type="slidenum">
              <a:rPr lang="en-US">
                <a:solidFill>
                  <a:prstClr val="black"/>
                </a:solidFill>
                <a:latin typeface="Calibri" panose="020F0502020204030204"/>
              </a:rPr>
              <a:pPr/>
              <a:t>18</a:t>
            </a:fld>
            <a:endParaRPr lang="en-US">
              <a:solidFill>
                <a:prstClr val="black"/>
              </a:solidFill>
              <a:latin typeface="Calibri" panose="020F0502020204030204"/>
            </a:endParaRPr>
          </a:p>
        </p:txBody>
      </p:sp>
    </p:spTree>
    <p:extLst>
      <p:ext uri="{BB962C8B-B14F-4D97-AF65-F5344CB8AC3E}">
        <p14:creationId xmlns:p14="http://schemas.microsoft.com/office/powerpoint/2010/main" val="1554902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6C939-0F39-740D-B5FA-5E00920BC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182A3C-269A-14EA-6B03-FA0276E963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72F00-B6F5-9C9E-5F59-154219E221A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DE2522-7E03-3B88-A777-13C65C4F5828}"/>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580271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62599-B7E3-115D-DD6F-FD522C0E3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4EE1DF-9C30-F60C-8DCD-860D94EE8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8AABD-E17D-30C7-7A8A-56D0CDD3D1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49C31D-33F6-4D01-8899-4A745AC1C60A}"/>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821502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CFEB6-DBD7-F63E-8F41-599EE790E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4C3D2-72B6-0F64-A060-5E9E7B4BD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45D8DA-A2F1-834D-56B4-82E9EF8CF2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33BFDEF-6B4C-1407-518B-7C9415417CD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315225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DCC4A-089C-3232-627F-4840FBCF8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F48214-65CE-6714-718D-E2884C1A8E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928A7-8CD0-40BF-3C9F-91B47CF3DC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E50891-1020-1032-AACC-6AB92090DC0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6848527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7EEF9"/>
          </a:solidFill>
          <a:ln/>
        </p:spPr>
        <p:txBody>
          <a:bodyPr/>
          <a:lstStyle/>
          <a:p>
            <a:endParaRPr lang="en-US"/>
          </a:p>
        </p:txBody>
      </p:sp>
      <p:sp>
        <p:nvSpPr>
          <p:cNvPr id="3" name="Shape 1"/>
          <p:cNvSpPr/>
          <p:nvPr/>
        </p:nvSpPr>
        <p:spPr>
          <a:xfrm>
            <a:off x="0" y="0"/>
            <a:ext cx="9144000" cy="5143500"/>
          </a:xfrm>
          <a:prstGeom prst="rect">
            <a:avLst/>
          </a:prstGeom>
          <a:solidFill>
            <a:srgbClr val="FFFAFA"/>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slow">
    <p:push dir="u"/>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microsoft.com/office/2007/relationships/diagramDrawing" Target="../diagrams/drawing4.xml"/><Relationship Id="rId3" Type="http://schemas.microsoft.com/office/2007/relationships/hdphoto" Target="../media/hdphoto1.wdp"/><Relationship Id="rId7" Type="http://schemas.openxmlformats.org/officeDocument/2006/relationships/diagramColors" Target="../diagrams/colors4.xml"/><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image" Target="../media/image8.png"/></Relationships>
</file>

<file path=ppt/slides/_rels/slide11.xml.rels><?xml version="1.0" encoding="UTF-8" standalone="yes"?>
<Relationships xmlns="http://schemas.openxmlformats.org/package/2006/relationships"><Relationship Id="rId8" Type="http://schemas.microsoft.com/office/2007/relationships/diagramDrawing" Target="../diagrams/drawing5.xml"/><Relationship Id="rId3" Type="http://schemas.microsoft.com/office/2007/relationships/hdphoto" Target="../media/hdphoto1.wdp"/><Relationship Id="rId7" Type="http://schemas.openxmlformats.org/officeDocument/2006/relationships/diagramColors" Target="../diagrams/colors5.xml"/><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 Id="rId9"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8" Type="http://schemas.microsoft.com/office/2007/relationships/diagramDrawing" Target="../diagrams/drawing6.xml"/><Relationship Id="rId3" Type="http://schemas.microsoft.com/office/2007/relationships/hdphoto" Target="../media/hdphoto1.wdp"/><Relationship Id="rId7" Type="http://schemas.openxmlformats.org/officeDocument/2006/relationships/diagramColors" Target="../diagrams/colors6.xml"/><Relationship Id="rId2"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 Id="rId9"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svg"/></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sv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26.png"/><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9.png"/><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20000"/>
                <a:lumOff val="80000"/>
              </a:schemeClr>
            </a:gs>
            <a:gs pos="0">
              <a:srgbClr val="1E2761"/>
            </a:gs>
            <a:gs pos="0">
              <a:srgbClr val="1E2761"/>
            </a:gs>
            <a:gs pos="0">
              <a:srgbClr val="1E2761"/>
            </a:gs>
          </a:gsLst>
          <a:path path="rect">
            <a:fillToRect l="100000" t="100000"/>
          </a:path>
        </a:gradFill>
        <a:effectLst/>
      </p:bgPr>
    </p:bg>
    <p:spTree>
      <p:nvGrpSpPr>
        <p:cNvPr id="1" name="">
          <a:extLst>
            <a:ext uri="{FF2B5EF4-FFF2-40B4-BE49-F238E27FC236}">
              <a16:creationId xmlns:a16="http://schemas.microsoft.com/office/drawing/2014/main" id="{38C16D48-6EC9-8DD5-3C1A-EF6E44524E4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5588FA4-8786-2C22-CCDC-A262969E6942}"/>
              </a:ext>
            </a:extLst>
          </p:cNvPr>
          <p:cNvPicPr>
            <a:picLocks noChangeAspect="1"/>
          </p:cNvPicPr>
          <p:nvPr/>
        </p:nvPicPr>
        <p:blipFill>
          <a:blip r:embed="rId2"/>
          <a:stretch>
            <a:fillRect/>
          </a:stretch>
        </p:blipFill>
        <p:spPr>
          <a:xfrm>
            <a:off x="7497930" y="0"/>
            <a:ext cx="1646069" cy="967300"/>
          </a:xfrm>
          <a:prstGeom prst="rect">
            <a:avLst/>
          </a:prstGeom>
          <a:ln>
            <a:noFill/>
          </a:ln>
          <a:effectLst>
            <a:outerShdw blurRad="190500" algn="tl" rotWithShape="0">
              <a:srgbClr val="000000">
                <a:alpha val="70000"/>
              </a:srgbClr>
            </a:outerShdw>
          </a:effectLst>
        </p:spPr>
      </p:pic>
      <p:sp>
        <p:nvSpPr>
          <p:cNvPr id="6" name="Shape 2">
            <a:extLst>
              <a:ext uri="{FF2B5EF4-FFF2-40B4-BE49-F238E27FC236}">
                <a16:creationId xmlns:a16="http://schemas.microsoft.com/office/drawing/2014/main" id="{C4BC81EF-AB7A-C7E1-515F-51F30D84B557}"/>
              </a:ext>
            </a:extLst>
          </p:cNvPr>
          <p:cNvSpPr/>
          <p:nvPr/>
        </p:nvSpPr>
        <p:spPr>
          <a:xfrm>
            <a:off x="1568048" y="3256855"/>
            <a:ext cx="6007903" cy="62168"/>
          </a:xfrm>
          <a:prstGeom prst="rect">
            <a:avLst/>
          </a:prstGeom>
          <a:solidFill>
            <a:srgbClr val="00C2A8"/>
          </a:solidFill>
          <a:ln/>
        </p:spPr>
        <p:txBody>
          <a:bodyPr/>
          <a:lstStyle/>
          <a:p>
            <a:endParaRPr lang="en-US"/>
          </a:p>
        </p:txBody>
      </p:sp>
      <p:sp>
        <p:nvSpPr>
          <p:cNvPr id="8" name="Text 3">
            <a:extLst>
              <a:ext uri="{FF2B5EF4-FFF2-40B4-BE49-F238E27FC236}">
                <a16:creationId xmlns:a16="http://schemas.microsoft.com/office/drawing/2014/main" id="{18D05FF6-87A5-7CC7-FAC2-62821EAA6ABF}"/>
              </a:ext>
            </a:extLst>
          </p:cNvPr>
          <p:cNvSpPr txBox="1"/>
          <p:nvPr/>
        </p:nvSpPr>
        <p:spPr>
          <a:xfrm>
            <a:off x="54433" y="1126150"/>
            <a:ext cx="8753779" cy="1554480"/>
          </a:xfrm>
          <a:prstGeom prst="rect">
            <a:avLst/>
          </a:prstGeom>
          <a:noFill/>
          <a:ln/>
        </p:spPr>
        <p:txBody>
          <a:bodyPr wrap="square" lIns="0" tIns="0" rIns="0" bIns="0" rtlCol="0" anchor="ctr"/>
          <a:lstStyle/>
          <a:p>
            <a:pPr marL="0" indent="0" algn="ctr">
              <a:lnSpc>
                <a:spcPct val="105000"/>
              </a:lnSpc>
              <a:buNone/>
            </a:pPr>
            <a:r>
              <a:rPr lang="en-US" sz="3200" b="1" dirty="0">
                <a:solidFill>
                  <a:srgbClr val="FFFFFF"/>
                </a:solidFill>
                <a:latin typeface="Times New Roman" panose="02020603050405020304" pitchFamily="18" charset="0"/>
                <a:ea typeface="Cambria" pitchFamily="34" charset="-122"/>
                <a:cs typeface="Times New Roman" panose="02020603050405020304" pitchFamily="18" charset="0"/>
              </a:rPr>
              <a:t>CXS BRIDGE Encryption &amp; Data Management System</a:t>
            </a:r>
          </a:p>
        </p:txBody>
      </p:sp>
      <p:sp>
        <p:nvSpPr>
          <p:cNvPr id="2" name="TextBox 1">
            <a:extLst>
              <a:ext uri="{FF2B5EF4-FFF2-40B4-BE49-F238E27FC236}">
                <a16:creationId xmlns:a16="http://schemas.microsoft.com/office/drawing/2014/main" id="{3EB03F52-11C2-69B1-C930-68020A0CCE52}"/>
              </a:ext>
            </a:extLst>
          </p:cNvPr>
          <p:cNvSpPr txBox="1"/>
          <p:nvPr/>
        </p:nvSpPr>
        <p:spPr>
          <a:xfrm>
            <a:off x="2660901" y="2811153"/>
            <a:ext cx="3540841" cy="400110"/>
          </a:xfrm>
          <a:prstGeom prst="rect">
            <a:avLst/>
          </a:prstGeom>
          <a:noFill/>
        </p:spPr>
        <p:txBody>
          <a:bodyPr wrap="none" rtlCol="0">
            <a:spAutoFit/>
          </a:bodyPr>
          <a:lstStyle/>
          <a:p>
            <a:r>
              <a:rPr lang="en-US" sz="2000" dirty="0">
                <a:solidFill>
                  <a:schemeClr val="bg2"/>
                </a:solidFill>
              </a:rPr>
              <a:t>Supervised by: En. Menna Samir</a:t>
            </a:r>
          </a:p>
        </p:txBody>
      </p:sp>
      <p:sp>
        <p:nvSpPr>
          <p:cNvPr id="3" name="TextBox 2">
            <a:extLst>
              <a:ext uri="{FF2B5EF4-FFF2-40B4-BE49-F238E27FC236}">
                <a16:creationId xmlns:a16="http://schemas.microsoft.com/office/drawing/2014/main" id="{0443A1AA-0D7E-43DE-1BEB-E79C5C521BCC}"/>
              </a:ext>
            </a:extLst>
          </p:cNvPr>
          <p:cNvSpPr txBox="1"/>
          <p:nvPr/>
        </p:nvSpPr>
        <p:spPr>
          <a:xfrm>
            <a:off x="2375316" y="2556945"/>
            <a:ext cx="4294894" cy="369332"/>
          </a:xfrm>
          <a:prstGeom prst="rect">
            <a:avLst/>
          </a:prstGeom>
          <a:noFill/>
        </p:spPr>
        <p:txBody>
          <a:bodyPr wrap="none" rtlCol="0">
            <a:spAutoFit/>
          </a:bodyPr>
          <a:lstStyle/>
          <a:p>
            <a:r>
              <a:rPr lang="en-US" dirty="0">
                <a:solidFill>
                  <a:schemeClr val="bg2"/>
                </a:solidFill>
              </a:rPr>
              <a:t>Program: Digital Design Internship, Si-Vision</a:t>
            </a:r>
          </a:p>
        </p:txBody>
      </p:sp>
    </p:spTree>
    <p:extLst>
      <p:ext uri="{BB962C8B-B14F-4D97-AF65-F5344CB8AC3E}">
        <p14:creationId xmlns:p14="http://schemas.microsoft.com/office/powerpoint/2010/main" val="36859292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5D0532D-1DCA-0D52-AB7D-CD4A82301D9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BFED281D-EFE2-8270-7EBC-0F09ADCFBE2E}"/>
              </a:ext>
            </a:extLst>
          </p:cNvPr>
          <p:cNvSpPr/>
          <p:nvPr/>
        </p:nvSpPr>
        <p:spPr>
          <a:xfrm>
            <a:off x="0" y="-4873"/>
            <a:ext cx="4510007" cy="5143500"/>
          </a:xfrm>
          <a:prstGeom prst="rect">
            <a:avLst/>
          </a:prstGeom>
          <a:solidFill>
            <a:srgbClr val="1E276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BA69DA4A-D690-6D1C-2CFD-854B12F37CD5}"/>
              </a:ext>
            </a:extLst>
          </p:cNvPr>
          <p:cNvSpPr txBox="1"/>
          <p:nvPr/>
        </p:nvSpPr>
        <p:spPr>
          <a:xfrm>
            <a:off x="1138991" y="487110"/>
            <a:ext cx="3172575" cy="2540623"/>
          </a:xfrm>
          <a:prstGeom prst="rect">
            <a:avLst/>
          </a:prstGeom>
        </p:spPr>
        <p:txBody>
          <a:bodyPr vert="horz" lIns="91440" tIns="45720" rIns="91440" bIns="45720" rtlCol="0" anchor="b">
            <a:normAutofit/>
          </a:bodyPr>
          <a:lstStyle/>
          <a:p>
            <a:pPr algn="r">
              <a:lnSpc>
                <a:spcPct val="90000"/>
              </a:lnSpc>
              <a:spcBef>
                <a:spcPct val="0"/>
              </a:spcBef>
              <a:spcAft>
                <a:spcPts val="600"/>
              </a:spcAft>
            </a:pPr>
            <a:r>
              <a:rPr lang="en-US" sz="3000" b="1" kern="1200" dirty="0">
                <a:solidFill>
                  <a:srgbClr val="FFFFFF"/>
                </a:solidFill>
                <a:latin typeface="Times New Roman" panose="02020603050405020304" pitchFamily="18" charset="0"/>
                <a:ea typeface="+mj-ea"/>
                <a:cs typeface="Times New Roman" panose="02020603050405020304" pitchFamily="18" charset="0"/>
              </a:rPr>
              <a:t>CONTENT</a:t>
            </a:r>
          </a:p>
        </p:txBody>
      </p:sp>
      <p:sp>
        <p:nvSpPr>
          <p:cNvPr id="19" name="TextBox 18">
            <a:extLst>
              <a:ext uri="{FF2B5EF4-FFF2-40B4-BE49-F238E27FC236}">
                <a16:creationId xmlns:a16="http://schemas.microsoft.com/office/drawing/2014/main" id="{D537107C-52F6-561F-0BFB-233B2CF38C47}"/>
              </a:ext>
            </a:extLst>
          </p:cNvPr>
          <p:cNvSpPr txBox="1"/>
          <p:nvPr/>
        </p:nvSpPr>
        <p:spPr>
          <a:xfrm>
            <a:off x="4877368" y="487110"/>
            <a:ext cx="3646835" cy="4159535"/>
          </a:xfrm>
          <a:prstGeom prst="rect">
            <a:avLst/>
          </a:prstGeom>
        </p:spPr>
        <p:txBody>
          <a:bodyPr vert="horz" lIns="91440" tIns="45720" rIns="91440" bIns="45720" rtlCol="0" anchor="ctr">
            <a:normAutofit/>
          </a:bodyPr>
          <a:lstStyle/>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Introduction &amp; Objectives</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System Overview</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High-Level Architecture</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CXS Interface (RX)</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CXS Interface (TX)</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Control Unit FSM</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Encryption Module</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Parity Module</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ATU &amp; Central Data Memory (CDM)</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Clock Domain Crossing (CDC) Strategy</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Verification Strategy &amp; Test cases</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Linting Results (</a:t>
            </a:r>
            <a:r>
              <a:rPr lang="en-US" sz="1500" dirty="0" err="1">
                <a:latin typeface="Times New Roman" panose="02020603050405020304" pitchFamily="18" charset="0"/>
                <a:cs typeface="Times New Roman" panose="02020603050405020304" pitchFamily="18" charset="0"/>
              </a:rPr>
              <a:t>SpyGlass</a:t>
            </a:r>
            <a:r>
              <a:rPr lang="en-US" sz="1500" dirty="0">
                <a:latin typeface="Times New Roman" panose="02020603050405020304" pitchFamily="18" charset="0"/>
                <a:cs typeface="Times New Roman" panose="02020603050405020304" pitchFamily="18" charset="0"/>
              </a:rPr>
              <a:t>)</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Synthesis Timing Results</a:t>
            </a:r>
          </a:p>
          <a:p>
            <a:pPr marL="342900" lvl="0" indent="-228600">
              <a:lnSpc>
                <a:spcPct val="90000"/>
              </a:lnSpc>
              <a:spcAft>
                <a:spcPts val="600"/>
              </a:spcAft>
              <a:buFont typeface="Arial" panose="020B0604020202020204" pitchFamily="34" charset="0"/>
              <a:buChar char="•"/>
            </a:pPr>
            <a:r>
              <a:rPr lang="en-US" sz="1500" dirty="0">
                <a:latin typeface="Times New Roman" panose="02020603050405020304" pitchFamily="18" charset="0"/>
                <a:cs typeface="Times New Roman" panose="02020603050405020304" pitchFamily="18" charset="0"/>
              </a:rPr>
              <a:t>Conclusion</a:t>
            </a:r>
          </a:p>
        </p:txBody>
      </p:sp>
    </p:spTree>
    <p:extLst>
      <p:ext uri="{BB962C8B-B14F-4D97-AF65-F5344CB8AC3E}">
        <p14:creationId xmlns:p14="http://schemas.microsoft.com/office/powerpoint/2010/main" val="42381310"/>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36B57CDF-A232-AC18-9A4A-1BD30ABF9EA7}"/>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2390B356-7877-8B0B-829D-FB4EB06914CB}"/>
              </a:ext>
            </a:extLst>
          </p:cNvPr>
          <p:cNvSpPr txBox="1"/>
          <p:nvPr/>
        </p:nvSpPr>
        <p:spPr>
          <a:xfrm>
            <a:off x="715598" y="517183"/>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rPr>
              <a:t>1</a:t>
            </a:r>
            <a:endParaRPr lang="en-US" sz="11000" dirty="0"/>
          </a:p>
        </p:txBody>
      </p:sp>
      <p:sp>
        <p:nvSpPr>
          <p:cNvPr id="6" name="Shape 2">
            <a:extLst>
              <a:ext uri="{FF2B5EF4-FFF2-40B4-BE49-F238E27FC236}">
                <a16:creationId xmlns:a16="http://schemas.microsoft.com/office/drawing/2014/main" id="{A526BD67-C352-21F6-D2C5-71B8207482CC}"/>
              </a:ext>
            </a:extLst>
          </p:cNvPr>
          <p:cNvSpPr/>
          <p:nvPr/>
        </p:nvSpPr>
        <p:spPr>
          <a:xfrm>
            <a:off x="622609" y="2090610"/>
            <a:ext cx="1554480" cy="45720"/>
          </a:xfrm>
          <a:prstGeom prst="rect">
            <a:avLst/>
          </a:prstGeom>
          <a:solidFill>
            <a:srgbClr val="00C2A8"/>
          </a:solidFill>
          <a:ln/>
        </p:spPr>
        <p:txBody>
          <a:bodyPr/>
          <a:lstStyle/>
          <a:p>
            <a:endParaRPr lang="en-US"/>
          </a:p>
        </p:txBody>
      </p:sp>
      <p:sp>
        <p:nvSpPr>
          <p:cNvPr id="8" name="Text 3">
            <a:extLst>
              <a:ext uri="{FF2B5EF4-FFF2-40B4-BE49-F238E27FC236}">
                <a16:creationId xmlns:a16="http://schemas.microsoft.com/office/drawing/2014/main" id="{D0CD1D9C-01BF-9873-FADF-F920A426D81A}"/>
              </a:ext>
            </a:extLst>
          </p:cNvPr>
          <p:cNvSpPr txBox="1"/>
          <p:nvPr/>
        </p:nvSpPr>
        <p:spPr>
          <a:xfrm>
            <a:off x="622609" y="2090610"/>
            <a:ext cx="3532202" cy="1554480"/>
          </a:xfrm>
          <a:prstGeom prst="rect">
            <a:avLst/>
          </a:prstGeom>
          <a:noFill/>
          <a:ln/>
        </p:spPr>
        <p:txBody>
          <a:bodyPr wrap="square" lIns="0" tIns="0" rIns="0" bIns="0" rtlCol="0" anchor="ctr"/>
          <a:lstStyle/>
          <a:p>
            <a:pPr marL="0" indent="0">
              <a:lnSpc>
                <a:spcPct val="105000"/>
              </a:lnSpc>
              <a:buNone/>
            </a:pPr>
            <a:r>
              <a:rPr lang="en-US" sz="4000" b="1" dirty="0">
                <a:solidFill>
                  <a:srgbClr val="FFFFFF"/>
                </a:solidFill>
                <a:latin typeface="Cambria" pitchFamily="34" charset="0"/>
                <a:ea typeface="Cambria" pitchFamily="34" charset="-122"/>
                <a:cs typeface="Cambria" pitchFamily="34" charset="-120"/>
              </a:rPr>
              <a:t>Introduction &amp; Objectives</a:t>
            </a:r>
          </a:p>
        </p:txBody>
      </p:sp>
      <p:pic>
        <p:nvPicPr>
          <p:cNvPr id="9" name="Picture 8">
            <a:extLst>
              <a:ext uri="{FF2B5EF4-FFF2-40B4-BE49-F238E27FC236}">
                <a16:creationId xmlns:a16="http://schemas.microsoft.com/office/drawing/2014/main" id="{6E1C1A67-D049-D170-44D8-BA80E26E48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9028" y="1057428"/>
            <a:ext cx="3048464" cy="302864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285012360"/>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225154D7-B63F-9460-DA80-864F8985D31B}"/>
            </a:ext>
          </a:extLst>
        </p:cNvPr>
        <p:cNvGrpSpPr/>
        <p:nvPr/>
      </p:nvGrpSpPr>
      <p:grpSpPr>
        <a:xfrm>
          <a:off x="0" y="0"/>
          <a:ext cx="0" cy="0"/>
          <a:chOff x="0" y="0"/>
          <a:chExt cx="0" cy="0"/>
        </a:xfrm>
      </p:grpSpPr>
      <p:sp>
        <p:nvSpPr>
          <p:cNvPr id="15" name="Text 0"/>
          <p:cNvSpPr txBox="1"/>
          <p:nvPr/>
        </p:nvSpPr>
        <p:spPr>
          <a:xfrm>
            <a:off x="480448" y="325399"/>
            <a:ext cx="6361930" cy="640080"/>
          </a:xfrm>
          <a:prstGeom prst="rect">
            <a:avLst/>
          </a:prstGeom>
          <a:noFill/>
          <a:ln/>
        </p:spPr>
        <p:txBody>
          <a:bodyPr wrap="square" lIns="0" tIns="0" rIns="0" bIns="0" rtlCol="0" anchor="ctr"/>
          <a:lstStyle/>
          <a:p>
            <a:r>
              <a:rPr lang="en-US" sz="3200" b="1" dirty="0">
                <a:solidFill>
                  <a:srgbClr val="1E2761"/>
                </a:solidFill>
                <a:latin typeface="Times New Roman" panose="02020603050405020304" pitchFamily="18" charset="0"/>
                <a:ea typeface="Cambria" pitchFamily="34" charset="-122"/>
                <a:cs typeface="Times New Roman" panose="02020603050405020304" pitchFamily="18" charset="0"/>
              </a:rPr>
              <a:t>Design Objectives</a:t>
            </a:r>
          </a:p>
        </p:txBody>
      </p:sp>
      <p:sp>
        <p:nvSpPr>
          <p:cNvPr id="2" name="TextBox 1">
            <a:extLst>
              <a:ext uri="{FF2B5EF4-FFF2-40B4-BE49-F238E27FC236}">
                <a16:creationId xmlns:a16="http://schemas.microsoft.com/office/drawing/2014/main" id="{EE894087-5DE2-44A1-5255-C38E1D63ADB6}"/>
              </a:ext>
            </a:extLst>
          </p:cNvPr>
          <p:cNvSpPr txBox="1"/>
          <p:nvPr/>
        </p:nvSpPr>
        <p:spPr>
          <a:xfrm>
            <a:off x="398706" y="1105589"/>
            <a:ext cx="8043521" cy="1477328"/>
          </a:xfrm>
          <a:prstGeom prst="rect">
            <a:avLst/>
          </a:prstGeom>
          <a:noFill/>
        </p:spPr>
        <p:txBody>
          <a:bodyPr wrap="square" rtlCol="0">
            <a:spAutoFit/>
          </a:bodyPr>
          <a:lstStyle/>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Modular, scalable ,parametrized architecture</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Reliable CXS interface with credit-based flow control</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Packet extraction, encryption, parity, and storage</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Address translation for mapping to CDM addresses </a:t>
            </a:r>
          </a:p>
          <a:p>
            <a:pPr marL="285750" lvl="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Protocol-compliant, verifiable, extendable design</a:t>
            </a:r>
          </a:p>
        </p:txBody>
      </p:sp>
      <p:graphicFrame>
        <p:nvGraphicFramePr>
          <p:cNvPr id="10" name="Diagram 9">
            <a:extLst>
              <a:ext uri="{FF2B5EF4-FFF2-40B4-BE49-F238E27FC236}">
                <a16:creationId xmlns:a16="http://schemas.microsoft.com/office/drawing/2014/main" id="{1D5D5AED-669F-B728-EE91-A60184DBCFF8}"/>
              </a:ext>
            </a:extLst>
          </p:cNvPr>
          <p:cNvGraphicFramePr/>
          <p:nvPr>
            <p:extLst>
              <p:ext uri="{D42A27DB-BD31-4B8C-83A1-F6EECF244321}">
                <p14:modId xmlns:p14="http://schemas.microsoft.com/office/powerpoint/2010/main" val="653320496"/>
              </p:ext>
            </p:extLst>
          </p:nvPr>
        </p:nvGraphicFramePr>
        <p:xfrm>
          <a:off x="1201994" y="2190135"/>
          <a:ext cx="6266472" cy="27913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14073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346FD28D-43CD-E175-7490-25A21025AC57}"/>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0FF43234-4D7A-B3F1-BD1A-7A884E0E13CF}"/>
              </a:ext>
            </a:extLst>
          </p:cNvPr>
          <p:cNvSpPr txBox="1"/>
          <p:nvPr/>
        </p:nvSpPr>
        <p:spPr>
          <a:xfrm>
            <a:off x="622609" y="129726"/>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rPr>
              <a:t>2</a:t>
            </a:r>
            <a:endParaRPr lang="en-US" sz="11000" dirty="0"/>
          </a:p>
        </p:txBody>
      </p:sp>
      <p:sp>
        <p:nvSpPr>
          <p:cNvPr id="6" name="Shape 2">
            <a:extLst>
              <a:ext uri="{FF2B5EF4-FFF2-40B4-BE49-F238E27FC236}">
                <a16:creationId xmlns:a16="http://schemas.microsoft.com/office/drawing/2014/main" id="{8C83252D-8E20-C129-FFFF-8BA2A64DC007}"/>
              </a:ext>
            </a:extLst>
          </p:cNvPr>
          <p:cNvSpPr/>
          <p:nvPr/>
        </p:nvSpPr>
        <p:spPr>
          <a:xfrm>
            <a:off x="295879" y="1758393"/>
            <a:ext cx="1554480" cy="45720"/>
          </a:xfrm>
          <a:prstGeom prst="rect">
            <a:avLst/>
          </a:prstGeom>
          <a:solidFill>
            <a:srgbClr val="00C2A8"/>
          </a:solidFill>
          <a:ln/>
        </p:spPr>
        <p:txBody>
          <a:bodyPr/>
          <a:lstStyle/>
          <a:p>
            <a:endParaRPr lang="en-US"/>
          </a:p>
        </p:txBody>
      </p:sp>
      <p:sp>
        <p:nvSpPr>
          <p:cNvPr id="8" name="Text 3">
            <a:extLst>
              <a:ext uri="{FF2B5EF4-FFF2-40B4-BE49-F238E27FC236}">
                <a16:creationId xmlns:a16="http://schemas.microsoft.com/office/drawing/2014/main" id="{6D467C7D-76A5-4522-C532-A67D387C89FE}"/>
              </a:ext>
            </a:extLst>
          </p:cNvPr>
          <p:cNvSpPr txBox="1"/>
          <p:nvPr/>
        </p:nvSpPr>
        <p:spPr>
          <a:xfrm>
            <a:off x="295879" y="2009890"/>
            <a:ext cx="4820227" cy="1554480"/>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High-Level Architecture &amp;System Overview</a:t>
            </a:r>
          </a:p>
        </p:txBody>
      </p:sp>
      <p:pic>
        <p:nvPicPr>
          <p:cNvPr id="4" name="Picture 3">
            <a:extLst>
              <a:ext uri="{FF2B5EF4-FFF2-40B4-BE49-F238E27FC236}">
                <a16:creationId xmlns:a16="http://schemas.microsoft.com/office/drawing/2014/main" id="{E8034CF6-2DC1-BD13-5B05-8E9CC0516C34}"/>
              </a:ext>
            </a:extLst>
          </p:cNvPr>
          <p:cNvPicPr>
            <a:picLocks noChangeAspect="1"/>
          </p:cNvPicPr>
          <p:nvPr/>
        </p:nvPicPr>
        <p:blipFill>
          <a:blip r:embed="rId2"/>
          <a:stretch>
            <a:fillRect/>
          </a:stretch>
        </p:blipFill>
        <p:spPr>
          <a:xfrm>
            <a:off x="5295306" y="1162554"/>
            <a:ext cx="3226085" cy="2818391"/>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1331217953"/>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00AD5A19-73BC-B829-CF86-75A6EAACB9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8F0FFEB-CFB9-3808-BC35-F1A5C53827E8}"/>
              </a:ext>
            </a:extLst>
          </p:cNvPr>
          <p:cNvSpPr txBox="1"/>
          <p:nvPr/>
        </p:nvSpPr>
        <p:spPr>
          <a:xfrm>
            <a:off x="380504" y="218057"/>
            <a:ext cx="7886700" cy="480060"/>
          </a:xfrm>
          <a:prstGeom prst="rect">
            <a:avLst/>
          </a:prstGeom>
          <a:noFill/>
          <a:ln/>
        </p:spPr>
        <p:txBody>
          <a:bodyPr wrap="square" lIns="0" tIns="0" rIns="0" bIns="0" rtlCol="0" anchor="ctr"/>
          <a:lstStyle/>
          <a:p>
            <a:r>
              <a:rPr lang="en-US" sz="2400" b="1" dirty="0">
                <a:solidFill>
                  <a:srgbClr val="1E2761"/>
                </a:solidFill>
                <a:latin typeface="Cambria" pitchFamily="34" charset="0"/>
                <a:ea typeface="Cambria" pitchFamily="34" charset="-122"/>
                <a:cs typeface="Cambria" pitchFamily="34" charset="-120"/>
              </a:rPr>
              <a:t>System</a:t>
            </a:r>
            <a:r>
              <a:rPr lang="en-US" sz="2250" b="1" dirty="0">
                <a:solidFill>
                  <a:srgbClr val="1E2761"/>
                </a:solidFill>
                <a:latin typeface="Cambria" pitchFamily="34" charset="0"/>
                <a:ea typeface="Cambria" pitchFamily="34" charset="-122"/>
                <a:cs typeface="Cambria" pitchFamily="34" charset="-120"/>
              </a:rPr>
              <a:t> Architecture</a:t>
            </a:r>
          </a:p>
        </p:txBody>
      </p:sp>
      <p:pic>
        <p:nvPicPr>
          <p:cNvPr id="6" name="Picture 5">
            <a:extLst>
              <a:ext uri="{FF2B5EF4-FFF2-40B4-BE49-F238E27FC236}">
                <a16:creationId xmlns:a16="http://schemas.microsoft.com/office/drawing/2014/main" id="{2D8F4219-2CD2-5F65-171B-3CB5698CB18D}"/>
              </a:ext>
            </a:extLst>
          </p:cNvPr>
          <p:cNvPicPr>
            <a:picLocks noChangeAspect="1"/>
          </p:cNvPicPr>
          <p:nvPr/>
        </p:nvPicPr>
        <p:blipFill>
          <a:blip r:embed="rId3"/>
          <a:stretch>
            <a:fillRect/>
          </a:stretch>
        </p:blipFill>
        <p:spPr>
          <a:xfrm>
            <a:off x="505455" y="698117"/>
            <a:ext cx="7886700" cy="3840931"/>
          </a:xfrm>
          <a:prstGeom prst="rect">
            <a:avLst/>
          </a:prstGeom>
          <a:noFill/>
        </p:spPr>
      </p:pic>
      <p:sp>
        <p:nvSpPr>
          <p:cNvPr id="7" name="TextBox 6">
            <a:extLst>
              <a:ext uri="{FF2B5EF4-FFF2-40B4-BE49-F238E27FC236}">
                <a16:creationId xmlns:a16="http://schemas.microsoft.com/office/drawing/2014/main" id="{1A563316-B517-3761-16A3-804860415FB4}"/>
              </a:ext>
            </a:extLst>
          </p:cNvPr>
          <p:cNvSpPr txBox="1"/>
          <p:nvPr/>
        </p:nvSpPr>
        <p:spPr>
          <a:xfrm>
            <a:off x="446048" y="4531492"/>
            <a:ext cx="7946107" cy="523220"/>
          </a:xfrm>
          <a:prstGeom prst="rect">
            <a:avLst/>
          </a:prstGeom>
          <a:noFill/>
        </p:spPr>
        <p:txBody>
          <a:bodyPr wrap="square" rtlCol="0">
            <a:spAutoFit/>
          </a:bodyPr>
          <a:lstStyle/>
          <a:p>
            <a:r>
              <a:rPr lang="en-US" sz="1400" dirty="0">
                <a:solidFill>
                  <a:srgbClr val="1E2761"/>
                </a:solidFill>
              </a:rPr>
              <a:t>High-level block diagram of the CXS Bridge — CXS Interface, Control Unit, Encryption, Parity, ATU, and CDM working together.</a:t>
            </a:r>
          </a:p>
        </p:txBody>
      </p:sp>
    </p:spTree>
    <p:extLst>
      <p:ext uri="{BB962C8B-B14F-4D97-AF65-F5344CB8AC3E}">
        <p14:creationId xmlns:p14="http://schemas.microsoft.com/office/powerpoint/2010/main" val="128850129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7B23FA94-D689-0AEE-5F6E-CD04E0A8665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FB8AFF3-EE8E-62BE-2433-A10B97EF5E7E}"/>
              </a:ext>
            </a:extLst>
          </p:cNvPr>
          <p:cNvSpPr txBox="1"/>
          <p:nvPr/>
        </p:nvSpPr>
        <p:spPr>
          <a:xfrm>
            <a:off x="379210" y="361830"/>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System Main Blocks</a:t>
            </a:r>
          </a:p>
        </p:txBody>
      </p:sp>
      <p:grpSp>
        <p:nvGrpSpPr>
          <p:cNvPr id="74" name="Group 73">
            <a:extLst>
              <a:ext uri="{FF2B5EF4-FFF2-40B4-BE49-F238E27FC236}">
                <a16:creationId xmlns:a16="http://schemas.microsoft.com/office/drawing/2014/main" id="{217F085A-5984-632D-FEEB-92EC28B10A6D}"/>
              </a:ext>
            </a:extLst>
          </p:cNvPr>
          <p:cNvGrpSpPr/>
          <p:nvPr/>
        </p:nvGrpSpPr>
        <p:grpSpPr>
          <a:xfrm>
            <a:off x="1988375" y="1847670"/>
            <a:ext cx="1677171" cy="1752302"/>
            <a:chOff x="2084994" y="1595064"/>
            <a:chExt cx="1529858" cy="1262138"/>
          </a:xfrm>
        </p:grpSpPr>
        <p:sp>
          <p:nvSpPr>
            <p:cNvPr id="21" name="Freeform: Shape 20">
              <a:extLst>
                <a:ext uri="{FF2B5EF4-FFF2-40B4-BE49-F238E27FC236}">
                  <a16:creationId xmlns:a16="http://schemas.microsoft.com/office/drawing/2014/main" id="{25C227B7-C992-C9B4-AABC-B05F2F2D49B2}"/>
                </a:ext>
              </a:extLst>
            </p:cNvPr>
            <p:cNvSpPr/>
            <p:nvPr/>
          </p:nvSpPr>
          <p:spPr>
            <a:xfrm>
              <a:off x="2084994" y="1595064"/>
              <a:ext cx="1529858" cy="1262137"/>
            </a:xfrm>
            <a:custGeom>
              <a:avLst/>
              <a:gdLst>
                <a:gd name="csX0" fmla="*/ 36427 w 1980555"/>
                <a:gd name="csY0" fmla="*/ 0 h 1262137"/>
                <a:gd name="csX1" fmla="*/ 1944129 w 1980555"/>
                <a:gd name="csY1" fmla="*/ 0 h 1262137"/>
                <a:gd name="csX2" fmla="*/ 1980555 w 1980555"/>
                <a:gd name="csY2" fmla="*/ 36304 h 1262137"/>
                <a:gd name="csX3" fmla="*/ 1980555 w 1980555"/>
                <a:gd name="csY3" fmla="*/ 1225834 h 1262137"/>
                <a:gd name="csX4" fmla="*/ 1944129 w 1980555"/>
                <a:gd name="csY4" fmla="*/ 1262137 h 1262137"/>
                <a:gd name="csX5" fmla="*/ 36427 w 1980555"/>
                <a:gd name="csY5" fmla="*/ 1262137 h 1262137"/>
                <a:gd name="csX6" fmla="*/ 0 w 1980555"/>
                <a:gd name="csY6" fmla="*/ 1225834 h 1262137"/>
                <a:gd name="csX7" fmla="*/ 0 w 1980555"/>
                <a:gd name="csY7" fmla="*/ 36304 h 1262137"/>
                <a:gd name="csX8" fmla="*/ 36427 w 1980555"/>
                <a:gd name="csY8" fmla="*/ 0 h 1262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80555" h="1262137">
                  <a:moveTo>
                    <a:pt x="36427" y="0"/>
                  </a:moveTo>
                  <a:lnTo>
                    <a:pt x="1944129" y="0"/>
                  </a:lnTo>
                  <a:cubicBezTo>
                    <a:pt x="1964244" y="0"/>
                    <a:pt x="1980555" y="16254"/>
                    <a:pt x="1980555" y="36304"/>
                  </a:cubicBezTo>
                  <a:lnTo>
                    <a:pt x="1980555" y="1225834"/>
                  </a:lnTo>
                  <a:cubicBezTo>
                    <a:pt x="1980555" y="1245881"/>
                    <a:pt x="1964244" y="1262137"/>
                    <a:pt x="1944129" y="1262137"/>
                  </a:cubicBezTo>
                  <a:lnTo>
                    <a:pt x="36427" y="1262137"/>
                  </a:lnTo>
                  <a:cubicBezTo>
                    <a:pt x="16309" y="1262137"/>
                    <a:pt x="0" y="1245881"/>
                    <a:pt x="0" y="1225834"/>
                  </a:cubicBezTo>
                  <a:lnTo>
                    <a:pt x="0" y="36304"/>
                  </a:lnTo>
                  <a:cubicBezTo>
                    <a:pt x="0" y="16254"/>
                    <a:pt x="16309" y="0"/>
                    <a:pt x="36427" y="0"/>
                  </a:cubicBezTo>
                </a:path>
              </a:pathLst>
            </a:custGeom>
            <a:solidFill>
              <a:srgbClr val="FFFFFF"/>
            </a:solidFill>
            <a:ln w="4740" cap="flat">
              <a:solidFill>
                <a:schemeClr val="accent1"/>
              </a:solidFill>
              <a:prstDash val="solid"/>
              <a:miter/>
            </a:ln>
          </p:spPr>
          <p:txBody>
            <a:bodyPr/>
            <a:lstStyle/>
            <a:p>
              <a:endParaRPr lang="ar-EG"/>
            </a:p>
          </p:txBody>
        </p:sp>
        <p:sp>
          <p:nvSpPr>
            <p:cNvPr id="23" name="Freeform: Shape 22">
              <a:extLst>
                <a:ext uri="{FF2B5EF4-FFF2-40B4-BE49-F238E27FC236}">
                  <a16:creationId xmlns:a16="http://schemas.microsoft.com/office/drawing/2014/main" id="{276A2F91-06A0-6FE1-505F-C430C98690B8}"/>
                </a:ext>
              </a:extLst>
            </p:cNvPr>
            <p:cNvSpPr/>
            <p:nvPr/>
          </p:nvSpPr>
          <p:spPr>
            <a:xfrm>
              <a:off x="2084994" y="1595065"/>
              <a:ext cx="1529858" cy="1262137"/>
            </a:xfrm>
            <a:custGeom>
              <a:avLst/>
              <a:gdLst>
                <a:gd name="csX0" fmla="*/ 10670 w 1980555"/>
                <a:gd name="csY0" fmla="*/ 10634 h 1262137"/>
                <a:gd name="csX1" fmla="*/ 36427 w 1980555"/>
                <a:gd name="csY1" fmla="*/ 0 h 1262137"/>
                <a:gd name="csX2" fmla="*/ 1944129 w 1980555"/>
                <a:gd name="csY2" fmla="*/ 0 h 1262137"/>
                <a:gd name="csX3" fmla="*/ 1980555 w 1980555"/>
                <a:gd name="csY3" fmla="*/ 36304 h 1262137"/>
                <a:gd name="csX4" fmla="*/ 1980555 w 1980555"/>
                <a:gd name="csY4" fmla="*/ 1225834 h 1262137"/>
                <a:gd name="csX5" fmla="*/ 1944129 w 1980555"/>
                <a:gd name="csY5" fmla="*/ 1262137 h 1262137"/>
                <a:gd name="csX6" fmla="*/ 36427 w 1980555"/>
                <a:gd name="csY6" fmla="*/ 1262137 h 1262137"/>
                <a:gd name="csX7" fmla="*/ 0 w 1980555"/>
                <a:gd name="csY7" fmla="*/ 1225834 h 1262137"/>
                <a:gd name="csX8" fmla="*/ 0 w 1980555"/>
                <a:gd name="csY8" fmla="*/ 36304 h 1262137"/>
                <a:gd name="csX9" fmla="*/ 10670 w 1980555"/>
                <a:gd name="csY9" fmla="*/ 10634 h 1262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80555" h="1262137">
                  <a:moveTo>
                    <a:pt x="10670" y="10634"/>
                  </a:moveTo>
                  <a:cubicBezTo>
                    <a:pt x="17501" y="3826"/>
                    <a:pt x="26766" y="0"/>
                    <a:pt x="36427" y="0"/>
                  </a:cubicBezTo>
                  <a:lnTo>
                    <a:pt x="1944129" y="0"/>
                  </a:lnTo>
                  <a:cubicBezTo>
                    <a:pt x="1964244" y="0"/>
                    <a:pt x="1980555" y="16254"/>
                    <a:pt x="1980555" y="36304"/>
                  </a:cubicBezTo>
                  <a:lnTo>
                    <a:pt x="1980555" y="1225834"/>
                  </a:lnTo>
                  <a:cubicBezTo>
                    <a:pt x="1980555" y="1245881"/>
                    <a:pt x="1964244" y="1262137"/>
                    <a:pt x="1944129" y="1262137"/>
                  </a:cubicBezTo>
                  <a:lnTo>
                    <a:pt x="36427" y="1262137"/>
                  </a:lnTo>
                  <a:cubicBezTo>
                    <a:pt x="16309" y="1262137"/>
                    <a:pt x="0" y="1245881"/>
                    <a:pt x="0" y="1225834"/>
                  </a:cubicBezTo>
                  <a:lnTo>
                    <a:pt x="0" y="36304"/>
                  </a:lnTo>
                  <a:cubicBezTo>
                    <a:pt x="0" y="26676"/>
                    <a:pt x="3839" y="17442"/>
                    <a:pt x="10670" y="10634"/>
                  </a:cubicBezTo>
                </a:path>
              </a:pathLst>
            </a:custGeom>
            <a:noFill/>
            <a:ln w="28438" cap="flat">
              <a:solidFill>
                <a:schemeClr val="accent1"/>
              </a:solidFill>
              <a:prstDash val="solid"/>
              <a:miter/>
            </a:ln>
          </p:spPr>
          <p:txBody>
            <a:bodyPr/>
            <a:lstStyle/>
            <a:p>
              <a:endParaRPr lang="ar-EG"/>
            </a:p>
          </p:txBody>
        </p:sp>
        <p:sp>
          <p:nvSpPr>
            <p:cNvPr id="64" name="Freeform: Shape 63">
              <a:extLst>
                <a:ext uri="{FF2B5EF4-FFF2-40B4-BE49-F238E27FC236}">
                  <a16:creationId xmlns:a16="http://schemas.microsoft.com/office/drawing/2014/main" id="{87C6FCB4-7817-5B78-9401-D488F4CB89BE}"/>
                </a:ext>
              </a:extLst>
            </p:cNvPr>
            <p:cNvSpPr/>
            <p:nvPr/>
          </p:nvSpPr>
          <p:spPr>
            <a:xfrm>
              <a:off x="2096025" y="1608015"/>
              <a:ext cx="1507792" cy="256843"/>
            </a:xfrm>
            <a:custGeom>
              <a:avLst/>
              <a:gdLst>
                <a:gd name="csX0" fmla="*/ 22144 w 1951989"/>
                <a:gd name="csY0" fmla="*/ 0 h 104430"/>
                <a:gd name="csX1" fmla="*/ 1929846 w 1951989"/>
                <a:gd name="csY1" fmla="*/ 0 h 104430"/>
                <a:gd name="csX2" fmla="*/ 1951989 w 1951989"/>
                <a:gd name="csY2" fmla="*/ 22078 h 104430"/>
                <a:gd name="csX3" fmla="*/ 1951989 w 1951989"/>
                <a:gd name="csY3" fmla="*/ 104431 h 104430"/>
                <a:gd name="csX4" fmla="*/ 1951989 w 1951989"/>
                <a:gd name="csY4" fmla="*/ 104431 h 104430"/>
                <a:gd name="csX5" fmla="*/ 0 w 1951989"/>
                <a:gd name="csY5" fmla="*/ 104431 h 104430"/>
                <a:gd name="csX6" fmla="*/ 0 w 1951989"/>
                <a:gd name="csY6" fmla="*/ 104431 h 104430"/>
                <a:gd name="csX7" fmla="*/ 0 w 1951989"/>
                <a:gd name="csY7" fmla="*/ 22078 h 104430"/>
                <a:gd name="csX8" fmla="*/ 22144 w 1951989"/>
                <a:gd name="csY8" fmla="*/ 0 h 104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1989" h="104430">
                  <a:moveTo>
                    <a:pt x="22144" y="0"/>
                  </a:moveTo>
                  <a:lnTo>
                    <a:pt x="1929846" y="0"/>
                  </a:lnTo>
                  <a:cubicBezTo>
                    <a:pt x="1942077" y="0"/>
                    <a:pt x="1951989" y="9885"/>
                    <a:pt x="1951989" y="22078"/>
                  </a:cubicBezTo>
                  <a:lnTo>
                    <a:pt x="1951989" y="104431"/>
                  </a:lnTo>
                  <a:lnTo>
                    <a:pt x="1951989" y="104431"/>
                  </a:lnTo>
                  <a:lnTo>
                    <a:pt x="0" y="104431"/>
                  </a:lnTo>
                  <a:lnTo>
                    <a:pt x="0" y="104431"/>
                  </a:lnTo>
                  <a:lnTo>
                    <a:pt x="0" y="22078"/>
                  </a:lnTo>
                  <a:cubicBezTo>
                    <a:pt x="0" y="9885"/>
                    <a:pt x="9914" y="0"/>
                    <a:pt x="22144" y="0"/>
                  </a:cubicBezTo>
                </a:path>
              </a:pathLst>
            </a:custGeom>
            <a:solidFill>
              <a:schemeClr val="accent1">
                <a:lumMod val="75000"/>
              </a:schemeClr>
            </a:solidFill>
            <a:ln w="4740" cap="flat">
              <a:solidFill>
                <a:schemeClr val="accent1"/>
              </a:solidFill>
              <a:prstDash val="solid"/>
              <a:miter/>
            </a:ln>
          </p:spPr>
          <p:txBody>
            <a:bodyPr/>
            <a:lstStyle/>
            <a:p>
              <a:endParaRPr lang="ar-EG" dirty="0"/>
            </a:p>
          </p:txBody>
        </p:sp>
        <p:sp>
          <p:nvSpPr>
            <p:cNvPr id="66" name="Text 1">
              <a:extLst>
                <a:ext uri="{FF2B5EF4-FFF2-40B4-BE49-F238E27FC236}">
                  <a16:creationId xmlns:a16="http://schemas.microsoft.com/office/drawing/2014/main" id="{87E82B4B-CB64-B084-A0C6-9E61802A79A3}"/>
                </a:ext>
              </a:extLst>
            </p:cNvPr>
            <p:cNvSpPr/>
            <p:nvPr/>
          </p:nvSpPr>
          <p:spPr>
            <a:xfrm>
              <a:off x="2117589" y="1682193"/>
              <a:ext cx="1346960" cy="162669"/>
            </a:xfrm>
            <a:prstGeom prst="rect">
              <a:avLst/>
            </a:prstGeom>
            <a:noFill/>
            <a:ln/>
          </p:spPr>
          <p:txBody>
            <a:bodyPr wrap="none" lIns="0" tIns="0" rIns="0" bIns="0" rtlCol="0" anchor="t"/>
            <a:lstStyle/>
            <a:p>
              <a:pPr>
                <a:lnSpc>
                  <a:spcPct val="104000"/>
                </a:lnSpc>
              </a:pPr>
              <a:r>
                <a:rPr lang="en-US" sz="1100" b="1" dirty="0">
                  <a:solidFill>
                    <a:srgbClr val="00C2A8"/>
                  </a:solidFill>
                  <a:latin typeface="Times New Roman" panose="02020603050405020304" pitchFamily="18" charset="0"/>
                  <a:ea typeface="Raleway" pitchFamily="34" charset="-122"/>
                  <a:cs typeface="Times New Roman" panose="02020603050405020304" pitchFamily="18" charset="0"/>
                </a:rPr>
                <a:t>             Control Unit</a:t>
              </a:r>
            </a:p>
          </p:txBody>
        </p:sp>
      </p:grpSp>
      <p:grpSp>
        <p:nvGrpSpPr>
          <p:cNvPr id="75" name="Group 74">
            <a:extLst>
              <a:ext uri="{FF2B5EF4-FFF2-40B4-BE49-F238E27FC236}">
                <a16:creationId xmlns:a16="http://schemas.microsoft.com/office/drawing/2014/main" id="{8727DEAA-400A-F3FB-3DCB-23F7C5E6BE3F}"/>
              </a:ext>
            </a:extLst>
          </p:cNvPr>
          <p:cNvGrpSpPr/>
          <p:nvPr/>
        </p:nvGrpSpPr>
        <p:grpSpPr>
          <a:xfrm>
            <a:off x="3730260" y="1847671"/>
            <a:ext cx="1677171" cy="1752301"/>
            <a:chOff x="3673882" y="1438870"/>
            <a:chExt cx="1529858" cy="1418332"/>
          </a:xfrm>
        </p:grpSpPr>
        <p:sp>
          <p:nvSpPr>
            <p:cNvPr id="32" name="Freeform: Shape 31">
              <a:extLst>
                <a:ext uri="{FF2B5EF4-FFF2-40B4-BE49-F238E27FC236}">
                  <a16:creationId xmlns:a16="http://schemas.microsoft.com/office/drawing/2014/main" id="{5FE5D782-799F-1C32-CE44-B67EBF65624E}"/>
                </a:ext>
              </a:extLst>
            </p:cNvPr>
            <p:cNvSpPr/>
            <p:nvPr/>
          </p:nvSpPr>
          <p:spPr>
            <a:xfrm>
              <a:off x="3673882" y="1438870"/>
              <a:ext cx="1529858" cy="1418332"/>
            </a:xfrm>
            <a:custGeom>
              <a:avLst/>
              <a:gdLst>
                <a:gd name="csX0" fmla="*/ 36427 w 1980555"/>
                <a:gd name="csY0" fmla="*/ 0 h 1418332"/>
                <a:gd name="csX1" fmla="*/ 1944129 w 1980555"/>
                <a:gd name="csY1" fmla="*/ 0 h 1418332"/>
                <a:gd name="csX2" fmla="*/ 1980555 w 1980555"/>
                <a:gd name="csY2" fmla="*/ 36416 h 1418332"/>
                <a:gd name="csX3" fmla="*/ 1980555 w 1980555"/>
                <a:gd name="csY3" fmla="*/ 1381917 h 1418332"/>
                <a:gd name="csX4" fmla="*/ 1944129 w 1980555"/>
                <a:gd name="csY4" fmla="*/ 1418332 h 1418332"/>
                <a:gd name="csX5" fmla="*/ 36427 w 1980555"/>
                <a:gd name="csY5" fmla="*/ 1418332 h 1418332"/>
                <a:gd name="csX6" fmla="*/ 0 w 1980555"/>
                <a:gd name="csY6" fmla="*/ 1381917 h 1418332"/>
                <a:gd name="csX7" fmla="*/ 0 w 1980555"/>
                <a:gd name="csY7" fmla="*/ 36416 h 1418332"/>
                <a:gd name="csX8" fmla="*/ 36427 w 1980555"/>
                <a:gd name="csY8" fmla="*/ 0 h 1418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80555" h="1418332">
                  <a:moveTo>
                    <a:pt x="36427" y="0"/>
                  </a:moveTo>
                  <a:lnTo>
                    <a:pt x="1944129" y="0"/>
                  </a:lnTo>
                  <a:cubicBezTo>
                    <a:pt x="1964244" y="0"/>
                    <a:pt x="1980555" y="16304"/>
                    <a:pt x="1980555" y="36416"/>
                  </a:cubicBezTo>
                  <a:lnTo>
                    <a:pt x="1980555" y="1381917"/>
                  </a:lnTo>
                  <a:cubicBezTo>
                    <a:pt x="1980555" y="1402026"/>
                    <a:pt x="1964244" y="1418332"/>
                    <a:pt x="1944129" y="1418332"/>
                  </a:cubicBezTo>
                  <a:lnTo>
                    <a:pt x="36427" y="1418332"/>
                  </a:lnTo>
                  <a:cubicBezTo>
                    <a:pt x="16309" y="1418332"/>
                    <a:pt x="0" y="1402026"/>
                    <a:pt x="0" y="1381917"/>
                  </a:cubicBezTo>
                  <a:lnTo>
                    <a:pt x="0" y="36416"/>
                  </a:lnTo>
                  <a:cubicBezTo>
                    <a:pt x="0" y="16304"/>
                    <a:pt x="16309" y="0"/>
                    <a:pt x="36427" y="0"/>
                  </a:cubicBezTo>
                </a:path>
              </a:pathLst>
            </a:custGeom>
            <a:solidFill>
              <a:srgbClr val="FFFFFF"/>
            </a:solidFill>
            <a:ln w="4740" cap="flat">
              <a:solidFill>
                <a:schemeClr val="accent1"/>
              </a:solidFill>
              <a:prstDash val="solid"/>
              <a:miter/>
            </a:ln>
          </p:spPr>
          <p:txBody>
            <a:bodyPr/>
            <a:lstStyle/>
            <a:p>
              <a:endParaRPr lang="ar-EG"/>
            </a:p>
          </p:txBody>
        </p:sp>
        <p:sp>
          <p:nvSpPr>
            <p:cNvPr id="33" name="Freeform: Shape 32">
              <a:extLst>
                <a:ext uri="{FF2B5EF4-FFF2-40B4-BE49-F238E27FC236}">
                  <a16:creationId xmlns:a16="http://schemas.microsoft.com/office/drawing/2014/main" id="{63DC03D3-4771-A960-7897-E0CA01324F67}"/>
                </a:ext>
              </a:extLst>
            </p:cNvPr>
            <p:cNvSpPr/>
            <p:nvPr/>
          </p:nvSpPr>
          <p:spPr>
            <a:xfrm>
              <a:off x="3673882" y="1438870"/>
              <a:ext cx="1529858" cy="1418332"/>
            </a:xfrm>
            <a:custGeom>
              <a:avLst/>
              <a:gdLst>
                <a:gd name="csX0" fmla="*/ 10670 w 1980555"/>
                <a:gd name="csY0" fmla="*/ 10667 h 1418332"/>
                <a:gd name="csX1" fmla="*/ 36427 w 1980555"/>
                <a:gd name="csY1" fmla="*/ 0 h 1418332"/>
                <a:gd name="csX2" fmla="*/ 1944129 w 1980555"/>
                <a:gd name="csY2" fmla="*/ 0 h 1418332"/>
                <a:gd name="csX3" fmla="*/ 1980555 w 1980555"/>
                <a:gd name="csY3" fmla="*/ 36416 h 1418332"/>
                <a:gd name="csX4" fmla="*/ 1980555 w 1980555"/>
                <a:gd name="csY4" fmla="*/ 1381917 h 1418332"/>
                <a:gd name="csX5" fmla="*/ 1944129 w 1980555"/>
                <a:gd name="csY5" fmla="*/ 1418332 h 1418332"/>
                <a:gd name="csX6" fmla="*/ 36427 w 1980555"/>
                <a:gd name="csY6" fmla="*/ 1418332 h 1418332"/>
                <a:gd name="csX7" fmla="*/ 0 w 1980555"/>
                <a:gd name="csY7" fmla="*/ 1381917 h 1418332"/>
                <a:gd name="csX8" fmla="*/ 0 w 1980555"/>
                <a:gd name="csY8" fmla="*/ 36416 h 1418332"/>
                <a:gd name="csX9" fmla="*/ 10670 w 1980555"/>
                <a:gd name="csY9" fmla="*/ 10667 h 1418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80555" h="1418332">
                  <a:moveTo>
                    <a:pt x="10670" y="10667"/>
                  </a:moveTo>
                  <a:cubicBezTo>
                    <a:pt x="17501" y="3837"/>
                    <a:pt x="26766" y="0"/>
                    <a:pt x="36427" y="0"/>
                  </a:cubicBezTo>
                  <a:lnTo>
                    <a:pt x="1944129" y="0"/>
                  </a:lnTo>
                  <a:cubicBezTo>
                    <a:pt x="1964244" y="0"/>
                    <a:pt x="1980555" y="16304"/>
                    <a:pt x="1980555" y="36416"/>
                  </a:cubicBezTo>
                  <a:lnTo>
                    <a:pt x="1980555" y="1381917"/>
                  </a:lnTo>
                  <a:cubicBezTo>
                    <a:pt x="1980555" y="1402026"/>
                    <a:pt x="1964244" y="1418332"/>
                    <a:pt x="1944129" y="1418332"/>
                  </a:cubicBezTo>
                  <a:lnTo>
                    <a:pt x="36427" y="1418332"/>
                  </a:lnTo>
                  <a:cubicBezTo>
                    <a:pt x="16309" y="1418332"/>
                    <a:pt x="0" y="1402026"/>
                    <a:pt x="0" y="1381917"/>
                  </a:cubicBezTo>
                  <a:lnTo>
                    <a:pt x="0" y="36416"/>
                  </a:lnTo>
                  <a:cubicBezTo>
                    <a:pt x="0" y="26758"/>
                    <a:pt x="3839" y="17496"/>
                    <a:pt x="10670" y="10667"/>
                  </a:cubicBezTo>
                </a:path>
              </a:pathLst>
            </a:custGeom>
            <a:noFill/>
            <a:ln w="28438" cap="flat">
              <a:solidFill>
                <a:schemeClr val="accent1"/>
              </a:solidFill>
              <a:prstDash val="solid"/>
              <a:miter/>
            </a:ln>
          </p:spPr>
          <p:txBody>
            <a:bodyPr/>
            <a:lstStyle/>
            <a:p>
              <a:endParaRPr lang="ar-EG"/>
            </a:p>
          </p:txBody>
        </p:sp>
        <p:sp>
          <p:nvSpPr>
            <p:cNvPr id="52" name="Freeform: Shape 51">
              <a:extLst>
                <a:ext uri="{FF2B5EF4-FFF2-40B4-BE49-F238E27FC236}">
                  <a16:creationId xmlns:a16="http://schemas.microsoft.com/office/drawing/2014/main" id="{73C75BFD-7864-32A0-911F-22487A39B7DE}"/>
                </a:ext>
              </a:extLst>
            </p:cNvPr>
            <p:cNvSpPr/>
            <p:nvPr/>
          </p:nvSpPr>
          <p:spPr>
            <a:xfrm>
              <a:off x="3684017" y="1742051"/>
              <a:ext cx="1507792" cy="245337"/>
            </a:xfrm>
            <a:custGeom>
              <a:avLst/>
              <a:gdLst>
                <a:gd name="csX0" fmla="*/ 1951989 w 1951989"/>
                <a:gd name="csY0" fmla="*/ 0 h 4744"/>
                <a:gd name="csX1" fmla="*/ 1951989 w 1951989"/>
                <a:gd name="csY1" fmla="*/ 0 h 4744"/>
                <a:gd name="csX2" fmla="*/ 0 w 1951989"/>
                <a:gd name="csY2" fmla="*/ 0 h 4744"/>
                <a:gd name="csX3" fmla="*/ 0 w 1951989"/>
                <a:gd name="csY3" fmla="*/ 0 h 4744"/>
              </a:gdLst>
              <a:ahLst/>
              <a:cxnLst>
                <a:cxn ang="0">
                  <a:pos x="csX0" y="csY0"/>
                </a:cxn>
                <a:cxn ang="0">
                  <a:pos x="csX1" y="csY1"/>
                </a:cxn>
                <a:cxn ang="0">
                  <a:pos x="csX2" y="csY2"/>
                </a:cxn>
                <a:cxn ang="0">
                  <a:pos x="csX3" y="csY3"/>
                </a:cxn>
              </a:cxnLst>
              <a:rect l="l" t="t" r="r" b="b"/>
              <a:pathLst>
                <a:path w="1951989" h="4744">
                  <a:moveTo>
                    <a:pt x="1951989" y="0"/>
                  </a:moveTo>
                  <a:lnTo>
                    <a:pt x="1951989" y="0"/>
                  </a:lnTo>
                  <a:lnTo>
                    <a:pt x="0" y="0"/>
                  </a:lnTo>
                  <a:lnTo>
                    <a:pt x="0" y="0"/>
                  </a:lnTo>
                </a:path>
              </a:pathLst>
            </a:custGeom>
            <a:noFill/>
            <a:ln w="9479" cap="flat">
              <a:solidFill>
                <a:schemeClr val="accent1"/>
              </a:solidFill>
              <a:prstDash val="solid"/>
              <a:miter/>
            </a:ln>
          </p:spPr>
          <p:txBody>
            <a:bodyPr/>
            <a:lstStyle/>
            <a:p>
              <a:endParaRPr lang="ar-EG"/>
            </a:p>
          </p:txBody>
        </p:sp>
        <p:sp>
          <p:nvSpPr>
            <p:cNvPr id="54" name="Text 1">
              <a:extLst>
                <a:ext uri="{FF2B5EF4-FFF2-40B4-BE49-F238E27FC236}">
                  <a16:creationId xmlns:a16="http://schemas.microsoft.com/office/drawing/2014/main" id="{AC3046C6-56A5-6A46-B9E0-B052673983A7}"/>
                </a:ext>
              </a:extLst>
            </p:cNvPr>
            <p:cNvSpPr/>
            <p:nvPr/>
          </p:nvSpPr>
          <p:spPr>
            <a:xfrm>
              <a:off x="3762584" y="1505275"/>
              <a:ext cx="1346961" cy="162669"/>
            </a:xfrm>
            <a:prstGeom prst="rect">
              <a:avLst/>
            </a:prstGeom>
            <a:noFill/>
            <a:ln/>
          </p:spPr>
          <p:txBody>
            <a:bodyPr wrap="none" lIns="0" tIns="0" rIns="0" bIns="0" rtlCol="0" anchor="t"/>
            <a:lstStyle/>
            <a:p>
              <a:pPr>
                <a:lnSpc>
                  <a:spcPct val="104000"/>
                </a:lnSpc>
              </a:pPr>
              <a:endParaRPr lang="en-US" sz="1013" dirty="0">
                <a:solidFill>
                  <a:srgbClr val="00C2A8"/>
                </a:solidFill>
                <a:latin typeface="Raleway" pitchFamily="34" charset="0"/>
                <a:ea typeface="Raleway" pitchFamily="34" charset="-122"/>
                <a:cs typeface="Raleway" pitchFamily="34" charset="-120"/>
              </a:endParaRPr>
            </a:p>
          </p:txBody>
        </p:sp>
        <p:sp>
          <p:nvSpPr>
            <p:cNvPr id="68" name="Freeform: Shape 67">
              <a:extLst>
                <a:ext uri="{FF2B5EF4-FFF2-40B4-BE49-F238E27FC236}">
                  <a16:creationId xmlns:a16="http://schemas.microsoft.com/office/drawing/2014/main" id="{E8DAB7F7-F1A7-A540-2A1E-02F5F969545C}"/>
                </a:ext>
              </a:extLst>
            </p:cNvPr>
            <p:cNvSpPr/>
            <p:nvPr/>
          </p:nvSpPr>
          <p:spPr>
            <a:xfrm>
              <a:off x="3684016" y="1451982"/>
              <a:ext cx="1507792" cy="290069"/>
            </a:xfrm>
            <a:custGeom>
              <a:avLst/>
              <a:gdLst>
                <a:gd name="csX0" fmla="*/ 22144 w 1951989"/>
                <a:gd name="csY0" fmla="*/ 0 h 104430"/>
                <a:gd name="csX1" fmla="*/ 1929846 w 1951989"/>
                <a:gd name="csY1" fmla="*/ 0 h 104430"/>
                <a:gd name="csX2" fmla="*/ 1951989 w 1951989"/>
                <a:gd name="csY2" fmla="*/ 22078 h 104430"/>
                <a:gd name="csX3" fmla="*/ 1951989 w 1951989"/>
                <a:gd name="csY3" fmla="*/ 104431 h 104430"/>
                <a:gd name="csX4" fmla="*/ 1951989 w 1951989"/>
                <a:gd name="csY4" fmla="*/ 104431 h 104430"/>
                <a:gd name="csX5" fmla="*/ 0 w 1951989"/>
                <a:gd name="csY5" fmla="*/ 104431 h 104430"/>
                <a:gd name="csX6" fmla="*/ 0 w 1951989"/>
                <a:gd name="csY6" fmla="*/ 104431 h 104430"/>
                <a:gd name="csX7" fmla="*/ 0 w 1951989"/>
                <a:gd name="csY7" fmla="*/ 22078 h 104430"/>
                <a:gd name="csX8" fmla="*/ 22144 w 1951989"/>
                <a:gd name="csY8" fmla="*/ 0 h 104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1989" h="104430">
                  <a:moveTo>
                    <a:pt x="22144" y="0"/>
                  </a:moveTo>
                  <a:lnTo>
                    <a:pt x="1929846" y="0"/>
                  </a:lnTo>
                  <a:cubicBezTo>
                    <a:pt x="1942077" y="0"/>
                    <a:pt x="1951989" y="9885"/>
                    <a:pt x="1951989" y="22078"/>
                  </a:cubicBezTo>
                  <a:lnTo>
                    <a:pt x="1951989" y="104431"/>
                  </a:lnTo>
                  <a:lnTo>
                    <a:pt x="1951989" y="104431"/>
                  </a:lnTo>
                  <a:lnTo>
                    <a:pt x="0" y="104431"/>
                  </a:lnTo>
                  <a:lnTo>
                    <a:pt x="0" y="104431"/>
                  </a:lnTo>
                  <a:lnTo>
                    <a:pt x="0" y="22078"/>
                  </a:lnTo>
                  <a:cubicBezTo>
                    <a:pt x="0" y="9885"/>
                    <a:pt x="9914" y="0"/>
                    <a:pt x="22144" y="0"/>
                  </a:cubicBezTo>
                </a:path>
              </a:pathLst>
            </a:custGeom>
            <a:solidFill>
              <a:schemeClr val="accent1">
                <a:lumMod val="75000"/>
              </a:schemeClr>
            </a:solidFill>
            <a:ln w="4740" cap="flat">
              <a:solidFill>
                <a:schemeClr val="accent1"/>
              </a:solidFill>
              <a:prstDash val="solid"/>
              <a:miter/>
            </a:ln>
          </p:spPr>
          <p:txBody>
            <a:bodyPr/>
            <a:lstStyle/>
            <a:p>
              <a:endParaRPr lang="ar-EG"/>
            </a:p>
          </p:txBody>
        </p:sp>
        <p:sp>
          <p:nvSpPr>
            <p:cNvPr id="70" name="Text 1">
              <a:extLst>
                <a:ext uri="{FF2B5EF4-FFF2-40B4-BE49-F238E27FC236}">
                  <a16:creationId xmlns:a16="http://schemas.microsoft.com/office/drawing/2014/main" id="{4217B006-D521-CF74-1900-080F9F3F9D89}"/>
                </a:ext>
              </a:extLst>
            </p:cNvPr>
            <p:cNvSpPr/>
            <p:nvPr/>
          </p:nvSpPr>
          <p:spPr>
            <a:xfrm>
              <a:off x="3844849" y="1518052"/>
              <a:ext cx="1346960" cy="162669"/>
            </a:xfrm>
            <a:prstGeom prst="rect">
              <a:avLst/>
            </a:prstGeom>
            <a:noFill/>
            <a:ln/>
          </p:spPr>
          <p:txBody>
            <a:bodyPr wrap="none" lIns="0" tIns="0" rIns="0" bIns="0" rtlCol="0" anchor="t"/>
            <a:lstStyle/>
            <a:p>
              <a:pPr>
                <a:lnSpc>
                  <a:spcPct val="104000"/>
                </a:lnSpc>
              </a:pPr>
              <a:r>
                <a:rPr lang="en-US" sz="1100" b="1" dirty="0">
                  <a:solidFill>
                    <a:srgbClr val="00C2A8"/>
                  </a:solidFill>
                  <a:latin typeface="Times New Roman" panose="02020603050405020304" pitchFamily="18" charset="0"/>
                  <a:ea typeface="Raleway" pitchFamily="34" charset="-122"/>
                  <a:cs typeface="Times New Roman" panose="02020603050405020304" pitchFamily="18" charset="0"/>
                </a:rPr>
                <a:t>Data Protection Path</a:t>
              </a:r>
            </a:p>
          </p:txBody>
        </p:sp>
      </p:grpSp>
      <p:grpSp>
        <p:nvGrpSpPr>
          <p:cNvPr id="76" name="Group 75">
            <a:extLst>
              <a:ext uri="{FF2B5EF4-FFF2-40B4-BE49-F238E27FC236}">
                <a16:creationId xmlns:a16="http://schemas.microsoft.com/office/drawing/2014/main" id="{BDB5B25E-D000-6E36-6484-AC5BBC674467}"/>
              </a:ext>
            </a:extLst>
          </p:cNvPr>
          <p:cNvGrpSpPr/>
          <p:nvPr/>
        </p:nvGrpSpPr>
        <p:grpSpPr>
          <a:xfrm>
            <a:off x="5472146" y="1847671"/>
            <a:ext cx="1677233" cy="1752302"/>
            <a:chOff x="5262771" y="1282749"/>
            <a:chExt cx="1529915" cy="1574453"/>
          </a:xfrm>
        </p:grpSpPr>
        <p:sp>
          <p:nvSpPr>
            <p:cNvPr id="38" name="Freeform: Shape 37">
              <a:extLst>
                <a:ext uri="{FF2B5EF4-FFF2-40B4-BE49-F238E27FC236}">
                  <a16:creationId xmlns:a16="http://schemas.microsoft.com/office/drawing/2014/main" id="{484FE639-8147-0D87-603D-F837FA1B4124}"/>
                </a:ext>
              </a:extLst>
            </p:cNvPr>
            <p:cNvSpPr/>
            <p:nvPr/>
          </p:nvSpPr>
          <p:spPr>
            <a:xfrm>
              <a:off x="5262771" y="1282749"/>
              <a:ext cx="1529915" cy="1574453"/>
            </a:xfrm>
            <a:custGeom>
              <a:avLst/>
              <a:gdLst>
                <a:gd name="csX0" fmla="*/ 36428 w 1980629"/>
                <a:gd name="csY0" fmla="*/ 0 h 1574453"/>
                <a:gd name="csX1" fmla="*/ 1944202 w 1980629"/>
                <a:gd name="csY1" fmla="*/ 0 h 1574453"/>
                <a:gd name="csX2" fmla="*/ 1980629 w 1980629"/>
                <a:gd name="csY2" fmla="*/ 36394 h 1574453"/>
                <a:gd name="csX3" fmla="*/ 1980629 w 1980629"/>
                <a:gd name="csY3" fmla="*/ 1538060 h 1574453"/>
                <a:gd name="csX4" fmla="*/ 1944202 w 1980629"/>
                <a:gd name="csY4" fmla="*/ 1574453 h 1574453"/>
                <a:gd name="csX5" fmla="*/ 36428 w 1980629"/>
                <a:gd name="csY5" fmla="*/ 1574453 h 1574453"/>
                <a:gd name="csX6" fmla="*/ 0 w 1980629"/>
                <a:gd name="csY6" fmla="*/ 1538060 h 1574453"/>
                <a:gd name="csX7" fmla="*/ 0 w 1980629"/>
                <a:gd name="csY7" fmla="*/ 36394 h 1574453"/>
                <a:gd name="csX8" fmla="*/ 36428 w 1980629"/>
                <a:gd name="csY8" fmla="*/ 0 h 157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80629" h="1574453">
                  <a:moveTo>
                    <a:pt x="36428" y="0"/>
                  </a:moveTo>
                  <a:lnTo>
                    <a:pt x="1944202" y="0"/>
                  </a:lnTo>
                  <a:cubicBezTo>
                    <a:pt x="1964317" y="0"/>
                    <a:pt x="1980629" y="16294"/>
                    <a:pt x="1980629" y="36394"/>
                  </a:cubicBezTo>
                  <a:lnTo>
                    <a:pt x="1980629" y="1538060"/>
                  </a:lnTo>
                  <a:cubicBezTo>
                    <a:pt x="1980629" y="1558157"/>
                    <a:pt x="1964317" y="1574453"/>
                    <a:pt x="1944202" y="1574453"/>
                  </a:cubicBezTo>
                  <a:lnTo>
                    <a:pt x="36428" y="1574453"/>
                  </a:lnTo>
                  <a:cubicBezTo>
                    <a:pt x="16309" y="1574453"/>
                    <a:pt x="0" y="1558157"/>
                    <a:pt x="0" y="1538060"/>
                  </a:cubicBezTo>
                  <a:lnTo>
                    <a:pt x="0" y="36394"/>
                  </a:lnTo>
                  <a:cubicBezTo>
                    <a:pt x="0" y="16294"/>
                    <a:pt x="16309" y="0"/>
                    <a:pt x="36428" y="0"/>
                  </a:cubicBezTo>
                </a:path>
              </a:pathLst>
            </a:custGeom>
            <a:solidFill>
              <a:srgbClr val="FFFFFF"/>
            </a:solidFill>
            <a:ln w="4740" cap="flat">
              <a:solidFill>
                <a:schemeClr val="accent1"/>
              </a:solidFill>
              <a:prstDash val="solid"/>
              <a:miter/>
            </a:ln>
          </p:spPr>
          <p:txBody>
            <a:bodyPr/>
            <a:lstStyle/>
            <a:p>
              <a:endParaRPr lang="ar-EG"/>
            </a:p>
          </p:txBody>
        </p:sp>
        <p:sp>
          <p:nvSpPr>
            <p:cNvPr id="39" name="Freeform: Shape 38">
              <a:extLst>
                <a:ext uri="{FF2B5EF4-FFF2-40B4-BE49-F238E27FC236}">
                  <a16:creationId xmlns:a16="http://schemas.microsoft.com/office/drawing/2014/main" id="{13AB325F-C91E-8971-8370-5BF0C05545AE}"/>
                </a:ext>
              </a:extLst>
            </p:cNvPr>
            <p:cNvSpPr/>
            <p:nvPr/>
          </p:nvSpPr>
          <p:spPr>
            <a:xfrm>
              <a:off x="5262771" y="1282749"/>
              <a:ext cx="1529915" cy="1574453"/>
            </a:xfrm>
            <a:custGeom>
              <a:avLst/>
              <a:gdLst>
                <a:gd name="csX0" fmla="*/ 10670 w 1980629"/>
                <a:gd name="csY0" fmla="*/ 10660 h 1574453"/>
                <a:gd name="csX1" fmla="*/ 36428 w 1980629"/>
                <a:gd name="csY1" fmla="*/ 0 h 1574453"/>
                <a:gd name="csX2" fmla="*/ 1944202 w 1980629"/>
                <a:gd name="csY2" fmla="*/ 0 h 1574453"/>
                <a:gd name="csX3" fmla="*/ 1980629 w 1980629"/>
                <a:gd name="csY3" fmla="*/ 36394 h 1574453"/>
                <a:gd name="csX4" fmla="*/ 1980629 w 1980629"/>
                <a:gd name="csY4" fmla="*/ 1538060 h 1574453"/>
                <a:gd name="csX5" fmla="*/ 1944202 w 1980629"/>
                <a:gd name="csY5" fmla="*/ 1574453 h 1574453"/>
                <a:gd name="csX6" fmla="*/ 36428 w 1980629"/>
                <a:gd name="csY6" fmla="*/ 1574453 h 1574453"/>
                <a:gd name="csX7" fmla="*/ 0 w 1980629"/>
                <a:gd name="csY7" fmla="*/ 1538060 h 1574453"/>
                <a:gd name="csX8" fmla="*/ 0 w 1980629"/>
                <a:gd name="csY8" fmla="*/ 36394 h 1574453"/>
                <a:gd name="csX9" fmla="*/ 10670 w 1980629"/>
                <a:gd name="csY9" fmla="*/ 10660 h 157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80629" h="1574453">
                  <a:moveTo>
                    <a:pt x="10670" y="10660"/>
                  </a:moveTo>
                  <a:cubicBezTo>
                    <a:pt x="17502" y="3835"/>
                    <a:pt x="26767" y="0"/>
                    <a:pt x="36428" y="0"/>
                  </a:cubicBezTo>
                  <a:lnTo>
                    <a:pt x="1944202" y="0"/>
                  </a:lnTo>
                  <a:cubicBezTo>
                    <a:pt x="1964317" y="0"/>
                    <a:pt x="1980629" y="16294"/>
                    <a:pt x="1980629" y="36394"/>
                  </a:cubicBezTo>
                  <a:lnTo>
                    <a:pt x="1980629" y="1538060"/>
                  </a:lnTo>
                  <a:cubicBezTo>
                    <a:pt x="1980629" y="1558157"/>
                    <a:pt x="1964317" y="1574453"/>
                    <a:pt x="1944202" y="1574453"/>
                  </a:cubicBezTo>
                  <a:lnTo>
                    <a:pt x="36428" y="1574453"/>
                  </a:lnTo>
                  <a:cubicBezTo>
                    <a:pt x="16309" y="1574453"/>
                    <a:pt x="0" y="1558157"/>
                    <a:pt x="0" y="1538060"/>
                  </a:cubicBezTo>
                  <a:lnTo>
                    <a:pt x="0" y="36394"/>
                  </a:lnTo>
                  <a:cubicBezTo>
                    <a:pt x="0" y="26742"/>
                    <a:pt x="3839" y="17485"/>
                    <a:pt x="10670" y="10660"/>
                  </a:cubicBezTo>
                </a:path>
              </a:pathLst>
            </a:custGeom>
            <a:noFill/>
            <a:ln w="28438" cap="flat">
              <a:solidFill>
                <a:schemeClr val="accent1"/>
              </a:solidFill>
              <a:prstDash val="solid"/>
              <a:miter/>
            </a:ln>
          </p:spPr>
          <p:txBody>
            <a:bodyPr/>
            <a:lstStyle/>
            <a:p>
              <a:endParaRPr lang="ar-EG"/>
            </a:p>
          </p:txBody>
        </p:sp>
        <p:sp>
          <p:nvSpPr>
            <p:cNvPr id="59" name="Freeform: Shape 58">
              <a:extLst>
                <a:ext uri="{FF2B5EF4-FFF2-40B4-BE49-F238E27FC236}">
                  <a16:creationId xmlns:a16="http://schemas.microsoft.com/office/drawing/2014/main" id="{3014ACE8-2122-17A1-B433-A5FCBDDABE92}"/>
                </a:ext>
              </a:extLst>
            </p:cNvPr>
            <p:cNvSpPr/>
            <p:nvPr/>
          </p:nvSpPr>
          <p:spPr>
            <a:xfrm>
              <a:off x="5281232" y="1593859"/>
              <a:ext cx="1507792" cy="245337"/>
            </a:xfrm>
            <a:custGeom>
              <a:avLst/>
              <a:gdLst>
                <a:gd name="csX0" fmla="*/ 1951989 w 1951989"/>
                <a:gd name="csY0" fmla="*/ 0 h 4744"/>
                <a:gd name="csX1" fmla="*/ 1951989 w 1951989"/>
                <a:gd name="csY1" fmla="*/ 0 h 4744"/>
                <a:gd name="csX2" fmla="*/ 0 w 1951989"/>
                <a:gd name="csY2" fmla="*/ 0 h 4744"/>
                <a:gd name="csX3" fmla="*/ 0 w 1951989"/>
                <a:gd name="csY3" fmla="*/ 0 h 4744"/>
              </a:gdLst>
              <a:ahLst/>
              <a:cxnLst>
                <a:cxn ang="0">
                  <a:pos x="csX0" y="csY0"/>
                </a:cxn>
                <a:cxn ang="0">
                  <a:pos x="csX1" y="csY1"/>
                </a:cxn>
                <a:cxn ang="0">
                  <a:pos x="csX2" y="csY2"/>
                </a:cxn>
                <a:cxn ang="0">
                  <a:pos x="csX3" y="csY3"/>
                </a:cxn>
              </a:cxnLst>
              <a:rect l="l" t="t" r="r" b="b"/>
              <a:pathLst>
                <a:path w="1951989" h="4744">
                  <a:moveTo>
                    <a:pt x="1951989" y="0"/>
                  </a:moveTo>
                  <a:lnTo>
                    <a:pt x="1951989" y="0"/>
                  </a:lnTo>
                  <a:lnTo>
                    <a:pt x="0" y="0"/>
                  </a:lnTo>
                  <a:lnTo>
                    <a:pt x="0" y="0"/>
                  </a:lnTo>
                </a:path>
              </a:pathLst>
            </a:custGeom>
            <a:noFill/>
            <a:ln w="9479" cap="flat">
              <a:solidFill>
                <a:schemeClr val="accent1"/>
              </a:solidFill>
              <a:prstDash val="solid"/>
              <a:miter/>
            </a:ln>
          </p:spPr>
          <p:txBody>
            <a:bodyPr/>
            <a:lstStyle/>
            <a:p>
              <a:endParaRPr lang="ar-EG"/>
            </a:p>
          </p:txBody>
        </p:sp>
        <p:sp>
          <p:nvSpPr>
            <p:cNvPr id="60" name="Freeform: Shape 59">
              <a:extLst>
                <a:ext uri="{FF2B5EF4-FFF2-40B4-BE49-F238E27FC236}">
                  <a16:creationId xmlns:a16="http://schemas.microsoft.com/office/drawing/2014/main" id="{41C04C5B-1B4F-A736-1B0A-DBF18C286950}"/>
                </a:ext>
              </a:extLst>
            </p:cNvPr>
            <p:cNvSpPr/>
            <p:nvPr/>
          </p:nvSpPr>
          <p:spPr>
            <a:xfrm>
              <a:off x="5273832" y="1296540"/>
              <a:ext cx="1507792" cy="290069"/>
            </a:xfrm>
            <a:custGeom>
              <a:avLst/>
              <a:gdLst>
                <a:gd name="csX0" fmla="*/ 22144 w 1951989"/>
                <a:gd name="csY0" fmla="*/ 0 h 104430"/>
                <a:gd name="csX1" fmla="*/ 1929846 w 1951989"/>
                <a:gd name="csY1" fmla="*/ 0 h 104430"/>
                <a:gd name="csX2" fmla="*/ 1951989 w 1951989"/>
                <a:gd name="csY2" fmla="*/ 22078 h 104430"/>
                <a:gd name="csX3" fmla="*/ 1951989 w 1951989"/>
                <a:gd name="csY3" fmla="*/ 104431 h 104430"/>
                <a:gd name="csX4" fmla="*/ 1951989 w 1951989"/>
                <a:gd name="csY4" fmla="*/ 104431 h 104430"/>
                <a:gd name="csX5" fmla="*/ 0 w 1951989"/>
                <a:gd name="csY5" fmla="*/ 104431 h 104430"/>
                <a:gd name="csX6" fmla="*/ 0 w 1951989"/>
                <a:gd name="csY6" fmla="*/ 104431 h 104430"/>
                <a:gd name="csX7" fmla="*/ 0 w 1951989"/>
                <a:gd name="csY7" fmla="*/ 22078 h 104430"/>
                <a:gd name="csX8" fmla="*/ 22144 w 1951989"/>
                <a:gd name="csY8" fmla="*/ 0 h 104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1989" h="104430">
                  <a:moveTo>
                    <a:pt x="22144" y="0"/>
                  </a:moveTo>
                  <a:lnTo>
                    <a:pt x="1929846" y="0"/>
                  </a:lnTo>
                  <a:cubicBezTo>
                    <a:pt x="1942077" y="0"/>
                    <a:pt x="1951989" y="9885"/>
                    <a:pt x="1951989" y="22078"/>
                  </a:cubicBezTo>
                  <a:lnTo>
                    <a:pt x="1951989" y="104431"/>
                  </a:lnTo>
                  <a:lnTo>
                    <a:pt x="1951989" y="104431"/>
                  </a:lnTo>
                  <a:lnTo>
                    <a:pt x="0" y="104431"/>
                  </a:lnTo>
                  <a:lnTo>
                    <a:pt x="0" y="104431"/>
                  </a:lnTo>
                  <a:lnTo>
                    <a:pt x="0" y="22078"/>
                  </a:lnTo>
                  <a:cubicBezTo>
                    <a:pt x="0" y="9885"/>
                    <a:pt x="9914" y="0"/>
                    <a:pt x="22144" y="0"/>
                  </a:cubicBezTo>
                </a:path>
              </a:pathLst>
            </a:custGeom>
            <a:solidFill>
              <a:schemeClr val="accent1">
                <a:lumMod val="75000"/>
              </a:schemeClr>
            </a:solidFill>
            <a:ln w="4740" cap="flat">
              <a:solidFill>
                <a:schemeClr val="accent1"/>
              </a:solidFill>
              <a:prstDash val="solid"/>
              <a:miter/>
            </a:ln>
          </p:spPr>
          <p:txBody>
            <a:bodyPr/>
            <a:lstStyle/>
            <a:p>
              <a:endParaRPr lang="ar-EG"/>
            </a:p>
          </p:txBody>
        </p:sp>
        <p:sp>
          <p:nvSpPr>
            <p:cNvPr id="72" name="Text 1">
              <a:extLst>
                <a:ext uri="{FF2B5EF4-FFF2-40B4-BE49-F238E27FC236}">
                  <a16:creationId xmlns:a16="http://schemas.microsoft.com/office/drawing/2014/main" id="{8C72B0B6-B601-1556-6F4E-E4297DF16DBB}"/>
                </a:ext>
              </a:extLst>
            </p:cNvPr>
            <p:cNvSpPr/>
            <p:nvPr/>
          </p:nvSpPr>
          <p:spPr>
            <a:xfrm>
              <a:off x="5352641" y="1363754"/>
              <a:ext cx="1346960" cy="162669"/>
            </a:xfrm>
            <a:prstGeom prst="rect">
              <a:avLst/>
            </a:prstGeom>
            <a:noFill/>
            <a:ln/>
          </p:spPr>
          <p:txBody>
            <a:bodyPr wrap="none" lIns="0" tIns="0" rIns="0" bIns="0" rtlCol="0" anchor="t"/>
            <a:lstStyle/>
            <a:p>
              <a:pPr>
                <a:lnSpc>
                  <a:spcPct val="104000"/>
                </a:lnSpc>
              </a:pPr>
              <a:r>
                <a:rPr lang="en-US" sz="1100" b="1" dirty="0">
                  <a:solidFill>
                    <a:srgbClr val="00C2A8"/>
                  </a:solidFill>
                  <a:latin typeface="Times New Roman" panose="02020603050405020304" pitchFamily="18" charset="0"/>
                  <a:ea typeface="Raleway" pitchFamily="34" charset="-122"/>
                  <a:cs typeface="Times New Roman" panose="02020603050405020304" pitchFamily="18" charset="0"/>
                </a:rPr>
                <a:t>Address Translation (ATU)</a:t>
              </a:r>
            </a:p>
          </p:txBody>
        </p:sp>
      </p:grpSp>
      <p:grpSp>
        <p:nvGrpSpPr>
          <p:cNvPr id="77" name="Group 76">
            <a:extLst>
              <a:ext uri="{FF2B5EF4-FFF2-40B4-BE49-F238E27FC236}">
                <a16:creationId xmlns:a16="http://schemas.microsoft.com/office/drawing/2014/main" id="{AECDD6AF-A742-45D4-6B5B-04E3BD39BE6B}"/>
              </a:ext>
            </a:extLst>
          </p:cNvPr>
          <p:cNvGrpSpPr/>
          <p:nvPr/>
        </p:nvGrpSpPr>
        <p:grpSpPr>
          <a:xfrm>
            <a:off x="7225576" y="1847671"/>
            <a:ext cx="1677233" cy="1752302"/>
            <a:chOff x="5262771" y="1282749"/>
            <a:chExt cx="1529915" cy="1574453"/>
          </a:xfrm>
        </p:grpSpPr>
        <p:sp>
          <p:nvSpPr>
            <p:cNvPr id="78" name="Freeform: Shape 77">
              <a:extLst>
                <a:ext uri="{FF2B5EF4-FFF2-40B4-BE49-F238E27FC236}">
                  <a16:creationId xmlns:a16="http://schemas.microsoft.com/office/drawing/2014/main" id="{AC551E44-D31B-80CB-9BA8-11B260A9FD3A}"/>
                </a:ext>
              </a:extLst>
            </p:cNvPr>
            <p:cNvSpPr/>
            <p:nvPr/>
          </p:nvSpPr>
          <p:spPr>
            <a:xfrm>
              <a:off x="5262771" y="1282749"/>
              <a:ext cx="1529915" cy="1574453"/>
            </a:xfrm>
            <a:custGeom>
              <a:avLst/>
              <a:gdLst>
                <a:gd name="csX0" fmla="*/ 36428 w 1980629"/>
                <a:gd name="csY0" fmla="*/ 0 h 1574453"/>
                <a:gd name="csX1" fmla="*/ 1944202 w 1980629"/>
                <a:gd name="csY1" fmla="*/ 0 h 1574453"/>
                <a:gd name="csX2" fmla="*/ 1980629 w 1980629"/>
                <a:gd name="csY2" fmla="*/ 36394 h 1574453"/>
                <a:gd name="csX3" fmla="*/ 1980629 w 1980629"/>
                <a:gd name="csY3" fmla="*/ 1538060 h 1574453"/>
                <a:gd name="csX4" fmla="*/ 1944202 w 1980629"/>
                <a:gd name="csY4" fmla="*/ 1574453 h 1574453"/>
                <a:gd name="csX5" fmla="*/ 36428 w 1980629"/>
                <a:gd name="csY5" fmla="*/ 1574453 h 1574453"/>
                <a:gd name="csX6" fmla="*/ 0 w 1980629"/>
                <a:gd name="csY6" fmla="*/ 1538060 h 1574453"/>
                <a:gd name="csX7" fmla="*/ 0 w 1980629"/>
                <a:gd name="csY7" fmla="*/ 36394 h 1574453"/>
                <a:gd name="csX8" fmla="*/ 36428 w 1980629"/>
                <a:gd name="csY8" fmla="*/ 0 h 157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80629" h="1574453">
                  <a:moveTo>
                    <a:pt x="36428" y="0"/>
                  </a:moveTo>
                  <a:lnTo>
                    <a:pt x="1944202" y="0"/>
                  </a:lnTo>
                  <a:cubicBezTo>
                    <a:pt x="1964317" y="0"/>
                    <a:pt x="1980629" y="16294"/>
                    <a:pt x="1980629" y="36394"/>
                  </a:cubicBezTo>
                  <a:lnTo>
                    <a:pt x="1980629" y="1538060"/>
                  </a:lnTo>
                  <a:cubicBezTo>
                    <a:pt x="1980629" y="1558157"/>
                    <a:pt x="1964317" y="1574453"/>
                    <a:pt x="1944202" y="1574453"/>
                  </a:cubicBezTo>
                  <a:lnTo>
                    <a:pt x="36428" y="1574453"/>
                  </a:lnTo>
                  <a:cubicBezTo>
                    <a:pt x="16309" y="1574453"/>
                    <a:pt x="0" y="1558157"/>
                    <a:pt x="0" y="1538060"/>
                  </a:cubicBezTo>
                  <a:lnTo>
                    <a:pt x="0" y="36394"/>
                  </a:lnTo>
                  <a:cubicBezTo>
                    <a:pt x="0" y="16294"/>
                    <a:pt x="16309" y="0"/>
                    <a:pt x="36428" y="0"/>
                  </a:cubicBezTo>
                </a:path>
              </a:pathLst>
            </a:custGeom>
            <a:solidFill>
              <a:srgbClr val="FFFFFF"/>
            </a:solidFill>
            <a:ln w="4740" cap="flat">
              <a:solidFill>
                <a:schemeClr val="accent1"/>
              </a:solidFill>
              <a:prstDash val="solid"/>
              <a:miter/>
            </a:ln>
          </p:spPr>
          <p:txBody>
            <a:bodyPr/>
            <a:lstStyle/>
            <a:p>
              <a:endParaRPr lang="ar-EG"/>
            </a:p>
          </p:txBody>
        </p:sp>
        <p:sp>
          <p:nvSpPr>
            <p:cNvPr id="79" name="Freeform: Shape 78">
              <a:extLst>
                <a:ext uri="{FF2B5EF4-FFF2-40B4-BE49-F238E27FC236}">
                  <a16:creationId xmlns:a16="http://schemas.microsoft.com/office/drawing/2014/main" id="{02D5126A-FA25-B86E-36BA-4E16A005C103}"/>
                </a:ext>
              </a:extLst>
            </p:cNvPr>
            <p:cNvSpPr/>
            <p:nvPr/>
          </p:nvSpPr>
          <p:spPr>
            <a:xfrm>
              <a:off x="5262771" y="1282749"/>
              <a:ext cx="1529915" cy="1574453"/>
            </a:xfrm>
            <a:custGeom>
              <a:avLst/>
              <a:gdLst>
                <a:gd name="csX0" fmla="*/ 10670 w 1980629"/>
                <a:gd name="csY0" fmla="*/ 10660 h 1574453"/>
                <a:gd name="csX1" fmla="*/ 36428 w 1980629"/>
                <a:gd name="csY1" fmla="*/ 0 h 1574453"/>
                <a:gd name="csX2" fmla="*/ 1944202 w 1980629"/>
                <a:gd name="csY2" fmla="*/ 0 h 1574453"/>
                <a:gd name="csX3" fmla="*/ 1980629 w 1980629"/>
                <a:gd name="csY3" fmla="*/ 36394 h 1574453"/>
                <a:gd name="csX4" fmla="*/ 1980629 w 1980629"/>
                <a:gd name="csY4" fmla="*/ 1538060 h 1574453"/>
                <a:gd name="csX5" fmla="*/ 1944202 w 1980629"/>
                <a:gd name="csY5" fmla="*/ 1574453 h 1574453"/>
                <a:gd name="csX6" fmla="*/ 36428 w 1980629"/>
                <a:gd name="csY6" fmla="*/ 1574453 h 1574453"/>
                <a:gd name="csX7" fmla="*/ 0 w 1980629"/>
                <a:gd name="csY7" fmla="*/ 1538060 h 1574453"/>
                <a:gd name="csX8" fmla="*/ 0 w 1980629"/>
                <a:gd name="csY8" fmla="*/ 36394 h 1574453"/>
                <a:gd name="csX9" fmla="*/ 10670 w 1980629"/>
                <a:gd name="csY9" fmla="*/ 10660 h 15744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80629" h="1574453">
                  <a:moveTo>
                    <a:pt x="10670" y="10660"/>
                  </a:moveTo>
                  <a:cubicBezTo>
                    <a:pt x="17502" y="3835"/>
                    <a:pt x="26767" y="0"/>
                    <a:pt x="36428" y="0"/>
                  </a:cubicBezTo>
                  <a:lnTo>
                    <a:pt x="1944202" y="0"/>
                  </a:lnTo>
                  <a:cubicBezTo>
                    <a:pt x="1964317" y="0"/>
                    <a:pt x="1980629" y="16294"/>
                    <a:pt x="1980629" y="36394"/>
                  </a:cubicBezTo>
                  <a:lnTo>
                    <a:pt x="1980629" y="1538060"/>
                  </a:lnTo>
                  <a:cubicBezTo>
                    <a:pt x="1980629" y="1558157"/>
                    <a:pt x="1964317" y="1574453"/>
                    <a:pt x="1944202" y="1574453"/>
                  </a:cubicBezTo>
                  <a:lnTo>
                    <a:pt x="36428" y="1574453"/>
                  </a:lnTo>
                  <a:cubicBezTo>
                    <a:pt x="16309" y="1574453"/>
                    <a:pt x="0" y="1558157"/>
                    <a:pt x="0" y="1538060"/>
                  </a:cubicBezTo>
                  <a:lnTo>
                    <a:pt x="0" y="36394"/>
                  </a:lnTo>
                  <a:cubicBezTo>
                    <a:pt x="0" y="26742"/>
                    <a:pt x="3839" y="17485"/>
                    <a:pt x="10670" y="10660"/>
                  </a:cubicBezTo>
                </a:path>
              </a:pathLst>
            </a:custGeom>
            <a:noFill/>
            <a:ln w="28438" cap="flat">
              <a:solidFill>
                <a:schemeClr val="accent1"/>
              </a:solidFill>
              <a:prstDash val="solid"/>
              <a:miter/>
            </a:ln>
          </p:spPr>
          <p:txBody>
            <a:bodyPr/>
            <a:lstStyle/>
            <a:p>
              <a:endParaRPr lang="ar-EG"/>
            </a:p>
          </p:txBody>
        </p:sp>
        <p:sp>
          <p:nvSpPr>
            <p:cNvPr id="81" name="Freeform: Shape 80">
              <a:extLst>
                <a:ext uri="{FF2B5EF4-FFF2-40B4-BE49-F238E27FC236}">
                  <a16:creationId xmlns:a16="http://schemas.microsoft.com/office/drawing/2014/main" id="{4E3EE036-249C-4923-7257-07A55E2A96DA}"/>
                </a:ext>
              </a:extLst>
            </p:cNvPr>
            <p:cNvSpPr/>
            <p:nvPr/>
          </p:nvSpPr>
          <p:spPr>
            <a:xfrm>
              <a:off x="5281232" y="1593859"/>
              <a:ext cx="1507792" cy="245337"/>
            </a:xfrm>
            <a:custGeom>
              <a:avLst/>
              <a:gdLst>
                <a:gd name="csX0" fmla="*/ 1951989 w 1951989"/>
                <a:gd name="csY0" fmla="*/ 0 h 4744"/>
                <a:gd name="csX1" fmla="*/ 1951989 w 1951989"/>
                <a:gd name="csY1" fmla="*/ 0 h 4744"/>
                <a:gd name="csX2" fmla="*/ 0 w 1951989"/>
                <a:gd name="csY2" fmla="*/ 0 h 4744"/>
                <a:gd name="csX3" fmla="*/ 0 w 1951989"/>
                <a:gd name="csY3" fmla="*/ 0 h 4744"/>
              </a:gdLst>
              <a:ahLst/>
              <a:cxnLst>
                <a:cxn ang="0">
                  <a:pos x="csX0" y="csY0"/>
                </a:cxn>
                <a:cxn ang="0">
                  <a:pos x="csX1" y="csY1"/>
                </a:cxn>
                <a:cxn ang="0">
                  <a:pos x="csX2" y="csY2"/>
                </a:cxn>
                <a:cxn ang="0">
                  <a:pos x="csX3" y="csY3"/>
                </a:cxn>
              </a:cxnLst>
              <a:rect l="l" t="t" r="r" b="b"/>
              <a:pathLst>
                <a:path w="1951989" h="4744">
                  <a:moveTo>
                    <a:pt x="1951989" y="0"/>
                  </a:moveTo>
                  <a:lnTo>
                    <a:pt x="1951989" y="0"/>
                  </a:lnTo>
                  <a:lnTo>
                    <a:pt x="0" y="0"/>
                  </a:lnTo>
                  <a:lnTo>
                    <a:pt x="0" y="0"/>
                  </a:lnTo>
                </a:path>
              </a:pathLst>
            </a:custGeom>
            <a:noFill/>
            <a:ln w="9479" cap="flat">
              <a:solidFill>
                <a:schemeClr val="accent1"/>
              </a:solidFill>
              <a:prstDash val="solid"/>
              <a:miter/>
            </a:ln>
          </p:spPr>
          <p:txBody>
            <a:bodyPr/>
            <a:lstStyle/>
            <a:p>
              <a:endParaRPr lang="ar-EG"/>
            </a:p>
          </p:txBody>
        </p:sp>
        <p:sp>
          <p:nvSpPr>
            <p:cNvPr id="82" name="Freeform: Shape 81">
              <a:extLst>
                <a:ext uri="{FF2B5EF4-FFF2-40B4-BE49-F238E27FC236}">
                  <a16:creationId xmlns:a16="http://schemas.microsoft.com/office/drawing/2014/main" id="{77518175-252B-8EC4-6B97-2F9A2C863ECB}"/>
                </a:ext>
              </a:extLst>
            </p:cNvPr>
            <p:cNvSpPr/>
            <p:nvPr/>
          </p:nvSpPr>
          <p:spPr>
            <a:xfrm>
              <a:off x="5273832" y="1296540"/>
              <a:ext cx="1507792" cy="290069"/>
            </a:xfrm>
            <a:custGeom>
              <a:avLst/>
              <a:gdLst>
                <a:gd name="csX0" fmla="*/ 22144 w 1951989"/>
                <a:gd name="csY0" fmla="*/ 0 h 104430"/>
                <a:gd name="csX1" fmla="*/ 1929846 w 1951989"/>
                <a:gd name="csY1" fmla="*/ 0 h 104430"/>
                <a:gd name="csX2" fmla="*/ 1951989 w 1951989"/>
                <a:gd name="csY2" fmla="*/ 22078 h 104430"/>
                <a:gd name="csX3" fmla="*/ 1951989 w 1951989"/>
                <a:gd name="csY3" fmla="*/ 104431 h 104430"/>
                <a:gd name="csX4" fmla="*/ 1951989 w 1951989"/>
                <a:gd name="csY4" fmla="*/ 104431 h 104430"/>
                <a:gd name="csX5" fmla="*/ 0 w 1951989"/>
                <a:gd name="csY5" fmla="*/ 104431 h 104430"/>
                <a:gd name="csX6" fmla="*/ 0 w 1951989"/>
                <a:gd name="csY6" fmla="*/ 104431 h 104430"/>
                <a:gd name="csX7" fmla="*/ 0 w 1951989"/>
                <a:gd name="csY7" fmla="*/ 22078 h 104430"/>
                <a:gd name="csX8" fmla="*/ 22144 w 1951989"/>
                <a:gd name="csY8" fmla="*/ 0 h 104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1989" h="104430">
                  <a:moveTo>
                    <a:pt x="22144" y="0"/>
                  </a:moveTo>
                  <a:lnTo>
                    <a:pt x="1929846" y="0"/>
                  </a:lnTo>
                  <a:cubicBezTo>
                    <a:pt x="1942077" y="0"/>
                    <a:pt x="1951989" y="9885"/>
                    <a:pt x="1951989" y="22078"/>
                  </a:cubicBezTo>
                  <a:lnTo>
                    <a:pt x="1951989" y="104431"/>
                  </a:lnTo>
                  <a:lnTo>
                    <a:pt x="1951989" y="104431"/>
                  </a:lnTo>
                  <a:lnTo>
                    <a:pt x="0" y="104431"/>
                  </a:lnTo>
                  <a:lnTo>
                    <a:pt x="0" y="104431"/>
                  </a:lnTo>
                  <a:lnTo>
                    <a:pt x="0" y="22078"/>
                  </a:lnTo>
                  <a:cubicBezTo>
                    <a:pt x="0" y="9885"/>
                    <a:pt x="9914" y="0"/>
                    <a:pt x="22144" y="0"/>
                  </a:cubicBezTo>
                </a:path>
              </a:pathLst>
            </a:custGeom>
            <a:solidFill>
              <a:schemeClr val="accent1">
                <a:lumMod val="75000"/>
              </a:schemeClr>
            </a:solidFill>
            <a:ln w="4740" cap="flat">
              <a:solidFill>
                <a:schemeClr val="accent1"/>
              </a:solidFill>
              <a:prstDash val="solid"/>
              <a:miter/>
            </a:ln>
          </p:spPr>
          <p:txBody>
            <a:bodyPr/>
            <a:lstStyle/>
            <a:p>
              <a:endParaRPr lang="ar-EG"/>
            </a:p>
          </p:txBody>
        </p:sp>
        <p:sp>
          <p:nvSpPr>
            <p:cNvPr id="83" name="Text 1">
              <a:extLst>
                <a:ext uri="{FF2B5EF4-FFF2-40B4-BE49-F238E27FC236}">
                  <a16:creationId xmlns:a16="http://schemas.microsoft.com/office/drawing/2014/main" id="{71C7FFFE-ADA0-0A68-03E6-4EB6415C7AB1}"/>
                </a:ext>
              </a:extLst>
            </p:cNvPr>
            <p:cNvSpPr/>
            <p:nvPr/>
          </p:nvSpPr>
          <p:spPr>
            <a:xfrm>
              <a:off x="5354248" y="1391437"/>
              <a:ext cx="1346960" cy="162669"/>
            </a:xfrm>
            <a:prstGeom prst="rect">
              <a:avLst/>
            </a:prstGeom>
            <a:noFill/>
            <a:ln/>
          </p:spPr>
          <p:txBody>
            <a:bodyPr wrap="none" lIns="0" tIns="0" rIns="0" bIns="0" rtlCol="0" anchor="t"/>
            <a:lstStyle/>
            <a:p>
              <a:pPr>
                <a:lnSpc>
                  <a:spcPct val="104000"/>
                </a:lnSpc>
              </a:pPr>
              <a:r>
                <a:rPr lang="en-US" sz="1000" b="1" dirty="0">
                  <a:solidFill>
                    <a:srgbClr val="00C2A8"/>
                  </a:solidFill>
                  <a:latin typeface="Times New Roman" panose="02020603050405020304" pitchFamily="18" charset="0"/>
                  <a:ea typeface="Raleway" pitchFamily="34" charset="-122"/>
                  <a:cs typeface="Times New Roman" panose="02020603050405020304" pitchFamily="18" charset="0"/>
                </a:rPr>
                <a:t>Central Data Memory (CDM)</a:t>
              </a:r>
            </a:p>
          </p:txBody>
        </p:sp>
      </p:grpSp>
      <p:grpSp>
        <p:nvGrpSpPr>
          <p:cNvPr id="5" name="Group 4">
            <a:extLst>
              <a:ext uri="{FF2B5EF4-FFF2-40B4-BE49-F238E27FC236}">
                <a16:creationId xmlns:a16="http://schemas.microsoft.com/office/drawing/2014/main" id="{AF6FBC2A-A305-F9D2-4C56-CEDA669BBBEE}"/>
              </a:ext>
            </a:extLst>
          </p:cNvPr>
          <p:cNvGrpSpPr/>
          <p:nvPr/>
        </p:nvGrpSpPr>
        <p:grpSpPr>
          <a:xfrm>
            <a:off x="289932" y="1847669"/>
            <a:ext cx="1741270" cy="1752302"/>
            <a:chOff x="2084994" y="1595064"/>
            <a:chExt cx="1588327" cy="1262138"/>
          </a:xfrm>
        </p:grpSpPr>
        <p:sp>
          <p:nvSpPr>
            <p:cNvPr id="6" name="Freeform: Shape 5">
              <a:extLst>
                <a:ext uri="{FF2B5EF4-FFF2-40B4-BE49-F238E27FC236}">
                  <a16:creationId xmlns:a16="http://schemas.microsoft.com/office/drawing/2014/main" id="{305F6A5B-50A9-061D-01D2-74E2EEC1795C}"/>
                </a:ext>
              </a:extLst>
            </p:cNvPr>
            <p:cNvSpPr/>
            <p:nvPr/>
          </p:nvSpPr>
          <p:spPr>
            <a:xfrm>
              <a:off x="2084994" y="1595064"/>
              <a:ext cx="1529858" cy="1262137"/>
            </a:xfrm>
            <a:custGeom>
              <a:avLst/>
              <a:gdLst>
                <a:gd name="csX0" fmla="*/ 36427 w 1980555"/>
                <a:gd name="csY0" fmla="*/ 0 h 1262137"/>
                <a:gd name="csX1" fmla="*/ 1944129 w 1980555"/>
                <a:gd name="csY1" fmla="*/ 0 h 1262137"/>
                <a:gd name="csX2" fmla="*/ 1980555 w 1980555"/>
                <a:gd name="csY2" fmla="*/ 36304 h 1262137"/>
                <a:gd name="csX3" fmla="*/ 1980555 w 1980555"/>
                <a:gd name="csY3" fmla="*/ 1225834 h 1262137"/>
                <a:gd name="csX4" fmla="*/ 1944129 w 1980555"/>
                <a:gd name="csY4" fmla="*/ 1262137 h 1262137"/>
                <a:gd name="csX5" fmla="*/ 36427 w 1980555"/>
                <a:gd name="csY5" fmla="*/ 1262137 h 1262137"/>
                <a:gd name="csX6" fmla="*/ 0 w 1980555"/>
                <a:gd name="csY6" fmla="*/ 1225834 h 1262137"/>
                <a:gd name="csX7" fmla="*/ 0 w 1980555"/>
                <a:gd name="csY7" fmla="*/ 36304 h 1262137"/>
                <a:gd name="csX8" fmla="*/ 36427 w 1980555"/>
                <a:gd name="csY8" fmla="*/ 0 h 1262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80555" h="1262137">
                  <a:moveTo>
                    <a:pt x="36427" y="0"/>
                  </a:moveTo>
                  <a:lnTo>
                    <a:pt x="1944129" y="0"/>
                  </a:lnTo>
                  <a:cubicBezTo>
                    <a:pt x="1964244" y="0"/>
                    <a:pt x="1980555" y="16254"/>
                    <a:pt x="1980555" y="36304"/>
                  </a:cubicBezTo>
                  <a:lnTo>
                    <a:pt x="1980555" y="1225834"/>
                  </a:lnTo>
                  <a:cubicBezTo>
                    <a:pt x="1980555" y="1245881"/>
                    <a:pt x="1964244" y="1262137"/>
                    <a:pt x="1944129" y="1262137"/>
                  </a:cubicBezTo>
                  <a:lnTo>
                    <a:pt x="36427" y="1262137"/>
                  </a:lnTo>
                  <a:cubicBezTo>
                    <a:pt x="16309" y="1262137"/>
                    <a:pt x="0" y="1245881"/>
                    <a:pt x="0" y="1225834"/>
                  </a:cubicBezTo>
                  <a:lnTo>
                    <a:pt x="0" y="36304"/>
                  </a:lnTo>
                  <a:cubicBezTo>
                    <a:pt x="0" y="16254"/>
                    <a:pt x="16309" y="0"/>
                    <a:pt x="36427" y="0"/>
                  </a:cubicBezTo>
                </a:path>
              </a:pathLst>
            </a:custGeom>
            <a:solidFill>
              <a:srgbClr val="FFFFFF"/>
            </a:solidFill>
            <a:ln w="4740" cap="flat">
              <a:solidFill>
                <a:schemeClr val="accent1"/>
              </a:solidFill>
              <a:prstDash val="solid"/>
              <a:miter/>
            </a:ln>
          </p:spPr>
          <p:txBody>
            <a:bodyPr/>
            <a:lstStyle/>
            <a:p>
              <a:endParaRPr lang="ar-EG"/>
            </a:p>
          </p:txBody>
        </p:sp>
        <p:sp>
          <p:nvSpPr>
            <p:cNvPr id="7" name="Freeform: Shape 6">
              <a:extLst>
                <a:ext uri="{FF2B5EF4-FFF2-40B4-BE49-F238E27FC236}">
                  <a16:creationId xmlns:a16="http://schemas.microsoft.com/office/drawing/2014/main" id="{2D30C454-2A0F-9B0A-AF2C-8D16ED7229A6}"/>
                </a:ext>
              </a:extLst>
            </p:cNvPr>
            <p:cNvSpPr/>
            <p:nvPr/>
          </p:nvSpPr>
          <p:spPr>
            <a:xfrm>
              <a:off x="2084994" y="1595065"/>
              <a:ext cx="1529858" cy="1262137"/>
            </a:xfrm>
            <a:custGeom>
              <a:avLst/>
              <a:gdLst>
                <a:gd name="csX0" fmla="*/ 10670 w 1980555"/>
                <a:gd name="csY0" fmla="*/ 10634 h 1262137"/>
                <a:gd name="csX1" fmla="*/ 36427 w 1980555"/>
                <a:gd name="csY1" fmla="*/ 0 h 1262137"/>
                <a:gd name="csX2" fmla="*/ 1944129 w 1980555"/>
                <a:gd name="csY2" fmla="*/ 0 h 1262137"/>
                <a:gd name="csX3" fmla="*/ 1980555 w 1980555"/>
                <a:gd name="csY3" fmla="*/ 36304 h 1262137"/>
                <a:gd name="csX4" fmla="*/ 1980555 w 1980555"/>
                <a:gd name="csY4" fmla="*/ 1225834 h 1262137"/>
                <a:gd name="csX5" fmla="*/ 1944129 w 1980555"/>
                <a:gd name="csY5" fmla="*/ 1262137 h 1262137"/>
                <a:gd name="csX6" fmla="*/ 36427 w 1980555"/>
                <a:gd name="csY6" fmla="*/ 1262137 h 1262137"/>
                <a:gd name="csX7" fmla="*/ 0 w 1980555"/>
                <a:gd name="csY7" fmla="*/ 1225834 h 1262137"/>
                <a:gd name="csX8" fmla="*/ 0 w 1980555"/>
                <a:gd name="csY8" fmla="*/ 36304 h 1262137"/>
                <a:gd name="csX9" fmla="*/ 10670 w 1980555"/>
                <a:gd name="csY9" fmla="*/ 10634 h 12621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80555" h="1262137">
                  <a:moveTo>
                    <a:pt x="10670" y="10634"/>
                  </a:moveTo>
                  <a:cubicBezTo>
                    <a:pt x="17501" y="3826"/>
                    <a:pt x="26766" y="0"/>
                    <a:pt x="36427" y="0"/>
                  </a:cubicBezTo>
                  <a:lnTo>
                    <a:pt x="1944129" y="0"/>
                  </a:lnTo>
                  <a:cubicBezTo>
                    <a:pt x="1964244" y="0"/>
                    <a:pt x="1980555" y="16254"/>
                    <a:pt x="1980555" y="36304"/>
                  </a:cubicBezTo>
                  <a:lnTo>
                    <a:pt x="1980555" y="1225834"/>
                  </a:lnTo>
                  <a:cubicBezTo>
                    <a:pt x="1980555" y="1245881"/>
                    <a:pt x="1964244" y="1262137"/>
                    <a:pt x="1944129" y="1262137"/>
                  </a:cubicBezTo>
                  <a:lnTo>
                    <a:pt x="36427" y="1262137"/>
                  </a:lnTo>
                  <a:cubicBezTo>
                    <a:pt x="16309" y="1262137"/>
                    <a:pt x="0" y="1245881"/>
                    <a:pt x="0" y="1225834"/>
                  </a:cubicBezTo>
                  <a:lnTo>
                    <a:pt x="0" y="36304"/>
                  </a:lnTo>
                  <a:cubicBezTo>
                    <a:pt x="0" y="26676"/>
                    <a:pt x="3839" y="17442"/>
                    <a:pt x="10670" y="10634"/>
                  </a:cubicBezTo>
                </a:path>
              </a:pathLst>
            </a:custGeom>
            <a:noFill/>
            <a:ln w="28438" cap="flat">
              <a:solidFill>
                <a:schemeClr val="accent1"/>
              </a:solidFill>
              <a:prstDash val="solid"/>
              <a:miter/>
            </a:ln>
          </p:spPr>
          <p:txBody>
            <a:bodyPr/>
            <a:lstStyle/>
            <a:p>
              <a:endParaRPr lang="ar-EG"/>
            </a:p>
          </p:txBody>
        </p:sp>
        <p:sp>
          <p:nvSpPr>
            <p:cNvPr id="9" name="Freeform: Shape 8">
              <a:extLst>
                <a:ext uri="{FF2B5EF4-FFF2-40B4-BE49-F238E27FC236}">
                  <a16:creationId xmlns:a16="http://schemas.microsoft.com/office/drawing/2014/main" id="{C8CFF22C-ABCE-C62B-ED12-15D813D1EB7A}"/>
                </a:ext>
              </a:extLst>
            </p:cNvPr>
            <p:cNvSpPr/>
            <p:nvPr/>
          </p:nvSpPr>
          <p:spPr>
            <a:xfrm>
              <a:off x="2096025" y="1608015"/>
              <a:ext cx="1507792" cy="256843"/>
            </a:xfrm>
            <a:custGeom>
              <a:avLst/>
              <a:gdLst>
                <a:gd name="csX0" fmla="*/ 22144 w 1951989"/>
                <a:gd name="csY0" fmla="*/ 0 h 104430"/>
                <a:gd name="csX1" fmla="*/ 1929846 w 1951989"/>
                <a:gd name="csY1" fmla="*/ 0 h 104430"/>
                <a:gd name="csX2" fmla="*/ 1951989 w 1951989"/>
                <a:gd name="csY2" fmla="*/ 22078 h 104430"/>
                <a:gd name="csX3" fmla="*/ 1951989 w 1951989"/>
                <a:gd name="csY3" fmla="*/ 104431 h 104430"/>
                <a:gd name="csX4" fmla="*/ 1951989 w 1951989"/>
                <a:gd name="csY4" fmla="*/ 104431 h 104430"/>
                <a:gd name="csX5" fmla="*/ 0 w 1951989"/>
                <a:gd name="csY5" fmla="*/ 104431 h 104430"/>
                <a:gd name="csX6" fmla="*/ 0 w 1951989"/>
                <a:gd name="csY6" fmla="*/ 104431 h 104430"/>
                <a:gd name="csX7" fmla="*/ 0 w 1951989"/>
                <a:gd name="csY7" fmla="*/ 22078 h 104430"/>
                <a:gd name="csX8" fmla="*/ 22144 w 1951989"/>
                <a:gd name="csY8" fmla="*/ 0 h 1044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951989" h="104430">
                  <a:moveTo>
                    <a:pt x="22144" y="0"/>
                  </a:moveTo>
                  <a:lnTo>
                    <a:pt x="1929846" y="0"/>
                  </a:lnTo>
                  <a:cubicBezTo>
                    <a:pt x="1942077" y="0"/>
                    <a:pt x="1951989" y="9885"/>
                    <a:pt x="1951989" y="22078"/>
                  </a:cubicBezTo>
                  <a:lnTo>
                    <a:pt x="1951989" y="104431"/>
                  </a:lnTo>
                  <a:lnTo>
                    <a:pt x="1951989" y="104431"/>
                  </a:lnTo>
                  <a:lnTo>
                    <a:pt x="0" y="104431"/>
                  </a:lnTo>
                  <a:lnTo>
                    <a:pt x="0" y="104431"/>
                  </a:lnTo>
                  <a:lnTo>
                    <a:pt x="0" y="22078"/>
                  </a:lnTo>
                  <a:cubicBezTo>
                    <a:pt x="0" y="9885"/>
                    <a:pt x="9914" y="0"/>
                    <a:pt x="22144" y="0"/>
                  </a:cubicBezTo>
                </a:path>
              </a:pathLst>
            </a:custGeom>
            <a:solidFill>
              <a:schemeClr val="accent1">
                <a:lumMod val="75000"/>
              </a:schemeClr>
            </a:solidFill>
            <a:ln w="4740" cap="flat">
              <a:solidFill>
                <a:schemeClr val="accent1"/>
              </a:solidFill>
              <a:prstDash val="solid"/>
              <a:miter/>
            </a:ln>
          </p:spPr>
          <p:txBody>
            <a:bodyPr/>
            <a:lstStyle/>
            <a:p>
              <a:endParaRPr lang="ar-EG"/>
            </a:p>
          </p:txBody>
        </p:sp>
        <p:sp>
          <p:nvSpPr>
            <p:cNvPr id="10" name="Text 1">
              <a:extLst>
                <a:ext uri="{FF2B5EF4-FFF2-40B4-BE49-F238E27FC236}">
                  <a16:creationId xmlns:a16="http://schemas.microsoft.com/office/drawing/2014/main" id="{D643A462-9A59-D518-4B13-D57D867766B0}"/>
                </a:ext>
              </a:extLst>
            </p:cNvPr>
            <p:cNvSpPr/>
            <p:nvPr/>
          </p:nvSpPr>
          <p:spPr>
            <a:xfrm>
              <a:off x="2326361" y="1677502"/>
              <a:ext cx="1346960" cy="162669"/>
            </a:xfrm>
            <a:prstGeom prst="rect">
              <a:avLst/>
            </a:prstGeom>
            <a:noFill/>
            <a:ln/>
          </p:spPr>
          <p:txBody>
            <a:bodyPr wrap="none" lIns="0" tIns="0" rIns="0" bIns="0" rtlCol="0" anchor="t"/>
            <a:lstStyle/>
            <a:p>
              <a:pPr>
                <a:lnSpc>
                  <a:spcPct val="104000"/>
                </a:lnSpc>
              </a:pPr>
              <a:r>
                <a:rPr lang="en-US" sz="1050" b="1" dirty="0">
                  <a:solidFill>
                    <a:srgbClr val="00C2A8"/>
                  </a:solidFill>
                  <a:latin typeface="Times New Roman" panose="02020603050405020304" pitchFamily="18" charset="0"/>
                  <a:ea typeface="Raleway" pitchFamily="34" charset="-122"/>
                  <a:cs typeface="Times New Roman" panose="02020603050405020304" pitchFamily="18" charset="0"/>
                </a:rPr>
                <a:t>CXS </a:t>
              </a:r>
              <a:r>
                <a:rPr lang="en-US" sz="1100" b="1" dirty="0">
                  <a:solidFill>
                    <a:srgbClr val="00C2A8"/>
                  </a:solidFill>
                  <a:latin typeface="Times New Roman" panose="02020603050405020304" pitchFamily="18" charset="0"/>
                  <a:ea typeface="Raleway" pitchFamily="34" charset="-122"/>
                  <a:cs typeface="Times New Roman" panose="02020603050405020304" pitchFamily="18" charset="0"/>
                </a:rPr>
                <a:t>Interface</a:t>
              </a:r>
              <a:r>
                <a:rPr lang="en-US" sz="1050" b="1" dirty="0">
                  <a:solidFill>
                    <a:srgbClr val="00C2A8"/>
                  </a:solidFill>
                  <a:latin typeface="Times New Roman" panose="02020603050405020304" pitchFamily="18" charset="0"/>
                  <a:ea typeface="Raleway" pitchFamily="34" charset="-122"/>
                  <a:cs typeface="Times New Roman" panose="02020603050405020304" pitchFamily="18" charset="0"/>
                </a:rPr>
                <a:t> (RX/TX)</a:t>
              </a:r>
            </a:p>
          </p:txBody>
        </p:sp>
      </p:grpSp>
      <p:sp>
        <p:nvSpPr>
          <p:cNvPr id="12" name="TextBox 11">
            <a:extLst>
              <a:ext uri="{FF2B5EF4-FFF2-40B4-BE49-F238E27FC236}">
                <a16:creationId xmlns:a16="http://schemas.microsoft.com/office/drawing/2014/main" id="{65C67F5F-E61F-5DD2-4C13-377E5FDE236B}"/>
              </a:ext>
            </a:extLst>
          </p:cNvPr>
          <p:cNvSpPr txBox="1"/>
          <p:nvPr/>
        </p:nvSpPr>
        <p:spPr>
          <a:xfrm>
            <a:off x="330658" y="945242"/>
            <a:ext cx="7498112" cy="646331"/>
          </a:xfrm>
          <a:prstGeom prst="rect">
            <a:avLst/>
          </a:prstGeom>
          <a:noFill/>
        </p:spPr>
        <p:txBody>
          <a:bodyPr wrap="square" rtlCol="0">
            <a:spAutoFit/>
          </a:bodyPr>
          <a:lstStyle/>
          <a:p>
            <a:r>
              <a:rPr lang="en-US" dirty="0">
                <a:solidFill>
                  <a:srgbClr val="1E2761"/>
                </a:solidFill>
                <a:latin typeface="Times New Roman" panose="02020603050405020304" pitchFamily="18" charset="0"/>
                <a:cs typeface="Times New Roman" panose="02020603050405020304" pitchFamily="18" charset="0"/>
              </a:rPr>
              <a:t>The proposed high-level architecture of the CXS Bridge Encryption and Data Management System consists of the following major blocks:</a:t>
            </a:r>
          </a:p>
        </p:txBody>
      </p:sp>
      <p:sp>
        <p:nvSpPr>
          <p:cNvPr id="13" name="TextBox 12">
            <a:extLst>
              <a:ext uri="{FF2B5EF4-FFF2-40B4-BE49-F238E27FC236}">
                <a16:creationId xmlns:a16="http://schemas.microsoft.com/office/drawing/2014/main" id="{B5C44FF3-10D8-EEF1-9EB9-6F649EFED7D4}"/>
              </a:ext>
            </a:extLst>
          </p:cNvPr>
          <p:cNvSpPr txBox="1"/>
          <p:nvPr/>
        </p:nvSpPr>
        <p:spPr>
          <a:xfrm>
            <a:off x="289932" y="3856069"/>
            <a:ext cx="8735122" cy="830997"/>
          </a:xfrm>
          <a:prstGeom prst="rect">
            <a:avLst/>
          </a:prstGeom>
          <a:noFill/>
        </p:spPr>
        <p:txBody>
          <a:bodyPr wrap="square" rtlCol="0">
            <a:spAutoFit/>
          </a:bodyPr>
          <a:lstStyle/>
          <a:p>
            <a:r>
              <a:rPr lang="en-US" sz="1600" dirty="0">
                <a:solidFill>
                  <a:srgbClr val="1E2761"/>
                </a:solidFill>
                <a:latin typeface="Times New Roman" panose="02020603050405020304" pitchFamily="18" charset="0"/>
                <a:cs typeface="Times New Roman" panose="02020603050405020304" pitchFamily="18" charset="0"/>
              </a:rPr>
              <a:t>These modules cooperate to receive packets from the CXS interface, validate and process packet information, perform encryption and parity generation, translate addresses, and store the processed data in memory.</a:t>
            </a:r>
          </a:p>
        </p:txBody>
      </p:sp>
      <p:sp>
        <p:nvSpPr>
          <p:cNvPr id="16" name="TextBox 15">
            <a:extLst>
              <a:ext uri="{FF2B5EF4-FFF2-40B4-BE49-F238E27FC236}">
                <a16:creationId xmlns:a16="http://schemas.microsoft.com/office/drawing/2014/main" id="{414C5D8E-FC5B-A8BF-1EBE-3E28BDDA4DF1}"/>
              </a:ext>
            </a:extLst>
          </p:cNvPr>
          <p:cNvSpPr txBox="1"/>
          <p:nvPr/>
        </p:nvSpPr>
        <p:spPr>
          <a:xfrm>
            <a:off x="302025" y="2242004"/>
            <a:ext cx="1741275" cy="1384995"/>
          </a:xfrm>
          <a:prstGeom prst="rect">
            <a:avLst/>
          </a:prstGeom>
          <a:noFill/>
        </p:spPr>
        <p:txBody>
          <a:bodyPr wrap="square">
            <a:spAutoFit/>
          </a:bodyPr>
          <a:lstStyle/>
          <a:p>
            <a:r>
              <a:rPr lang="en-US" sz="1200" dirty="0">
                <a:solidFill>
                  <a:srgbClr val="1E2761"/>
                </a:solidFill>
                <a:latin typeface="Times New Roman" panose="02020603050405020304" pitchFamily="18" charset="0"/>
                <a:cs typeface="Times New Roman" panose="02020603050405020304" pitchFamily="18" charset="0"/>
              </a:rPr>
              <a:t>Flit reception and error status packet </a:t>
            </a:r>
          </a:p>
          <a:p>
            <a:r>
              <a:rPr lang="en-US" sz="1200" dirty="0">
                <a:solidFill>
                  <a:srgbClr val="1E2761"/>
                </a:solidFill>
                <a:latin typeface="Times New Roman" panose="02020603050405020304" pitchFamily="18" charset="0"/>
                <a:cs typeface="Times New Roman" panose="02020603050405020304" pitchFamily="18" charset="0"/>
              </a:rPr>
              <a:t>transmission, credit-based flow control, link activation, CXSCNTL decoding and packet formatting </a:t>
            </a:r>
          </a:p>
        </p:txBody>
      </p:sp>
      <p:sp>
        <p:nvSpPr>
          <p:cNvPr id="18" name="TextBox 17">
            <a:extLst>
              <a:ext uri="{FF2B5EF4-FFF2-40B4-BE49-F238E27FC236}">
                <a16:creationId xmlns:a16="http://schemas.microsoft.com/office/drawing/2014/main" id="{5179A621-B1B0-5264-CD6B-CE5499B13A7A}"/>
              </a:ext>
            </a:extLst>
          </p:cNvPr>
          <p:cNvSpPr txBox="1"/>
          <p:nvPr/>
        </p:nvSpPr>
        <p:spPr>
          <a:xfrm>
            <a:off x="1982016" y="2228755"/>
            <a:ext cx="1367448" cy="1200329"/>
          </a:xfrm>
          <a:prstGeom prst="rect">
            <a:avLst/>
          </a:prstGeom>
          <a:noFill/>
        </p:spPr>
        <p:txBody>
          <a:bodyPr wrap="square">
            <a:spAutoFit/>
          </a:bodyPr>
          <a:lstStyle/>
          <a:p>
            <a:r>
              <a:rPr lang="en-US" sz="1200" dirty="0">
                <a:solidFill>
                  <a:srgbClr val="1E2761"/>
                </a:solidFill>
                <a:latin typeface="Times New Roman" panose="02020603050405020304" pitchFamily="18" charset="0"/>
                <a:cs typeface="Times New Roman" panose="02020603050405020304" pitchFamily="18" charset="0"/>
              </a:rPr>
              <a:t>FSM-based System  controller; header decoding, config validation, payload extraction, error handling</a:t>
            </a:r>
          </a:p>
        </p:txBody>
      </p:sp>
      <p:sp>
        <p:nvSpPr>
          <p:cNvPr id="22" name="TextBox 21">
            <a:extLst>
              <a:ext uri="{FF2B5EF4-FFF2-40B4-BE49-F238E27FC236}">
                <a16:creationId xmlns:a16="http://schemas.microsoft.com/office/drawing/2014/main" id="{CD82A850-E0F1-8D81-6029-A21FCF1DFC44}"/>
              </a:ext>
            </a:extLst>
          </p:cNvPr>
          <p:cNvSpPr txBox="1"/>
          <p:nvPr/>
        </p:nvSpPr>
        <p:spPr>
          <a:xfrm>
            <a:off x="3710664" y="2228755"/>
            <a:ext cx="1652979" cy="1384995"/>
          </a:xfrm>
          <a:prstGeom prst="rect">
            <a:avLst/>
          </a:prstGeom>
          <a:noFill/>
        </p:spPr>
        <p:txBody>
          <a:bodyPr wrap="square">
            <a:spAutoFit/>
          </a:bodyPr>
          <a:lstStyle/>
          <a:p>
            <a:r>
              <a:rPr lang="en-US" sz="1200" dirty="0">
                <a:solidFill>
                  <a:srgbClr val="1E2761"/>
                </a:solidFill>
                <a:latin typeface="Times New Roman" panose="02020603050405020304" pitchFamily="18" charset="0"/>
                <a:cs typeface="Times New Roman" panose="02020603050405020304" pitchFamily="18" charset="0"/>
              </a:rPr>
              <a:t>Encryption Block with 2 mode of encryption and special encryption case  + Parity Unit with 2 mode (odd / even) to secures payload before storage</a:t>
            </a:r>
          </a:p>
        </p:txBody>
      </p:sp>
      <p:sp>
        <p:nvSpPr>
          <p:cNvPr id="25" name="TextBox 24">
            <a:extLst>
              <a:ext uri="{FF2B5EF4-FFF2-40B4-BE49-F238E27FC236}">
                <a16:creationId xmlns:a16="http://schemas.microsoft.com/office/drawing/2014/main" id="{A5E25333-5B59-AE19-7B73-8737F04AAE74}"/>
              </a:ext>
            </a:extLst>
          </p:cNvPr>
          <p:cNvSpPr txBox="1"/>
          <p:nvPr/>
        </p:nvSpPr>
        <p:spPr>
          <a:xfrm>
            <a:off x="5405460" y="2200416"/>
            <a:ext cx="1824090" cy="1384995"/>
          </a:xfrm>
          <a:prstGeom prst="rect">
            <a:avLst/>
          </a:prstGeom>
          <a:noFill/>
        </p:spPr>
        <p:txBody>
          <a:bodyPr wrap="square">
            <a:spAutoFit/>
          </a:bodyPr>
          <a:lstStyle/>
          <a:p>
            <a:r>
              <a:rPr lang="en-US" sz="1200" dirty="0">
                <a:solidFill>
                  <a:srgbClr val="1E2761"/>
                </a:solidFill>
                <a:latin typeface="Times New Roman" panose="02020603050405020304" pitchFamily="18" charset="0"/>
                <a:cs typeface="Times New Roman" panose="02020603050405020304" pitchFamily="18" charset="0"/>
              </a:rPr>
              <a:t>Converts logical addresses to physical memory addresses using base address receiving in configuration packet and device count to define available region</a:t>
            </a:r>
          </a:p>
        </p:txBody>
      </p:sp>
      <p:sp>
        <p:nvSpPr>
          <p:cNvPr id="27" name="TextBox 26">
            <a:extLst>
              <a:ext uri="{FF2B5EF4-FFF2-40B4-BE49-F238E27FC236}">
                <a16:creationId xmlns:a16="http://schemas.microsoft.com/office/drawing/2014/main" id="{BA574691-901A-38BA-42DB-07CE6689CE21}"/>
              </a:ext>
            </a:extLst>
          </p:cNvPr>
          <p:cNvSpPr txBox="1"/>
          <p:nvPr/>
        </p:nvSpPr>
        <p:spPr>
          <a:xfrm>
            <a:off x="7225575" y="2194479"/>
            <a:ext cx="1616399" cy="1015663"/>
          </a:xfrm>
          <a:prstGeom prst="rect">
            <a:avLst/>
          </a:prstGeom>
          <a:noFill/>
        </p:spPr>
        <p:txBody>
          <a:bodyPr wrap="square">
            <a:spAutoFit/>
          </a:bodyPr>
          <a:lstStyle/>
          <a:p>
            <a:r>
              <a:rPr lang="en-US" sz="1200" dirty="0">
                <a:solidFill>
                  <a:srgbClr val="1E2761"/>
                </a:solidFill>
                <a:latin typeface="Times New Roman" panose="02020603050405020304" pitchFamily="18" charset="0"/>
                <a:cs typeface="Times New Roman" panose="02020603050405020304" pitchFamily="18" charset="0"/>
              </a:rPr>
              <a:t>Stores config + payload data; local controller validates writes to device regions</a:t>
            </a:r>
          </a:p>
        </p:txBody>
      </p:sp>
    </p:spTree>
    <p:extLst>
      <p:ext uri="{BB962C8B-B14F-4D97-AF65-F5344CB8AC3E}">
        <p14:creationId xmlns:p14="http://schemas.microsoft.com/office/powerpoint/2010/main" val="10621197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anim calcmode="lin" valueType="num">
                                      <p:cBhvr>
                                        <p:cTn id="13" dur="500" fill="hold"/>
                                        <p:tgtEl>
                                          <p:spTgt spid="74"/>
                                        </p:tgtEl>
                                        <p:attrNameLst>
                                          <p:attrName>ppt_x</p:attrName>
                                        </p:attrNameLst>
                                      </p:cBhvr>
                                      <p:tavLst>
                                        <p:tav tm="0">
                                          <p:val>
                                            <p:strVal val="#ppt_x"/>
                                          </p:val>
                                        </p:tav>
                                        <p:tav tm="100000">
                                          <p:val>
                                            <p:strVal val="#ppt_x"/>
                                          </p:val>
                                        </p:tav>
                                      </p:tavLst>
                                    </p:anim>
                                    <p:anim calcmode="lin" valueType="num">
                                      <p:cBhvr>
                                        <p:cTn id="14" dur="500" fill="hold"/>
                                        <p:tgtEl>
                                          <p:spTgt spid="7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fade">
                                      <p:cBhvr>
                                        <p:cTn id="19" dur="500"/>
                                        <p:tgtEl>
                                          <p:spTgt spid="75"/>
                                        </p:tgtEl>
                                      </p:cBhvr>
                                    </p:animEffect>
                                    <p:anim calcmode="lin" valueType="num">
                                      <p:cBhvr>
                                        <p:cTn id="20" dur="500" fill="hold"/>
                                        <p:tgtEl>
                                          <p:spTgt spid="75"/>
                                        </p:tgtEl>
                                        <p:attrNameLst>
                                          <p:attrName>ppt_x</p:attrName>
                                        </p:attrNameLst>
                                      </p:cBhvr>
                                      <p:tavLst>
                                        <p:tav tm="0">
                                          <p:val>
                                            <p:strVal val="#ppt_x"/>
                                          </p:val>
                                        </p:tav>
                                        <p:tav tm="100000">
                                          <p:val>
                                            <p:strVal val="#ppt_x"/>
                                          </p:val>
                                        </p:tav>
                                      </p:tavLst>
                                    </p:anim>
                                    <p:anim calcmode="lin" valueType="num">
                                      <p:cBhvr>
                                        <p:cTn id="21" dur="500" fill="hold"/>
                                        <p:tgtEl>
                                          <p:spTgt spid="7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6"/>
                                        </p:tgtEl>
                                        <p:attrNameLst>
                                          <p:attrName>style.visibility</p:attrName>
                                        </p:attrNameLst>
                                      </p:cBhvr>
                                      <p:to>
                                        <p:strVal val="visible"/>
                                      </p:to>
                                    </p:set>
                                    <p:animEffect transition="in" filter="fade">
                                      <p:cBhvr>
                                        <p:cTn id="26" dur="500"/>
                                        <p:tgtEl>
                                          <p:spTgt spid="76"/>
                                        </p:tgtEl>
                                      </p:cBhvr>
                                    </p:animEffect>
                                    <p:anim calcmode="lin" valueType="num">
                                      <p:cBhvr>
                                        <p:cTn id="27" dur="500" fill="hold"/>
                                        <p:tgtEl>
                                          <p:spTgt spid="76"/>
                                        </p:tgtEl>
                                        <p:attrNameLst>
                                          <p:attrName>ppt_x</p:attrName>
                                        </p:attrNameLst>
                                      </p:cBhvr>
                                      <p:tavLst>
                                        <p:tav tm="0">
                                          <p:val>
                                            <p:strVal val="#ppt_x"/>
                                          </p:val>
                                        </p:tav>
                                        <p:tav tm="100000">
                                          <p:val>
                                            <p:strVal val="#ppt_x"/>
                                          </p:val>
                                        </p:tav>
                                      </p:tavLst>
                                    </p:anim>
                                    <p:anim calcmode="lin" valueType="num">
                                      <p:cBhvr>
                                        <p:cTn id="28" dur="5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77"/>
                                        </p:tgtEl>
                                        <p:attrNameLst>
                                          <p:attrName>style.visibility</p:attrName>
                                        </p:attrNameLst>
                                      </p:cBhvr>
                                      <p:to>
                                        <p:strVal val="visible"/>
                                      </p:to>
                                    </p:set>
                                    <p:animEffect transition="in" filter="fade">
                                      <p:cBhvr>
                                        <p:cTn id="33" dur="500"/>
                                        <p:tgtEl>
                                          <p:spTgt spid="77"/>
                                        </p:tgtEl>
                                      </p:cBhvr>
                                    </p:animEffect>
                                    <p:anim calcmode="lin" valueType="num">
                                      <p:cBhvr>
                                        <p:cTn id="34" dur="500" fill="hold"/>
                                        <p:tgtEl>
                                          <p:spTgt spid="77"/>
                                        </p:tgtEl>
                                        <p:attrNameLst>
                                          <p:attrName>ppt_x</p:attrName>
                                        </p:attrNameLst>
                                      </p:cBhvr>
                                      <p:tavLst>
                                        <p:tav tm="0">
                                          <p:val>
                                            <p:strVal val="#ppt_x"/>
                                          </p:val>
                                        </p:tav>
                                        <p:tav tm="100000">
                                          <p:val>
                                            <p:strVal val="#ppt_x"/>
                                          </p:val>
                                        </p:tav>
                                      </p:tavLst>
                                    </p:anim>
                                    <p:anim calcmode="lin" valueType="num">
                                      <p:cBhvr>
                                        <p:cTn id="35" dur="500" fill="hold"/>
                                        <p:tgtEl>
                                          <p:spTgt spid="77"/>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500"/>
                                        <p:tgtEl>
                                          <p:spTgt spid="5"/>
                                        </p:tgtEl>
                                      </p:cBhvr>
                                    </p:animEffect>
                                    <p:anim calcmode="lin" valueType="num">
                                      <p:cBhvr>
                                        <p:cTn id="41" dur="500" fill="hold"/>
                                        <p:tgtEl>
                                          <p:spTgt spid="5"/>
                                        </p:tgtEl>
                                        <p:attrNameLst>
                                          <p:attrName>ppt_x</p:attrName>
                                        </p:attrNameLst>
                                      </p:cBhvr>
                                      <p:tavLst>
                                        <p:tav tm="0">
                                          <p:val>
                                            <p:strVal val="#ppt_x"/>
                                          </p:val>
                                        </p:tav>
                                        <p:tav tm="100000">
                                          <p:val>
                                            <p:strVal val="#ppt_x"/>
                                          </p:val>
                                        </p:tav>
                                      </p:tavLst>
                                    </p:anim>
                                    <p:anim calcmode="lin" valueType="num">
                                      <p:cBhvr>
                                        <p:cTn id="42"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383A89BC-C879-4DFF-C592-49B317E8FCED}"/>
            </a:ext>
          </a:extLst>
        </p:cNvPr>
        <p:cNvGrpSpPr/>
        <p:nvPr/>
      </p:nvGrpSpPr>
      <p:grpSpPr>
        <a:xfrm>
          <a:off x="0" y="0"/>
          <a:ext cx="0" cy="0"/>
          <a:chOff x="0" y="0"/>
          <a:chExt cx="0" cy="0"/>
        </a:xfrm>
      </p:grpSpPr>
      <p:graphicFrame>
        <p:nvGraphicFramePr>
          <p:cNvPr id="2" name="TextBox 3">
            <a:extLst>
              <a:ext uri="{FF2B5EF4-FFF2-40B4-BE49-F238E27FC236}">
                <a16:creationId xmlns:a16="http://schemas.microsoft.com/office/drawing/2014/main" id="{6878E6B0-32C0-A4E8-D3E3-BEBB110698CF}"/>
              </a:ext>
            </a:extLst>
          </p:cNvPr>
          <p:cNvGraphicFramePr/>
          <p:nvPr>
            <p:extLst>
              <p:ext uri="{D42A27DB-BD31-4B8C-83A1-F6EECF244321}">
                <p14:modId xmlns:p14="http://schemas.microsoft.com/office/powerpoint/2010/main" val="4188686745"/>
              </p:ext>
            </p:extLst>
          </p:nvPr>
        </p:nvGraphicFramePr>
        <p:xfrm>
          <a:off x="345556" y="1243415"/>
          <a:ext cx="8452886" cy="19062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3" name="TextBox 3">
            <a:extLst>
              <a:ext uri="{FF2B5EF4-FFF2-40B4-BE49-F238E27FC236}">
                <a16:creationId xmlns:a16="http://schemas.microsoft.com/office/drawing/2014/main" id="{185171E3-0EA1-BFD6-FC8E-3D45C9F9D762}"/>
              </a:ext>
            </a:extLst>
          </p:cNvPr>
          <p:cNvGraphicFramePr/>
          <p:nvPr>
            <p:extLst>
              <p:ext uri="{D42A27DB-BD31-4B8C-83A1-F6EECF244321}">
                <p14:modId xmlns:p14="http://schemas.microsoft.com/office/powerpoint/2010/main" val="2789689096"/>
              </p:ext>
            </p:extLst>
          </p:nvPr>
        </p:nvGraphicFramePr>
        <p:xfrm>
          <a:off x="345556" y="3149690"/>
          <a:ext cx="8452886" cy="163197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Text 0">
            <a:extLst>
              <a:ext uri="{FF2B5EF4-FFF2-40B4-BE49-F238E27FC236}">
                <a16:creationId xmlns:a16="http://schemas.microsoft.com/office/drawing/2014/main" id="{1057E001-4E80-D936-95EE-A01EC583825D}"/>
              </a:ext>
            </a:extLst>
          </p:cNvPr>
          <p:cNvSpPr txBox="1"/>
          <p:nvPr/>
        </p:nvSpPr>
        <p:spPr>
          <a:xfrm>
            <a:off x="379210" y="361830"/>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High-Level Data Flow</a:t>
            </a:r>
          </a:p>
        </p:txBody>
      </p:sp>
      <p:sp>
        <p:nvSpPr>
          <p:cNvPr id="7" name="TextBox 6">
            <a:extLst>
              <a:ext uri="{FF2B5EF4-FFF2-40B4-BE49-F238E27FC236}">
                <a16:creationId xmlns:a16="http://schemas.microsoft.com/office/drawing/2014/main" id="{C3347AE2-D4B4-02B3-A64D-30FCF78E1CA3}"/>
              </a:ext>
            </a:extLst>
          </p:cNvPr>
          <p:cNvSpPr txBox="1"/>
          <p:nvPr/>
        </p:nvSpPr>
        <p:spPr>
          <a:xfrm>
            <a:off x="280219" y="841890"/>
            <a:ext cx="8200104" cy="523220"/>
          </a:xfrm>
          <a:prstGeom prst="rect">
            <a:avLst/>
          </a:prstGeom>
          <a:noFill/>
        </p:spPr>
        <p:txBody>
          <a:bodyPr wrap="square" rtlCol="0">
            <a:spAutoFit/>
          </a:bodyPr>
          <a:lstStyle/>
          <a:p>
            <a:r>
              <a:rPr lang="en-US" sz="1400" dirty="0">
                <a:solidFill>
                  <a:srgbClr val="1E2761"/>
                </a:solidFill>
                <a:latin typeface="Times New Roman" panose="02020603050405020304" pitchFamily="18" charset="0"/>
                <a:cs typeface="Times New Roman" panose="02020603050405020304" pitchFamily="18" charset="0"/>
              </a:rPr>
              <a:t>Incoming CXS flits cross from the CXS clock domain into the system clock domain through the Asynchronous FIFO, where the Flit Decoder extracts payload and packet-boundary information for the Control Unit</a:t>
            </a:r>
          </a:p>
        </p:txBody>
      </p:sp>
    </p:spTree>
    <p:extLst>
      <p:ext uri="{BB962C8B-B14F-4D97-AF65-F5344CB8AC3E}">
        <p14:creationId xmlns:p14="http://schemas.microsoft.com/office/powerpoint/2010/main" val="18541762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2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 grpId="0">
        <p:bldAsOne/>
      </p:bldGraphic>
      <p:bldGraphic spid="3" grpId="0">
        <p:bldAsOne/>
      </p:bldGraphic>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 0"/>
          <p:cNvSpPr txBox="1"/>
          <p:nvPr/>
        </p:nvSpPr>
        <p:spPr>
          <a:xfrm>
            <a:off x="411480" y="194217"/>
            <a:ext cx="7886700" cy="480060"/>
          </a:xfrm>
          <a:prstGeom prst="rect">
            <a:avLst/>
          </a:prstGeom>
          <a:noFill/>
          <a:ln/>
        </p:spPr>
        <p:txBody>
          <a:bodyPr wrap="square" lIns="0" tIns="0" rIns="0" bIns="0" rtlCol="0" anchor="ctr"/>
          <a:lstStyle/>
          <a:p>
            <a:r>
              <a:rPr lang="en-US" sz="3600" dirty="0">
                <a:solidFill>
                  <a:srgbClr val="002060"/>
                </a:solidFill>
                <a:latin typeface="Times New Roman" panose="02020603050405020304" pitchFamily="18" charset="0"/>
                <a:cs typeface="Times New Roman" panose="02020603050405020304" pitchFamily="18" charset="0"/>
              </a:rPr>
              <a:t>CXS Protocol</a:t>
            </a:r>
            <a:endParaRPr lang="en-US" sz="3200" dirty="0">
              <a:solidFill>
                <a:srgbClr val="002060"/>
              </a:solidFill>
              <a:latin typeface="Times New Roman" panose="02020603050405020304" pitchFamily="18" charset="0"/>
              <a:cs typeface="Times New Roman" panose="02020603050405020304" pitchFamily="18" charset="0"/>
            </a:endParaRPr>
          </a:p>
        </p:txBody>
      </p:sp>
      <p:sp>
        <p:nvSpPr>
          <p:cNvPr id="8" name="Shape 6"/>
          <p:cNvSpPr/>
          <p:nvPr/>
        </p:nvSpPr>
        <p:spPr>
          <a:xfrm>
            <a:off x="226742" y="903993"/>
            <a:ext cx="4754136" cy="3749784"/>
          </a:xfrm>
          <a:prstGeom prst="roundRect">
            <a:avLst>
              <a:gd name="adj" fmla="val 2326"/>
            </a:avLst>
          </a:prstGeom>
          <a:solidFill>
            <a:srgbClr val="1E2761"/>
          </a:solidFill>
          <a:ln/>
        </p:spPr>
        <p:txBody>
          <a:bodyPr/>
          <a:lstStyle/>
          <a:p>
            <a:endParaRPr lang="en-US" dirty="0"/>
          </a:p>
        </p:txBody>
      </p:sp>
      <p:sp>
        <p:nvSpPr>
          <p:cNvPr id="6" name="TextBox 5">
            <a:extLst>
              <a:ext uri="{FF2B5EF4-FFF2-40B4-BE49-F238E27FC236}">
                <a16:creationId xmlns:a16="http://schemas.microsoft.com/office/drawing/2014/main" id="{E2AA2364-E4C0-CF48-F257-C111345E5878}"/>
              </a:ext>
            </a:extLst>
          </p:cNvPr>
          <p:cNvSpPr txBox="1"/>
          <p:nvPr/>
        </p:nvSpPr>
        <p:spPr>
          <a:xfrm>
            <a:off x="226741" y="1070725"/>
            <a:ext cx="4687229" cy="3416320"/>
          </a:xfrm>
          <a:prstGeom prst="rect">
            <a:avLst/>
          </a:prstGeom>
          <a:noFill/>
        </p:spPr>
        <p:txBody>
          <a:bodyPr wrap="square">
            <a:spAutoFit/>
          </a:bodyPr>
          <a:lstStyle/>
          <a:p>
            <a:pPr marL="285750" indent="-285750">
              <a:buFont typeface="Wingdings" panose="05000000000000000000" pitchFamily="2" charset="2"/>
              <a:buChar char="Ø"/>
            </a:pPr>
            <a:r>
              <a:rPr lang="en-US" sz="1200" b="1" dirty="0">
                <a:solidFill>
                  <a:schemeClr val="bg2"/>
                </a:solidFill>
                <a:latin typeface="Times New Roman" panose="02020603050405020304" pitchFamily="18" charset="0"/>
                <a:cs typeface="Times New Roman" panose="02020603050405020304" pitchFamily="18" charset="0"/>
              </a:rPr>
              <a:t>Streaming, Point-to-Point : </a:t>
            </a:r>
            <a:r>
              <a:rPr lang="en-US" sz="1200" dirty="0">
                <a:solidFill>
                  <a:schemeClr val="bg2"/>
                </a:solidFill>
                <a:latin typeface="Times New Roman" panose="02020603050405020304" pitchFamily="18" charset="0"/>
                <a:cs typeface="Times New Roman" panose="02020603050405020304" pitchFamily="18" charset="0"/>
              </a:rPr>
              <a:t>Packetized data sent directly between two link partners — no addressing/routing layer, just protocol packets riding on flits</a:t>
            </a:r>
          </a:p>
          <a:p>
            <a:pPr marL="285750" indent="-285750">
              <a:buFont typeface="Wingdings" panose="05000000000000000000" pitchFamily="2" charset="2"/>
              <a:buChar char="Ø"/>
            </a:pPr>
            <a:endParaRPr lang="en-US" sz="1200" dirty="0">
              <a:solidFill>
                <a:schemeClr val="bg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200" b="1" dirty="0">
                <a:solidFill>
                  <a:schemeClr val="bg2"/>
                </a:solidFill>
                <a:latin typeface="Times New Roman" panose="02020603050405020304" pitchFamily="18" charset="0"/>
                <a:cs typeface="Times New Roman" panose="02020603050405020304" pitchFamily="18" charset="0"/>
              </a:rPr>
              <a:t>Full-Duplex</a:t>
            </a:r>
            <a:r>
              <a:rPr lang="en-US" sz="1200" dirty="0">
                <a:solidFill>
                  <a:schemeClr val="bg2"/>
                </a:solidFill>
                <a:latin typeface="Times New Roman" panose="02020603050405020304" pitchFamily="18" charset="0"/>
                <a:cs typeface="Times New Roman" panose="02020603050405020304" pitchFamily="18" charset="0"/>
              </a:rPr>
              <a:t> : Independent TX and RX signal paths operate simultaneously and independently of each other</a:t>
            </a:r>
          </a:p>
          <a:p>
            <a:pPr marL="285750" indent="-285750">
              <a:buFont typeface="Wingdings" panose="05000000000000000000" pitchFamily="2" charset="2"/>
              <a:buChar char="Ø"/>
            </a:pPr>
            <a:endParaRPr lang="en-US" sz="1200" dirty="0">
              <a:solidFill>
                <a:schemeClr val="bg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200" b="1" dirty="0">
                <a:solidFill>
                  <a:schemeClr val="bg2"/>
                </a:solidFill>
                <a:latin typeface="Times New Roman" panose="02020603050405020304" pitchFamily="18" charset="0"/>
                <a:cs typeface="Times New Roman" panose="02020603050405020304" pitchFamily="18" charset="0"/>
              </a:rPr>
              <a:t>Flit-Based Transfer </a:t>
            </a:r>
            <a:r>
              <a:rPr lang="en-US" sz="1200" dirty="0">
                <a:solidFill>
                  <a:schemeClr val="bg2"/>
                </a:solidFill>
                <a:latin typeface="Times New Roman" panose="02020603050405020304" pitchFamily="18" charset="0"/>
                <a:cs typeface="Times New Roman" panose="02020603050405020304" pitchFamily="18" charset="0"/>
              </a:rPr>
              <a:t>: Data moves one flit (flow-control unit) per clock cycle; a flit can carry multiple packets, or one packet can span several flits</a:t>
            </a:r>
          </a:p>
          <a:p>
            <a:pPr marL="285750" indent="-285750">
              <a:buFont typeface="Wingdings" panose="05000000000000000000" pitchFamily="2" charset="2"/>
              <a:buChar char="Ø"/>
            </a:pPr>
            <a:endParaRPr lang="en-US" sz="1200" dirty="0">
              <a:solidFill>
                <a:schemeClr val="bg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200" b="1" dirty="0">
                <a:solidFill>
                  <a:schemeClr val="bg2"/>
                </a:solidFill>
                <a:latin typeface="Times New Roman" panose="02020603050405020304" pitchFamily="18" charset="0"/>
                <a:cs typeface="Times New Roman" panose="02020603050405020304" pitchFamily="18" charset="0"/>
              </a:rPr>
              <a:t>Credit-Based Flow Control </a:t>
            </a:r>
            <a:r>
              <a:rPr lang="en-US" sz="1200" dirty="0">
                <a:solidFill>
                  <a:schemeClr val="bg2"/>
                </a:solidFill>
                <a:latin typeface="Times New Roman" panose="02020603050405020304" pitchFamily="18" charset="0"/>
                <a:cs typeface="Times New Roman" panose="02020603050405020304" pitchFamily="18" charset="0"/>
              </a:rPr>
              <a:t>: Non-blocking: the transmitter only sends when it holds a credit from the receiver, preventing buffer overflow without handshake stalls</a:t>
            </a:r>
          </a:p>
          <a:p>
            <a:pPr marL="285750" indent="-285750">
              <a:buFont typeface="Wingdings" panose="05000000000000000000" pitchFamily="2" charset="2"/>
              <a:buChar char="Ø"/>
            </a:pPr>
            <a:endParaRPr lang="en-US" sz="1200" dirty="0">
              <a:solidFill>
                <a:schemeClr val="bg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1200" b="1" dirty="0">
                <a:solidFill>
                  <a:schemeClr val="bg2"/>
                </a:solidFill>
                <a:latin typeface="Times New Roman" panose="02020603050405020304" pitchFamily="18" charset="0"/>
                <a:cs typeface="Times New Roman" panose="02020603050405020304" pitchFamily="18" charset="0"/>
              </a:rPr>
              <a:t>Control Field (CXSCNTL):</a:t>
            </a:r>
            <a:r>
              <a:rPr lang="en-US" sz="1200" dirty="0">
                <a:solidFill>
                  <a:schemeClr val="bg2"/>
                </a:solidFill>
                <a:latin typeface="Times New Roman" panose="02020603050405020304" pitchFamily="18" charset="0"/>
                <a:cs typeface="Times New Roman" panose="02020603050405020304" pitchFamily="18" charset="0"/>
              </a:rPr>
              <a:t>Encodes START/END/ERROR boundary info per flit so the receiver can reconstruct packet boundaries from the raw flit stream</a:t>
            </a:r>
          </a:p>
        </p:txBody>
      </p:sp>
      <p:pic>
        <p:nvPicPr>
          <p:cNvPr id="9" name="Picture 8">
            <a:extLst>
              <a:ext uri="{FF2B5EF4-FFF2-40B4-BE49-F238E27FC236}">
                <a16:creationId xmlns:a16="http://schemas.microsoft.com/office/drawing/2014/main" id="{8CA63AAF-DF80-678C-F616-98993F66F3F7}"/>
              </a:ext>
            </a:extLst>
          </p:cNvPr>
          <p:cNvPicPr>
            <a:picLocks noChangeAspect="1"/>
          </p:cNvPicPr>
          <p:nvPr/>
        </p:nvPicPr>
        <p:blipFill>
          <a:blip r:embed="rId3"/>
          <a:stretch>
            <a:fillRect/>
          </a:stretch>
        </p:blipFill>
        <p:spPr>
          <a:xfrm>
            <a:off x="5331031" y="903992"/>
            <a:ext cx="3491826" cy="3749785"/>
          </a:xfrm>
          <a:prstGeom prst="rect">
            <a:avLst/>
          </a:prstGeom>
        </p:spPr>
      </p:pic>
    </p:spTree>
    <p:extLst>
      <p:ext uri="{BB962C8B-B14F-4D97-AF65-F5344CB8AC3E}">
        <p14:creationId xmlns:p14="http://schemas.microsoft.com/office/powerpoint/2010/main" val="30130712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D63A2CF-8A7E-294C-9745-6BD07F785F66}"/>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F2953BEB-C978-66BB-32E7-32B166FBAF17}"/>
              </a:ext>
            </a:extLst>
          </p:cNvPr>
          <p:cNvSpPr txBox="1"/>
          <p:nvPr/>
        </p:nvSpPr>
        <p:spPr>
          <a:xfrm>
            <a:off x="558119" y="585924"/>
            <a:ext cx="6361930"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CXS Interface (RX)</a:t>
            </a:r>
          </a:p>
        </p:txBody>
      </p:sp>
      <p:pic>
        <p:nvPicPr>
          <p:cNvPr id="13" name="Image 1" descr="preencoded.png">
            <a:extLst>
              <a:ext uri="{FF2B5EF4-FFF2-40B4-BE49-F238E27FC236}">
                <a16:creationId xmlns:a16="http://schemas.microsoft.com/office/drawing/2014/main" id="{ADC472DE-EE0D-64DF-170A-6FAD2BB35B1D}"/>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33000"/>
                    </a14:imgEffect>
                  </a14:imgLayer>
                </a14:imgProps>
              </a:ext>
            </a:extLst>
          </a:blip>
          <a:stretch>
            <a:fillRect/>
          </a:stretch>
        </p:blipFill>
        <p:spPr>
          <a:xfrm>
            <a:off x="1976094" y="4352884"/>
            <a:ext cx="169214" cy="135359"/>
          </a:xfrm>
          <a:prstGeom prst="rect">
            <a:avLst/>
          </a:prstGeom>
        </p:spPr>
      </p:pic>
      <p:graphicFrame>
        <p:nvGraphicFramePr>
          <p:cNvPr id="2" name="Diagram 1">
            <a:extLst>
              <a:ext uri="{FF2B5EF4-FFF2-40B4-BE49-F238E27FC236}">
                <a16:creationId xmlns:a16="http://schemas.microsoft.com/office/drawing/2014/main" id="{6FE6A241-CF94-DFB7-4A14-F262F53DE512}"/>
              </a:ext>
            </a:extLst>
          </p:cNvPr>
          <p:cNvGraphicFramePr/>
          <p:nvPr>
            <p:extLst>
              <p:ext uri="{D42A27DB-BD31-4B8C-83A1-F6EECF244321}">
                <p14:modId xmlns:p14="http://schemas.microsoft.com/office/powerpoint/2010/main" val="863116586"/>
              </p:ext>
            </p:extLst>
          </p:nvPr>
        </p:nvGraphicFramePr>
        <p:xfrm>
          <a:off x="431510" y="1554972"/>
          <a:ext cx="3788798" cy="29097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3" name="Picture 22">
            <a:extLst>
              <a:ext uri="{FF2B5EF4-FFF2-40B4-BE49-F238E27FC236}">
                <a16:creationId xmlns:a16="http://schemas.microsoft.com/office/drawing/2014/main" id="{D4D3EB52-9B7F-852F-92AC-A5402A33CCBA}"/>
              </a:ext>
            </a:extLst>
          </p:cNvPr>
          <p:cNvPicPr>
            <a:picLocks noChangeAspect="1"/>
          </p:cNvPicPr>
          <p:nvPr/>
        </p:nvPicPr>
        <p:blipFill>
          <a:blip r:embed="rId9"/>
          <a:stretch>
            <a:fillRect/>
          </a:stretch>
        </p:blipFill>
        <p:spPr>
          <a:xfrm>
            <a:off x="4088994" y="907027"/>
            <a:ext cx="5055006" cy="4072776"/>
          </a:xfrm>
          <a:prstGeom prst="rect">
            <a:avLst/>
          </a:prstGeom>
        </p:spPr>
      </p:pic>
    </p:spTree>
    <p:extLst>
      <p:ext uri="{BB962C8B-B14F-4D97-AF65-F5344CB8AC3E}">
        <p14:creationId xmlns:p14="http://schemas.microsoft.com/office/powerpoint/2010/main" val="6718447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9D4FC4CA-6B9F-B919-DDD6-C9F0DE6A6BF2}"/>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2F65C38F-C7B2-0AB0-9D21-3FF046C28239}"/>
              </a:ext>
            </a:extLst>
          </p:cNvPr>
          <p:cNvSpPr txBox="1"/>
          <p:nvPr/>
        </p:nvSpPr>
        <p:spPr>
          <a:xfrm>
            <a:off x="558119" y="585924"/>
            <a:ext cx="6361930"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CXS Interface (TX)</a:t>
            </a:r>
          </a:p>
        </p:txBody>
      </p:sp>
      <p:pic>
        <p:nvPicPr>
          <p:cNvPr id="13" name="Image 1" descr="preencoded.png">
            <a:extLst>
              <a:ext uri="{FF2B5EF4-FFF2-40B4-BE49-F238E27FC236}">
                <a16:creationId xmlns:a16="http://schemas.microsoft.com/office/drawing/2014/main" id="{72FCBA5E-699A-A223-7189-6C6E859F6E69}"/>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33000"/>
                    </a14:imgEffect>
                  </a14:imgLayer>
                </a14:imgProps>
              </a:ext>
            </a:extLst>
          </a:blip>
          <a:stretch>
            <a:fillRect/>
          </a:stretch>
        </p:blipFill>
        <p:spPr>
          <a:xfrm>
            <a:off x="1976094" y="4352884"/>
            <a:ext cx="169214" cy="135359"/>
          </a:xfrm>
          <a:prstGeom prst="rect">
            <a:avLst/>
          </a:prstGeom>
        </p:spPr>
      </p:pic>
      <p:graphicFrame>
        <p:nvGraphicFramePr>
          <p:cNvPr id="2" name="Diagram 1">
            <a:extLst>
              <a:ext uri="{FF2B5EF4-FFF2-40B4-BE49-F238E27FC236}">
                <a16:creationId xmlns:a16="http://schemas.microsoft.com/office/drawing/2014/main" id="{D695B2E2-EFA9-379E-D197-E5CE1191F3ED}"/>
              </a:ext>
            </a:extLst>
          </p:cNvPr>
          <p:cNvGraphicFramePr/>
          <p:nvPr>
            <p:extLst>
              <p:ext uri="{D42A27DB-BD31-4B8C-83A1-F6EECF244321}">
                <p14:modId xmlns:p14="http://schemas.microsoft.com/office/powerpoint/2010/main" val="2633325553"/>
              </p:ext>
            </p:extLst>
          </p:nvPr>
        </p:nvGraphicFramePr>
        <p:xfrm>
          <a:off x="431510" y="1554972"/>
          <a:ext cx="3788798" cy="29097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DCCD484B-EEAA-F170-489A-0E7D70C80A41}"/>
              </a:ext>
            </a:extLst>
          </p:cNvPr>
          <p:cNvPicPr>
            <a:picLocks noChangeAspect="1"/>
          </p:cNvPicPr>
          <p:nvPr/>
        </p:nvPicPr>
        <p:blipFill>
          <a:blip r:embed="rId9"/>
          <a:stretch>
            <a:fillRect/>
          </a:stretch>
        </p:blipFill>
        <p:spPr>
          <a:xfrm>
            <a:off x="4048432" y="921774"/>
            <a:ext cx="5236260" cy="4275066"/>
          </a:xfrm>
          <a:prstGeom prst="rect">
            <a:avLst/>
          </a:prstGeom>
        </p:spPr>
      </p:pic>
    </p:spTree>
    <p:extLst>
      <p:ext uri="{BB962C8B-B14F-4D97-AF65-F5344CB8AC3E}">
        <p14:creationId xmlns:p14="http://schemas.microsoft.com/office/powerpoint/2010/main" val="24230442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DCC077E2-90F5-1C2E-2A7E-5267C1944BA6}"/>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949A8C8F-896A-3B36-3032-680E507AEFDA}"/>
              </a:ext>
            </a:extLst>
          </p:cNvPr>
          <p:cNvSpPr txBox="1"/>
          <p:nvPr/>
        </p:nvSpPr>
        <p:spPr>
          <a:xfrm>
            <a:off x="237668" y="456901"/>
            <a:ext cx="6361930"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Control Unit </a:t>
            </a:r>
          </a:p>
        </p:txBody>
      </p:sp>
      <p:pic>
        <p:nvPicPr>
          <p:cNvPr id="13" name="Image 1" descr="preencoded.png">
            <a:extLst>
              <a:ext uri="{FF2B5EF4-FFF2-40B4-BE49-F238E27FC236}">
                <a16:creationId xmlns:a16="http://schemas.microsoft.com/office/drawing/2014/main" id="{D19122D7-633D-9D2C-EC20-CF78D1C1CAC8}"/>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33000"/>
                    </a14:imgEffect>
                  </a14:imgLayer>
                </a14:imgProps>
              </a:ext>
            </a:extLst>
          </a:blip>
          <a:stretch>
            <a:fillRect/>
          </a:stretch>
        </p:blipFill>
        <p:spPr>
          <a:xfrm>
            <a:off x="1976094" y="4352884"/>
            <a:ext cx="169214" cy="135359"/>
          </a:xfrm>
          <a:prstGeom prst="rect">
            <a:avLst/>
          </a:prstGeom>
        </p:spPr>
      </p:pic>
      <p:sp>
        <p:nvSpPr>
          <p:cNvPr id="3" name="Shape 2">
            <a:extLst>
              <a:ext uri="{FF2B5EF4-FFF2-40B4-BE49-F238E27FC236}">
                <a16:creationId xmlns:a16="http://schemas.microsoft.com/office/drawing/2014/main" id="{29CF7A91-BD45-FE11-96A5-E6A03C2321A9}"/>
              </a:ext>
            </a:extLst>
          </p:cNvPr>
          <p:cNvSpPr/>
          <p:nvPr/>
        </p:nvSpPr>
        <p:spPr>
          <a:xfrm>
            <a:off x="237668" y="1226004"/>
            <a:ext cx="5186432" cy="3460595"/>
          </a:xfrm>
          <a:prstGeom prst="roundRect">
            <a:avLst>
              <a:gd name="adj" fmla="val 2326"/>
            </a:avLst>
          </a:prstGeom>
          <a:solidFill>
            <a:srgbClr val="FFFFFF"/>
          </a:solidFill>
          <a:ln/>
          <a:effectLst>
            <a:outerShdw blurRad="101600" dist="38100" dir="5400000" algn="bl" rotWithShape="0">
              <a:srgbClr val="9AA5C0">
                <a:alpha val="35000"/>
              </a:srgbClr>
            </a:outerShdw>
          </a:effectLst>
        </p:spPr>
        <p:txBody>
          <a:bodyPr/>
          <a:lstStyle/>
          <a:p>
            <a:pPr lvl="0"/>
            <a:r>
              <a:rPr lang="en-US" sz="1200" b="1" dirty="0">
                <a:solidFill>
                  <a:srgbClr val="1E2761"/>
                </a:solidFill>
                <a:latin typeface="Times New Roman" panose="02020603050405020304" pitchFamily="18" charset="0"/>
                <a:cs typeface="Times New Roman" panose="02020603050405020304" pitchFamily="18" charset="0"/>
              </a:rPr>
              <a:t>Central controller of the CXS Bridge </a:t>
            </a:r>
            <a:r>
              <a:rPr lang="en-US" sz="1200" dirty="0">
                <a:solidFill>
                  <a:srgbClr val="1E2761"/>
                </a:solidFill>
                <a:latin typeface="Times New Roman" panose="02020603050405020304" pitchFamily="18" charset="0"/>
                <a:cs typeface="Times New Roman" panose="02020603050405020304" pitchFamily="18" charset="0"/>
              </a:rPr>
              <a:t>— receives the formatted packet stream from the RX Interface and manages system operation according to the current protocol state</a:t>
            </a:r>
          </a:p>
          <a:p>
            <a:pPr lvl="0"/>
            <a:endParaRPr lang="en-US" sz="1200" dirty="0">
              <a:solidFill>
                <a:srgbClr val="1E2761"/>
              </a:solidFill>
              <a:latin typeface="Times New Roman" panose="02020603050405020304" pitchFamily="18" charset="0"/>
              <a:cs typeface="Times New Roman" panose="02020603050405020304" pitchFamily="18" charset="0"/>
            </a:endParaRPr>
          </a:p>
          <a:p>
            <a:pPr lvl="0"/>
            <a:r>
              <a:rPr lang="en-US" sz="1200" b="1" dirty="0">
                <a:solidFill>
                  <a:srgbClr val="1E2761"/>
                </a:solidFill>
                <a:latin typeface="Times New Roman" panose="02020603050405020304" pitchFamily="18" charset="0"/>
                <a:cs typeface="Times New Roman" panose="02020603050405020304" pitchFamily="18" charset="0"/>
              </a:rPr>
              <a:t>Packet boundary detection:</a:t>
            </a:r>
            <a:r>
              <a:rPr lang="en-US" sz="1200" dirty="0">
                <a:solidFill>
                  <a:srgbClr val="1E2761"/>
                </a:solidFill>
                <a:latin typeface="Times New Roman" panose="02020603050405020304" pitchFamily="18" charset="0"/>
                <a:cs typeface="Times New Roman" panose="02020603050405020304" pitchFamily="18" charset="0"/>
              </a:rPr>
              <a:t> Uses </a:t>
            </a:r>
            <a:r>
              <a:rPr lang="en-US" sz="1200" dirty="0" err="1">
                <a:solidFill>
                  <a:srgbClr val="1E2761"/>
                </a:solidFill>
                <a:latin typeface="Times New Roman" panose="02020603050405020304" pitchFamily="18" charset="0"/>
                <a:cs typeface="Times New Roman" panose="02020603050405020304" pitchFamily="18" charset="0"/>
              </a:rPr>
              <a:t>pkt_start</a:t>
            </a:r>
            <a:r>
              <a:rPr lang="en-US" sz="1200" dirty="0">
                <a:solidFill>
                  <a:srgbClr val="1E2761"/>
                </a:solidFill>
                <a:latin typeface="Times New Roman" panose="02020603050405020304" pitchFamily="18" charset="0"/>
                <a:cs typeface="Times New Roman" panose="02020603050405020304" pitchFamily="18" charset="0"/>
              </a:rPr>
              <a:t> / </a:t>
            </a:r>
            <a:r>
              <a:rPr lang="en-US" sz="1200" dirty="0" err="1">
                <a:solidFill>
                  <a:srgbClr val="1E2761"/>
                </a:solidFill>
                <a:latin typeface="Times New Roman" panose="02020603050405020304" pitchFamily="18" charset="0"/>
                <a:cs typeface="Times New Roman" panose="02020603050405020304" pitchFamily="18" charset="0"/>
              </a:rPr>
              <a:t>pkt_end</a:t>
            </a:r>
            <a:r>
              <a:rPr lang="en-US" sz="1200" dirty="0">
                <a:solidFill>
                  <a:srgbClr val="1E2761"/>
                </a:solidFill>
                <a:latin typeface="Times New Roman" panose="02020603050405020304" pitchFamily="18" charset="0"/>
                <a:cs typeface="Times New Roman" panose="02020603050405020304" pitchFamily="18" charset="0"/>
              </a:rPr>
              <a:t> signals to identify each packet; the first payload word (</a:t>
            </a:r>
            <a:r>
              <a:rPr lang="en-US" sz="1200" dirty="0" err="1">
                <a:solidFill>
                  <a:srgbClr val="1E2761"/>
                </a:solidFill>
                <a:latin typeface="Times New Roman" panose="02020603050405020304" pitchFamily="18" charset="0"/>
                <a:cs typeface="Times New Roman" panose="02020603050405020304" pitchFamily="18" charset="0"/>
              </a:rPr>
              <a:t>pkt_start</a:t>
            </a:r>
            <a:r>
              <a:rPr lang="en-US" sz="1200" dirty="0">
                <a:solidFill>
                  <a:srgbClr val="1E2761"/>
                </a:solidFill>
                <a:latin typeface="Times New Roman" panose="02020603050405020304" pitchFamily="18" charset="0"/>
                <a:cs typeface="Times New Roman" panose="02020603050405020304" pitchFamily="18" charset="0"/>
              </a:rPr>
              <a:t> = 1) is interpreted as the packet header</a:t>
            </a:r>
          </a:p>
          <a:p>
            <a:pPr lvl="0"/>
            <a:endParaRPr lang="en-US" sz="1200" dirty="0">
              <a:solidFill>
                <a:srgbClr val="1E2761"/>
              </a:solidFill>
              <a:latin typeface="Times New Roman" panose="02020603050405020304" pitchFamily="18" charset="0"/>
              <a:cs typeface="Times New Roman" panose="02020603050405020304" pitchFamily="18" charset="0"/>
            </a:endParaRPr>
          </a:p>
          <a:p>
            <a:pPr lvl="0"/>
            <a:r>
              <a:rPr lang="en-US" sz="1200" b="1" dirty="0">
                <a:solidFill>
                  <a:srgbClr val="1E2761"/>
                </a:solidFill>
                <a:latin typeface="Times New Roman" panose="02020603050405020304" pitchFamily="18" charset="0"/>
                <a:cs typeface="Times New Roman" panose="02020603050405020304" pitchFamily="18" charset="0"/>
              </a:rPr>
              <a:t>Header Decoder:</a:t>
            </a:r>
            <a:r>
              <a:rPr lang="en-US" sz="1200" dirty="0">
                <a:solidFill>
                  <a:srgbClr val="1E2761"/>
                </a:solidFill>
                <a:latin typeface="Times New Roman" panose="02020603050405020304" pitchFamily="18" charset="0"/>
                <a:cs typeface="Times New Roman" panose="02020603050405020304" pitchFamily="18" charset="0"/>
              </a:rPr>
              <a:t> Extracts packet type and control info from the header, letting the FSM determine the required operation</a:t>
            </a:r>
          </a:p>
          <a:p>
            <a:pPr lvl="0"/>
            <a:endParaRPr lang="en-US" sz="1200" dirty="0">
              <a:solidFill>
                <a:srgbClr val="1E2761"/>
              </a:solidFill>
              <a:latin typeface="Times New Roman" panose="02020603050405020304" pitchFamily="18" charset="0"/>
              <a:cs typeface="Times New Roman" panose="02020603050405020304" pitchFamily="18" charset="0"/>
            </a:endParaRPr>
          </a:p>
          <a:p>
            <a:pPr lvl="0"/>
            <a:r>
              <a:rPr lang="en-US" sz="1200" b="1" dirty="0">
                <a:solidFill>
                  <a:srgbClr val="1E2761"/>
                </a:solidFill>
                <a:latin typeface="Times New Roman" panose="02020603050405020304" pitchFamily="18" charset="0"/>
                <a:cs typeface="Times New Roman" panose="02020603050405020304" pitchFamily="18" charset="0"/>
              </a:rPr>
              <a:t>Per-packet-type behavior:</a:t>
            </a:r>
            <a:r>
              <a:rPr lang="en-US" sz="1200" dirty="0">
                <a:solidFill>
                  <a:srgbClr val="1E2761"/>
                </a:solidFill>
                <a:latin typeface="Times New Roman" panose="02020603050405020304" pitchFamily="18" charset="0"/>
                <a:cs typeface="Times New Roman" panose="02020603050405020304" pitchFamily="18" charset="0"/>
              </a:rPr>
              <a:t> </a:t>
            </a:r>
          </a:p>
          <a:p>
            <a:pPr lvl="1"/>
            <a:r>
              <a:rPr lang="en-US" sz="1200" i="1" dirty="0">
                <a:solidFill>
                  <a:srgbClr val="1E2761"/>
                </a:solidFill>
                <a:latin typeface="Times New Roman" panose="02020603050405020304" pitchFamily="18" charset="0"/>
                <a:cs typeface="Times New Roman" panose="02020603050405020304" pitchFamily="18" charset="0"/>
              </a:rPr>
              <a:t>Configuration Packets</a:t>
            </a:r>
            <a:r>
              <a:rPr lang="en-US" sz="1200" dirty="0">
                <a:solidFill>
                  <a:srgbClr val="1E2761"/>
                </a:solidFill>
                <a:latin typeface="Times New Roman" panose="02020603050405020304" pitchFamily="18" charset="0"/>
                <a:cs typeface="Times New Roman" panose="02020603050405020304" pitchFamily="18" charset="0"/>
              </a:rPr>
              <a:t> → validates content</a:t>
            </a:r>
          </a:p>
          <a:p>
            <a:pPr lvl="1"/>
            <a:r>
              <a:rPr lang="en-US" sz="1200" i="1" dirty="0">
                <a:solidFill>
                  <a:srgbClr val="1E2761"/>
                </a:solidFill>
                <a:latin typeface="Times New Roman" panose="02020603050405020304" pitchFamily="18" charset="0"/>
                <a:cs typeface="Times New Roman" panose="02020603050405020304" pitchFamily="18" charset="0"/>
              </a:rPr>
              <a:t>Link Packets</a:t>
            </a:r>
            <a:r>
              <a:rPr lang="en-US" sz="1200" dirty="0">
                <a:solidFill>
                  <a:srgbClr val="1E2761"/>
                </a:solidFill>
                <a:latin typeface="Times New Roman" panose="02020603050405020304" pitchFamily="18" charset="0"/>
                <a:cs typeface="Times New Roman" panose="02020603050405020304" pitchFamily="18" charset="0"/>
              </a:rPr>
              <a:t> → verifies header, transitions system to Link-Up state</a:t>
            </a:r>
          </a:p>
          <a:p>
            <a:pPr lvl="1"/>
            <a:r>
              <a:rPr lang="en-US" sz="1200" i="1" dirty="0">
                <a:solidFill>
                  <a:srgbClr val="1E2761"/>
                </a:solidFill>
                <a:latin typeface="Times New Roman" panose="02020603050405020304" pitchFamily="18" charset="0"/>
                <a:cs typeface="Times New Roman" panose="02020603050405020304" pitchFamily="18" charset="0"/>
              </a:rPr>
              <a:t>Data Packets</a:t>
            </a:r>
            <a:r>
              <a:rPr lang="en-US" sz="1200" dirty="0">
                <a:solidFill>
                  <a:srgbClr val="1E2761"/>
                </a:solidFill>
                <a:latin typeface="Times New Roman" panose="02020603050405020304" pitchFamily="18" charset="0"/>
                <a:cs typeface="Times New Roman" panose="02020603050405020304" pitchFamily="18" charset="0"/>
              </a:rPr>
              <a:t> → splits each 16-bit payload word into 8-bit address + 8-bit data</a:t>
            </a:r>
          </a:p>
          <a:p>
            <a:pPr lvl="1"/>
            <a:endParaRPr lang="en-US" sz="1200" dirty="0">
              <a:solidFill>
                <a:srgbClr val="1E2761"/>
              </a:solidFill>
              <a:latin typeface="Times New Roman" panose="02020603050405020304" pitchFamily="18" charset="0"/>
              <a:cs typeface="Times New Roman" panose="02020603050405020304" pitchFamily="18" charset="0"/>
            </a:endParaRPr>
          </a:p>
          <a:p>
            <a:pPr lvl="0"/>
            <a:r>
              <a:rPr lang="en-US" sz="1200" b="1" dirty="0">
                <a:solidFill>
                  <a:srgbClr val="1E2761"/>
                </a:solidFill>
                <a:latin typeface="Times New Roman" panose="02020603050405020304" pitchFamily="18" charset="0"/>
                <a:cs typeface="Times New Roman" panose="02020603050405020304" pitchFamily="18" charset="0"/>
              </a:rPr>
              <a:t>Error handling:</a:t>
            </a:r>
            <a:r>
              <a:rPr lang="en-US" sz="1200" dirty="0">
                <a:solidFill>
                  <a:srgbClr val="1E2761"/>
                </a:solidFill>
                <a:latin typeface="Times New Roman" panose="02020603050405020304" pitchFamily="18" charset="0"/>
                <a:cs typeface="Times New Roman" panose="02020603050405020304" pitchFamily="18" charset="0"/>
              </a:rPr>
              <a:t> Any validation error → Control Unit generates a status packet, sent back to the remote transmitter</a:t>
            </a:r>
          </a:p>
          <a:p>
            <a:endParaRPr lang="en-US" sz="1200" dirty="0">
              <a:solidFill>
                <a:srgbClr val="1E276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06F55F5-E0A8-D5AA-1A5D-99A1F896E7CD}"/>
              </a:ext>
            </a:extLst>
          </p:cNvPr>
          <p:cNvPicPr>
            <a:picLocks noChangeAspect="1"/>
          </p:cNvPicPr>
          <p:nvPr/>
        </p:nvPicPr>
        <p:blipFill>
          <a:blip r:embed="rId4"/>
          <a:stretch>
            <a:fillRect/>
          </a:stretch>
        </p:blipFill>
        <p:spPr>
          <a:xfrm>
            <a:off x="5295630" y="860643"/>
            <a:ext cx="4095293" cy="4191315"/>
          </a:xfrm>
          <a:prstGeom prst="rect">
            <a:avLst/>
          </a:prstGeom>
          <a:noFill/>
        </p:spPr>
      </p:pic>
    </p:spTree>
    <p:extLst>
      <p:ext uri="{BB962C8B-B14F-4D97-AF65-F5344CB8AC3E}">
        <p14:creationId xmlns:p14="http://schemas.microsoft.com/office/powerpoint/2010/main" val="22281699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3A9C22B9-177D-86F1-FC83-649A07D3B810}"/>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3CA71480-5336-ECD5-C82F-73E40689D2BA}"/>
              </a:ext>
            </a:extLst>
          </p:cNvPr>
          <p:cNvSpPr txBox="1"/>
          <p:nvPr/>
        </p:nvSpPr>
        <p:spPr>
          <a:xfrm>
            <a:off x="237668" y="121684"/>
            <a:ext cx="6361930"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Control Unit FSM</a:t>
            </a:r>
          </a:p>
        </p:txBody>
      </p:sp>
      <p:pic>
        <p:nvPicPr>
          <p:cNvPr id="13" name="Image 1" descr="preencoded.png">
            <a:extLst>
              <a:ext uri="{FF2B5EF4-FFF2-40B4-BE49-F238E27FC236}">
                <a16:creationId xmlns:a16="http://schemas.microsoft.com/office/drawing/2014/main" id="{6858C535-E043-B021-89BD-7293CF98270C}"/>
              </a:ext>
            </a:extLst>
          </p:cNvPr>
          <p:cNvPicPr>
            <a:picLocks noChangeAspect="1"/>
          </p:cNvPicPr>
          <p:nvPr/>
        </p:nvPicPr>
        <p:blipFill>
          <a:blip r:embed="rId2">
            <a:lum bright="70000" contrast="-70000"/>
            <a:extLst>
              <a:ext uri="{BEBA8EAE-BF5A-486C-A8C5-ECC9F3942E4B}">
                <a14:imgProps xmlns:a14="http://schemas.microsoft.com/office/drawing/2010/main">
                  <a14:imgLayer r:embed="rId3">
                    <a14:imgEffect>
                      <a14:saturation sat="33000"/>
                    </a14:imgEffect>
                  </a14:imgLayer>
                </a14:imgProps>
              </a:ext>
            </a:extLst>
          </a:blip>
          <a:stretch>
            <a:fillRect/>
          </a:stretch>
        </p:blipFill>
        <p:spPr>
          <a:xfrm>
            <a:off x="1976094" y="4352884"/>
            <a:ext cx="169214" cy="135359"/>
          </a:xfrm>
          <a:prstGeom prst="rect">
            <a:avLst/>
          </a:prstGeom>
        </p:spPr>
      </p:pic>
      <p:graphicFrame>
        <p:nvGraphicFramePr>
          <p:cNvPr id="2" name="Diagram 1">
            <a:extLst>
              <a:ext uri="{FF2B5EF4-FFF2-40B4-BE49-F238E27FC236}">
                <a16:creationId xmlns:a16="http://schemas.microsoft.com/office/drawing/2014/main" id="{B66D2369-A34B-4FC2-296F-EA9F6EBE0E2D}"/>
              </a:ext>
            </a:extLst>
          </p:cNvPr>
          <p:cNvGraphicFramePr/>
          <p:nvPr>
            <p:extLst>
              <p:ext uri="{D42A27DB-BD31-4B8C-83A1-F6EECF244321}">
                <p14:modId xmlns:p14="http://schemas.microsoft.com/office/powerpoint/2010/main" val="816797068"/>
              </p:ext>
            </p:extLst>
          </p:nvPr>
        </p:nvGraphicFramePr>
        <p:xfrm>
          <a:off x="361335" y="846259"/>
          <a:ext cx="5287298" cy="404651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a:extLst>
              <a:ext uri="{FF2B5EF4-FFF2-40B4-BE49-F238E27FC236}">
                <a16:creationId xmlns:a16="http://schemas.microsoft.com/office/drawing/2014/main" id="{2E8AE4B4-3319-62DB-FA33-75767CF5C9AE}"/>
              </a:ext>
            </a:extLst>
          </p:cNvPr>
          <p:cNvPicPr>
            <a:picLocks noChangeAspect="1"/>
          </p:cNvPicPr>
          <p:nvPr/>
        </p:nvPicPr>
        <p:blipFill>
          <a:blip r:embed="rId9"/>
          <a:stretch>
            <a:fillRect/>
          </a:stretch>
        </p:blipFill>
        <p:spPr>
          <a:xfrm>
            <a:off x="6075343" y="441724"/>
            <a:ext cx="2500975" cy="4531178"/>
          </a:xfrm>
          <a:prstGeom prst="rect">
            <a:avLst/>
          </a:prstGeom>
        </p:spPr>
      </p:pic>
    </p:spTree>
    <p:extLst>
      <p:ext uri="{BB962C8B-B14F-4D97-AF65-F5344CB8AC3E}">
        <p14:creationId xmlns:p14="http://schemas.microsoft.com/office/powerpoint/2010/main" val="30627708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 0"/>
          <p:cNvSpPr txBox="1"/>
          <p:nvPr/>
        </p:nvSpPr>
        <p:spPr>
          <a:xfrm>
            <a:off x="411480" y="342900"/>
            <a:ext cx="7886700" cy="4800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Encryption &amp; Parity </a:t>
            </a:r>
            <a:endParaRPr kumimoji="0" lang="en-US" sz="2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377469" y="1100255"/>
            <a:ext cx="3938053" cy="3315628"/>
          </a:xfrm>
          <a:prstGeom prst="roundRect">
            <a:avLst>
              <a:gd name="adj" fmla="val 2326"/>
            </a:avLst>
          </a:prstGeom>
          <a:solidFill>
            <a:srgbClr val="FFFFFF"/>
          </a:solidFill>
          <a:ln/>
          <a:effectLst>
            <a:outerShdw blurRad="101600" dist="38100" dir="5400000" algn="bl" rotWithShape="0">
              <a:srgbClr val="9AA5C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txBox="1"/>
          <p:nvPr/>
        </p:nvSpPr>
        <p:spPr>
          <a:xfrm>
            <a:off x="612666" y="1192437"/>
            <a:ext cx="3291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1E2761"/>
                </a:solidFill>
                <a:effectLst/>
                <a:uLnTx/>
                <a:uFillTx/>
                <a:latin typeface="Cambria" pitchFamily="34" charset="0"/>
                <a:ea typeface="Cambria" pitchFamily="34" charset="-122"/>
                <a:cs typeface="Cambria" pitchFamily="34" charset="-120"/>
              </a:rPr>
              <a:t>Encryption</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txBox="1"/>
          <p:nvPr/>
        </p:nvSpPr>
        <p:spPr>
          <a:xfrm>
            <a:off x="612666" y="2005965"/>
            <a:ext cx="3291840" cy="1851660"/>
          </a:xfrm>
          <a:prstGeom prst="rect">
            <a:avLst/>
          </a:prstGeom>
          <a:noFill/>
          <a:ln/>
        </p:spPr>
        <p:txBody>
          <a:bodyPr wrap="square" lIns="0" tIns="0" rIns="0" bIns="0" rtlCol="0" anchor="ctr"/>
          <a:lstStyle/>
          <a:p>
            <a:pPr marL="257175" lvl="0" indent="-257175">
              <a:lnSpc>
                <a:spcPct val="115000"/>
              </a:lnSpc>
              <a:spcAft>
                <a:spcPts val="900"/>
              </a:spcAft>
              <a:buSzPct val="100000"/>
              <a:buFontTx/>
              <a:buChar char="•"/>
            </a:pPr>
            <a:r>
              <a:rPr lang="en-US" sz="1200" dirty="0">
                <a:solidFill>
                  <a:srgbClr val="1E2761"/>
                </a:solidFill>
                <a:latin typeface="Times New Roman" panose="02020603050405020304" pitchFamily="18" charset="0"/>
                <a:cs typeface="Times New Roman" panose="02020603050405020304" pitchFamily="18" charset="0"/>
              </a:rPr>
              <a:t>Even Mode Each input bit is expanded by appending 0 example for mapping: </a:t>
            </a:r>
          </a:p>
          <a:p>
            <a:pPr lvl="0">
              <a:lnSpc>
                <a:spcPct val="115000"/>
              </a:lnSpc>
              <a:spcAft>
                <a:spcPts val="900"/>
              </a:spcAft>
              <a:buSzPct val="100000"/>
            </a:pPr>
            <a:r>
              <a:rPr lang="en-US" sz="1200" dirty="0">
                <a:solidFill>
                  <a:srgbClr val="1E2761"/>
                </a:solidFill>
                <a:latin typeface="Times New Roman" panose="02020603050405020304" pitchFamily="18" charset="0"/>
                <a:cs typeface="Times New Roman" panose="02020603050405020304" pitchFamily="18" charset="0"/>
              </a:rPr>
              <a:t>       0 → 00 1 → 10 </a:t>
            </a:r>
          </a:p>
          <a:p>
            <a:pPr marL="257175" lvl="0" indent="-257175">
              <a:lnSpc>
                <a:spcPct val="115000"/>
              </a:lnSpc>
              <a:spcAft>
                <a:spcPts val="900"/>
              </a:spcAft>
              <a:buSzPct val="100000"/>
              <a:buFontTx/>
              <a:buChar char="•"/>
            </a:pPr>
            <a:r>
              <a:rPr lang="en-US" sz="1200" dirty="0">
                <a:solidFill>
                  <a:srgbClr val="1E2761"/>
                </a:solidFill>
                <a:latin typeface="Times New Roman" panose="02020603050405020304" pitchFamily="18" charset="0"/>
                <a:cs typeface="Times New Roman" panose="02020603050405020304" pitchFamily="18" charset="0"/>
              </a:rPr>
              <a:t>Odd Mode Each input bit is expanded by appending 1 example for mapping: </a:t>
            </a:r>
          </a:p>
          <a:p>
            <a:pPr lvl="0">
              <a:lnSpc>
                <a:spcPct val="115000"/>
              </a:lnSpc>
              <a:spcAft>
                <a:spcPts val="900"/>
              </a:spcAft>
              <a:buSzPct val="100000"/>
            </a:pPr>
            <a:r>
              <a:rPr lang="en-US" sz="1200" dirty="0">
                <a:solidFill>
                  <a:srgbClr val="1E2761"/>
                </a:solidFill>
                <a:latin typeface="Times New Roman" panose="02020603050405020304" pitchFamily="18" charset="0"/>
                <a:cs typeface="Times New Roman" panose="02020603050405020304" pitchFamily="18" charset="0"/>
              </a:rPr>
              <a:t>       0 → 01   1 → 11 </a:t>
            </a:r>
          </a:p>
          <a:p>
            <a:pPr marL="257175" lvl="0" indent="-257175">
              <a:lnSpc>
                <a:spcPct val="115000"/>
              </a:lnSpc>
              <a:spcAft>
                <a:spcPts val="900"/>
              </a:spcAft>
              <a:buSzPct val="100000"/>
              <a:buFontTx/>
              <a:buChar char="•"/>
            </a:pPr>
            <a:r>
              <a:rPr lang="en-US" sz="1200" dirty="0">
                <a:solidFill>
                  <a:srgbClr val="1E2761"/>
                </a:solidFill>
                <a:latin typeface="Times New Roman" panose="02020603050405020304" pitchFamily="18" charset="0"/>
                <a:cs typeface="Times New Roman" panose="02020603050405020304" pitchFamily="18" charset="0"/>
              </a:rPr>
              <a:t>Special Case If the number of logic '0' bits equals the number of logic '1' bits, or if both counts are even, the block overrides the selected mode and applies the special mapping:</a:t>
            </a:r>
          </a:p>
          <a:p>
            <a:pPr lvl="0">
              <a:lnSpc>
                <a:spcPct val="115000"/>
              </a:lnSpc>
              <a:spcAft>
                <a:spcPts val="900"/>
              </a:spcAft>
              <a:buSzPct val="100000"/>
            </a:pPr>
            <a:r>
              <a:rPr lang="en-US" sz="1200" dirty="0">
                <a:solidFill>
                  <a:srgbClr val="1E2761"/>
                </a:solidFill>
                <a:latin typeface="Times New Roman" panose="02020603050405020304" pitchFamily="18" charset="0"/>
                <a:cs typeface="Times New Roman" panose="02020603050405020304" pitchFamily="18" charset="0"/>
              </a:rPr>
              <a:t>       0 → 01 1 → 10</a:t>
            </a:r>
            <a:endParaRPr kumimoji="0" lang="en-US" sz="1100" b="0" i="0" u="none" strike="noStrike" kern="1200" cap="none" spc="0" normalizeH="0" baseline="0" noProof="0" dirty="0">
              <a:ln>
                <a:noFill/>
              </a:ln>
              <a:solidFill>
                <a:srgbClr val="1E2761"/>
              </a:solidFill>
              <a:effectLst/>
              <a:uLnTx/>
              <a:uFillTx/>
              <a:latin typeface="Times New Roman" panose="02020603050405020304" pitchFamily="18" charset="0"/>
              <a:cs typeface="Times New Roman" panose="02020603050405020304" pitchFamily="18" charset="0"/>
            </a:endParaRPr>
          </a:p>
        </p:txBody>
      </p:sp>
      <p:sp>
        <p:nvSpPr>
          <p:cNvPr id="8" name="Shape 6"/>
          <p:cNvSpPr/>
          <p:nvPr/>
        </p:nvSpPr>
        <p:spPr>
          <a:xfrm>
            <a:off x="4828480" y="1100255"/>
            <a:ext cx="3938053" cy="3315628"/>
          </a:xfrm>
          <a:prstGeom prst="roundRect">
            <a:avLst>
              <a:gd name="adj" fmla="val 2326"/>
            </a:avLst>
          </a:prstGeom>
          <a:solidFill>
            <a:srgbClr val="1E27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txBox="1"/>
          <p:nvPr/>
        </p:nvSpPr>
        <p:spPr>
          <a:xfrm>
            <a:off x="5006340" y="1305067"/>
            <a:ext cx="3291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Parity</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txBox="1"/>
          <p:nvPr/>
        </p:nvSpPr>
        <p:spPr>
          <a:xfrm>
            <a:off x="5006340" y="1579387"/>
            <a:ext cx="3291840" cy="1469916"/>
          </a:xfrm>
          <a:prstGeom prst="rect">
            <a:avLst/>
          </a:prstGeom>
          <a:noFill/>
          <a:ln/>
        </p:spPr>
        <p:txBody>
          <a:bodyPr wrap="square" lIns="0" tIns="0" rIns="0" bIns="0" rtlCol="0" anchor="ctr"/>
          <a:lstStyle/>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The parity bit is generated according to the parity mode stored in the Register File, which specifies either Even Parity or Odd Parity.</a:t>
            </a:r>
          </a:p>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 When a valid encrypted payload is received, the block immediately computes the parity bit and appends it to the encrypted data </a:t>
            </a:r>
            <a:endParaRPr kumimoji="0" lang="en-US" sz="1100" b="0"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02115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0" grpId="0" animBg="1"/>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6CF94A2-584C-5583-3CCC-50F9FB33928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C983069-0B2C-E3FC-7E93-7B28A4F5B9E1}"/>
              </a:ext>
            </a:extLst>
          </p:cNvPr>
          <p:cNvSpPr txBox="1"/>
          <p:nvPr/>
        </p:nvSpPr>
        <p:spPr>
          <a:xfrm>
            <a:off x="411480" y="342900"/>
            <a:ext cx="7886700" cy="480060"/>
          </a:xfrm>
          <a:prstGeom prst="rect">
            <a:avLst/>
          </a:prstGeom>
          <a:noFill/>
          <a:ln/>
        </p:spPr>
        <p:txBody>
          <a:bodyPr wrap="square" lIns="0" tIns="0" rIns="0" bIns="0" rtlCol="0" anchor="ctr"/>
          <a:lstStyle/>
          <a:p>
            <a:pPr marL="114300" lvl="0">
              <a:lnSpc>
                <a:spcPct val="90000"/>
              </a:lnSpc>
              <a:spcAft>
                <a:spcPts val="600"/>
              </a:spcAft>
            </a:pPr>
            <a:r>
              <a:rPr lang="en-US" sz="2250" b="1" dirty="0">
                <a:solidFill>
                  <a:srgbClr val="1E2761"/>
                </a:solidFill>
                <a:latin typeface="Times New Roman" panose="02020603050405020304" pitchFamily="18" charset="0"/>
                <a:cs typeface="Times New Roman" panose="02020603050405020304" pitchFamily="18" charset="0"/>
              </a:rPr>
              <a:t>ATU &amp; Central Data Memory (CDM)</a:t>
            </a:r>
          </a:p>
        </p:txBody>
      </p:sp>
      <p:sp>
        <p:nvSpPr>
          <p:cNvPr id="4" name="Shape 2">
            <a:extLst>
              <a:ext uri="{FF2B5EF4-FFF2-40B4-BE49-F238E27FC236}">
                <a16:creationId xmlns:a16="http://schemas.microsoft.com/office/drawing/2014/main" id="{5A92DFBC-3690-BF17-4BB0-AD7433C3559D}"/>
              </a:ext>
            </a:extLst>
          </p:cNvPr>
          <p:cNvSpPr/>
          <p:nvPr/>
        </p:nvSpPr>
        <p:spPr>
          <a:xfrm>
            <a:off x="4771049" y="1100255"/>
            <a:ext cx="3938053" cy="3315628"/>
          </a:xfrm>
          <a:prstGeom prst="roundRect">
            <a:avLst>
              <a:gd name="adj" fmla="val 2326"/>
            </a:avLst>
          </a:prstGeom>
          <a:solidFill>
            <a:srgbClr val="FFFFFF"/>
          </a:solidFill>
          <a:ln/>
          <a:effectLst>
            <a:outerShdw blurRad="101600" dist="38100" dir="5400000" algn="bl" rotWithShape="0">
              <a:srgbClr val="9AA5C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529373E4-3B36-AF85-2E08-0CA9B530B4F8}"/>
              </a:ext>
            </a:extLst>
          </p:cNvPr>
          <p:cNvSpPr txBox="1"/>
          <p:nvPr/>
        </p:nvSpPr>
        <p:spPr>
          <a:xfrm>
            <a:off x="5006246" y="1192437"/>
            <a:ext cx="3291840" cy="274320"/>
          </a:xfrm>
          <a:prstGeom prst="rect">
            <a:avLst/>
          </a:prstGeom>
          <a:noFill/>
          <a:ln/>
        </p:spPr>
        <p:txBody>
          <a:bodyPr wrap="square" lIns="0" tIns="0" rIns="0" bIns="0" rtlCol="0" anchor="ctr"/>
          <a:lstStyle/>
          <a:p>
            <a:pPr lvl="0">
              <a:defRPr/>
            </a:pPr>
            <a:r>
              <a:rPr lang="en-US" sz="1350" b="1" dirty="0">
                <a:solidFill>
                  <a:srgbClr val="1E2761"/>
                </a:solidFill>
                <a:latin typeface="Cambria" pitchFamily="34" charset="0"/>
                <a:ea typeface="Cambria" pitchFamily="34" charset="-122"/>
                <a:cs typeface="Cambria" pitchFamily="34" charset="-120"/>
              </a:rPr>
              <a:t>Central Data Memory (CDM)</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E9E2CF0A-4A35-201E-006D-0DEFC344E651}"/>
              </a:ext>
            </a:extLst>
          </p:cNvPr>
          <p:cNvSpPr txBox="1"/>
          <p:nvPr/>
        </p:nvSpPr>
        <p:spPr>
          <a:xfrm>
            <a:off x="4914900" y="1558939"/>
            <a:ext cx="3291840" cy="2802046"/>
          </a:xfrm>
          <a:prstGeom prst="rect">
            <a:avLst/>
          </a:prstGeom>
          <a:noFill/>
          <a:ln/>
        </p:spPr>
        <p:txBody>
          <a:bodyPr wrap="square" lIns="0" tIns="0" rIns="0" bIns="0" rtlCol="0" anchor="ctr"/>
          <a:lstStyle/>
          <a:p>
            <a:pPr marL="257175" lvl="0" indent="-257175">
              <a:lnSpc>
                <a:spcPct val="115000"/>
              </a:lnSpc>
              <a:spcAft>
                <a:spcPts val="900"/>
              </a:spcAft>
              <a:buSzPct val="100000"/>
              <a:buFontTx/>
              <a:buChar char="•"/>
            </a:pPr>
            <a:r>
              <a:rPr lang="en-US" sz="1200" dirty="0">
                <a:solidFill>
                  <a:srgbClr val="1E2761"/>
                </a:solidFill>
                <a:latin typeface="Times New Roman" panose="02020603050405020304" pitchFamily="18" charset="0"/>
                <a:cs typeface="Times New Roman" panose="02020603050405020304" pitchFamily="18" charset="0"/>
              </a:rPr>
              <a:t>Configuration Region: Stores the configuration packet beginning at address 0x0000 ,0x0001, including the  encryption mode, parity mode, number of devices, base </a:t>
            </a:r>
            <a:r>
              <a:rPr lang="en-US" sz="1200" dirty="0" err="1">
                <a:solidFill>
                  <a:srgbClr val="1E2761"/>
                </a:solidFill>
                <a:latin typeface="Times New Roman" panose="02020603050405020304" pitchFamily="18" charset="0"/>
                <a:cs typeface="Times New Roman" panose="02020603050405020304" pitchFamily="18" charset="0"/>
              </a:rPr>
              <a:t>address,and</a:t>
            </a:r>
            <a:r>
              <a:rPr lang="en-US" sz="1200" dirty="0">
                <a:solidFill>
                  <a:srgbClr val="1E2761"/>
                </a:solidFill>
                <a:latin typeface="Times New Roman" panose="02020603050405020304" pitchFamily="18" charset="0"/>
                <a:cs typeface="Times New Roman" panose="02020603050405020304" pitchFamily="18" charset="0"/>
              </a:rPr>
              <a:t> device memory-region information.  </a:t>
            </a:r>
          </a:p>
          <a:p>
            <a:pPr marL="257175" lvl="0" indent="-257175">
              <a:lnSpc>
                <a:spcPct val="115000"/>
              </a:lnSpc>
              <a:spcAft>
                <a:spcPts val="900"/>
              </a:spcAft>
              <a:buSzPct val="100000"/>
              <a:buFontTx/>
              <a:buChar char="•"/>
            </a:pPr>
            <a:r>
              <a:rPr lang="en-US" sz="1200" dirty="0">
                <a:solidFill>
                  <a:srgbClr val="1E2761"/>
                </a:solidFill>
                <a:latin typeface="Times New Roman" panose="02020603050405020304" pitchFamily="18" charset="0"/>
                <a:cs typeface="Times New Roman" panose="02020603050405020304" pitchFamily="18" charset="0"/>
              </a:rPr>
              <a:t> Payload Region: Stores payload data belonging to each configured device The physical address is generated by the ATU based on the logical address contained in the data packet.</a:t>
            </a:r>
          </a:p>
          <a:p>
            <a:pPr marL="257175" lvl="0" indent="-257175">
              <a:lnSpc>
                <a:spcPct val="115000"/>
              </a:lnSpc>
              <a:spcAft>
                <a:spcPts val="900"/>
              </a:spcAft>
              <a:buSzPct val="100000"/>
              <a:buFontTx/>
              <a:buChar char="•"/>
            </a:pPr>
            <a:r>
              <a:rPr kumimoji="0" lang="en-US" sz="1200" b="0" i="0" u="none" strike="noStrike" kern="1200" cap="none" spc="0" normalizeH="0" baseline="0" noProof="0" dirty="0">
                <a:ln>
                  <a:noFill/>
                </a:ln>
                <a:solidFill>
                  <a:srgbClr val="1E2761"/>
                </a:solidFill>
                <a:effectLst/>
                <a:uLnTx/>
                <a:uFillTx/>
                <a:latin typeface="Times New Roman" panose="02020603050405020304" pitchFamily="18" charset="0"/>
                <a:cs typeface="Times New Roman" panose="02020603050405020304" pitchFamily="18" charset="0"/>
              </a:rPr>
              <a:t>Allow read operation for application</a:t>
            </a:r>
            <a:r>
              <a:rPr kumimoji="0" lang="en-US" sz="1200" b="0" i="0" u="none" strike="noStrike" kern="1200" cap="none" spc="0" normalizeH="0" noProof="0" dirty="0">
                <a:ln>
                  <a:noFill/>
                </a:ln>
                <a:solidFill>
                  <a:srgbClr val="1E2761"/>
                </a:solidFill>
                <a:effectLst/>
                <a:uLnTx/>
                <a:uFillTx/>
                <a:latin typeface="Times New Roman" panose="02020603050405020304" pitchFamily="18" charset="0"/>
                <a:cs typeface="Times New Roman" panose="02020603050405020304" pitchFamily="18" charset="0"/>
              </a:rPr>
              <a:t> devices </a:t>
            </a:r>
          </a:p>
          <a:p>
            <a:pPr marL="257175" lvl="0" indent="-257175">
              <a:lnSpc>
                <a:spcPct val="115000"/>
              </a:lnSpc>
              <a:spcAft>
                <a:spcPts val="900"/>
              </a:spcAft>
              <a:buSzPct val="100000"/>
              <a:buFontTx/>
              <a:buChar char="•"/>
            </a:pPr>
            <a:r>
              <a:rPr lang="en-US" sz="1200" dirty="0">
                <a:solidFill>
                  <a:srgbClr val="1E2761"/>
                </a:solidFill>
                <a:latin typeface="Times New Roman" panose="02020603050405020304" pitchFamily="18" charset="0"/>
                <a:cs typeface="Times New Roman" panose="02020603050405020304" pitchFamily="18" charset="0"/>
              </a:rPr>
              <a:t>Allow read operation for control unit to access configuration data stored</a:t>
            </a:r>
            <a:endParaRPr lang="en-US" sz="1100" dirty="0">
              <a:solidFill>
                <a:srgbClr val="1E2761"/>
              </a:solidFill>
              <a:latin typeface="Times New Roman" panose="02020603050405020304" pitchFamily="18" charset="0"/>
              <a:cs typeface="Times New Roman" panose="02020603050405020304" pitchFamily="18" charset="0"/>
            </a:endParaRPr>
          </a:p>
        </p:txBody>
      </p:sp>
      <p:sp>
        <p:nvSpPr>
          <p:cNvPr id="8" name="Shape 6">
            <a:extLst>
              <a:ext uri="{FF2B5EF4-FFF2-40B4-BE49-F238E27FC236}">
                <a16:creationId xmlns:a16="http://schemas.microsoft.com/office/drawing/2014/main" id="{76CF46FA-2B62-3F35-ABBF-2A6ECEF1EF85}"/>
              </a:ext>
            </a:extLst>
          </p:cNvPr>
          <p:cNvSpPr/>
          <p:nvPr/>
        </p:nvSpPr>
        <p:spPr>
          <a:xfrm>
            <a:off x="434899" y="1103416"/>
            <a:ext cx="3938053" cy="3312467"/>
          </a:xfrm>
          <a:prstGeom prst="roundRect">
            <a:avLst>
              <a:gd name="adj" fmla="val 2326"/>
            </a:avLst>
          </a:prstGeom>
          <a:solidFill>
            <a:srgbClr val="1E27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9E96F1EF-DD3E-D0A6-2482-0E1722077CBB}"/>
              </a:ext>
            </a:extLst>
          </p:cNvPr>
          <p:cNvSpPr txBox="1"/>
          <p:nvPr/>
        </p:nvSpPr>
        <p:spPr>
          <a:xfrm>
            <a:off x="612761" y="1213626"/>
            <a:ext cx="3291840" cy="274320"/>
          </a:xfrm>
          <a:prstGeom prst="rect">
            <a:avLst/>
          </a:prstGeom>
          <a:noFill/>
          <a:ln/>
        </p:spPr>
        <p:txBody>
          <a:bodyPr wrap="square" lIns="0" tIns="0" rIns="0" bIns="0" rtlCol="0" anchor="ctr"/>
          <a:lstStyle/>
          <a:p>
            <a:pPr lvl="0">
              <a:defRPr/>
            </a:pPr>
            <a:r>
              <a:rPr lang="en-US" sz="1350" b="1" dirty="0">
                <a:solidFill>
                  <a:srgbClr val="FFFFFF"/>
                </a:solidFill>
                <a:latin typeface="Cambria" pitchFamily="34" charset="0"/>
                <a:ea typeface="Cambria" pitchFamily="34" charset="-122"/>
                <a:cs typeface="Cambria" pitchFamily="34" charset="-120"/>
              </a:rPr>
              <a:t>ATU</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02C62F54-D701-8B16-F0F1-7B28585C50D5}"/>
              </a:ext>
            </a:extLst>
          </p:cNvPr>
          <p:cNvSpPr txBox="1"/>
          <p:nvPr/>
        </p:nvSpPr>
        <p:spPr>
          <a:xfrm>
            <a:off x="612761" y="1414705"/>
            <a:ext cx="3607548" cy="2314089"/>
          </a:xfrm>
          <a:prstGeom prst="rect">
            <a:avLst/>
          </a:prstGeom>
          <a:noFill/>
          <a:ln/>
        </p:spPr>
        <p:txBody>
          <a:bodyPr wrap="square" lIns="0" tIns="0" rIns="0" bIns="0" rtlCol="0" anchor="ctr"/>
          <a:lstStyle/>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Converts the logical address received from the data packet into a physical CDM address using the following formula :</a:t>
            </a:r>
          </a:p>
          <a:p>
            <a:pPr lvl="0">
              <a:spcAft>
                <a:spcPts val="900"/>
              </a:spcAft>
              <a:buSzPct val="100000"/>
            </a:pPr>
            <a:r>
              <a:rPr lang="en-US" sz="1200" dirty="0">
                <a:solidFill>
                  <a:schemeClr val="bg1"/>
                </a:solidFill>
                <a:latin typeface="Times New Roman" panose="02020603050405020304" pitchFamily="18" charset="0"/>
                <a:cs typeface="Times New Roman" panose="02020603050405020304" pitchFamily="18" charset="0"/>
              </a:rPr>
              <a:t>      Physical Address = Logical Address – Base Address +      	               Start Address + 2</a:t>
            </a:r>
          </a:p>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Supports configurable address translation mode with send the Base address with configuration packet. </a:t>
            </a:r>
          </a:p>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The translated address is used to access the corresponding device memory region.</a:t>
            </a:r>
          </a:p>
        </p:txBody>
      </p:sp>
    </p:spTree>
    <p:extLst>
      <p:ext uri="{BB962C8B-B14F-4D97-AF65-F5344CB8AC3E}">
        <p14:creationId xmlns:p14="http://schemas.microsoft.com/office/powerpoint/2010/main" val="18878370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1000"/>
                                        <p:tgtEl>
                                          <p:spTgt spid="8"/>
                                        </p:tgtEl>
                                      </p:cBhvr>
                                    </p:animEffect>
                                    <p:anim calcmode="lin" valueType="num">
                                      <p:cBhvr>
                                        <p:cTn id="30" dur="1000" fill="hold"/>
                                        <p:tgtEl>
                                          <p:spTgt spid="8"/>
                                        </p:tgtEl>
                                        <p:attrNameLst>
                                          <p:attrName>ppt_x</p:attrName>
                                        </p:attrNameLst>
                                      </p:cBhvr>
                                      <p:tavLst>
                                        <p:tav tm="0">
                                          <p:val>
                                            <p:strVal val="#ppt_x"/>
                                          </p:val>
                                        </p:tav>
                                        <p:tav tm="100000">
                                          <p:val>
                                            <p:strVal val="#ppt_x"/>
                                          </p:val>
                                        </p:tav>
                                      </p:tavLst>
                                    </p:anim>
                                    <p:anim calcmode="lin" valueType="num">
                                      <p:cBhvr>
                                        <p:cTn id="31" dur="1000" fill="hold"/>
                                        <p:tgtEl>
                                          <p:spTgt spid="8"/>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1000"/>
                                        <p:tgtEl>
                                          <p:spTgt spid="11"/>
                                        </p:tgtEl>
                                      </p:cBhvr>
                                    </p:animEffect>
                                    <p:anim calcmode="lin" valueType="num">
                                      <p:cBhvr>
                                        <p:cTn id="40" dur="1000" fill="hold"/>
                                        <p:tgtEl>
                                          <p:spTgt spid="11"/>
                                        </p:tgtEl>
                                        <p:attrNameLst>
                                          <p:attrName>ppt_x</p:attrName>
                                        </p:attrNameLst>
                                      </p:cBhvr>
                                      <p:tavLst>
                                        <p:tav tm="0">
                                          <p:val>
                                            <p:strVal val="#ppt_x"/>
                                          </p:val>
                                        </p:tav>
                                        <p:tav tm="100000">
                                          <p:val>
                                            <p:strVal val="#ppt_x"/>
                                          </p:val>
                                        </p:tav>
                                      </p:tavLst>
                                    </p:anim>
                                    <p:anim calcmode="lin" valueType="num">
                                      <p:cBhvr>
                                        <p:cTn id="4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225154D7-B63F-9460-DA80-864F8985D31B}"/>
            </a:ext>
          </a:extLst>
        </p:cNvPr>
        <p:cNvGrpSpPr/>
        <p:nvPr/>
      </p:nvGrpSpPr>
      <p:grpSpPr>
        <a:xfrm>
          <a:off x="0" y="0"/>
          <a:ext cx="0" cy="0"/>
          <a:chOff x="0" y="0"/>
          <a:chExt cx="0" cy="0"/>
        </a:xfrm>
      </p:grpSpPr>
      <p:sp>
        <p:nvSpPr>
          <p:cNvPr id="5" name="Text 1"/>
          <p:cNvSpPr txBox="1"/>
          <p:nvPr/>
        </p:nvSpPr>
        <p:spPr>
          <a:xfrm>
            <a:off x="622609" y="129726"/>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rPr>
              <a:t>3</a:t>
            </a:r>
            <a:endParaRPr lang="en-US" sz="11000" dirty="0"/>
          </a:p>
        </p:txBody>
      </p:sp>
      <p:sp>
        <p:nvSpPr>
          <p:cNvPr id="6" name="Shape 2"/>
          <p:cNvSpPr/>
          <p:nvPr/>
        </p:nvSpPr>
        <p:spPr>
          <a:xfrm>
            <a:off x="295879" y="1758393"/>
            <a:ext cx="1554480" cy="45720"/>
          </a:xfrm>
          <a:prstGeom prst="rect">
            <a:avLst/>
          </a:prstGeom>
          <a:solidFill>
            <a:srgbClr val="00C2A8"/>
          </a:solidFill>
          <a:ln/>
        </p:spPr>
        <p:txBody>
          <a:bodyPr/>
          <a:lstStyle/>
          <a:p>
            <a:endParaRPr lang="en-US"/>
          </a:p>
        </p:txBody>
      </p:sp>
      <p:sp>
        <p:nvSpPr>
          <p:cNvPr id="9" name="Text 3">
            <a:extLst>
              <a:ext uri="{FF2B5EF4-FFF2-40B4-BE49-F238E27FC236}">
                <a16:creationId xmlns:a16="http://schemas.microsoft.com/office/drawing/2014/main" id="{7BB4A26E-715E-8202-A86A-9D643B92B22E}"/>
              </a:ext>
            </a:extLst>
          </p:cNvPr>
          <p:cNvSpPr txBox="1"/>
          <p:nvPr/>
        </p:nvSpPr>
        <p:spPr>
          <a:xfrm>
            <a:off x="295879" y="1948376"/>
            <a:ext cx="4820227" cy="2242007"/>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Clock Domain Crossing (CDC) Strategy</a:t>
            </a:r>
          </a:p>
          <a:p>
            <a:pPr marL="0" indent="0">
              <a:lnSpc>
                <a:spcPct val="100000"/>
              </a:lnSpc>
              <a:buNone/>
            </a:pPr>
            <a:endParaRPr lang="en-US" sz="4000" b="1" dirty="0">
              <a:solidFill>
                <a:srgbClr val="FFFFFF"/>
              </a:solidFill>
              <a:latin typeface="Cambria" pitchFamily="34" charset="0"/>
              <a:ea typeface="Cambria" pitchFamily="34" charset="-122"/>
              <a:cs typeface="Cambria" pitchFamily="34" charset="-120"/>
            </a:endParaRPr>
          </a:p>
        </p:txBody>
      </p:sp>
      <p:pic>
        <p:nvPicPr>
          <p:cNvPr id="11" name="Picture 10">
            <a:extLst>
              <a:ext uri="{FF2B5EF4-FFF2-40B4-BE49-F238E27FC236}">
                <a16:creationId xmlns:a16="http://schemas.microsoft.com/office/drawing/2014/main" id="{9066B848-D561-9697-8AD2-9A0B5556BB02}"/>
              </a:ext>
            </a:extLst>
          </p:cNvPr>
          <p:cNvPicPr>
            <a:picLocks noChangeAspect="1"/>
          </p:cNvPicPr>
          <p:nvPr/>
        </p:nvPicPr>
        <p:blipFill>
          <a:blip r:embed="rId2"/>
          <a:stretch>
            <a:fillRect/>
          </a:stretch>
        </p:blipFill>
        <p:spPr>
          <a:xfrm>
            <a:off x="4996703" y="1116558"/>
            <a:ext cx="3524688" cy="300688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839858931"/>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27ED2A2B-5652-0E74-EB4B-4FE754635E4F}"/>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053644FA-B535-59B6-FC38-E61AF334AE51}"/>
              </a:ext>
            </a:extLst>
          </p:cNvPr>
          <p:cNvSpPr txBox="1"/>
          <p:nvPr/>
        </p:nvSpPr>
        <p:spPr>
          <a:xfrm>
            <a:off x="169499" y="249044"/>
            <a:ext cx="8740808"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Clock Domain Crossing (CDC) </a:t>
            </a:r>
          </a:p>
        </p:txBody>
      </p:sp>
      <p:pic>
        <p:nvPicPr>
          <p:cNvPr id="3" name="Image 1" descr="preencoded.png">
            <a:extLst>
              <a:ext uri="{FF2B5EF4-FFF2-40B4-BE49-F238E27FC236}">
                <a16:creationId xmlns:a16="http://schemas.microsoft.com/office/drawing/2014/main" id="{0E31D092-5C9F-B770-B981-D09EC96E07C0}"/>
              </a:ext>
            </a:extLst>
          </p:cNvPr>
          <p:cNvPicPr>
            <a:picLocks noChangeAspect="1"/>
          </p:cNvPicPr>
          <p:nvPr/>
        </p:nvPicPr>
        <p:blipFill>
          <a:blip>
            <a:duotone>
              <a:schemeClr val="accent6">
                <a:shade val="45000"/>
                <a:satMod val="135000"/>
              </a:schemeClr>
              <a:prstClr val="white"/>
            </a:duotone>
            <a:extLst>
              <a:ext uri="{96DAC541-7B7A-43D3-8B79-37D633B846F1}">
                <asvg:svgBlip xmlns:asvg="http://schemas.microsoft.com/office/drawing/2016/SVG/main" r:embed="rId2"/>
              </a:ext>
            </a:extLst>
          </a:blip>
          <a:stretch>
            <a:fillRect/>
          </a:stretch>
        </p:blipFill>
        <p:spPr>
          <a:xfrm>
            <a:off x="496107" y="1054001"/>
            <a:ext cx="3807640" cy="1281931"/>
          </a:xfrm>
          <a:prstGeom prst="rect">
            <a:avLst/>
          </a:prstGeom>
        </p:spPr>
      </p:pic>
      <p:sp>
        <p:nvSpPr>
          <p:cNvPr id="4" name="Text 1">
            <a:extLst>
              <a:ext uri="{FF2B5EF4-FFF2-40B4-BE49-F238E27FC236}">
                <a16:creationId xmlns:a16="http://schemas.microsoft.com/office/drawing/2014/main" id="{9D1DAAC5-C3FD-EC2A-A319-80A237A37BBA}"/>
              </a:ext>
            </a:extLst>
          </p:cNvPr>
          <p:cNvSpPr/>
          <p:nvPr/>
        </p:nvSpPr>
        <p:spPr>
          <a:xfrm>
            <a:off x="648224" y="1550392"/>
            <a:ext cx="209321" cy="261640"/>
          </a:xfrm>
          <a:prstGeom prst="rect">
            <a:avLst/>
          </a:prstGeom>
          <a:noFill/>
          <a:ln/>
        </p:spPr>
        <p:txBody>
          <a:bodyPr wrap="none" lIns="0" tIns="0" rIns="0" bIns="0" rtlCol="0" anchor="ctr"/>
          <a:lstStyle/>
          <a:p>
            <a:pPr algn="ctr" defTabSz="685800"/>
            <a:r>
              <a:rPr lang="en-US" sz="1613" dirty="0">
                <a:solidFill>
                  <a:srgbClr val="3C3939"/>
                </a:solidFill>
                <a:latin typeface="Raleway" pitchFamily="34" charset="0"/>
                <a:ea typeface="Raleway" pitchFamily="34" charset="-122"/>
                <a:cs typeface="Raleway" pitchFamily="34" charset="-120"/>
              </a:rPr>
              <a:t>1</a:t>
            </a:r>
            <a:endParaRPr lang="en-US" sz="1613" dirty="0">
              <a:solidFill>
                <a:prstClr val="black"/>
              </a:solidFill>
              <a:latin typeface="Calibri" panose="020F0502020204030204"/>
            </a:endParaRPr>
          </a:p>
        </p:txBody>
      </p:sp>
      <p:sp>
        <p:nvSpPr>
          <p:cNvPr id="5" name="Text 2">
            <a:extLst>
              <a:ext uri="{FF2B5EF4-FFF2-40B4-BE49-F238E27FC236}">
                <a16:creationId xmlns:a16="http://schemas.microsoft.com/office/drawing/2014/main" id="{FC0F9E37-D1A6-C842-3A0A-28871B58A229}"/>
              </a:ext>
            </a:extLst>
          </p:cNvPr>
          <p:cNvSpPr/>
          <p:nvPr/>
        </p:nvSpPr>
        <p:spPr>
          <a:xfrm>
            <a:off x="1006633" y="1135635"/>
            <a:ext cx="3044072" cy="163040"/>
          </a:xfrm>
          <a:prstGeom prst="rect">
            <a:avLst/>
          </a:prstGeom>
          <a:noFill/>
          <a:ln/>
        </p:spPr>
        <p:txBody>
          <a:bodyPr wrap="none" lIns="0" tIns="0" rIns="0" bIns="0" rtlCol="0" anchor="t"/>
          <a:lstStyle/>
          <a:p>
            <a:pPr defTabSz="685800">
              <a:lnSpc>
                <a:spcPct val="104000"/>
              </a:lnSpc>
            </a:pPr>
            <a:r>
              <a:rPr lang="en-US" sz="1350" b="1" dirty="0">
                <a:solidFill>
                  <a:srgbClr val="3C3939"/>
                </a:solidFill>
                <a:latin typeface="Raleway" pitchFamily="34" charset="0"/>
                <a:ea typeface="Raleway" pitchFamily="34" charset="-122"/>
                <a:cs typeface="Raleway" pitchFamily="34" charset="-120"/>
              </a:rPr>
              <a:t>Objective</a:t>
            </a:r>
            <a:endParaRPr lang="en-US" sz="1350" b="1" dirty="0">
              <a:solidFill>
                <a:prstClr val="black"/>
              </a:solidFill>
              <a:latin typeface="Calibri" panose="020F0502020204030204"/>
            </a:endParaRPr>
          </a:p>
        </p:txBody>
      </p:sp>
      <p:sp>
        <p:nvSpPr>
          <p:cNvPr id="6" name="Text 3">
            <a:extLst>
              <a:ext uri="{FF2B5EF4-FFF2-40B4-BE49-F238E27FC236}">
                <a16:creationId xmlns:a16="http://schemas.microsoft.com/office/drawing/2014/main" id="{FBA35BFB-9923-52E1-06FA-D0F58A4FB486}"/>
              </a:ext>
            </a:extLst>
          </p:cNvPr>
          <p:cNvSpPr/>
          <p:nvPr/>
        </p:nvSpPr>
        <p:spPr>
          <a:xfrm>
            <a:off x="1009661" y="1377297"/>
            <a:ext cx="3181029" cy="926593"/>
          </a:xfrm>
          <a:prstGeom prst="rect">
            <a:avLst/>
          </a:prstGeom>
          <a:noFill/>
          <a:ln/>
        </p:spPr>
        <p:txBody>
          <a:bodyPr wrap="square" lIns="0" tIns="0" rIns="0" bIns="0" rtlCol="0" anchor="t">
            <a:noAutofit/>
          </a:bodyPr>
          <a:lstStyle/>
          <a:p>
            <a:pPr defTabSz="685800">
              <a:lnSpc>
                <a:spcPct val="132000"/>
              </a:lnSpc>
            </a:pPr>
            <a:r>
              <a:rPr lang="en-US" sz="900" dirty="0">
                <a:solidFill>
                  <a:srgbClr val="3C3939"/>
                </a:solidFill>
                <a:latin typeface="Roboto" pitchFamily="34" charset="0"/>
                <a:ea typeface="Roboto" pitchFamily="34" charset="-122"/>
                <a:cs typeface="Roboto" pitchFamily="34" charset="-120"/>
              </a:rPr>
              <a:t>Direct transfer between asynchronous clock domains can cause:</a:t>
            </a:r>
          </a:p>
          <a:p>
            <a:pPr marL="171450" indent="-171450" defTabSz="685800">
              <a:lnSpc>
                <a:spcPct val="132000"/>
              </a:lnSpc>
              <a:buFont typeface="Arial" panose="020B0604020202020204" pitchFamily="34" charset="0"/>
              <a:buChar char="•"/>
            </a:pPr>
            <a:r>
              <a:rPr lang="en-US" sz="900" dirty="0">
                <a:solidFill>
                  <a:srgbClr val="3C3939"/>
                </a:solidFill>
                <a:latin typeface="Roboto" pitchFamily="34" charset="0"/>
                <a:ea typeface="Roboto" pitchFamily="34" charset="-122"/>
                <a:cs typeface="Roboto" pitchFamily="34" charset="-120"/>
              </a:rPr>
              <a:t>Metastability</a:t>
            </a:r>
          </a:p>
          <a:p>
            <a:pPr marL="171450" indent="-171450" defTabSz="685800">
              <a:lnSpc>
                <a:spcPct val="132000"/>
              </a:lnSpc>
              <a:buFont typeface="Arial" panose="020B0604020202020204" pitchFamily="34" charset="0"/>
              <a:buChar char="•"/>
            </a:pPr>
            <a:r>
              <a:rPr lang="en-US" sz="900" dirty="0">
                <a:solidFill>
                  <a:srgbClr val="3C3939"/>
                </a:solidFill>
                <a:latin typeface="Roboto" pitchFamily="34" charset="0"/>
                <a:ea typeface="Roboto" pitchFamily="34" charset="-122"/>
                <a:cs typeface="Roboto" pitchFamily="34" charset="-120"/>
              </a:rPr>
              <a:t>Data corruption</a:t>
            </a:r>
          </a:p>
          <a:p>
            <a:pPr marL="171450" indent="-171450" defTabSz="685800">
              <a:lnSpc>
                <a:spcPct val="132000"/>
              </a:lnSpc>
              <a:buFont typeface="Arial" panose="020B0604020202020204" pitchFamily="34" charset="0"/>
              <a:buChar char="•"/>
            </a:pPr>
            <a:r>
              <a:rPr lang="en-US" sz="900" dirty="0">
                <a:solidFill>
                  <a:srgbClr val="3C3939"/>
                </a:solidFill>
                <a:latin typeface="Roboto" pitchFamily="34" charset="0"/>
                <a:ea typeface="Roboto" pitchFamily="34" charset="-122"/>
                <a:cs typeface="Roboto" pitchFamily="34" charset="-120"/>
              </a:rPr>
              <a:t>Incorrect pulse detection</a:t>
            </a:r>
          </a:p>
        </p:txBody>
      </p:sp>
      <p:pic>
        <p:nvPicPr>
          <p:cNvPr id="7" name="Image 2" descr="preencoded.png">
            <a:extLst>
              <a:ext uri="{FF2B5EF4-FFF2-40B4-BE49-F238E27FC236}">
                <a16:creationId xmlns:a16="http://schemas.microsoft.com/office/drawing/2014/main" id="{0D71940E-DE06-2A7E-AFD7-8BD26D28A4DF}"/>
              </a:ext>
            </a:extLst>
          </p:cNvPr>
          <p:cNvPicPr>
            <a:picLocks noChangeAspect="1"/>
          </p:cNvPicPr>
          <p:nvPr/>
        </p:nvPicPr>
        <p:blipFill>
          <a:blip>
            <a:duotone>
              <a:schemeClr val="accent6">
                <a:shade val="45000"/>
                <a:satMod val="135000"/>
              </a:schemeClr>
              <a:prstClr val="white"/>
            </a:duotone>
            <a:extLst>
              <a:ext uri="{96DAC541-7B7A-43D3-8B79-37D633B846F1}">
                <asvg:svgBlip xmlns:asvg="http://schemas.microsoft.com/office/drawing/2016/SVG/main" r:embed="rId3"/>
              </a:ext>
            </a:extLst>
          </a:blip>
          <a:stretch>
            <a:fillRect/>
          </a:stretch>
        </p:blipFill>
        <p:spPr>
          <a:xfrm>
            <a:off x="496107" y="2473300"/>
            <a:ext cx="3807640" cy="1060475"/>
          </a:xfrm>
          <a:prstGeom prst="rect">
            <a:avLst/>
          </a:prstGeom>
        </p:spPr>
      </p:pic>
      <p:sp>
        <p:nvSpPr>
          <p:cNvPr id="8" name="Text 4">
            <a:extLst>
              <a:ext uri="{FF2B5EF4-FFF2-40B4-BE49-F238E27FC236}">
                <a16:creationId xmlns:a16="http://schemas.microsoft.com/office/drawing/2014/main" id="{74009598-5A0E-3F61-85C3-4165BB175A91}"/>
              </a:ext>
            </a:extLst>
          </p:cNvPr>
          <p:cNvSpPr/>
          <p:nvPr/>
        </p:nvSpPr>
        <p:spPr>
          <a:xfrm>
            <a:off x="687197" y="2872681"/>
            <a:ext cx="209321" cy="261640"/>
          </a:xfrm>
          <a:prstGeom prst="rect">
            <a:avLst/>
          </a:prstGeom>
          <a:noFill/>
          <a:ln/>
        </p:spPr>
        <p:txBody>
          <a:bodyPr wrap="none" lIns="0" tIns="0" rIns="0" bIns="0" rtlCol="0" anchor="ctr"/>
          <a:lstStyle/>
          <a:p>
            <a:pPr algn="ctr" defTabSz="685800"/>
            <a:r>
              <a:rPr lang="en-US" sz="1613" dirty="0">
                <a:solidFill>
                  <a:srgbClr val="3C3939"/>
                </a:solidFill>
                <a:latin typeface="Raleway" pitchFamily="34" charset="0"/>
                <a:ea typeface="Raleway" pitchFamily="34" charset="-122"/>
                <a:cs typeface="Raleway" pitchFamily="34" charset="-120"/>
              </a:rPr>
              <a:t>2</a:t>
            </a:r>
            <a:endParaRPr lang="en-US" sz="1613" dirty="0">
              <a:solidFill>
                <a:prstClr val="black"/>
              </a:solidFill>
              <a:latin typeface="Calibri" panose="020F0502020204030204"/>
            </a:endParaRPr>
          </a:p>
        </p:txBody>
      </p:sp>
      <p:sp>
        <p:nvSpPr>
          <p:cNvPr id="9" name="Text 5">
            <a:extLst>
              <a:ext uri="{FF2B5EF4-FFF2-40B4-BE49-F238E27FC236}">
                <a16:creationId xmlns:a16="http://schemas.microsoft.com/office/drawing/2014/main" id="{1E95F19A-0C79-B8B2-F6F0-A9C4623B1128}"/>
              </a:ext>
            </a:extLst>
          </p:cNvPr>
          <p:cNvSpPr/>
          <p:nvPr/>
        </p:nvSpPr>
        <p:spPr>
          <a:xfrm>
            <a:off x="990763" y="2532671"/>
            <a:ext cx="3849492" cy="218033"/>
          </a:xfrm>
          <a:prstGeom prst="rect">
            <a:avLst/>
          </a:prstGeom>
          <a:noFill/>
          <a:ln/>
        </p:spPr>
        <p:txBody>
          <a:bodyPr wrap="none" lIns="0" tIns="0" rIns="0" bIns="0" rtlCol="0" anchor="t"/>
          <a:lstStyle/>
          <a:p>
            <a:pPr defTabSz="685800">
              <a:lnSpc>
                <a:spcPct val="104000"/>
              </a:lnSpc>
            </a:pPr>
            <a:r>
              <a:rPr lang="en-US" sz="1350" b="1" dirty="0">
                <a:solidFill>
                  <a:srgbClr val="3C3939"/>
                </a:solidFill>
                <a:latin typeface="Raleway" pitchFamily="34" charset="0"/>
                <a:ea typeface="Raleway" pitchFamily="34" charset="-122"/>
                <a:cs typeface="Raleway" pitchFamily="34" charset="-120"/>
              </a:rPr>
              <a:t>Clock Domains</a:t>
            </a:r>
            <a:endParaRPr lang="en-US" sz="1350" b="1" dirty="0">
              <a:solidFill>
                <a:prstClr val="black"/>
              </a:solidFill>
              <a:latin typeface="Calibri" panose="020F0502020204030204"/>
            </a:endParaRPr>
          </a:p>
        </p:txBody>
      </p:sp>
      <p:sp>
        <p:nvSpPr>
          <p:cNvPr id="10" name="Text 6">
            <a:extLst>
              <a:ext uri="{FF2B5EF4-FFF2-40B4-BE49-F238E27FC236}">
                <a16:creationId xmlns:a16="http://schemas.microsoft.com/office/drawing/2014/main" id="{CA8FC12E-691A-5A9A-8C5F-82AE9B43358B}"/>
              </a:ext>
            </a:extLst>
          </p:cNvPr>
          <p:cNvSpPr/>
          <p:nvPr/>
        </p:nvSpPr>
        <p:spPr>
          <a:xfrm>
            <a:off x="1006633" y="2786881"/>
            <a:ext cx="3044072" cy="577255"/>
          </a:xfrm>
          <a:prstGeom prst="rect">
            <a:avLst/>
          </a:prstGeom>
          <a:noFill/>
          <a:ln/>
        </p:spPr>
        <p:txBody>
          <a:bodyPr wrap="square" lIns="0" tIns="0" rIns="0" bIns="0" rtlCol="0" anchor="t">
            <a:noAutofit/>
          </a:bodyPr>
          <a:lstStyle/>
          <a:p>
            <a:pPr defTabSz="685800">
              <a:lnSpc>
                <a:spcPct val="132000"/>
              </a:lnSpc>
            </a:pPr>
            <a:r>
              <a:rPr lang="en-US" sz="900" dirty="0">
                <a:solidFill>
                  <a:srgbClr val="3C3939"/>
                </a:solidFill>
                <a:latin typeface="Roboto" pitchFamily="34" charset="0"/>
                <a:ea typeface="Roboto" pitchFamily="34" charset="-122"/>
                <a:cs typeface="Roboto" pitchFamily="34" charset="-120"/>
              </a:rPr>
              <a:t>The design operates using two independent clock domains:</a:t>
            </a:r>
          </a:p>
          <a:p>
            <a:pPr defTabSz="685800">
              <a:lnSpc>
                <a:spcPct val="132000"/>
              </a:lnSpc>
            </a:pPr>
            <a:r>
              <a:rPr lang="en-US" sz="900" dirty="0">
                <a:solidFill>
                  <a:srgbClr val="3C3939"/>
                </a:solidFill>
                <a:latin typeface="Roboto" pitchFamily="34" charset="0"/>
                <a:ea typeface="Roboto" pitchFamily="34" charset="-122"/>
                <a:cs typeface="Roboto" pitchFamily="34" charset="-120"/>
              </a:rPr>
              <a:t>CXS Clock Domain: 37 MHz</a:t>
            </a:r>
          </a:p>
          <a:p>
            <a:pPr defTabSz="685800">
              <a:lnSpc>
                <a:spcPct val="132000"/>
              </a:lnSpc>
            </a:pPr>
            <a:r>
              <a:rPr lang="en-US" sz="900" dirty="0">
                <a:solidFill>
                  <a:srgbClr val="3C3939"/>
                </a:solidFill>
                <a:latin typeface="Roboto" pitchFamily="34" charset="0"/>
                <a:ea typeface="Roboto" pitchFamily="34" charset="-122"/>
                <a:cs typeface="Roboto" pitchFamily="34" charset="-120"/>
              </a:rPr>
              <a:t>System Clock Domain: 25 MHz</a:t>
            </a:r>
          </a:p>
        </p:txBody>
      </p:sp>
      <p:pic>
        <p:nvPicPr>
          <p:cNvPr id="11" name="Image 3" descr="preencoded.png">
            <a:extLst>
              <a:ext uri="{FF2B5EF4-FFF2-40B4-BE49-F238E27FC236}">
                <a16:creationId xmlns:a16="http://schemas.microsoft.com/office/drawing/2014/main" id="{3C4FD6AB-FB10-2EBB-0137-45664586B1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07" y="3671143"/>
            <a:ext cx="3807640" cy="1336955"/>
          </a:xfrm>
          <a:prstGeom prst="rect">
            <a:avLst/>
          </a:prstGeom>
        </p:spPr>
      </p:pic>
      <p:sp>
        <p:nvSpPr>
          <p:cNvPr id="12" name="Text 7">
            <a:extLst>
              <a:ext uri="{FF2B5EF4-FFF2-40B4-BE49-F238E27FC236}">
                <a16:creationId xmlns:a16="http://schemas.microsoft.com/office/drawing/2014/main" id="{C6DAA1FD-86C5-4710-2A87-73CC069A20DE}"/>
              </a:ext>
            </a:extLst>
          </p:cNvPr>
          <p:cNvSpPr/>
          <p:nvPr/>
        </p:nvSpPr>
        <p:spPr>
          <a:xfrm>
            <a:off x="687196" y="4201344"/>
            <a:ext cx="209321" cy="261640"/>
          </a:xfrm>
          <a:prstGeom prst="rect">
            <a:avLst/>
          </a:prstGeom>
          <a:noFill/>
          <a:ln/>
        </p:spPr>
        <p:txBody>
          <a:bodyPr wrap="none" lIns="0" tIns="0" rIns="0" bIns="0" rtlCol="0" anchor="ctr"/>
          <a:lstStyle/>
          <a:p>
            <a:pPr algn="ctr" defTabSz="685800"/>
            <a:r>
              <a:rPr lang="en-US" sz="1613" dirty="0">
                <a:solidFill>
                  <a:srgbClr val="3C3939"/>
                </a:solidFill>
                <a:latin typeface="Raleway" pitchFamily="34" charset="0"/>
                <a:ea typeface="Raleway" pitchFamily="34" charset="-122"/>
                <a:cs typeface="Raleway" pitchFamily="34" charset="-120"/>
              </a:rPr>
              <a:t>3</a:t>
            </a:r>
            <a:endParaRPr lang="en-US" sz="1613" dirty="0">
              <a:solidFill>
                <a:prstClr val="black"/>
              </a:solidFill>
              <a:latin typeface="Calibri" panose="020F0502020204030204"/>
            </a:endParaRPr>
          </a:p>
        </p:txBody>
      </p:sp>
      <p:sp>
        <p:nvSpPr>
          <p:cNvPr id="13" name="Text 8">
            <a:extLst>
              <a:ext uri="{FF2B5EF4-FFF2-40B4-BE49-F238E27FC236}">
                <a16:creationId xmlns:a16="http://schemas.microsoft.com/office/drawing/2014/main" id="{C14FE231-71BA-E5E5-B646-9ACCE4CAD8A3}"/>
              </a:ext>
            </a:extLst>
          </p:cNvPr>
          <p:cNvSpPr/>
          <p:nvPr/>
        </p:nvSpPr>
        <p:spPr>
          <a:xfrm>
            <a:off x="990763" y="3743497"/>
            <a:ext cx="3849492" cy="218033"/>
          </a:xfrm>
          <a:prstGeom prst="rect">
            <a:avLst/>
          </a:prstGeom>
          <a:noFill/>
          <a:ln/>
        </p:spPr>
        <p:txBody>
          <a:bodyPr wrap="none" lIns="0" tIns="0" rIns="0" bIns="0" rtlCol="0" anchor="t"/>
          <a:lstStyle/>
          <a:p>
            <a:pPr defTabSz="685800">
              <a:lnSpc>
                <a:spcPct val="104000"/>
              </a:lnSpc>
            </a:pPr>
            <a:r>
              <a:rPr lang="en-US" sz="1350" b="1" dirty="0">
                <a:solidFill>
                  <a:srgbClr val="3C3939"/>
                </a:solidFill>
                <a:latin typeface="Raleway" pitchFamily="34" charset="0"/>
                <a:ea typeface="Raleway" pitchFamily="34" charset="-122"/>
                <a:cs typeface="Raleway" pitchFamily="34" charset="-120"/>
              </a:rPr>
              <a:t>Solutions </a:t>
            </a:r>
            <a:endParaRPr lang="en-US" sz="1350" b="1" dirty="0">
              <a:solidFill>
                <a:prstClr val="black"/>
              </a:solidFill>
              <a:latin typeface="Calibri" panose="020F0502020204030204"/>
            </a:endParaRPr>
          </a:p>
        </p:txBody>
      </p:sp>
      <p:sp>
        <p:nvSpPr>
          <p:cNvPr id="14" name="Text 9">
            <a:extLst>
              <a:ext uri="{FF2B5EF4-FFF2-40B4-BE49-F238E27FC236}">
                <a16:creationId xmlns:a16="http://schemas.microsoft.com/office/drawing/2014/main" id="{4B00B9B4-8374-6A9A-7EEF-DF8C6D9A6818}"/>
              </a:ext>
            </a:extLst>
          </p:cNvPr>
          <p:cNvSpPr/>
          <p:nvPr/>
        </p:nvSpPr>
        <p:spPr>
          <a:xfrm>
            <a:off x="1041622" y="3960501"/>
            <a:ext cx="2974093" cy="933955"/>
          </a:xfrm>
          <a:prstGeom prst="rect">
            <a:avLst/>
          </a:prstGeom>
          <a:noFill/>
          <a:ln/>
        </p:spPr>
        <p:txBody>
          <a:bodyPr wrap="square" lIns="0" tIns="0" rIns="0" bIns="0" rtlCol="0" anchor="t">
            <a:noAutofit/>
          </a:bodyPr>
          <a:lstStyle/>
          <a:p>
            <a:pPr defTabSz="685800">
              <a:lnSpc>
                <a:spcPct val="132000"/>
              </a:lnSpc>
            </a:pPr>
            <a:r>
              <a:rPr lang="en-US" sz="900" dirty="0">
                <a:solidFill>
                  <a:srgbClr val="3C3939"/>
                </a:solidFill>
                <a:latin typeface="Roboto" pitchFamily="34" charset="0"/>
                <a:ea typeface="Roboto" pitchFamily="34" charset="-122"/>
                <a:cs typeface="Roboto" pitchFamily="34" charset="-120"/>
              </a:rPr>
              <a:t>Three CDC techniques are implemented:</a:t>
            </a:r>
          </a:p>
          <a:p>
            <a:pPr marL="171450" indent="-171450" defTabSz="685800">
              <a:lnSpc>
                <a:spcPct val="132000"/>
              </a:lnSpc>
              <a:buFont typeface="Arial" panose="020B0604020202020204" pitchFamily="34" charset="0"/>
              <a:buChar char="•"/>
            </a:pPr>
            <a:r>
              <a:rPr lang="en-US" sz="900" dirty="0">
                <a:solidFill>
                  <a:srgbClr val="3C3939"/>
                </a:solidFill>
                <a:latin typeface="Roboto" pitchFamily="34" charset="0"/>
                <a:ea typeface="Roboto" pitchFamily="34" charset="-122"/>
                <a:cs typeface="Roboto" pitchFamily="34" charset="-120"/>
              </a:rPr>
              <a:t>Asynchronous FIFO – CXS → System domain</a:t>
            </a:r>
          </a:p>
          <a:p>
            <a:pPr marL="171450" indent="-171450" defTabSz="685800">
              <a:lnSpc>
                <a:spcPct val="132000"/>
              </a:lnSpc>
              <a:buFont typeface="Arial" panose="020B0604020202020204" pitchFamily="34" charset="0"/>
              <a:buChar char="•"/>
            </a:pPr>
            <a:r>
              <a:rPr lang="en-US" sz="900" dirty="0">
                <a:solidFill>
                  <a:srgbClr val="3C3939"/>
                </a:solidFill>
                <a:latin typeface="Roboto" pitchFamily="34" charset="0"/>
                <a:ea typeface="Roboto" pitchFamily="34" charset="-122"/>
                <a:cs typeface="Roboto" pitchFamily="34" charset="-120"/>
              </a:rPr>
              <a:t>Data Synchronizer – System → CXS domain</a:t>
            </a:r>
          </a:p>
          <a:p>
            <a:pPr marL="171450" indent="-171450" defTabSz="685800">
              <a:lnSpc>
                <a:spcPct val="132000"/>
              </a:lnSpc>
              <a:buFont typeface="Arial" panose="020B0604020202020204" pitchFamily="34" charset="0"/>
              <a:buChar char="•"/>
            </a:pPr>
            <a:r>
              <a:rPr lang="en-US" sz="900" dirty="0">
                <a:solidFill>
                  <a:srgbClr val="3C3939"/>
                </a:solidFill>
                <a:latin typeface="Roboto" pitchFamily="34" charset="0"/>
                <a:ea typeface="Roboto" pitchFamily="34" charset="-122"/>
                <a:cs typeface="Roboto" pitchFamily="34" charset="-120"/>
              </a:rPr>
              <a:t>Reset Synchronizer – Generates synchronized resets for both domains</a:t>
            </a:r>
          </a:p>
        </p:txBody>
      </p:sp>
      <p:pic>
        <p:nvPicPr>
          <p:cNvPr id="16" name="Picture 15">
            <a:extLst>
              <a:ext uri="{FF2B5EF4-FFF2-40B4-BE49-F238E27FC236}">
                <a16:creationId xmlns:a16="http://schemas.microsoft.com/office/drawing/2014/main" id="{454F8998-4BDE-46F3-DC99-F5D408181FD1}"/>
              </a:ext>
            </a:extLst>
          </p:cNvPr>
          <p:cNvPicPr>
            <a:picLocks noChangeAspect="1"/>
          </p:cNvPicPr>
          <p:nvPr/>
        </p:nvPicPr>
        <p:blipFill>
          <a:blip r:embed="rId5"/>
          <a:srcRect b="14941"/>
          <a:stretch>
            <a:fillRect/>
          </a:stretch>
        </p:blipFill>
        <p:spPr>
          <a:xfrm>
            <a:off x="4539903" y="1059939"/>
            <a:ext cx="4266472" cy="3891202"/>
          </a:xfrm>
          <a:prstGeom prst="rect">
            <a:avLst/>
          </a:prstGeom>
        </p:spPr>
      </p:pic>
    </p:spTree>
    <p:extLst>
      <p:ext uri="{BB962C8B-B14F-4D97-AF65-F5344CB8AC3E}">
        <p14:creationId xmlns:p14="http://schemas.microsoft.com/office/powerpoint/2010/main" val="41043570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1000"/>
                                        <p:tgtEl>
                                          <p:spTgt spid="8"/>
                                        </p:tgtEl>
                                      </p:cBhvr>
                                    </p:animEffect>
                                    <p:anim calcmode="lin" valueType="num">
                                      <p:cBhvr>
                                        <p:cTn id="40" dur="1000" fill="hold"/>
                                        <p:tgtEl>
                                          <p:spTgt spid="8"/>
                                        </p:tgtEl>
                                        <p:attrNameLst>
                                          <p:attrName>ppt_x</p:attrName>
                                        </p:attrNameLst>
                                      </p:cBhvr>
                                      <p:tavLst>
                                        <p:tav tm="0">
                                          <p:val>
                                            <p:strVal val="#ppt_x"/>
                                          </p:val>
                                        </p:tav>
                                        <p:tav tm="100000">
                                          <p:val>
                                            <p:strVal val="#ppt_x"/>
                                          </p:val>
                                        </p:tav>
                                      </p:tavLst>
                                    </p:anim>
                                    <p:anim calcmode="lin" valueType="num">
                                      <p:cBhvr>
                                        <p:cTn id="41" dur="1000" fill="hold"/>
                                        <p:tgtEl>
                                          <p:spTgt spid="8"/>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1000"/>
                                        <p:tgtEl>
                                          <p:spTgt spid="9"/>
                                        </p:tgtEl>
                                      </p:cBhvr>
                                    </p:animEffect>
                                    <p:anim calcmode="lin" valueType="num">
                                      <p:cBhvr>
                                        <p:cTn id="45" dur="1000" fill="hold"/>
                                        <p:tgtEl>
                                          <p:spTgt spid="9"/>
                                        </p:tgtEl>
                                        <p:attrNameLst>
                                          <p:attrName>ppt_x</p:attrName>
                                        </p:attrNameLst>
                                      </p:cBhvr>
                                      <p:tavLst>
                                        <p:tav tm="0">
                                          <p:val>
                                            <p:strVal val="#ppt_x"/>
                                          </p:val>
                                        </p:tav>
                                        <p:tav tm="100000">
                                          <p:val>
                                            <p:strVal val="#ppt_x"/>
                                          </p:val>
                                        </p:tav>
                                      </p:tavLst>
                                    </p:anim>
                                    <p:anim calcmode="lin" valueType="num">
                                      <p:cBhvr>
                                        <p:cTn id="46" dur="1000" fill="hold"/>
                                        <p:tgtEl>
                                          <p:spTgt spid="9"/>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0"/>
                                        </p:tgtEl>
                                        <p:attrNameLst>
                                          <p:attrName>style.visibility</p:attrName>
                                        </p:attrNameLst>
                                      </p:cBhvr>
                                      <p:to>
                                        <p:strVal val="visible"/>
                                      </p:to>
                                    </p:set>
                                    <p:animEffect transition="in" filter="fade">
                                      <p:cBhvr>
                                        <p:cTn id="49" dur="1000"/>
                                        <p:tgtEl>
                                          <p:spTgt spid="10"/>
                                        </p:tgtEl>
                                      </p:cBhvr>
                                    </p:animEffect>
                                    <p:anim calcmode="lin" valueType="num">
                                      <p:cBhvr>
                                        <p:cTn id="50" dur="1000" fill="hold"/>
                                        <p:tgtEl>
                                          <p:spTgt spid="10"/>
                                        </p:tgtEl>
                                        <p:attrNameLst>
                                          <p:attrName>ppt_x</p:attrName>
                                        </p:attrNameLst>
                                      </p:cBhvr>
                                      <p:tavLst>
                                        <p:tav tm="0">
                                          <p:val>
                                            <p:strVal val="#ppt_x"/>
                                          </p:val>
                                        </p:tav>
                                        <p:tav tm="100000">
                                          <p:val>
                                            <p:strVal val="#ppt_x"/>
                                          </p:val>
                                        </p:tav>
                                      </p:tavLst>
                                    </p:anim>
                                    <p:anim calcmode="lin" valueType="num">
                                      <p:cBhvr>
                                        <p:cTn id="5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ppt_x</p:attrName>
                                        </p:attrNameLst>
                                      </p:cBhvr>
                                      <p:tavLst>
                                        <p:tav tm="0">
                                          <p:val>
                                            <p:strVal val="#ppt_x"/>
                                          </p:val>
                                        </p:tav>
                                        <p:tav tm="100000">
                                          <p:val>
                                            <p:strVal val="#ppt_x"/>
                                          </p:val>
                                        </p:tav>
                                      </p:tavLst>
                                    </p:anim>
                                    <p:anim calcmode="lin" valueType="num">
                                      <p:cBhvr>
                                        <p:cTn id="58" dur="1000" fill="hold"/>
                                        <p:tgtEl>
                                          <p:spTgt spid="11"/>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1000"/>
                                        <p:tgtEl>
                                          <p:spTgt spid="12"/>
                                        </p:tgtEl>
                                      </p:cBhvr>
                                    </p:animEffect>
                                    <p:anim calcmode="lin" valueType="num">
                                      <p:cBhvr>
                                        <p:cTn id="62" dur="1000" fill="hold"/>
                                        <p:tgtEl>
                                          <p:spTgt spid="12"/>
                                        </p:tgtEl>
                                        <p:attrNameLst>
                                          <p:attrName>ppt_x</p:attrName>
                                        </p:attrNameLst>
                                      </p:cBhvr>
                                      <p:tavLst>
                                        <p:tav tm="0">
                                          <p:val>
                                            <p:strVal val="#ppt_x"/>
                                          </p:val>
                                        </p:tav>
                                        <p:tav tm="100000">
                                          <p:val>
                                            <p:strVal val="#ppt_x"/>
                                          </p:val>
                                        </p:tav>
                                      </p:tavLst>
                                    </p:anim>
                                    <p:anim calcmode="lin" valueType="num">
                                      <p:cBhvr>
                                        <p:cTn id="63" dur="1000" fill="hold"/>
                                        <p:tgtEl>
                                          <p:spTgt spid="12"/>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3"/>
                                        </p:tgtEl>
                                        <p:attrNameLst>
                                          <p:attrName>style.visibility</p:attrName>
                                        </p:attrNameLst>
                                      </p:cBhvr>
                                      <p:to>
                                        <p:strVal val="visible"/>
                                      </p:to>
                                    </p:set>
                                    <p:animEffect transition="in" filter="fade">
                                      <p:cBhvr>
                                        <p:cTn id="66" dur="1000"/>
                                        <p:tgtEl>
                                          <p:spTgt spid="13"/>
                                        </p:tgtEl>
                                      </p:cBhvr>
                                    </p:animEffect>
                                    <p:anim calcmode="lin" valueType="num">
                                      <p:cBhvr>
                                        <p:cTn id="67" dur="1000" fill="hold"/>
                                        <p:tgtEl>
                                          <p:spTgt spid="13"/>
                                        </p:tgtEl>
                                        <p:attrNameLst>
                                          <p:attrName>ppt_x</p:attrName>
                                        </p:attrNameLst>
                                      </p:cBhvr>
                                      <p:tavLst>
                                        <p:tav tm="0">
                                          <p:val>
                                            <p:strVal val="#ppt_x"/>
                                          </p:val>
                                        </p:tav>
                                        <p:tav tm="100000">
                                          <p:val>
                                            <p:strVal val="#ppt_x"/>
                                          </p:val>
                                        </p:tav>
                                      </p:tavLst>
                                    </p:anim>
                                    <p:anim calcmode="lin" valueType="num">
                                      <p:cBhvr>
                                        <p:cTn id="68" dur="1000" fill="hold"/>
                                        <p:tgtEl>
                                          <p:spTgt spid="13"/>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4"/>
                                        </p:tgtEl>
                                        <p:attrNameLst>
                                          <p:attrName>style.visibility</p:attrName>
                                        </p:attrNameLst>
                                      </p:cBhvr>
                                      <p:to>
                                        <p:strVal val="visible"/>
                                      </p:to>
                                    </p:set>
                                    <p:animEffect transition="in" filter="fade">
                                      <p:cBhvr>
                                        <p:cTn id="71" dur="1000"/>
                                        <p:tgtEl>
                                          <p:spTgt spid="14"/>
                                        </p:tgtEl>
                                      </p:cBhvr>
                                    </p:animEffect>
                                    <p:anim calcmode="lin" valueType="num">
                                      <p:cBhvr>
                                        <p:cTn id="72" dur="1000" fill="hold"/>
                                        <p:tgtEl>
                                          <p:spTgt spid="14"/>
                                        </p:tgtEl>
                                        <p:attrNameLst>
                                          <p:attrName>ppt_x</p:attrName>
                                        </p:attrNameLst>
                                      </p:cBhvr>
                                      <p:tavLst>
                                        <p:tav tm="0">
                                          <p:val>
                                            <p:strVal val="#ppt_x"/>
                                          </p:val>
                                        </p:tav>
                                        <p:tav tm="100000">
                                          <p:val>
                                            <p:strVal val="#ppt_x"/>
                                          </p:val>
                                        </p:tav>
                                      </p:tavLst>
                                    </p:anim>
                                    <p:anim calcmode="lin" valueType="num">
                                      <p:cBhvr>
                                        <p:cTn id="7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 grpId="0" animBg="1"/>
      <p:bldP spid="5" grpId="0" animBg="1"/>
      <p:bldP spid="6" grpId="0" animBg="1"/>
      <p:bldP spid="8" grpId="0" animBg="1"/>
      <p:bldP spid="9" grpId="0" animBg="1"/>
      <p:bldP spid="10" grpId="0" animBg="1"/>
      <p:bldP spid="12"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7D6FF43F-AFA3-C856-5D36-0BC8AD18A9D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8ABB019-F604-4177-25D1-1A0FE59EE0EA}"/>
              </a:ext>
            </a:extLst>
          </p:cNvPr>
          <p:cNvSpPr txBox="1"/>
          <p:nvPr/>
        </p:nvSpPr>
        <p:spPr>
          <a:xfrm>
            <a:off x="473931" y="715870"/>
            <a:ext cx="7886700" cy="480060"/>
          </a:xfrm>
          <a:prstGeom prst="rect">
            <a:avLst/>
          </a:prstGeom>
          <a:noFill/>
          <a:ln/>
        </p:spPr>
        <p:txBody>
          <a:bodyPr wrap="square" lIns="0" tIns="0" rIns="0" bIns="0" rtlCol="0" anchor="ctr"/>
          <a:lstStyle/>
          <a:p>
            <a:endParaRPr lang="en-US" sz="2400" b="1" dirty="0">
              <a:solidFill>
                <a:srgbClr val="FFFFFF"/>
              </a:solidFill>
              <a:latin typeface="Cambria" pitchFamily="34" charset="0"/>
              <a:ea typeface="Cambria" pitchFamily="34" charset="-122"/>
              <a:cs typeface="Cambria" pitchFamily="34" charset="-120"/>
            </a:endParaRPr>
          </a:p>
        </p:txBody>
      </p:sp>
      <p:graphicFrame>
        <p:nvGraphicFramePr>
          <p:cNvPr id="16" name="Diagram 15">
            <a:extLst>
              <a:ext uri="{FF2B5EF4-FFF2-40B4-BE49-F238E27FC236}">
                <a16:creationId xmlns:a16="http://schemas.microsoft.com/office/drawing/2014/main" id="{744541DB-980E-F157-4E2D-C726A38767B9}"/>
              </a:ext>
            </a:extLst>
          </p:cNvPr>
          <p:cNvGraphicFramePr/>
          <p:nvPr>
            <p:extLst>
              <p:ext uri="{D42A27DB-BD31-4B8C-83A1-F6EECF244321}">
                <p14:modId xmlns:p14="http://schemas.microsoft.com/office/powerpoint/2010/main" val="932773819"/>
              </p:ext>
            </p:extLst>
          </p:nvPr>
        </p:nvGraphicFramePr>
        <p:xfrm>
          <a:off x="432464" y="1053625"/>
          <a:ext cx="8473857" cy="30362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 0">
            <a:extLst>
              <a:ext uri="{FF2B5EF4-FFF2-40B4-BE49-F238E27FC236}">
                <a16:creationId xmlns:a16="http://schemas.microsoft.com/office/drawing/2014/main" id="{FD9B04EE-5669-91EA-5581-7DA61B5E836A}"/>
              </a:ext>
            </a:extLst>
          </p:cNvPr>
          <p:cNvSpPr txBox="1"/>
          <p:nvPr/>
        </p:nvSpPr>
        <p:spPr>
          <a:xfrm>
            <a:off x="473931" y="248119"/>
            <a:ext cx="8740808"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CDC solutions</a:t>
            </a:r>
          </a:p>
        </p:txBody>
      </p:sp>
    </p:spTree>
    <p:extLst>
      <p:ext uri="{BB962C8B-B14F-4D97-AF65-F5344CB8AC3E}">
        <p14:creationId xmlns:p14="http://schemas.microsoft.com/office/powerpoint/2010/main" val="115052137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left)">
                                      <p:cBhvr>
                                        <p:cTn id="12" dur="500"/>
                                        <p:tgtEl>
                                          <p:spTgt spid="16"/>
                                        </p:tgtEl>
                                      </p:cBhvr>
                                    </p:animEffect>
                                  </p:childTnLst>
                                </p:cTn>
                              </p:par>
                              <p:par>
                                <p:cTn id="13" presetID="22" presetClass="entr" presetSubtype="8"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Graphic spid="16" grpId="0">
        <p:bldAsOne/>
      </p:bldGraphic>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B812224C-18B2-2BD7-7991-2F959B9ACB0D}"/>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E4D72287-A49E-B3B3-9298-F3684D0C2E37}"/>
              </a:ext>
            </a:extLst>
          </p:cNvPr>
          <p:cNvSpPr txBox="1"/>
          <p:nvPr/>
        </p:nvSpPr>
        <p:spPr>
          <a:xfrm>
            <a:off x="622609" y="129726"/>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cs typeface="Cambria" pitchFamily="34" charset="-120"/>
              </a:rPr>
              <a:t>4</a:t>
            </a:r>
            <a:endParaRPr lang="en-US" sz="11000" dirty="0"/>
          </a:p>
        </p:txBody>
      </p:sp>
      <p:sp>
        <p:nvSpPr>
          <p:cNvPr id="6" name="Shape 2">
            <a:extLst>
              <a:ext uri="{FF2B5EF4-FFF2-40B4-BE49-F238E27FC236}">
                <a16:creationId xmlns:a16="http://schemas.microsoft.com/office/drawing/2014/main" id="{9A746051-04B6-C780-0927-DC9E4F73BA10}"/>
              </a:ext>
            </a:extLst>
          </p:cNvPr>
          <p:cNvSpPr/>
          <p:nvPr/>
        </p:nvSpPr>
        <p:spPr>
          <a:xfrm>
            <a:off x="295879" y="1758393"/>
            <a:ext cx="1554480" cy="45720"/>
          </a:xfrm>
          <a:prstGeom prst="rect">
            <a:avLst/>
          </a:prstGeom>
          <a:solidFill>
            <a:srgbClr val="00C2A8"/>
          </a:solidFill>
          <a:ln/>
        </p:spPr>
        <p:txBody>
          <a:bodyPr/>
          <a:lstStyle/>
          <a:p>
            <a:endParaRPr lang="en-US"/>
          </a:p>
        </p:txBody>
      </p:sp>
      <p:sp>
        <p:nvSpPr>
          <p:cNvPr id="10" name="Text 3">
            <a:extLst>
              <a:ext uri="{FF2B5EF4-FFF2-40B4-BE49-F238E27FC236}">
                <a16:creationId xmlns:a16="http://schemas.microsoft.com/office/drawing/2014/main" id="{E1AF35B5-A846-1803-C90B-137F673CB294}"/>
              </a:ext>
            </a:extLst>
          </p:cNvPr>
          <p:cNvSpPr txBox="1"/>
          <p:nvPr/>
        </p:nvSpPr>
        <p:spPr>
          <a:xfrm>
            <a:off x="295879" y="1737909"/>
            <a:ext cx="4820227" cy="1667682"/>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Verification Strategy &amp; Test cases</a:t>
            </a:r>
          </a:p>
        </p:txBody>
      </p:sp>
      <p:pic>
        <p:nvPicPr>
          <p:cNvPr id="19" name="Picture 18">
            <a:extLst>
              <a:ext uri="{FF2B5EF4-FFF2-40B4-BE49-F238E27FC236}">
                <a16:creationId xmlns:a16="http://schemas.microsoft.com/office/drawing/2014/main" id="{662A319E-B9D2-3168-F467-06BE16E7C6BF}"/>
              </a:ext>
            </a:extLst>
          </p:cNvPr>
          <p:cNvPicPr>
            <a:picLocks noChangeAspect="1"/>
          </p:cNvPicPr>
          <p:nvPr/>
        </p:nvPicPr>
        <p:blipFill>
          <a:blip r:embed="rId2"/>
          <a:stretch>
            <a:fillRect/>
          </a:stretch>
        </p:blipFill>
        <p:spPr>
          <a:xfrm>
            <a:off x="5034075" y="1196633"/>
            <a:ext cx="3642910" cy="275023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2702874043"/>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27ED2A2B-5652-0E74-EB4B-4FE754635E4F}"/>
            </a:ext>
          </a:extLst>
        </p:cNvPr>
        <p:cNvGrpSpPr/>
        <p:nvPr/>
      </p:nvGrpSpPr>
      <p:grpSpPr>
        <a:xfrm>
          <a:off x="0" y="0"/>
          <a:ext cx="0" cy="0"/>
          <a:chOff x="0" y="0"/>
          <a:chExt cx="0" cy="0"/>
        </a:xfrm>
      </p:grpSpPr>
      <p:sp>
        <p:nvSpPr>
          <p:cNvPr id="15" name="Text 0">
            <a:extLst>
              <a:ext uri="{FF2B5EF4-FFF2-40B4-BE49-F238E27FC236}">
                <a16:creationId xmlns:a16="http://schemas.microsoft.com/office/drawing/2014/main" id="{053644FA-B535-59B6-FC38-E61AF334AE51}"/>
              </a:ext>
            </a:extLst>
          </p:cNvPr>
          <p:cNvSpPr txBox="1"/>
          <p:nvPr/>
        </p:nvSpPr>
        <p:spPr>
          <a:xfrm>
            <a:off x="169499" y="80688"/>
            <a:ext cx="8740808" cy="640080"/>
          </a:xfrm>
          <a:prstGeom prst="rect">
            <a:avLst/>
          </a:prstGeom>
          <a:noFill/>
          <a:ln/>
        </p:spPr>
        <p:txBody>
          <a:bodyPr wrap="square" lIns="0" tIns="0" rIns="0" bIns="0" rtlCol="0" anchor="ctr"/>
          <a:lstStyle/>
          <a:p>
            <a:r>
              <a:rPr lang="en-US" sz="3200" b="1" dirty="0">
                <a:solidFill>
                  <a:srgbClr val="1E2761"/>
                </a:solidFill>
                <a:latin typeface="Cambria" pitchFamily="34" charset="0"/>
                <a:ea typeface="Cambria" pitchFamily="34" charset="-122"/>
                <a:cs typeface="Cambria" pitchFamily="34" charset="-120"/>
              </a:rPr>
              <a:t>Verification Strategy</a:t>
            </a:r>
          </a:p>
        </p:txBody>
      </p:sp>
      <p:pic>
        <p:nvPicPr>
          <p:cNvPr id="3" name="Image 1" descr="preencoded.png">
            <a:extLst>
              <a:ext uri="{FF2B5EF4-FFF2-40B4-BE49-F238E27FC236}">
                <a16:creationId xmlns:a16="http://schemas.microsoft.com/office/drawing/2014/main" id="{0E31D092-5C9F-B770-B981-D09EC96E07C0}"/>
              </a:ext>
            </a:extLst>
          </p:cNvPr>
          <p:cNvPicPr>
            <a:picLocks noChangeAspect="1"/>
          </p:cNvPicPr>
          <p:nvPr/>
        </p:nvPicPr>
        <p:blipFill>
          <a:blip>
            <a:duotone>
              <a:schemeClr val="accent5">
                <a:shade val="45000"/>
                <a:satMod val="135000"/>
              </a:schemeClr>
              <a:prstClr val="white"/>
            </a:duotone>
            <a:extLst>
              <a:ext uri="{96DAC541-7B7A-43D3-8B79-37D633B846F1}">
                <asvg:svgBlip xmlns:asvg="http://schemas.microsoft.com/office/drawing/2016/SVG/main" r:embed="rId2"/>
              </a:ext>
            </a:extLst>
          </a:blip>
          <a:stretch>
            <a:fillRect/>
          </a:stretch>
        </p:blipFill>
        <p:spPr>
          <a:xfrm>
            <a:off x="496107" y="764553"/>
            <a:ext cx="3807640" cy="2520291"/>
          </a:xfrm>
          <a:prstGeom prst="rect">
            <a:avLst/>
          </a:prstGeom>
        </p:spPr>
      </p:pic>
      <p:sp>
        <p:nvSpPr>
          <p:cNvPr id="4" name="Text 1">
            <a:extLst>
              <a:ext uri="{FF2B5EF4-FFF2-40B4-BE49-F238E27FC236}">
                <a16:creationId xmlns:a16="http://schemas.microsoft.com/office/drawing/2014/main" id="{9D1DAAC5-C3FD-EC2A-A319-80A237A37BBA}"/>
              </a:ext>
            </a:extLst>
          </p:cNvPr>
          <p:cNvSpPr/>
          <p:nvPr/>
        </p:nvSpPr>
        <p:spPr>
          <a:xfrm>
            <a:off x="582536" y="1893878"/>
            <a:ext cx="209321" cy="261640"/>
          </a:xfrm>
          <a:prstGeom prst="rect">
            <a:avLst/>
          </a:prstGeom>
          <a:noFill/>
          <a:ln/>
        </p:spPr>
        <p:txBody>
          <a:bodyPr wrap="none" lIns="0" tIns="0" rIns="0" bIns="0" rtlCol="0" anchor="ctr"/>
          <a:lstStyle/>
          <a:p>
            <a:pPr algn="ctr" defTabSz="685800"/>
            <a:r>
              <a:rPr lang="en-US" sz="1613" dirty="0">
                <a:solidFill>
                  <a:srgbClr val="3C3939"/>
                </a:solidFill>
                <a:latin typeface="Raleway" pitchFamily="34" charset="0"/>
                <a:ea typeface="Raleway" pitchFamily="34" charset="-122"/>
                <a:cs typeface="Raleway" pitchFamily="34" charset="-120"/>
              </a:rPr>
              <a:t>1</a:t>
            </a:r>
            <a:endParaRPr lang="en-US" sz="1613" dirty="0">
              <a:solidFill>
                <a:prstClr val="black"/>
              </a:solidFill>
              <a:latin typeface="Calibri" panose="020F0502020204030204"/>
            </a:endParaRPr>
          </a:p>
        </p:txBody>
      </p:sp>
      <p:sp>
        <p:nvSpPr>
          <p:cNvPr id="5" name="Text 2">
            <a:extLst>
              <a:ext uri="{FF2B5EF4-FFF2-40B4-BE49-F238E27FC236}">
                <a16:creationId xmlns:a16="http://schemas.microsoft.com/office/drawing/2014/main" id="{FC0F9E37-D1A6-C842-3A0A-28871B58A229}"/>
              </a:ext>
            </a:extLst>
          </p:cNvPr>
          <p:cNvSpPr/>
          <p:nvPr/>
        </p:nvSpPr>
        <p:spPr>
          <a:xfrm>
            <a:off x="1056732" y="937127"/>
            <a:ext cx="3044072" cy="163040"/>
          </a:xfrm>
          <a:prstGeom prst="rect">
            <a:avLst/>
          </a:prstGeom>
          <a:noFill/>
          <a:ln/>
        </p:spPr>
        <p:txBody>
          <a:bodyPr wrap="none" lIns="0" tIns="0" rIns="0" bIns="0" rtlCol="0" anchor="t"/>
          <a:lstStyle/>
          <a:p>
            <a:pPr defTabSz="685800">
              <a:lnSpc>
                <a:spcPct val="104000"/>
              </a:lnSpc>
            </a:pPr>
            <a:r>
              <a:rPr lang="en-US" sz="1350" b="1" dirty="0">
                <a:solidFill>
                  <a:srgbClr val="3C3939"/>
                </a:solidFill>
                <a:latin typeface="Times New Roman" panose="02020603050405020304" pitchFamily="18" charset="0"/>
                <a:ea typeface="Raleway" pitchFamily="34" charset="-122"/>
                <a:cs typeface="Times New Roman" panose="02020603050405020304" pitchFamily="18" charset="0"/>
              </a:rPr>
              <a:t>Two-Level Verification Approach</a:t>
            </a:r>
            <a:endParaRPr lang="en-US" sz="1350" b="1" dirty="0">
              <a:solidFill>
                <a:prstClr val="black"/>
              </a:solidFill>
              <a:latin typeface="Times New Roman" panose="02020603050405020304" pitchFamily="18" charset="0"/>
              <a:cs typeface="Times New Roman" panose="02020603050405020304" pitchFamily="18" charset="0"/>
            </a:endParaRPr>
          </a:p>
        </p:txBody>
      </p:sp>
      <p:sp>
        <p:nvSpPr>
          <p:cNvPr id="6" name="Text 3">
            <a:extLst>
              <a:ext uri="{FF2B5EF4-FFF2-40B4-BE49-F238E27FC236}">
                <a16:creationId xmlns:a16="http://schemas.microsoft.com/office/drawing/2014/main" id="{FBA35BFB-9923-52E1-06FA-D0F58A4FB486}"/>
              </a:ext>
            </a:extLst>
          </p:cNvPr>
          <p:cNvSpPr/>
          <p:nvPr/>
        </p:nvSpPr>
        <p:spPr>
          <a:xfrm>
            <a:off x="1063724" y="1223539"/>
            <a:ext cx="3123938" cy="1735735"/>
          </a:xfrm>
          <a:prstGeom prst="rect">
            <a:avLst/>
          </a:prstGeom>
          <a:noFill/>
          <a:ln/>
        </p:spPr>
        <p:txBody>
          <a:bodyPr wrap="square" lIns="0" tIns="0" rIns="0" bIns="0" rtlCol="0" anchor="t">
            <a:noAutofit/>
          </a:bodyPr>
          <a:lstStyle/>
          <a:p>
            <a:pPr defTabSz="685800">
              <a:lnSpc>
                <a:spcPct val="132000"/>
              </a:lnSpc>
            </a:pPr>
            <a:r>
              <a:rPr lang="en-US" sz="1000" b="1" dirty="0">
                <a:solidFill>
                  <a:srgbClr val="3C3939"/>
                </a:solidFill>
                <a:latin typeface="Times New Roman" panose="02020603050405020304" pitchFamily="18" charset="0"/>
                <a:ea typeface="Roboto" pitchFamily="34" charset="-122"/>
                <a:cs typeface="Times New Roman" panose="02020603050405020304" pitchFamily="18" charset="0"/>
              </a:rPr>
              <a:t>1. Unit-Level Verification</a:t>
            </a:r>
          </a:p>
          <a:p>
            <a:pPr marL="171450" indent="-171450" defTabSz="685800">
              <a:lnSpc>
                <a:spcPct val="132000"/>
              </a:lnSpc>
              <a:buFont typeface="Arial" panose="020B0604020202020204" pitchFamily="34" charset="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Each major CXS interface is verified independently.</a:t>
            </a:r>
          </a:p>
          <a:p>
            <a:pPr marL="171450" indent="-171450" defTabSz="685800">
              <a:lnSpc>
                <a:spcPct val="132000"/>
              </a:lnSpc>
              <a:buFont typeface="Arial" panose="020B0604020202020204" pitchFamily="34" charset="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Dedicated </a:t>
            </a:r>
            <a:r>
              <a:rPr lang="en-US" sz="1000" dirty="0" err="1">
                <a:solidFill>
                  <a:srgbClr val="3C3939"/>
                </a:solidFill>
                <a:latin typeface="Times New Roman" panose="02020603050405020304" pitchFamily="18" charset="0"/>
                <a:ea typeface="Roboto" pitchFamily="34" charset="-122"/>
                <a:cs typeface="Times New Roman" panose="02020603050405020304" pitchFamily="18" charset="0"/>
              </a:rPr>
              <a:t>SystemVerilog</a:t>
            </a: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 self-checking testbenches are used.</a:t>
            </a:r>
          </a:p>
          <a:p>
            <a:pPr marL="171450" indent="-171450" defTabSz="685800">
              <a:lnSpc>
                <a:spcPct val="132000"/>
              </a:lnSpc>
              <a:buFont typeface="Arial" panose="020B0604020202020204" pitchFamily="34" charset="0"/>
              <a:buChar char="•"/>
            </a:pPr>
            <a:r>
              <a:rPr lang="en-US" sz="1000" dirty="0">
                <a:solidFill>
                  <a:srgbClr val="3C3939"/>
                </a:solidFill>
                <a:latin typeface="Times New Roman" panose="02020603050405020304" pitchFamily="18" charset="0"/>
                <a:ea typeface="Roboto" pitchFamily="34" charset="-122"/>
                <a:cs typeface="Times New Roman" panose="02020603050405020304" pitchFamily="18" charset="0"/>
              </a:rPr>
              <a:t>Corner cases and protocol behavior are included.</a:t>
            </a:r>
          </a:p>
          <a:p>
            <a:pPr defTabSz="685800">
              <a:lnSpc>
                <a:spcPct val="132000"/>
              </a:lnSpc>
            </a:pPr>
            <a:endParaRPr lang="en-US" sz="1000" dirty="0">
              <a:solidFill>
                <a:srgbClr val="3C3939"/>
              </a:solidFill>
              <a:latin typeface="Times New Roman" panose="02020603050405020304" pitchFamily="18" charset="0"/>
              <a:ea typeface="Roboto" pitchFamily="34" charset="-122"/>
              <a:cs typeface="Times New Roman" panose="02020603050405020304" pitchFamily="18" charset="0"/>
            </a:endParaRPr>
          </a:p>
          <a:p>
            <a:pPr defTabSz="685800">
              <a:lnSpc>
                <a:spcPct val="132000"/>
              </a:lnSpc>
            </a:pPr>
            <a:r>
              <a:rPr lang="en-US" sz="900" b="1" dirty="0">
                <a:solidFill>
                  <a:srgbClr val="3C3939"/>
                </a:solidFill>
                <a:latin typeface="Times New Roman" panose="02020603050405020304" pitchFamily="18" charset="0"/>
                <a:ea typeface="Roboto" pitchFamily="34" charset="-122"/>
                <a:cs typeface="Times New Roman" panose="02020603050405020304" pitchFamily="18" charset="0"/>
              </a:rPr>
              <a:t>2. End-to-End Verification</a:t>
            </a:r>
          </a:p>
          <a:p>
            <a:pPr marL="171450" indent="-171450" defTabSz="685800">
              <a:lnSpc>
                <a:spcPct val="132000"/>
              </a:lnSpc>
              <a:buFont typeface="Arial" panose="020B0604020202020204" pitchFamily="34" charset="0"/>
              <a:buChar char="•"/>
            </a:pPr>
            <a:r>
              <a:rPr lang="en-US" sz="900" dirty="0">
                <a:solidFill>
                  <a:srgbClr val="3C3939"/>
                </a:solidFill>
                <a:latin typeface="Times New Roman" panose="02020603050405020304" pitchFamily="18" charset="0"/>
                <a:ea typeface="Roboto" pitchFamily="34" charset="-122"/>
                <a:cs typeface="Times New Roman" panose="02020603050405020304" pitchFamily="18" charset="0"/>
              </a:rPr>
              <a:t>Verifies the complete CXS Bridge from RX to TX.</a:t>
            </a:r>
          </a:p>
          <a:p>
            <a:pPr marL="171450" indent="-171450" defTabSz="685800">
              <a:lnSpc>
                <a:spcPct val="132000"/>
              </a:lnSpc>
              <a:buFont typeface="Arial" panose="020B0604020202020204" pitchFamily="34" charset="0"/>
              <a:buChar char="•"/>
            </a:pPr>
            <a:r>
              <a:rPr lang="en-US" sz="900" dirty="0">
                <a:solidFill>
                  <a:srgbClr val="3C3939"/>
                </a:solidFill>
                <a:latin typeface="Times New Roman" panose="02020603050405020304" pitchFamily="18" charset="0"/>
                <a:ea typeface="Roboto" pitchFamily="34" charset="-122"/>
                <a:cs typeface="Times New Roman" panose="02020603050405020304" pitchFamily="18" charset="0"/>
              </a:rPr>
              <a:t>Functional behavior is checked using self-checking testbench tasks and assertions.</a:t>
            </a:r>
          </a:p>
          <a:p>
            <a:pPr marL="171450" indent="-171450" defTabSz="685800">
              <a:lnSpc>
                <a:spcPct val="132000"/>
              </a:lnSpc>
              <a:buFont typeface="Arial" panose="020B0604020202020204" pitchFamily="34" charset="0"/>
              <a:buChar char="•"/>
            </a:pPr>
            <a:endParaRPr lang="en-US" sz="900" dirty="0">
              <a:solidFill>
                <a:srgbClr val="3C3939"/>
              </a:solidFill>
              <a:latin typeface="Times New Roman" panose="02020603050405020304" pitchFamily="18" charset="0"/>
              <a:ea typeface="Roboto" pitchFamily="34" charset="-122"/>
              <a:cs typeface="Times New Roman" panose="02020603050405020304" pitchFamily="18" charset="0"/>
            </a:endParaRPr>
          </a:p>
        </p:txBody>
      </p:sp>
      <p:pic>
        <p:nvPicPr>
          <p:cNvPr id="11" name="Image 3" descr="preencoded.png">
            <a:extLst>
              <a:ext uri="{FF2B5EF4-FFF2-40B4-BE49-F238E27FC236}">
                <a16:creationId xmlns:a16="http://schemas.microsoft.com/office/drawing/2014/main" id="{3C4FD6AB-FB10-2EBB-0137-45664586B11F}"/>
              </a:ext>
            </a:extLst>
          </p:cNvPr>
          <p:cNvPicPr>
            <a:picLocks noChangeAspect="1"/>
          </p:cNvPicPr>
          <p:nvPr/>
        </p:nvPicPr>
        <p:blipFill>
          <a:blip>
            <a:duotone>
              <a:schemeClr val="accent5">
                <a:shade val="45000"/>
                <a:satMod val="135000"/>
              </a:schemeClr>
              <a:prstClr val="white"/>
            </a:duotone>
            <a:extLst>
              <a:ext uri="{96DAC541-7B7A-43D3-8B79-37D633B846F1}">
                <asvg:svgBlip xmlns:asvg="http://schemas.microsoft.com/office/drawing/2016/SVG/main" r:embed="rId3"/>
              </a:ext>
            </a:extLst>
          </a:blip>
          <a:stretch>
            <a:fillRect/>
          </a:stretch>
        </p:blipFill>
        <p:spPr>
          <a:xfrm>
            <a:off x="496107" y="3389723"/>
            <a:ext cx="3807640" cy="1535777"/>
          </a:xfrm>
          <a:prstGeom prst="rect">
            <a:avLst/>
          </a:prstGeom>
        </p:spPr>
      </p:pic>
      <p:sp>
        <p:nvSpPr>
          <p:cNvPr id="12" name="Text 7">
            <a:extLst>
              <a:ext uri="{FF2B5EF4-FFF2-40B4-BE49-F238E27FC236}">
                <a16:creationId xmlns:a16="http://schemas.microsoft.com/office/drawing/2014/main" id="{C6DAA1FD-86C5-4710-2A87-73CC069A20DE}"/>
              </a:ext>
            </a:extLst>
          </p:cNvPr>
          <p:cNvSpPr/>
          <p:nvPr/>
        </p:nvSpPr>
        <p:spPr>
          <a:xfrm>
            <a:off x="593636" y="3792723"/>
            <a:ext cx="209321" cy="261640"/>
          </a:xfrm>
          <a:prstGeom prst="rect">
            <a:avLst/>
          </a:prstGeom>
          <a:noFill/>
          <a:ln/>
        </p:spPr>
        <p:txBody>
          <a:bodyPr wrap="none" lIns="0" tIns="0" rIns="0" bIns="0" rtlCol="0" anchor="ctr"/>
          <a:lstStyle/>
          <a:p>
            <a:pPr algn="ctr" defTabSz="685800"/>
            <a:r>
              <a:rPr lang="en-US" sz="1613" dirty="0">
                <a:solidFill>
                  <a:srgbClr val="3C3939"/>
                </a:solidFill>
                <a:latin typeface="Raleway" pitchFamily="34" charset="0"/>
                <a:ea typeface="Raleway" pitchFamily="34" charset="-122"/>
                <a:cs typeface="Raleway" pitchFamily="34" charset="-120"/>
              </a:rPr>
              <a:t>2</a:t>
            </a:r>
            <a:endParaRPr lang="en-US" sz="1613" dirty="0">
              <a:solidFill>
                <a:prstClr val="black"/>
              </a:solidFill>
              <a:latin typeface="Calibri" panose="020F0502020204030204"/>
            </a:endParaRPr>
          </a:p>
        </p:txBody>
      </p:sp>
      <p:sp>
        <p:nvSpPr>
          <p:cNvPr id="13" name="Text 8">
            <a:extLst>
              <a:ext uri="{FF2B5EF4-FFF2-40B4-BE49-F238E27FC236}">
                <a16:creationId xmlns:a16="http://schemas.microsoft.com/office/drawing/2014/main" id="{C14FE231-71BA-E5E5-B646-9ACCE4CAD8A3}"/>
              </a:ext>
            </a:extLst>
          </p:cNvPr>
          <p:cNvSpPr/>
          <p:nvPr/>
        </p:nvSpPr>
        <p:spPr>
          <a:xfrm>
            <a:off x="1056732" y="3515464"/>
            <a:ext cx="3849492" cy="218033"/>
          </a:xfrm>
          <a:prstGeom prst="rect">
            <a:avLst/>
          </a:prstGeom>
          <a:noFill/>
          <a:ln/>
        </p:spPr>
        <p:txBody>
          <a:bodyPr wrap="none" lIns="0" tIns="0" rIns="0" bIns="0" rtlCol="0" anchor="t"/>
          <a:lstStyle/>
          <a:p>
            <a:pPr defTabSz="685800">
              <a:lnSpc>
                <a:spcPct val="104000"/>
              </a:lnSpc>
            </a:pPr>
            <a:r>
              <a:rPr lang="en-US" sz="1350" b="1" dirty="0">
                <a:solidFill>
                  <a:srgbClr val="3C3939"/>
                </a:solidFill>
                <a:latin typeface="Raleway" pitchFamily="34" charset="0"/>
                <a:ea typeface="Raleway" pitchFamily="34" charset="-122"/>
                <a:cs typeface="Raleway" pitchFamily="34" charset="-120"/>
              </a:rPr>
              <a:t>Main Verification Goals</a:t>
            </a:r>
            <a:endParaRPr lang="en-US" sz="1350" b="1" dirty="0">
              <a:solidFill>
                <a:prstClr val="black"/>
              </a:solidFill>
              <a:latin typeface="Calibri" panose="020F0502020204030204"/>
            </a:endParaRPr>
          </a:p>
        </p:txBody>
      </p:sp>
      <p:sp>
        <p:nvSpPr>
          <p:cNvPr id="14" name="Text 9">
            <a:extLst>
              <a:ext uri="{FF2B5EF4-FFF2-40B4-BE49-F238E27FC236}">
                <a16:creationId xmlns:a16="http://schemas.microsoft.com/office/drawing/2014/main" id="{4B00B9B4-8374-6A9A-7EEF-DF8C6D9A6818}"/>
              </a:ext>
            </a:extLst>
          </p:cNvPr>
          <p:cNvSpPr/>
          <p:nvPr/>
        </p:nvSpPr>
        <p:spPr>
          <a:xfrm>
            <a:off x="1056733" y="3780527"/>
            <a:ext cx="3130930" cy="989449"/>
          </a:xfrm>
          <a:prstGeom prst="rect">
            <a:avLst/>
          </a:prstGeom>
          <a:noFill/>
          <a:ln/>
        </p:spPr>
        <p:txBody>
          <a:bodyPr wrap="square" lIns="0" tIns="0" rIns="0" bIns="0" rtlCol="0" anchor="t">
            <a:noAutofit/>
          </a:bodyPr>
          <a:lstStyle/>
          <a:p>
            <a:pPr marL="171450" indent="-171450" defTabSz="685800">
              <a:lnSpc>
                <a:spcPct val="132000"/>
              </a:lnSpc>
              <a:buFont typeface="Arial" panose="020B0604020202020204" pitchFamily="34" charset="0"/>
              <a:buChar char="•"/>
            </a:pPr>
            <a:r>
              <a:rPr lang="en-US" sz="900" dirty="0">
                <a:solidFill>
                  <a:srgbClr val="3C3939"/>
                </a:solidFill>
                <a:latin typeface="Times New Roman" panose="02020603050405020304" pitchFamily="18" charset="0"/>
                <a:ea typeface="Roboto" pitchFamily="34" charset="-122"/>
                <a:cs typeface="Times New Roman" panose="02020603050405020304" pitchFamily="18" charset="0"/>
              </a:rPr>
              <a:t>Correct CXS protocol operation</a:t>
            </a:r>
          </a:p>
          <a:p>
            <a:pPr marL="171450" indent="-171450" defTabSz="685800">
              <a:lnSpc>
                <a:spcPct val="132000"/>
              </a:lnSpc>
              <a:buFont typeface="Arial" panose="020B0604020202020204" pitchFamily="34" charset="0"/>
              <a:buChar char="•"/>
            </a:pPr>
            <a:r>
              <a:rPr lang="en-US" sz="900" dirty="0">
                <a:solidFill>
                  <a:srgbClr val="3C3939"/>
                </a:solidFill>
                <a:latin typeface="Times New Roman" panose="02020603050405020304" pitchFamily="18" charset="0"/>
                <a:ea typeface="Roboto" pitchFamily="34" charset="-122"/>
                <a:cs typeface="Times New Roman" panose="02020603050405020304" pitchFamily="18" charset="0"/>
              </a:rPr>
              <a:t>Correct packet processing</a:t>
            </a:r>
          </a:p>
          <a:p>
            <a:pPr marL="171450" indent="-171450" defTabSz="685800">
              <a:lnSpc>
                <a:spcPct val="132000"/>
              </a:lnSpc>
              <a:buFont typeface="Arial" panose="020B0604020202020204" pitchFamily="34" charset="0"/>
              <a:buChar char="•"/>
            </a:pPr>
            <a:r>
              <a:rPr lang="en-US" sz="900" dirty="0">
                <a:solidFill>
                  <a:srgbClr val="3C3939"/>
                </a:solidFill>
                <a:latin typeface="Times New Roman" panose="02020603050405020304" pitchFamily="18" charset="0"/>
                <a:ea typeface="Roboto" pitchFamily="34" charset="-122"/>
                <a:cs typeface="Times New Roman" panose="02020603050405020304" pitchFamily="18" charset="0"/>
              </a:rPr>
              <a:t>Correct credit-based flow control</a:t>
            </a:r>
          </a:p>
          <a:p>
            <a:pPr marL="171450" indent="-171450" defTabSz="685800">
              <a:lnSpc>
                <a:spcPct val="132000"/>
              </a:lnSpc>
              <a:buFont typeface="Arial" panose="020B0604020202020204" pitchFamily="34" charset="0"/>
              <a:buChar char="•"/>
            </a:pPr>
            <a:r>
              <a:rPr lang="en-US" sz="900" dirty="0">
                <a:solidFill>
                  <a:srgbClr val="3C3939"/>
                </a:solidFill>
                <a:latin typeface="Times New Roman" panose="02020603050405020304" pitchFamily="18" charset="0"/>
                <a:ea typeface="Roboto" pitchFamily="34" charset="-122"/>
                <a:cs typeface="Times New Roman" panose="02020603050405020304" pitchFamily="18" charset="0"/>
              </a:rPr>
              <a:t>Correct configuration and error handling</a:t>
            </a:r>
          </a:p>
          <a:p>
            <a:pPr marL="171450" indent="-171450" defTabSz="685800">
              <a:lnSpc>
                <a:spcPct val="132000"/>
              </a:lnSpc>
              <a:buFont typeface="Arial" panose="020B0604020202020204" pitchFamily="34" charset="0"/>
              <a:buChar char="•"/>
            </a:pPr>
            <a:r>
              <a:rPr lang="en-US" sz="900" dirty="0">
                <a:solidFill>
                  <a:srgbClr val="3C3939"/>
                </a:solidFill>
                <a:latin typeface="Times New Roman" panose="02020603050405020304" pitchFamily="18" charset="0"/>
                <a:ea typeface="Roboto" pitchFamily="34" charset="-122"/>
                <a:cs typeface="Times New Roman" panose="02020603050405020304" pitchFamily="18" charset="0"/>
              </a:rPr>
              <a:t>Correct encryption, parity, address translation, and CDM storage</a:t>
            </a:r>
          </a:p>
        </p:txBody>
      </p:sp>
      <p:grpSp>
        <p:nvGrpSpPr>
          <p:cNvPr id="17" name="Group 16">
            <a:extLst>
              <a:ext uri="{FF2B5EF4-FFF2-40B4-BE49-F238E27FC236}">
                <a16:creationId xmlns:a16="http://schemas.microsoft.com/office/drawing/2014/main" id="{1BD8C256-8B0A-4E88-27A6-CA5A093B1AC8}"/>
              </a:ext>
            </a:extLst>
          </p:cNvPr>
          <p:cNvGrpSpPr/>
          <p:nvPr/>
        </p:nvGrpSpPr>
        <p:grpSpPr>
          <a:xfrm>
            <a:off x="4308212" y="1764548"/>
            <a:ext cx="4722645" cy="2219105"/>
            <a:chOff x="661475" y="2456855"/>
            <a:chExt cx="6918350" cy="2712244"/>
          </a:xfrm>
        </p:grpSpPr>
        <p:grpSp>
          <p:nvGrpSpPr>
            <p:cNvPr id="18" name="Group 17">
              <a:extLst>
                <a:ext uri="{FF2B5EF4-FFF2-40B4-BE49-F238E27FC236}">
                  <a16:creationId xmlns:a16="http://schemas.microsoft.com/office/drawing/2014/main" id="{B37471E3-346F-9CEA-E51B-61E832E25121}"/>
                </a:ext>
              </a:extLst>
            </p:cNvPr>
            <p:cNvGrpSpPr/>
            <p:nvPr/>
          </p:nvGrpSpPr>
          <p:grpSpPr>
            <a:xfrm>
              <a:off x="661475" y="2456855"/>
              <a:ext cx="6918350" cy="2712244"/>
              <a:chOff x="661475" y="2456855"/>
              <a:chExt cx="6918350" cy="2712244"/>
            </a:xfrm>
          </p:grpSpPr>
          <p:grpSp>
            <p:nvGrpSpPr>
              <p:cNvPr id="20" name="Group 19">
                <a:extLst>
                  <a:ext uri="{FF2B5EF4-FFF2-40B4-BE49-F238E27FC236}">
                    <a16:creationId xmlns:a16="http://schemas.microsoft.com/office/drawing/2014/main" id="{4A2CEB78-2557-743E-9844-F1C91441D69E}"/>
                  </a:ext>
                </a:extLst>
              </p:cNvPr>
              <p:cNvGrpSpPr/>
              <p:nvPr/>
            </p:nvGrpSpPr>
            <p:grpSpPr>
              <a:xfrm>
                <a:off x="661475" y="2456855"/>
                <a:ext cx="6918350" cy="2712244"/>
                <a:chOff x="661475" y="2456855"/>
                <a:chExt cx="6918350" cy="2712244"/>
              </a:xfrm>
            </p:grpSpPr>
            <p:grpSp>
              <p:nvGrpSpPr>
                <p:cNvPr id="39" name="Group 38">
                  <a:extLst>
                    <a:ext uri="{FF2B5EF4-FFF2-40B4-BE49-F238E27FC236}">
                      <a16:creationId xmlns:a16="http://schemas.microsoft.com/office/drawing/2014/main" id="{1FFC6E53-0808-706E-5A04-987004D2FDD2}"/>
                    </a:ext>
                  </a:extLst>
                </p:cNvPr>
                <p:cNvGrpSpPr/>
                <p:nvPr/>
              </p:nvGrpSpPr>
              <p:grpSpPr>
                <a:xfrm>
                  <a:off x="661475" y="2456855"/>
                  <a:ext cx="6918350" cy="2712244"/>
                  <a:chOff x="661475" y="2456855"/>
                  <a:chExt cx="6918350" cy="2712244"/>
                </a:xfrm>
              </p:grpSpPr>
              <p:pic>
                <p:nvPicPr>
                  <p:cNvPr id="46" name="Image 0" descr="preencoded.png">
                    <a:extLst>
                      <a:ext uri="{FF2B5EF4-FFF2-40B4-BE49-F238E27FC236}">
                        <a16:creationId xmlns:a16="http://schemas.microsoft.com/office/drawing/2014/main" id="{D4C87305-58B3-43CB-397A-FEB34A202356}"/>
                      </a:ext>
                    </a:extLst>
                  </p:cNvPr>
                  <p:cNvPicPr>
                    <a:picLocks noChangeAspect="1"/>
                  </p:cNvPicPr>
                  <p:nvPr/>
                </p:nvPicPr>
                <p:blipFill>
                  <a:blip r:embed="rId4">
                    <a:duotone>
                      <a:schemeClr val="accent1">
                        <a:shade val="45000"/>
                        <a:satMod val="135000"/>
                      </a:schemeClr>
                      <a:prstClr val="white"/>
                    </a:duotone>
                  </a:blip>
                  <a:stretch>
                    <a:fillRect/>
                  </a:stretch>
                </p:blipFill>
                <p:spPr>
                  <a:xfrm>
                    <a:off x="661475" y="2456855"/>
                    <a:ext cx="6918350" cy="2712244"/>
                  </a:xfrm>
                  <a:prstGeom prst="rect">
                    <a:avLst/>
                  </a:prstGeom>
                </p:spPr>
              </p:pic>
              <p:sp>
                <p:nvSpPr>
                  <p:cNvPr id="47" name="Text 1">
                    <a:extLst>
                      <a:ext uri="{FF2B5EF4-FFF2-40B4-BE49-F238E27FC236}">
                        <a16:creationId xmlns:a16="http://schemas.microsoft.com/office/drawing/2014/main" id="{0C4B999B-2D65-D434-91DC-EE02385CA076}"/>
                      </a:ext>
                    </a:extLst>
                  </p:cNvPr>
                  <p:cNvSpPr/>
                  <p:nvPr/>
                </p:nvSpPr>
                <p:spPr>
                  <a:xfrm>
                    <a:off x="827096" y="2589869"/>
                    <a:ext cx="1266466" cy="407089"/>
                  </a:xfrm>
                  <a:prstGeom prst="rect">
                    <a:avLst/>
                  </a:prstGeom>
                  <a:noFill/>
                  <a:ln/>
                </p:spPr>
                <p:txBody>
                  <a:bodyPr wrap="square" lIns="0" tIns="0" rIns="0" bIns="0" rtlCol="0" anchor="t">
                    <a:normAutofit/>
                  </a:bodyPr>
                  <a:lstStyle/>
                  <a:p>
                    <a:pPr algn="ctr" defTabSz="685800">
                      <a:lnSpc>
                        <a:spcPct val="104000"/>
                      </a:lnSpc>
                    </a:pPr>
                    <a:r>
                      <a:rPr lang="en-US" sz="938" dirty="0">
                        <a:solidFill>
                          <a:srgbClr val="1B1B27"/>
                        </a:solidFill>
                        <a:latin typeface="Raleway" pitchFamily="34" charset="0"/>
                      </a:rPr>
                      <a:t>End to end </a:t>
                    </a:r>
                    <a:r>
                      <a:rPr lang="en-US" sz="938" dirty="0" err="1">
                        <a:solidFill>
                          <a:srgbClr val="1B1B27"/>
                        </a:solidFill>
                        <a:latin typeface="Raleway" pitchFamily="34" charset="0"/>
                      </a:rPr>
                      <a:t>verfication</a:t>
                    </a:r>
                    <a:r>
                      <a:rPr lang="en-US" sz="938" dirty="0">
                        <a:solidFill>
                          <a:srgbClr val="1B1B27"/>
                        </a:solidFill>
                        <a:latin typeface="Raleway" pitchFamily="34" charset="0"/>
                      </a:rPr>
                      <a:t> </a:t>
                    </a:r>
                    <a:endParaRPr lang="en-US" sz="938" dirty="0">
                      <a:solidFill>
                        <a:prstClr val="black"/>
                      </a:solidFill>
                      <a:latin typeface="Calibri" panose="020F0502020204030204"/>
                    </a:endParaRPr>
                  </a:p>
                </p:txBody>
              </p:sp>
            </p:grpSp>
            <p:sp>
              <p:nvSpPr>
                <p:cNvPr id="44" name="Text 2">
                  <a:extLst>
                    <a:ext uri="{FF2B5EF4-FFF2-40B4-BE49-F238E27FC236}">
                      <a16:creationId xmlns:a16="http://schemas.microsoft.com/office/drawing/2014/main" id="{49EB8F97-6D5E-353D-9993-967EB9DB5859}"/>
                    </a:ext>
                  </a:extLst>
                </p:cNvPr>
                <p:cNvSpPr/>
                <p:nvPr/>
              </p:nvSpPr>
              <p:spPr>
                <a:xfrm>
                  <a:off x="6147612" y="2589869"/>
                  <a:ext cx="1266467" cy="407089"/>
                </a:xfrm>
                <a:prstGeom prst="rect">
                  <a:avLst/>
                </a:prstGeom>
                <a:noFill/>
                <a:ln/>
              </p:spPr>
              <p:txBody>
                <a:bodyPr wrap="square" lIns="0" tIns="0" rIns="0" bIns="0" rtlCol="0" anchor="t">
                  <a:normAutofit/>
                </a:bodyPr>
                <a:lstStyle/>
                <a:p>
                  <a:pPr algn="ctr" defTabSz="685800">
                    <a:lnSpc>
                      <a:spcPct val="104000"/>
                    </a:lnSpc>
                  </a:pPr>
                  <a:r>
                    <a:rPr lang="en-US" sz="938" dirty="0">
                      <a:solidFill>
                        <a:srgbClr val="1B1B27"/>
                      </a:solidFill>
                      <a:latin typeface="Raleway" pitchFamily="34" charset="0"/>
                      <a:ea typeface="Raleway" pitchFamily="34" charset="-122"/>
                      <a:cs typeface="Raleway" pitchFamily="34" charset="-120"/>
                    </a:rPr>
                    <a:t>Unit test for main blocks </a:t>
                  </a:r>
                  <a:endParaRPr lang="en-US" sz="938" dirty="0">
                    <a:solidFill>
                      <a:prstClr val="black"/>
                    </a:solidFill>
                    <a:latin typeface="Calibri" panose="020F0502020204030204"/>
                  </a:endParaRPr>
                </a:p>
              </p:txBody>
            </p:sp>
          </p:grpSp>
          <p:sp>
            <p:nvSpPr>
              <p:cNvPr id="38" name="Text 3">
                <a:extLst>
                  <a:ext uri="{FF2B5EF4-FFF2-40B4-BE49-F238E27FC236}">
                    <a16:creationId xmlns:a16="http://schemas.microsoft.com/office/drawing/2014/main" id="{11539B98-54BF-C645-BB63-FBAD9168296E}"/>
                  </a:ext>
                </a:extLst>
              </p:cNvPr>
              <p:cNvSpPr/>
              <p:nvPr/>
            </p:nvSpPr>
            <p:spPr>
              <a:xfrm>
                <a:off x="6147612" y="4628931"/>
                <a:ext cx="1266467" cy="407089"/>
              </a:xfrm>
              <a:prstGeom prst="rect">
                <a:avLst/>
              </a:prstGeom>
              <a:noFill/>
              <a:ln/>
            </p:spPr>
            <p:txBody>
              <a:bodyPr wrap="square" lIns="0" tIns="0" rIns="0" bIns="0" rtlCol="0" anchor="t">
                <a:normAutofit/>
              </a:bodyPr>
              <a:lstStyle/>
              <a:p>
                <a:pPr defTabSz="685800">
                  <a:lnSpc>
                    <a:spcPct val="104000"/>
                  </a:lnSpc>
                </a:pPr>
                <a:r>
                  <a:rPr lang="en-US" sz="938" dirty="0">
                    <a:solidFill>
                      <a:srgbClr val="1B1B27"/>
                    </a:solidFill>
                    <a:latin typeface="Raleway" pitchFamily="34" charset="0"/>
                    <a:ea typeface="Raleway" pitchFamily="34" charset="-122"/>
                    <a:cs typeface="Raleway" pitchFamily="34" charset="-120"/>
                  </a:rPr>
                  <a:t>Corner Case </a:t>
                </a:r>
              </a:p>
              <a:p>
                <a:pPr defTabSz="685800">
                  <a:lnSpc>
                    <a:spcPct val="104000"/>
                  </a:lnSpc>
                </a:pPr>
                <a:r>
                  <a:rPr lang="en-US" sz="938" dirty="0" err="1">
                    <a:solidFill>
                      <a:srgbClr val="1B1B27"/>
                    </a:solidFill>
                    <a:latin typeface="Raleway" pitchFamily="34" charset="0"/>
                  </a:rPr>
                  <a:t>Verfication</a:t>
                </a:r>
                <a:r>
                  <a:rPr lang="en-US" sz="938" dirty="0">
                    <a:solidFill>
                      <a:srgbClr val="1B1B27"/>
                    </a:solidFill>
                    <a:latin typeface="Raleway" pitchFamily="34" charset="0"/>
                  </a:rPr>
                  <a:t> </a:t>
                </a:r>
                <a:endParaRPr lang="en-US" sz="938" dirty="0">
                  <a:solidFill>
                    <a:prstClr val="black"/>
                  </a:solidFill>
                  <a:latin typeface="Calibri" panose="020F0502020204030204"/>
                </a:endParaRPr>
              </a:p>
            </p:txBody>
          </p:sp>
        </p:grpSp>
        <p:sp>
          <p:nvSpPr>
            <p:cNvPr id="19" name="Text 4">
              <a:extLst>
                <a:ext uri="{FF2B5EF4-FFF2-40B4-BE49-F238E27FC236}">
                  <a16:creationId xmlns:a16="http://schemas.microsoft.com/office/drawing/2014/main" id="{05DDC788-8BB4-2F44-CFAD-59759C6C80C6}"/>
                </a:ext>
              </a:extLst>
            </p:cNvPr>
            <p:cNvSpPr/>
            <p:nvPr/>
          </p:nvSpPr>
          <p:spPr>
            <a:xfrm>
              <a:off x="827096" y="4628931"/>
              <a:ext cx="1266466" cy="407089"/>
            </a:xfrm>
            <a:prstGeom prst="rect">
              <a:avLst/>
            </a:prstGeom>
            <a:noFill/>
            <a:ln/>
          </p:spPr>
          <p:txBody>
            <a:bodyPr wrap="square" lIns="0" tIns="0" rIns="0" bIns="0" rtlCol="0" anchor="t">
              <a:normAutofit/>
            </a:bodyPr>
            <a:lstStyle/>
            <a:p>
              <a:pPr algn="ctr" defTabSz="685800">
                <a:lnSpc>
                  <a:spcPct val="104000"/>
                </a:lnSpc>
              </a:pPr>
              <a:r>
                <a:rPr lang="en-US" sz="938" dirty="0">
                  <a:solidFill>
                    <a:srgbClr val="1B1B27"/>
                  </a:solidFill>
                  <a:latin typeface="Raleway" pitchFamily="34" charset="0"/>
                  <a:ea typeface="Raleway" pitchFamily="34" charset="-122"/>
                  <a:cs typeface="Raleway" pitchFamily="34" charset="-120"/>
                </a:rPr>
                <a:t>Self checking functions </a:t>
              </a:r>
              <a:endParaRPr lang="en-US" sz="938" dirty="0">
                <a:solidFill>
                  <a:prstClr val="black"/>
                </a:solidFill>
                <a:latin typeface="Calibri" panose="020F0502020204030204"/>
              </a:endParaRPr>
            </a:p>
          </p:txBody>
        </p:sp>
      </p:grpSp>
    </p:spTree>
    <p:extLst>
      <p:ext uri="{BB962C8B-B14F-4D97-AF65-F5344CB8AC3E}">
        <p14:creationId xmlns:p14="http://schemas.microsoft.com/office/powerpoint/2010/main" val="40623112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1000"/>
                                        <p:tgtEl>
                                          <p:spTgt spid="11"/>
                                        </p:tgtEl>
                                      </p:cBhvr>
                                    </p:animEffect>
                                    <p:anim calcmode="lin" valueType="num">
                                      <p:cBhvr>
                                        <p:cTn id="35" dur="1000" fill="hold"/>
                                        <p:tgtEl>
                                          <p:spTgt spid="11"/>
                                        </p:tgtEl>
                                        <p:attrNameLst>
                                          <p:attrName>ppt_x</p:attrName>
                                        </p:attrNameLst>
                                      </p:cBhvr>
                                      <p:tavLst>
                                        <p:tav tm="0">
                                          <p:val>
                                            <p:strVal val="#ppt_x"/>
                                          </p:val>
                                        </p:tav>
                                        <p:tav tm="100000">
                                          <p:val>
                                            <p:strVal val="#ppt_x"/>
                                          </p:val>
                                        </p:tav>
                                      </p:tavLst>
                                    </p:anim>
                                    <p:anim calcmode="lin" valueType="num">
                                      <p:cBhvr>
                                        <p:cTn id="36" dur="1000" fill="hold"/>
                                        <p:tgtEl>
                                          <p:spTgt spid="11"/>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1000"/>
                                        <p:tgtEl>
                                          <p:spTgt spid="12"/>
                                        </p:tgtEl>
                                      </p:cBhvr>
                                    </p:animEffect>
                                    <p:anim calcmode="lin" valueType="num">
                                      <p:cBhvr>
                                        <p:cTn id="40" dur="1000" fill="hold"/>
                                        <p:tgtEl>
                                          <p:spTgt spid="12"/>
                                        </p:tgtEl>
                                        <p:attrNameLst>
                                          <p:attrName>ppt_x</p:attrName>
                                        </p:attrNameLst>
                                      </p:cBhvr>
                                      <p:tavLst>
                                        <p:tav tm="0">
                                          <p:val>
                                            <p:strVal val="#ppt_x"/>
                                          </p:val>
                                        </p:tav>
                                        <p:tav tm="100000">
                                          <p:val>
                                            <p:strVal val="#ppt_x"/>
                                          </p:val>
                                        </p:tav>
                                      </p:tavLst>
                                    </p:anim>
                                    <p:anim calcmode="lin" valueType="num">
                                      <p:cBhvr>
                                        <p:cTn id="41" dur="1000" fill="hold"/>
                                        <p:tgtEl>
                                          <p:spTgt spid="12"/>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1000"/>
                                        <p:tgtEl>
                                          <p:spTgt spid="13"/>
                                        </p:tgtEl>
                                      </p:cBhvr>
                                    </p:animEffect>
                                    <p:anim calcmode="lin" valueType="num">
                                      <p:cBhvr>
                                        <p:cTn id="45" dur="1000" fill="hold"/>
                                        <p:tgtEl>
                                          <p:spTgt spid="13"/>
                                        </p:tgtEl>
                                        <p:attrNameLst>
                                          <p:attrName>ppt_x</p:attrName>
                                        </p:attrNameLst>
                                      </p:cBhvr>
                                      <p:tavLst>
                                        <p:tav tm="0">
                                          <p:val>
                                            <p:strVal val="#ppt_x"/>
                                          </p:val>
                                        </p:tav>
                                        <p:tav tm="100000">
                                          <p:val>
                                            <p:strVal val="#ppt_x"/>
                                          </p:val>
                                        </p:tav>
                                      </p:tavLst>
                                    </p:anim>
                                    <p:anim calcmode="lin" valueType="num">
                                      <p:cBhvr>
                                        <p:cTn id="46" dur="1000" fill="hold"/>
                                        <p:tgtEl>
                                          <p:spTgt spid="13"/>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fade">
                                      <p:cBhvr>
                                        <p:cTn id="49" dur="1000"/>
                                        <p:tgtEl>
                                          <p:spTgt spid="14"/>
                                        </p:tgtEl>
                                      </p:cBhvr>
                                    </p:animEffect>
                                    <p:anim calcmode="lin" valueType="num">
                                      <p:cBhvr>
                                        <p:cTn id="50" dur="1000" fill="hold"/>
                                        <p:tgtEl>
                                          <p:spTgt spid="14"/>
                                        </p:tgtEl>
                                        <p:attrNameLst>
                                          <p:attrName>ppt_x</p:attrName>
                                        </p:attrNameLst>
                                      </p:cBhvr>
                                      <p:tavLst>
                                        <p:tav tm="0">
                                          <p:val>
                                            <p:strVal val="#ppt_x"/>
                                          </p:val>
                                        </p:tav>
                                        <p:tav tm="100000">
                                          <p:val>
                                            <p:strVal val="#ppt_x"/>
                                          </p:val>
                                        </p:tav>
                                      </p:tavLst>
                                    </p:anim>
                                    <p:anim calcmode="lin" valueType="num">
                                      <p:cBhvr>
                                        <p:cTn id="5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1" presetClass="entr" presetSubtype="1" fill="hold"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heel(1)">
                                      <p:cBhvr>
                                        <p:cTn id="56"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 grpId="0" animBg="1"/>
      <p:bldP spid="5" grpId="0" animBg="1"/>
      <p:bldP spid="6" grpId="0" animBg="1"/>
      <p:bldP spid="12"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120AF109-9308-A657-E937-7792B9379C6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687FE15-42B6-0857-A071-2B11C768B186}"/>
              </a:ext>
            </a:extLst>
          </p:cNvPr>
          <p:cNvSpPr txBox="1"/>
          <p:nvPr/>
        </p:nvSpPr>
        <p:spPr>
          <a:xfrm>
            <a:off x="281382" y="137159"/>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CXS RX Unit Verification</a:t>
            </a:r>
            <a:endParaRPr lang="en-US" sz="2250" dirty="0"/>
          </a:p>
        </p:txBody>
      </p:sp>
      <p:sp>
        <p:nvSpPr>
          <p:cNvPr id="8" name="Shape 6">
            <a:extLst>
              <a:ext uri="{FF2B5EF4-FFF2-40B4-BE49-F238E27FC236}">
                <a16:creationId xmlns:a16="http://schemas.microsoft.com/office/drawing/2014/main" id="{14062ABD-8F84-DA38-D397-34F460A917F0}"/>
              </a:ext>
            </a:extLst>
          </p:cNvPr>
          <p:cNvSpPr/>
          <p:nvPr/>
        </p:nvSpPr>
        <p:spPr>
          <a:xfrm>
            <a:off x="281382" y="617220"/>
            <a:ext cx="3622403" cy="4261067"/>
          </a:xfrm>
          <a:prstGeom prst="roundRect">
            <a:avLst>
              <a:gd name="adj" fmla="val 2326"/>
            </a:avLst>
          </a:prstGeom>
          <a:solidFill>
            <a:srgbClr val="1E2761"/>
          </a:solidFill>
          <a:ln/>
        </p:spPr>
        <p:txBody>
          <a:bodyPr/>
          <a:lstStyle/>
          <a:p>
            <a:r>
              <a:rPr lang="en-US" sz="1400" b="1" dirty="0">
                <a:solidFill>
                  <a:schemeClr val="bg1"/>
                </a:solidFill>
                <a:latin typeface="Times New Roman" panose="02020603050405020304" pitchFamily="18" charset="0"/>
                <a:cs typeface="Times New Roman" panose="02020603050405020304" pitchFamily="18" charset="0"/>
              </a:rPr>
              <a:t>Main Scenarios</a:t>
            </a:r>
          </a:p>
          <a:p>
            <a:endParaRPr lang="en-US" sz="1400" b="1" dirty="0">
              <a:solidFill>
                <a:schemeClr val="bg1"/>
              </a:solidFill>
              <a:latin typeface="Times New Roman" panose="02020603050405020304" pitchFamily="18" charset="0"/>
              <a:cs typeface="Times New Roman" panose="02020603050405020304" pitchFamily="18" charset="0"/>
            </a:endParaRPr>
          </a:p>
          <a:p>
            <a:pPr marL="171450" lvl="0" indent="-171450">
              <a:buFont typeface="Wingdings" panose="05000000000000000000" pitchFamily="2" charset="2"/>
              <a:buChar char="Ø"/>
            </a:pPr>
            <a:r>
              <a:rPr lang="en-US" sz="1200" dirty="0">
                <a:solidFill>
                  <a:schemeClr val="bg1"/>
                </a:solidFill>
                <a:latin typeface="Times New Roman" panose="02020603050405020304" pitchFamily="18" charset="0"/>
                <a:cs typeface="Times New Roman" panose="02020603050405020304" pitchFamily="18" charset="0"/>
              </a:rPr>
              <a:t>Reset verification</a:t>
            </a:r>
          </a:p>
          <a:p>
            <a:pPr marL="171450" lvl="0" indent="-171450">
              <a:buFont typeface="Wingdings" panose="05000000000000000000" pitchFamily="2" charset="2"/>
              <a:buChar char="Ø"/>
            </a:pPr>
            <a:r>
              <a:rPr lang="en-US" sz="1200" dirty="0">
                <a:solidFill>
                  <a:schemeClr val="bg1"/>
                </a:solidFill>
                <a:latin typeface="Times New Roman" panose="02020603050405020304" pitchFamily="18" charset="0"/>
                <a:cs typeface="Times New Roman" panose="02020603050405020304" pitchFamily="18" charset="0"/>
              </a:rPr>
              <a:t>Link activation handshake</a:t>
            </a:r>
          </a:p>
          <a:p>
            <a:pPr marL="171450" lvl="0" indent="-171450">
              <a:buFont typeface="Wingdings" panose="05000000000000000000" pitchFamily="2" charset="2"/>
              <a:buChar char="Ø"/>
            </a:pPr>
            <a:r>
              <a:rPr lang="en-US" sz="1200" dirty="0">
                <a:solidFill>
                  <a:schemeClr val="bg1"/>
                </a:solidFill>
                <a:latin typeface="Times New Roman" panose="02020603050405020304" pitchFamily="18" charset="0"/>
                <a:cs typeface="Times New Roman" panose="02020603050405020304" pitchFamily="18" charset="0"/>
              </a:rPr>
              <a:t>Single-flit reception</a:t>
            </a:r>
          </a:p>
          <a:p>
            <a:pPr marL="171450" lvl="0" indent="-171450">
              <a:buFont typeface="Wingdings" panose="05000000000000000000" pitchFamily="2" charset="2"/>
              <a:buChar char="Ø"/>
            </a:pPr>
            <a:r>
              <a:rPr lang="en-US" sz="1200" dirty="0">
                <a:solidFill>
                  <a:schemeClr val="bg1"/>
                </a:solidFill>
                <a:latin typeface="Times New Roman" panose="02020603050405020304" pitchFamily="18" charset="0"/>
                <a:cs typeface="Times New Roman" panose="02020603050405020304" pitchFamily="18" charset="0"/>
              </a:rPr>
              <a:t>Payload/control combinations</a:t>
            </a:r>
          </a:p>
          <a:p>
            <a:pPr marL="171450" lvl="0" indent="-171450">
              <a:buFont typeface="Wingdings" panose="05000000000000000000" pitchFamily="2" charset="2"/>
              <a:buChar char="Ø"/>
            </a:pPr>
            <a:r>
              <a:rPr lang="en-US" sz="1200" dirty="0">
                <a:solidFill>
                  <a:schemeClr val="bg1"/>
                </a:solidFill>
                <a:latin typeface="Times New Roman" panose="02020603050405020304" pitchFamily="18" charset="0"/>
                <a:cs typeface="Times New Roman" panose="02020603050405020304" pitchFamily="18" charset="0"/>
              </a:rPr>
              <a:t>Back-to-back flits</a:t>
            </a:r>
          </a:p>
          <a:p>
            <a:pPr marL="171450" lvl="0" indent="-171450">
              <a:buFont typeface="Wingdings" panose="05000000000000000000" pitchFamily="2" charset="2"/>
              <a:buChar char="Ø"/>
            </a:pPr>
            <a:r>
              <a:rPr lang="en-US" sz="1200" dirty="0">
                <a:solidFill>
                  <a:schemeClr val="bg1"/>
                </a:solidFill>
                <a:latin typeface="Times New Roman" panose="02020603050405020304" pitchFamily="18" charset="0"/>
                <a:cs typeface="Times New Roman" panose="02020603050405020304" pitchFamily="18" charset="0"/>
              </a:rPr>
              <a:t>Credit return</a:t>
            </a:r>
          </a:p>
          <a:p>
            <a:pPr marL="171450" lvl="0" indent="-171450">
              <a:buFont typeface="Wingdings" panose="05000000000000000000" pitchFamily="2" charset="2"/>
              <a:buChar char="Ø"/>
            </a:pPr>
            <a:r>
              <a:rPr lang="en-US" sz="1200" dirty="0">
                <a:solidFill>
                  <a:schemeClr val="bg1"/>
                </a:solidFill>
                <a:latin typeface="Times New Roman" panose="02020603050405020304" pitchFamily="18" charset="0"/>
                <a:cs typeface="Times New Roman" panose="02020603050405020304" pitchFamily="18" charset="0"/>
              </a:rPr>
              <a:t>Link deactivation</a:t>
            </a:r>
          </a:p>
          <a:p>
            <a:pPr marL="171450" lvl="0" indent="-171450">
              <a:buFont typeface="Wingdings" panose="05000000000000000000" pitchFamily="2" charset="2"/>
              <a:buChar char="Ø"/>
            </a:pPr>
            <a:r>
              <a:rPr lang="en-US" sz="1200" dirty="0">
                <a:solidFill>
                  <a:schemeClr val="bg1"/>
                </a:solidFill>
                <a:latin typeface="Times New Roman" panose="02020603050405020304" pitchFamily="18" charset="0"/>
                <a:cs typeface="Times New Roman" panose="02020603050405020304" pitchFamily="18" charset="0"/>
              </a:rPr>
              <a:t>Invalid flit reception</a:t>
            </a:r>
          </a:p>
          <a:p>
            <a:pPr marL="171450" lvl="0" indent="-171450">
              <a:buFont typeface="Wingdings" panose="05000000000000000000" pitchFamily="2" charset="2"/>
              <a:buChar char="Ø"/>
            </a:pPr>
            <a:r>
              <a:rPr lang="en-US" sz="1200" dirty="0">
                <a:solidFill>
                  <a:schemeClr val="bg1"/>
                </a:solidFill>
                <a:latin typeface="Times New Roman" panose="02020603050405020304" pitchFamily="18" charset="0"/>
                <a:cs typeface="Times New Roman" panose="02020603050405020304" pitchFamily="18" charset="0"/>
              </a:rPr>
              <a:t>Credit exhaustion and buffer release</a:t>
            </a:r>
          </a:p>
          <a:p>
            <a:pPr lvl="0"/>
            <a:endParaRPr lang="en-US" sz="1400" dirty="0">
              <a:solidFill>
                <a:schemeClr val="bg1"/>
              </a:solidFill>
              <a:latin typeface="Times New Roman" panose="02020603050405020304" pitchFamily="18" charset="0"/>
              <a:cs typeface="Times New Roman" panose="02020603050405020304" pitchFamily="18" charset="0"/>
            </a:endParaRPr>
          </a:p>
          <a:p>
            <a:r>
              <a:rPr lang="en-US" sz="1400" b="1" dirty="0">
                <a:solidFill>
                  <a:schemeClr val="bg1"/>
                </a:solidFill>
                <a:latin typeface="Times New Roman" panose="02020603050405020304" pitchFamily="18" charset="0"/>
                <a:cs typeface="Times New Roman" panose="02020603050405020304" pitchFamily="18" charset="0"/>
              </a:rPr>
              <a:t>Result</a:t>
            </a:r>
          </a:p>
          <a:p>
            <a:endParaRPr lang="en-US" sz="1200" b="1" dirty="0">
              <a:solidFill>
                <a:schemeClr val="bg1"/>
              </a:solidFill>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ü"/>
            </a:pPr>
            <a:r>
              <a:rPr lang="en-US" sz="1200" b="1" dirty="0">
                <a:solidFill>
                  <a:schemeClr val="bg1"/>
                </a:solidFill>
                <a:latin typeface="Times New Roman" panose="02020603050405020304" pitchFamily="18" charset="0"/>
                <a:cs typeface="Times New Roman" panose="02020603050405020304" pitchFamily="18" charset="0"/>
              </a:rPr>
              <a:t>9/9 RX unit test cases PASS</a:t>
            </a:r>
            <a:endParaRPr lang="en-US" sz="1200" dirty="0">
              <a:solidFill>
                <a:schemeClr val="bg1"/>
              </a:solidFill>
              <a:latin typeface="Times New Roman" panose="02020603050405020304" pitchFamily="18" charset="0"/>
              <a:cs typeface="Times New Roman" panose="02020603050405020304" pitchFamily="18" charset="0"/>
            </a:endParaRPr>
          </a:p>
          <a:p>
            <a:pPr marL="171450" lvl="0" indent="-171450">
              <a:buFont typeface="Wingdings" panose="05000000000000000000" pitchFamily="2" charset="2"/>
              <a:buChar char="ü"/>
            </a:pPr>
            <a:r>
              <a:rPr lang="en-US" sz="1200" dirty="0">
                <a:solidFill>
                  <a:schemeClr val="bg1"/>
                </a:solidFill>
                <a:latin typeface="Times New Roman" panose="02020603050405020304" pitchFamily="18" charset="0"/>
                <a:cs typeface="Times New Roman" panose="02020603050405020304" pitchFamily="18" charset="0"/>
              </a:rPr>
              <a:t>Data path verified</a:t>
            </a:r>
          </a:p>
          <a:p>
            <a:pPr marL="171450" lvl="0" indent="-171450">
              <a:buFont typeface="Wingdings" panose="05000000000000000000" pitchFamily="2" charset="2"/>
              <a:buChar char="ü"/>
            </a:pPr>
            <a:r>
              <a:rPr lang="en-US" sz="1200" dirty="0">
                <a:solidFill>
                  <a:schemeClr val="bg1"/>
                </a:solidFill>
                <a:latin typeface="Times New Roman" panose="02020603050405020304" pitchFamily="18" charset="0"/>
                <a:cs typeface="Times New Roman" panose="02020603050405020304" pitchFamily="18" charset="0"/>
              </a:rPr>
              <a:t>Control decoding verified</a:t>
            </a:r>
          </a:p>
          <a:p>
            <a:pPr marL="171450" lvl="0" indent="-171450">
              <a:buFont typeface="Wingdings" panose="05000000000000000000" pitchFamily="2" charset="2"/>
              <a:buChar char="ü"/>
            </a:pPr>
            <a:r>
              <a:rPr lang="en-US" sz="1200" dirty="0">
                <a:solidFill>
                  <a:schemeClr val="bg1"/>
                </a:solidFill>
                <a:latin typeface="Times New Roman" panose="02020603050405020304" pitchFamily="18" charset="0"/>
                <a:cs typeface="Times New Roman" panose="02020603050405020304" pitchFamily="18" charset="0"/>
              </a:rPr>
              <a:t>Link control verified</a:t>
            </a:r>
          </a:p>
          <a:p>
            <a:pPr marL="171450" lvl="0" indent="-171450">
              <a:buFont typeface="Wingdings" panose="05000000000000000000" pitchFamily="2" charset="2"/>
              <a:buChar char="ü"/>
            </a:pPr>
            <a:r>
              <a:rPr lang="en-US" sz="1200" dirty="0">
                <a:solidFill>
                  <a:schemeClr val="bg1"/>
                </a:solidFill>
                <a:latin typeface="Times New Roman" panose="02020603050405020304" pitchFamily="18" charset="0"/>
                <a:cs typeface="Times New Roman" panose="02020603050405020304" pitchFamily="18" charset="0"/>
              </a:rPr>
              <a:t>Credit management verified</a:t>
            </a:r>
          </a:p>
          <a:p>
            <a:pPr marL="171450" lvl="0" indent="-171450">
              <a:buFont typeface="Wingdings" panose="05000000000000000000" pitchFamily="2" charset="2"/>
              <a:buChar char="ü"/>
            </a:pPr>
            <a:r>
              <a:rPr lang="en-US" sz="1200" dirty="0">
                <a:solidFill>
                  <a:schemeClr val="bg1"/>
                </a:solidFill>
                <a:latin typeface="Times New Roman" panose="02020603050405020304" pitchFamily="18" charset="0"/>
                <a:cs typeface="Times New Roman" panose="02020603050405020304" pitchFamily="18" charset="0"/>
              </a:rPr>
              <a:t>FIFO/buffer management verified</a:t>
            </a:r>
          </a:p>
          <a:p>
            <a:pPr marL="171450" lvl="0" indent="-171450">
              <a:buFont typeface="Wingdings" panose="05000000000000000000" pitchFamily="2" charset="2"/>
              <a:buChar char="ü"/>
            </a:pPr>
            <a:r>
              <a:rPr lang="en-US" sz="1200" dirty="0">
                <a:solidFill>
                  <a:schemeClr val="bg1"/>
                </a:solidFill>
                <a:latin typeface="Times New Roman" panose="02020603050405020304" pitchFamily="18" charset="0"/>
                <a:cs typeface="Times New Roman" panose="02020603050405020304" pitchFamily="18" charset="0"/>
              </a:rPr>
              <a:t>Corner cases verified</a:t>
            </a:r>
          </a:p>
          <a:p>
            <a:pPr marL="171450" lvl="0" indent="-171450">
              <a:buFont typeface="Wingdings" panose="05000000000000000000" pitchFamily="2" charset="2"/>
              <a:buChar char="ü"/>
            </a:pPr>
            <a:r>
              <a:rPr lang="en-US" sz="1200" dirty="0">
                <a:solidFill>
                  <a:schemeClr val="bg1"/>
                </a:solidFill>
                <a:latin typeface="Times New Roman" panose="02020603050405020304" pitchFamily="18" charset="0"/>
                <a:cs typeface="Times New Roman" panose="02020603050405020304" pitchFamily="18" charset="0"/>
              </a:rPr>
              <a:t>100% code coverage on </a:t>
            </a:r>
            <a:r>
              <a:rPr lang="en-US" sz="1200" dirty="0" err="1">
                <a:solidFill>
                  <a:schemeClr val="bg1"/>
                </a:solidFill>
                <a:latin typeface="Times New Roman" panose="02020603050405020304" pitchFamily="18" charset="0"/>
                <a:cs typeface="Times New Roman" panose="02020603050405020304" pitchFamily="18" charset="0"/>
              </a:rPr>
              <a:t>questasim</a:t>
            </a:r>
            <a:r>
              <a:rPr lang="en-US" sz="1200" dirty="0">
                <a:solidFill>
                  <a:schemeClr val="bg1"/>
                </a:solidFill>
                <a:latin typeface="Times New Roman" panose="02020603050405020304" pitchFamily="18" charset="0"/>
                <a:cs typeface="Times New Roman" panose="02020603050405020304" pitchFamily="18" charset="0"/>
              </a:rPr>
              <a:t>  </a:t>
            </a:r>
          </a:p>
          <a:p>
            <a:endParaRPr lang="en-US" sz="1200" dirty="0">
              <a:solidFill>
                <a:schemeClr val="bg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4CC22C9-AA13-E0DC-CA2D-C3B6CC1C85C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5321" y="617219"/>
            <a:ext cx="4889996" cy="2217607"/>
          </a:xfrm>
          <a:prstGeom prst="rect">
            <a:avLst/>
          </a:prstGeom>
          <a:ln>
            <a:noFill/>
          </a:ln>
          <a:effectLst>
            <a:outerShdw blurRad="190500" algn="tl" rotWithShape="0">
              <a:srgbClr val="000000">
                <a:alpha val="70000"/>
              </a:srgbClr>
            </a:outerShdw>
          </a:effectLst>
        </p:spPr>
      </p:pic>
      <p:grpSp>
        <p:nvGrpSpPr>
          <p:cNvPr id="5" name="Group 4">
            <a:extLst>
              <a:ext uri="{FF2B5EF4-FFF2-40B4-BE49-F238E27FC236}">
                <a16:creationId xmlns:a16="http://schemas.microsoft.com/office/drawing/2014/main" id="{D05961F7-B862-3990-55E9-D520896D2D3F}"/>
              </a:ext>
            </a:extLst>
          </p:cNvPr>
          <p:cNvGrpSpPr/>
          <p:nvPr/>
        </p:nvGrpSpPr>
        <p:grpSpPr>
          <a:xfrm>
            <a:off x="4105321" y="2834826"/>
            <a:ext cx="4902775" cy="2043462"/>
            <a:chOff x="0" y="0"/>
            <a:chExt cx="7197436" cy="4328795"/>
          </a:xfrm>
        </p:grpSpPr>
        <p:pic>
          <p:nvPicPr>
            <p:cNvPr id="6" name="Picture 5">
              <a:extLst>
                <a:ext uri="{FF2B5EF4-FFF2-40B4-BE49-F238E27FC236}">
                  <a16:creationId xmlns:a16="http://schemas.microsoft.com/office/drawing/2014/main" id="{24B44CB0-E3DD-39D2-D79D-10860A8D11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4072890" cy="4328795"/>
            </a:xfrm>
            <a:prstGeom prst="rect">
              <a:avLst/>
            </a:prstGeom>
          </p:spPr>
        </p:pic>
        <p:pic>
          <p:nvPicPr>
            <p:cNvPr id="7" name="Picture 6">
              <a:extLst>
                <a:ext uri="{FF2B5EF4-FFF2-40B4-BE49-F238E27FC236}">
                  <a16:creationId xmlns:a16="http://schemas.microsoft.com/office/drawing/2014/main" id="{B6FCB8D5-2B08-60C5-C9CD-DAD94E434D7A}"/>
                </a:ext>
              </a:extLst>
            </p:cNvPr>
            <p:cNvPicPr>
              <a:picLocks noChangeAspect="1"/>
            </p:cNvPicPr>
            <p:nvPr/>
          </p:nvPicPr>
          <p:blipFill rotWithShape="1">
            <a:blip r:embed="rId5">
              <a:extLst>
                <a:ext uri="{28A0092B-C50C-407E-A947-70E740481C1C}">
                  <a14:useLocalDpi xmlns:a14="http://schemas.microsoft.com/office/drawing/2010/main" val="0"/>
                </a:ext>
              </a:extLst>
            </a:blip>
            <a:srcRect l="1143" r="26104"/>
            <a:stretch>
              <a:fillRect/>
            </a:stretch>
          </p:blipFill>
          <p:spPr bwMode="auto">
            <a:xfrm>
              <a:off x="4073236" y="0"/>
              <a:ext cx="3124200" cy="4328795"/>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110233089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583597DA-365D-DA56-E5B2-D4A9D7CB98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358A675-7825-BA54-B5F1-BD202FD397C2}"/>
              </a:ext>
            </a:extLst>
          </p:cNvPr>
          <p:cNvSpPr txBox="1"/>
          <p:nvPr/>
        </p:nvSpPr>
        <p:spPr>
          <a:xfrm>
            <a:off x="281382" y="137159"/>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CXS TX Unit Verification</a:t>
            </a:r>
            <a:endParaRPr lang="en-US" sz="2250" dirty="0"/>
          </a:p>
        </p:txBody>
      </p:sp>
      <p:sp>
        <p:nvSpPr>
          <p:cNvPr id="8" name="Shape 6">
            <a:extLst>
              <a:ext uri="{FF2B5EF4-FFF2-40B4-BE49-F238E27FC236}">
                <a16:creationId xmlns:a16="http://schemas.microsoft.com/office/drawing/2014/main" id="{067329D4-163F-EEA9-F16E-E53F26CFE413}"/>
              </a:ext>
            </a:extLst>
          </p:cNvPr>
          <p:cNvSpPr/>
          <p:nvPr/>
        </p:nvSpPr>
        <p:spPr>
          <a:xfrm>
            <a:off x="281382" y="617220"/>
            <a:ext cx="3650538" cy="4261067"/>
          </a:xfrm>
          <a:prstGeom prst="roundRect">
            <a:avLst>
              <a:gd name="adj" fmla="val 2326"/>
            </a:avLst>
          </a:prstGeom>
          <a:solidFill>
            <a:schemeClr val="bg1"/>
          </a:solidFill>
          <a:ln/>
        </p:spPr>
        <p:txBody>
          <a:bodyPr/>
          <a:lstStyle/>
          <a:p>
            <a:r>
              <a:rPr lang="en-US" sz="1400" b="1" dirty="0">
                <a:solidFill>
                  <a:srgbClr val="1E2761"/>
                </a:solidFill>
                <a:latin typeface="Times New Roman" panose="02020603050405020304" pitchFamily="18" charset="0"/>
                <a:cs typeface="Times New Roman" panose="02020603050405020304" pitchFamily="18" charset="0"/>
              </a:rPr>
              <a:t>Main Scenarios</a:t>
            </a:r>
          </a:p>
          <a:p>
            <a:endParaRPr lang="en-US" sz="1400" b="1" dirty="0">
              <a:solidFill>
                <a:srgbClr val="1E2761"/>
              </a:solidFill>
              <a:latin typeface="Times New Roman" panose="02020603050405020304" pitchFamily="18" charset="0"/>
              <a:cs typeface="Times New Roman" panose="02020603050405020304" pitchFamily="18" charset="0"/>
            </a:endParaRPr>
          </a:p>
          <a:p>
            <a:pPr marL="171450" lvl="0" indent="-171450">
              <a:buFont typeface="Wingdings" panose="05000000000000000000" pitchFamily="2" charset="2"/>
              <a:buChar char="Ø"/>
            </a:pPr>
            <a:r>
              <a:rPr lang="en-US" sz="1200" dirty="0">
                <a:solidFill>
                  <a:srgbClr val="1E2761"/>
                </a:solidFill>
                <a:latin typeface="Times New Roman" panose="02020603050405020304" pitchFamily="18" charset="0"/>
                <a:cs typeface="Times New Roman" panose="02020603050405020304" pitchFamily="18" charset="0"/>
              </a:rPr>
              <a:t>Reset verification</a:t>
            </a:r>
          </a:p>
          <a:p>
            <a:pPr marL="171450" lvl="0" indent="-171450">
              <a:buFont typeface="Wingdings" panose="05000000000000000000" pitchFamily="2" charset="2"/>
              <a:buChar char="Ø"/>
            </a:pPr>
            <a:r>
              <a:rPr lang="en-US" sz="1200" dirty="0">
                <a:solidFill>
                  <a:srgbClr val="1E2761"/>
                </a:solidFill>
                <a:latin typeface="Times New Roman" panose="02020603050405020304" pitchFamily="18" charset="0"/>
                <a:cs typeface="Times New Roman" panose="02020603050405020304" pitchFamily="18" charset="0"/>
              </a:rPr>
              <a:t>Link activation</a:t>
            </a:r>
          </a:p>
          <a:p>
            <a:pPr marL="171450" lvl="0" indent="-171450">
              <a:buFont typeface="Wingdings" panose="05000000000000000000" pitchFamily="2" charset="2"/>
              <a:buChar char="Ø"/>
            </a:pPr>
            <a:r>
              <a:rPr lang="en-US" sz="1200" dirty="0">
                <a:solidFill>
                  <a:srgbClr val="1E2761"/>
                </a:solidFill>
                <a:latin typeface="Times New Roman" panose="02020603050405020304" pitchFamily="18" charset="0"/>
                <a:cs typeface="Times New Roman" panose="02020603050405020304" pitchFamily="18" charset="0"/>
              </a:rPr>
              <a:t>Single-flit transmission</a:t>
            </a:r>
          </a:p>
          <a:p>
            <a:pPr marL="171450" lvl="0" indent="-171450">
              <a:buFont typeface="Wingdings" panose="05000000000000000000" pitchFamily="2" charset="2"/>
              <a:buChar char="Ø"/>
            </a:pPr>
            <a:r>
              <a:rPr lang="en-US" sz="1200" dirty="0">
                <a:solidFill>
                  <a:srgbClr val="1E2761"/>
                </a:solidFill>
                <a:latin typeface="Times New Roman" panose="02020603050405020304" pitchFamily="18" charset="0"/>
                <a:cs typeface="Times New Roman" panose="02020603050405020304" pitchFamily="18" charset="0"/>
              </a:rPr>
              <a:t>Transmission without credit</a:t>
            </a:r>
          </a:p>
          <a:p>
            <a:pPr marL="171450" lvl="0" indent="-171450">
              <a:buFont typeface="Wingdings" panose="05000000000000000000" pitchFamily="2" charset="2"/>
              <a:buChar char="Ø"/>
            </a:pPr>
            <a:r>
              <a:rPr lang="en-US" sz="1200" dirty="0">
                <a:solidFill>
                  <a:srgbClr val="1E2761"/>
                </a:solidFill>
                <a:latin typeface="Times New Roman" panose="02020603050405020304" pitchFamily="18" charset="0"/>
                <a:cs typeface="Times New Roman" panose="02020603050405020304" pitchFamily="18" charset="0"/>
              </a:rPr>
              <a:t>Multi-flit transmission</a:t>
            </a:r>
          </a:p>
          <a:p>
            <a:pPr marL="171450" lvl="0" indent="-171450">
              <a:buFont typeface="Wingdings" panose="05000000000000000000" pitchFamily="2" charset="2"/>
              <a:buChar char="Ø"/>
            </a:pPr>
            <a:r>
              <a:rPr lang="en-US" sz="1200" dirty="0">
                <a:solidFill>
                  <a:srgbClr val="1E2761"/>
                </a:solidFill>
                <a:latin typeface="Times New Roman" panose="02020603050405020304" pitchFamily="18" charset="0"/>
                <a:cs typeface="Times New Roman" panose="02020603050405020304" pitchFamily="18" charset="0"/>
              </a:rPr>
              <a:t>FIFO operation</a:t>
            </a:r>
          </a:p>
          <a:p>
            <a:pPr marL="171450" lvl="0" indent="-171450">
              <a:buFont typeface="Wingdings" panose="05000000000000000000" pitchFamily="2" charset="2"/>
              <a:buChar char="Ø"/>
            </a:pPr>
            <a:r>
              <a:rPr lang="en-US" sz="1200" dirty="0">
                <a:solidFill>
                  <a:srgbClr val="1E2761"/>
                </a:solidFill>
                <a:latin typeface="Times New Roman" panose="02020603050405020304" pitchFamily="18" charset="0"/>
                <a:cs typeface="Times New Roman" panose="02020603050405020304" pitchFamily="18" charset="0"/>
              </a:rPr>
              <a:t>Multiple queued packets</a:t>
            </a:r>
          </a:p>
          <a:p>
            <a:pPr marL="171450" lvl="0" indent="-171450">
              <a:buFont typeface="Wingdings" panose="05000000000000000000" pitchFamily="2" charset="2"/>
              <a:buChar char="Ø"/>
            </a:pPr>
            <a:r>
              <a:rPr lang="en-US" sz="1200" dirty="0">
                <a:solidFill>
                  <a:srgbClr val="1E2761"/>
                </a:solidFill>
                <a:latin typeface="Times New Roman" panose="02020603050405020304" pitchFamily="18" charset="0"/>
                <a:cs typeface="Times New Roman" panose="02020603050405020304" pitchFamily="18" charset="0"/>
              </a:rPr>
              <a:t>Credit accumulation/consumption</a:t>
            </a:r>
          </a:p>
          <a:p>
            <a:pPr marL="171450" lvl="0" indent="-171450">
              <a:buFont typeface="Wingdings" panose="05000000000000000000" pitchFamily="2" charset="2"/>
              <a:buChar char="Ø"/>
            </a:pPr>
            <a:r>
              <a:rPr lang="en-US" sz="1200" dirty="0">
                <a:solidFill>
                  <a:srgbClr val="1E2761"/>
                </a:solidFill>
                <a:latin typeface="Times New Roman" panose="02020603050405020304" pitchFamily="18" charset="0"/>
                <a:cs typeface="Times New Roman" panose="02020603050405020304" pitchFamily="18" charset="0"/>
              </a:rPr>
              <a:t>Credit exhaustion</a:t>
            </a:r>
          </a:p>
          <a:p>
            <a:pPr marL="171450" lvl="0" indent="-171450">
              <a:buFont typeface="Wingdings" panose="05000000000000000000" pitchFamily="2" charset="2"/>
              <a:buChar char="Ø"/>
            </a:pPr>
            <a:r>
              <a:rPr lang="en-US" sz="1200" dirty="0">
                <a:solidFill>
                  <a:srgbClr val="1E2761"/>
                </a:solidFill>
                <a:latin typeface="Times New Roman" panose="02020603050405020304" pitchFamily="18" charset="0"/>
                <a:cs typeface="Times New Roman" panose="02020603050405020304" pitchFamily="18" charset="0"/>
              </a:rPr>
              <a:t>Link deactivation</a:t>
            </a:r>
          </a:p>
          <a:p>
            <a:pPr lvl="0"/>
            <a:endParaRPr lang="en-US" sz="1400" dirty="0">
              <a:solidFill>
                <a:srgbClr val="1E2761"/>
              </a:solidFill>
              <a:latin typeface="Times New Roman" panose="02020603050405020304" pitchFamily="18" charset="0"/>
              <a:cs typeface="Times New Roman" panose="02020603050405020304" pitchFamily="18" charset="0"/>
            </a:endParaRPr>
          </a:p>
          <a:p>
            <a:r>
              <a:rPr lang="en-US" sz="1400" b="1" dirty="0">
                <a:solidFill>
                  <a:srgbClr val="1E2761"/>
                </a:solidFill>
                <a:latin typeface="Times New Roman" panose="02020603050405020304" pitchFamily="18" charset="0"/>
                <a:cs typeface="Times New Roman" panose="02020603050405020304" pitchFamily="18" charset="0"/>
              </a:rPr>
              <a:t>Result</a:t>
            </a:r>
          </a:p>
          <a:p>
            <a:endParaRPr lang="en-US" sz="1200" b="1" dirty="0">
              <a:solidFill>
                <a:srgbClr val="1E2761"/>
              </a:solidFill>
              <a:latin typeface="Times New Roman" panose="02020603050405020304" pitchFamily="18" charset="0"/>
              <a:cs typeface="Times New Roman" panose="02020603050405020304" pitchFamily="18" charset="0"/>
            </a:endParaRPr>
          </a:p>
          <a:p>
            <a:pPr marL="171450" indent="-171450">
              <a:buFont typeface="Wingdings" panose="05000000000000000000" pitchFamily="2" charset="2"/>
              <a:buChar char="ü"/>
            </a:pPr>
            <a:r>
              <a:rPr lang="en-US" sz="1200" b="1" dirty="0">
                <a:solidFill>
                  <a:srgbClr val="1E2761"/>
                </a:solidFill>
                <a:latin typeface="Times New Roman" panose="02020603050405020304" pitchFamily="18" charset="0"/>
                <a:cs typeface="Times New Roman" panose="02020603050405020304" pitchFamily="18" charset="0"/>
              </a:rPr>
              <a:t>10/10 TX unit test cases PASS</a:t>
            </a:r>
          </a:p>
          <a:p>
            <a:pPr marL="171450" indent="-171450">
              <a:buFont typeface="Wingdings" panose="05000000000000000000" pitchFamily="2" charset="2"/>
              <a:buChar char="ü"/>
            </a:pPr>
            <a:r>
              <a:rPr lang="en-US" sz="1200" dirty="0">
                <a:solidFill>
                  <a:srgbClr val="1E2761"/>
                </a:solidFill>
                <a:latin typeface="Times New Roman" panose="02020603050405020304" pitchFamily="18" charset="0"/>
                <a:cs typeface="Times New Roman" panose="02020603050405020304" pitchFamily="18" charset="0"/>
              </a:rPr>
              <a:t>The TX unit was verified for packet formatting, buffering, transmission, and credit-based flow control.</a:t>
            </a:r>
          </a:p>
          <a:p>
            <a:pPr marL="171450" indent="-171450">
              <a:buFont typeface="Wingdings" panose="05000000000000000000" pitchFamily="2" charset="2"/>
              <a:buChar char="ü"/>
            </a:pPr>
            <a:r>
              <a:rPr lang="en-US" sz="1200" dirty="0">
                <a:solidFill>
                  <a:srgbClr val="1E2761"/>
                </a:solidFill>
                <a:latin typeface="Times New Roman" panose="02020603050405020304" pitchFamily="18" charset="0"/>
                <a:cs typeface="Times New Roman" panose="02020603050405020304" pitchFamily="18" charset="0"/>
              </a:rPr>
              <a:t>Link control verified</a:t>
            </a:r>
          </a:p>
          <a:p>
            <a:pPr marL="171450" lvl="0" indent="-171450">
              <a:buFont typeface="Wingdings" panose="05000000000000000000" pitchFamily="2" charset="2"/>
              <a:buChar char="ü"/>
            </a:pPr>
            <a:r>
              <a:rPr lang="en-US" sz="1200" dirty="0">
                <a:solidFill>
                  <a:srgbClr val="1E2761"/>
                </a:solidFill>
                <a:latin typeface="Times New Roman" panose="02020603050405020304" pitchFamily="18" charset="0"/>
                <a:cs typeface="Times New Roman" panose="02020603050405020304" pitchFamily="18" charset="0"/>
              </a:rPr>
              <a:t>Corner cases verified</a:t>
            </a:r>
          </a:p>
          <a:p>
            <a:pPr marL="171450" lvl="0" indent="-171450">
              <a:buFont typeface="Wingdings" panose="05000000000000000000" pitchFamily="2" charset="2"/>
              <a:buChar char="ü"/>
            </a:pPr>
            <a:r>
              <a:rPr lang="en-US" sz="1200" dirty="0">
                <a:solidFill>
                  <a:srgbClr val="1E2761"/>
                </a:solidFill>
                <a:latin typeface="Times New Roman" panose="02020603050405020304" pitchFamily="18" charset="0"/>
                <a:cs typeface="Times New Roman" panose="02020603050405020304" pitchFamily="18" charset="0"/>
              </a:rPr>
              <a:t>100% code coverage on </a:t>
            </a:r>
            <a:r>
              <a:rPr lang="en-US" sz="1200" dirty="0" err="1">
                <a:solidFill>
                  <a:srgbClr val="1E2761"/>
                </a:solidFill>
                <a:latin typeface="Times New Roman" panose="02020603050405020304" pitchFamily="18" charset="0"/>
                <a:cs typeface="Times New Roman" panose="02020603050405020304" pitchFamily="18" charset="0"/>
              </a:rPr>
              <a:t>questasim</a:t>
            </a:r>
            <a:r>
              <a:rPr lang="en-US" sz="1200" dirty="0">
                <a:solidFill>
                  <a:srgbClr val="1E2761"/>
                </a:solidFill>
                <a:latin typeface="Times New Roman" panose="02020603050405020304" pitchFamily="18" charset="0"/>
                <a:cs typeface="Times New Roman" panose="02020603050405020304" pitchFamily="18" charset="0"/>
              </a:rPr>
              <a:t>  </a:t>
            </a:r>
          </a:p>
          <a:p>
            <a:endParaRPr lang="en-US" sz="1200" dirty="0">
              <a:solidFill>
                <a:srgbClr val="1E276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BE46A8F-D420-8082-7E4A-B2BF62E6D692}"/>
              </a:ext>
            </a:extLst>
          </p:cNvPr>
          <p:cNvPicPr>
            <a:picLocks noChangeAspect="1"/>
          </p:cNvPicPr>
          <p:nvPr/>
        </p:nvPicPr>
        <p:blipFill>
          <a:blip r:embed="rId3"/>
          <a:srcRect/>
          <a:stretch/>
        </p:blipFill>
        <p:spPr>
          <a:xfrm>
            <a:off x="4105321" y="617220"/>
            <a:ext cx="4889996" cy="2043462"/>
          </a:xfrm>
          <a:prstGeom prst="rect">
            <a:avLst/>
          </a:prstGeom>
          <a:ln>
            <a:noFill/>
          </a:ln>
          <a:effectLst>
            <a:outerShdw blurRad="190500" algn="tl" rotWithShape="0">
              <a:srgbClr val="000000">
                <a:alpha val="70000"/>
              </a:srgbClr>
            </a:outerShdw>
          </a:effectLst>
        </p:spPr>
      </p:pic>
      <p:grpSp>
        <p:nvGrpSpPr>
          <p:cNvPr id="5" name="Group 4">
            <a:extLst>
              <a:ext uri="{FF2B5EF4-FFF2-40B4-BE49-F238E27FC236}">
                <a16:creationId xmlns:a16="http://schemas.microsoft.com/office/drawing/2014/main" id="{F648F383-F4BC-5747-A1D9-0A0BF3F9C919}"/>
              </a:ext>
            </a:extLst>
          </p:cNvPr>
          <p:cNvGrpSpPr/>
          <p:nvPr/>
        </p:nvGrpSpPr>
        <p:grpSpPr>
          <a:xfrm>
            <a:off x="4105321" y="2660682"/>
            <a:ext cx="4902775" cy="2217606"/>
            <a:chOff x="717297" y="-4"/>
            <a:chExt cx="6480139" cy="4328799"/>
          </a:xfrm>
        </p:grpSpPr>
        <p:pic>
          <p:nvPicPr>
            <p:cNvPr id="6" name="Picture 5">
              <a:extLst>
                <a:ext uri="{FF2B5EF4-FFF2-40B4-BE49-F238E27FC236}">
                  <a16:creationId xmlns:a16="http://schemas.microsoft.com/office/drawing/2014/main" id="{83D758E3-A20E-DA24-A063-D4C1512712F7}"/>
                </a:ext>
              </a:extLst>
            </p:cNvPr>
            <p:cNvPicPr>
              <a:picLocks noChangeAspect="1"/>
            </p:cNvPicPr>
            <p:nvPr/>
          </p:nvPicPr>
          <p:blipFill>
            <a:blip r:embed="rId4"/>
            <a:srcRect l="3046"/>
            <a:stretch>
              <a:fillRect/>
            </a:stretch>
          </p:blipFill>
          <p:spPr>
            <a:xfrm>
              <a:off x="717297" y="0"/>
              <a:ext cx="3337177" cy="4328795"/>
            </a:xfrm>
            <a:prstGeom prst="rect">
              <a:avLst/>
            </a:prstGeom>
          </p:spPr>
        </p:pic>
        <p:pic>
          <p:nvPicPr>
            <p:cNvPr id="7" name="Picture 6">
              <a:extLst>
                <a:ext uri="{FF2B5EF4-FFF2-40B4-BE49-F238E27FC236}">
                  <a16:creationId xmlns:a16="http://schemas.microsoft.com/office/drawing/2014/main" id="{045E0FDA-8DAA-1CCA-419A-89C00C9EEE0D}"/>
                </a:ext>
              </a:extLst>
            </p:cNvPr>
            <p:cNvPicPr>
              <a:picLocks noChangeAspect="1"/>
            </p:cNvPicPr>
            <p:nvPr/>
          </p:nvPicPr>
          <p:blipFill rotWithShape="1">
            <a:blip r:embed="rId5"/>
            <a:srcRect t="37042" b="-1"/>
            <a:stretch>
              <a:fillRect/>
            </a:stretch>
          </p:blipFill>
          <p:spPr bwMode="auto">
            <a:xfrm>
              <a:off x="4073237" y="-4"/>
              <a:ext cx="3124199" cy="4328797"/>
            </a:xfrm>
            <a:prstGeom prst="rect">
              <a:avLst/>
            </a:prstGeom>
            <a:ln>
              <a:noFill/>
            </a:ln>
            <a:extLst>
              <a:ext uri="{53640926-AAD7-44D8-BBD7-CCE9431645EC}">
                <a14:shadowObscured xmlns:a14="http://schemas.microsoft.com/office/drawing/2010/main"/>
              </a:ext>
            </a:extLst>
          </p:spPr>
        </p:pic>
      </p:grpSp>
    </p:spTree>
    <p:extLst>
      <p:ext uri="{BB962C8B-B14F-4D97-AF65-F5344CB8AC3E}">
        <p14:creationId xmlns:p14="http://schemas.microsoft.com/office/powerpoint/2010/main" val="23280953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FB4211C-F2F7-F6AD-59E9-3533A6DBE5C0}"/>
              </a:ext>
            </a:extLst>
          </p:cNvPr>
          <p:cNvSpPr txBox="1"/>
          <p:nvPr/>
        </p:nvSpPr>
        <p:spPr>
          <a:xfrm>
            <a:off x="281382" y="137159"/>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End-to-End Verification</a:t>
            </a:r>
            <a:endParaRPr lang="en-US" sz="2250" dirty="0"/>
          </a:p>
        </p:txBody>
      </p:sp>
      <p:graphicFrame>
        <p:nvGraphicFramePr>
          <p:cNvPr id="6" name="Diagram 5">
            <a:extLst>
              <a:ext uri="{FF2B5EF4-FFF2-40B4-BE49-F238E27FC236}">
                <a16:creationId xmlns:a16="http://schemas.microsoft.com/office/drawing/2014/main" id="{19589891-CE46-CEA0-A10B-A1887DE84717}"/>
              </a:ext>
            </a:extLst>
          </p:cNvPr>
          <p:cNvGraphicFramePr/>
          <p:nvPr>
            <p:extLst>
              <p:ext uri="{D42A27DB-BD31-4B8C-83A1-F6EECF244321}">
                <p14:modId xmlns:p14="http://schemas.microsoft.com/office/powerpoint/2010/main" val="91204440"/>
              </p:ext>
            </p:extLst>
          </p:nvPr>
        </p:nvGraphicFramePr>
        <p:xfrm>
          <a:off x="5823045" y="712754"/>
          <a:ext cx="1942531"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ectangle: Rounded Corners 11">
            <a:extLst>
              <a:ext uri="{FF2B5EF4-FFF2-40B4-BE49-F238E27FC236}">
                <a16:creationId xmlns:a16="http://schemas.microsoft.com/office/drawing/2014/main" id="{79C0FA1E-E552-D62C-0BAE-38A8D488092A}"/>
              </a:ext>
            </a:extLst>
          </p:cNvPr>
          <p:cNvSpPr/>
          <p:nvPr/>
        </p:nvSpPr>
        <p:spPr>
          <a:xfrm>
            <a:off x="532264" y="637691"/>
            <a:ext cx="3821372" cy="4159535"/>
          </a:xfrm>
          <a:prstGeom prst="roundRect">
            <a:avLst>
              <a:gd name="adj" fmla="val 10000"/>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a:lstStyle/>
          <a:p>
            <a:endParaRPr lang="en-US"/>
          </a:p>
        </p:txBody>
      </p:sp>
      <p:sp>
        <p:nvSpPr>
          <p:cNvPr id="7" name="TextBox 6">
            <a:extLst>
              <a:ext uri="{FF2B5EF4-FFF2-40B4-BE49-F238E27FC236}">
                <a16:creationId xmlns:a16="http://schemas.microsoft.com/office/drawing/2014/main" id="{B3532FDA-9D67-0797-0036-08DC1A5CF109}"/>
              </a:ext>
            </a:extLst>
          </p:cNvPr>
          <p:cNvSpPr txBox="1"/>
          <p:nvPr/>
        </p:nvSpPr>
        <p:spPr>
          <a:xfrm>
            <a:off x="736979" y="812043"/>
            <a:ext cx="3411941" cy="3970318"/>
          </a:xfrm>
          <a:prstGeom prst="rect">
            <a:avLst/>
          </a:prstGeom>
          <a:noFill/>
        </p:spPr>
        <p:txBody>
          <a:bodyPr wrap="square" rtlCol="0">
            <a:spAutoFit/>
          </a:bodyPr>
          <a:lstStyle/>
          <a:p>
            <a:r>
              <a:rPr lang="en-US" b="1" dirty="0">
                <a:solidFill>
                  <a:schemeClr val="bg1"/>
                </a:solidFill>
                <a:latin typeface="Times New Roman" panose="02020603050405020304" pitchFamily="18" charset="0"/>
                <a:cs typeface="Times New Roman" panose="02020603050405020304" pitchFamily="18" charset="0"/>
              </a:rPr>
              <a:t>Verification Includes</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Reset and link initialization</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Credit-based flow control</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Configuration packets</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Error detection and recovery</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Link/Application handshake</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Data packet processing</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CDC/FIFO data transfer</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Encryption and parity</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Address translation</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CDM write/read</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Link deactivation</a:t>
            </a:r>
          </a:p>
          <a:p>
            <a:pPr marL="285750" lvl="0" indent="-285750">
              <a:buFont typeface="Wingdings" panose="05000000000000000000" pitchFamily="2" charset="2"/>
              <a:buChar char="Ø"/>
            </a:pPr>
            <a:r>
              <a:rPr lang="en-US" dirty="0">
                <a:solidFill>
                  <a:schemeClr val="bg1"/>
                </a:solidFill>
                <a:latin typeface="Times New Roman" panose="02020603050405020304" pitchFamily="18" charset="0"/>
                <a:cs typeface="Times New Roman" panose="02020603050405020304" pitchFamily="18" charset="0"/>
              </a:rPr>
              <a:t>NACK/error response</a:t>
            </a:r>
          </a:p>
          <a:p>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70867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8D92A89-26A1-E1FE-A142-12E45997F4F0}"/>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B14DDFF1-99AE-FF2B-2C4C-69EE68A360FC}"/>
              </a:ext>
            </a:extLst>
          </p:cNvPr>
          <p:cNvSpPr txBox="1"/>
          <p:nvPr/>
        </p:nvSpPr>
        <p:spPr>
          <a:xfrm>
            <a:off x="281382" y="137159"/>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Initialization &amp; Configuration</a:t>
            </a:r>
            <a:endParaRPr lang="en-US" sz="2250" dirty="0"/>
          </a:p>
        </p:txBody>
      </p:sp>
      <p:sp>
        <p:nvSpPr>
          <p:cNvPr id="2" name="TextBox 1">
            <a:extLst>
              <a:ext uri="{FF2B5EF4-FFF2-40B4-BE49-F238E27FC236}">
                <a16:creationId xmlns:a16="http://schemas.microsoft.com/office/drawing/2014/main" id="{EB2AA16C-3B35-CA44-2FF8-A1DD9643DE65}"/>
              </a:ext>
            </a:extLst>
          </p:cNvPr>
          <p:cNvSpPr txBox="1"/>
          <p:nvPr/>
        </p:nvSpPr>
        <p:spPr>
          <a:xfrm>
            <a:off x="361668" y="696038"/>
            <a:ext cx="3111688" cy="4154984"/>
          </a:xfrm>
          <a:prstGeom prst="rect">
            <a:avLst/>
          </a:prstGeom>
          <a:noFill/>
        </p:spPr>
        <p:txBody>
          <a:bodyPr wrap="square" rtlCol="0">
            <a:spAutoFit/>
          </a:bodyPr>
          <a:lstStyle/>
          <a:p>
            <a:r>
              <a:rPr lang="en-US" sz="1100" b="1" dirty="0">
                <a:solidFill>
                  <a:srgbClr val="1E2761"/>
                </a:solidFill>
                <a:latin typeface="Times New Roman" panose="02020603050405020304" pitchFamily="18" charset="0"/>
                <a:cs typeface="Times New Roman" panose="02020603050405020304" pitchFamily="18" charset="0"/>
              </a:rPr>
              <a:t>1. Reset &amp; Pre-Activation</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System is reset and enters the idle state.</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Flits received before link activation are rejected.</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No credits are granted.</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No payload reaches the Control Unit.</a:t>
            </a:r>
          </a:p>
          <a:p>
            <a:r>
              <a:rPr lang="en-US" sz="1100" b="1" dirty="0">
                <a:solidFill>
                  <a:srgbClr val="1E2761"/>
                </a:solidFill>
                <a:latin typeface="Times New Roman" panose="02020603050405020304" pitchFamily="18" charset="0"/>
                <a:cs typeface="Times New Roman" panose="02020603050405020304" pitchFamily="18" charset="0"/>
              </a:rPr>
              <a:t>2. Link Activation</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CXSACTIVEREQ is asserted.</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RX responds with CXSACTIVEACK.</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Initial credits are granted.</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RX enters the active state.</a:t>
            </a:r>
          </a:p>
          <a:p>
            <a:r>
              <a:rPr lang="en-US" sz="1100" b="1" dirty="0">
                <a:solidFill>
                  <a:srgbClr val="1E2761"/>
                </a:solidFill>
                <a:latin typeface="Times New Roman" panose="02020603050405020304" pitchFamily="18" charset="0"/>
                <a:cs typeface="Times New Roman" panose="02020603050405020304" pitchFamily="18" charset="0"/>
              </a:rPr>
              <a:t>3. Configuration Validation</a:t>
            </a:r>
          </a:p>
          <a:p>
            <a:pPr marL="17145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Tested invalid configuration cases:</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Illegal device count</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Illegal encryption mode</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Illegal parity mode</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Illegal packet type</a:t>
            </a:r>
          </a:p>
          <a:p>
            <a:r>
              <a:rPr lang="en-US" sz="1100" b="1" dirty="0">
                <a:solidFill>
                  <a:srgbClr val="1E2761"/>
                </a:solidFill>
                <a:latin typeface="Times New Roman" panose="02020603050405020304" pitchFamily="18" charset="0"/>
                <a:cs typeface="Times New Roman" panose="02020603050405020304" pitchFamily="18" charset="0"/>
              </a:rPr>
              <a:t>Expected behavior:</a:t>
            </a:r>
            <a:br>
              <a:rPr lang="en-US" sz="1100" dirty="0">
                <a:solidFill>
                  <a:srgbClr val="1E2761"/>
                </a:solidFill>
                <a:latin typeface="Times New Roman" panose="02020603050405020304" pitchFamily="18" charset="0"/>
                <a:cs typeface="Times New Roman" panose="02020603050405020304" pitchFamily="18" charset="0"/>
              </a:rPr>
            </a:br>
            <a:r>
              <a:rPr lang="en-US" sz="1100" dirty="0">
                <a:solidFill>
                  <a:srgbClr val="1E2761"/>
                </a:solidFill>
                <a:latin typeface="Times New Roman" panose="02020603050405020304" pitchFamily="18" charset="0"/>
                <a:cs typeface="Times New Roman" panose="02020603050405020304" pitchFamily="18" charset="0"/>
              </a:rPr>
              <a:t>Invalid configuration → </a:t>
            </a:r>
            <a:r>
              <a:rPr lang="en-US" sz="1100" b="1" dirty="0">
                <a:solidFill>
                  <a:srgbClr val="1E2761"/>
                </a:solidFill>
                <a:latin typeface="Times New Roman" panose="02020603050405020304" pitchFamily="18" charset="0"/>
                <a:cs typeface="Times New Roman" panose="02020603050405020304" pitchFamily="18" charset="0"/>
              </a:rPr>
              <a:t>ERROR state</a:t>
            </a:r>
            <a:r>
              <a:rPr lang="en-US" sz="1100" dirty="0">
                <a:solidFill>
                  <a:srgbClr val="1E2761"/>
                </a:solidFill>
                <a:latin typeface="Times New Roman" panose="02020603050405020304" pitchFamily="18" charset="0"/>
                <a:cs typeface="Times New Roman" panose="02020603050405020304" pitchFamily="18" charset="0"/>
              </a:rPr>
              <a:t> → Configuration write disabled.</a:t>
            </a:r>
          </a:p>
          <a:p>
            <a:r>
              <a:rPr lang="en-US" sz="1100" b="1" dirty="0">
                <a:solidFill>
                  <a:srgbClr val="1E2761"/>
                </a:solidFill>
                <a:latin typeface="Times New Roman" panose="02020603050405020304" pitchFamily="18" charset="0"/>
                <a:cs typeface="Times New Roman" panose="02020603050405020304" pitchFamily="18" charset="0"/>
              </a:rPr>
              <a:t>4. Valid Configuration</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Valid configuration packet is accepted.</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Configuration data is stored correctly.</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FSM progresses toward the operational state.</a:t>
            </a:r>
          </a:p>
          <a:p>
            <a:endParaRPr lang="en-US" sz="1100" dirty="0">
              <a:solidFill>
                <a:srgbClr val="1E2761"/>
              </a:solidFill>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13705C7B-819B-94B1-69F5-4BC6FCBA7676}"/>
              </a:ext>
            </a:extLst>
          </p:cNvPr>
          <p:cNvGrpSpPr/>
          <p:nvPr/>
        </p:nvGrpSpPr>
        <p:grpSpPr>
          <a:xfrm>
            <a:off x="3936013" y="805218"/>
            <a:ext cx="4957551" cy="4211134"/>
            <a:chOff x="3981733" y="805218"/>
            <a:chExt cx="4957551" cy="4433113"/>
          </a:xfrm>
        </p:grpSpPr>
        <p:pic>
          <p:nvPicPr>
            <p:cNvPr id="3" name="Picture 2">
              <a:extLst>
                <a:ext uri="{FF2B5EF4-FFF2-40B4-BE49-F238E27FC236}">
                  <a16:creationId xmlns:a16="http://schemas.microsoft.com/office/drawing/2014/main" id="{AAC36A59-79CC-40CA-39C9-A84425E632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981735" y="805218"/>
              <a:ext cx="4957549" cy="1678675"/>
            </a:xfrm>
            <a:prstGeom prst="rect">
              <a:avLst/>
            </a:prstGeom>
          </p:spPr>
        </p:pic>
        <p:pic>
          <p:nvPicPr>
            <p:cNvPr id="5" name="Picture 4">
              <a:extLst>
                <a:ext uri="{FF2B5EF4-FFF2-40B4-BE49-F238E27FC236}">
                  <a16:creationId xmlns:a16="http://schemas.microsoft.com/office/drawing/2014/main" id="{B5C7CAF6-BF70-E27F-A28B-B494878C1A8C}"/>
                </a:ext>
              </a:extLst>
            </p:cNvPr>
            <p:cNvPicPr>
              <a:picLocks noChangeAspect="1"/>
            </p:cNvPicPr>
            <p:nvPr/>
          </p:nvPicPr>
          <p:blipFill>
            <a:blip r:embed="rId3"/>
            <a:srcRect l="2038" t="18036" b="7930"/>
            <a:stretch>
              <a:fillRect/>
            </a:stretch>
          </p:blipFill>
          <p:spPr>
            <a:xfrm>
              <a:off x="3981733" y="3636499"/>
              <a:ext cx="4957550" cy="1601832"/>
            </a:xfrm>
            <a:prstGeom prst="rect">
              <a:avLst/>
            </a:prstGeom>
          </p:spPr>
        </p:pic>
        <p:pic>
          <p:nvPicPr>
            <p:cNvPr id="8" name="Picture 7">
              <a:extLst>
                <a:ext uri="{FF2B5EF4-FFF2-40B4-BE49-F238E27FC236}">
                  <a16:creationId xmlns:a16="http://schemas.microsoft.com/office/drawing/2014/main" id="{391397DD-C868-E007-BE9F-C95307918ACF}"/>
                </a:ext>
              </a:extLst>
            </p:cNvPr>
            <p:cNvPicPr>
              <a:picLocks noChangeAspect="1"/>
            </p:cNvPicPr>
            <p:nvPr/>
          </p:nvPicPr>
          <p:blipFill>
            <a:blip r:embed="rId4" cstate="print">
              <a:extLst>
                <a:ext uri="{28A0092B-C50C-407E-A947-70E740481C1C}">
                  <a14:useLocalDpi xmlns:a14="http://schemas.microsoft.com/office/drawing/2010/main" val="0"/>
                </a:ext>
              </a:extLst>
            </a:blip>
            <a:srcRect t="1903"/>
            <a:stretch>
              <a:fillRect/>
            </a:stretch>
          </p:blipFill>
          <p:spPr>
            <a:xfrm>
              <a:off x="3981734" y="2483893"/>
              <a:ext cx="4957549" cy="1152605"/>
            </a:xfrm>
            <a:prstGeom prst="rect">
              <a:avLst/>
            </a:prstGeom>
          </p:spPr>
        </p:pic>
      </p:grpSp>
    </p:spTree>
    <p:extLst>
      <p:ext uri="{BB962C8B-B14F-4D97-AF65-F5344CB8AC3E}">
        <p14:creationId xmlns:p14="http://schemas.microsoft.com/office/powerpoint/2010/main" val="86424866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4AB14F5C-95F6-607F-AA3F-93DEBD08BE64}"/>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890B07C1-BAD4-D46B-3F3F-F3B27DA321A9}"/>
              </a:ext>
            </a:extLst>
          </p:cNvPr>
          <p:cNvSpPr txBox="1"/>
          <p:nvPr/>
        </p:nvSpPr>
        <p:spPr>
          <a:xfrm>
            <a:off x="281382" y="137159"/>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Data Processing</a:t>
            </a:r>
            <a:endParaRPr lang="en-US" sz="2250" dirty="0"/>
          </a:p>
        </p:txBody>
      </p:sp>
      <p:sp>
        <p:nvSpPr>
          <p:cNvPr id="2" name="TextBox 1">
            <a:extLst>
              <a:ext uri="{FF2B5EF4-FFF2-40B4-BE49-F238E27FC236}">
                <a16:creationId xmlns:a16="http://schemas.microsoft.com/office/drawing/2014/main" id="{4F92863B-5E0D-5E91-5E24-C6821D659A30}"/>
              </a:ext>
            </a:extLst>
          </p:cNvPr>
          <p:cNvSpPr txBox="1"/>
          <p:nvPr/>
        </p:nvSpPr>
        <p:spPr>
          <a:xfrm>
            <a:off x="361668" y="696038"/>
            <a:ext cx="3111688" cy="3816429"/>
          </a:xfrm>
          <a:prstGeom prst="rect">
            <a:avLst/>
          </a:prstGeom>
          <a:noFill/>
        </p:spPr>
        <p:txBody>
          <a:bodyPr wrap="square" rtlCol="0">
            <a:spAutoFit/>
          </a:bodyPr>
          <a:lstStyle/>
          <a:p>
            <a:r>
              <a:rPr lang="en-US" sz="1100" b="1" dirty="0">
                <a:solidFill>
                  <a:srgbClr val="1E2761"/>
                </a:solidFill>
                <a:latin typeface="Times New Roman" panose="02020603050405020304" pitchFamily="18" charset="0"/>
                <a:cs typeface="Times New Roman" panose="02020603050405020304" pitchFamily="18" charset="0"/>
              </a:rPr>
              <a:t>1. Data processing test cases </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Correct packet decoding</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Correct payload extraction</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Correct FSM transitions</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Correct logical-to-physical address translation</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Correct encryption result</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Correct parity generation</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Correct CDM write address</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Correct CDM stored data</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No duplicated or skipped memory writes</a:t>
            </a:r>
          </a:p>
          <a:p>
            <a:pPr lvl="0"/>
            <a:endParaRPr lang="en-US" sz="1100" dirty="0">
              <a:solidFill>
                <a:srgbClr val="1E2761"/>
              </a:solidFill>
              <a:latin typeface="Times New Roman" panose="02020603050405020304" pitchFamily="18" charset="0"/>
              <a:cs typeface="Times New Roman" panose="02020603050405020304" pitchFamily="18" charset="0"/>
            </a:endParaRPr>
          </a:p>
          <a:p>
            <a:pPr lvl="0"/>
            <a:r>
              <a:rPr lang="en-US" sz="1100" b="1" dirty="0">
                <a:solidFill>
                  <a:srgbClr val="1E2761"/>
                </a:solidFill>
                <a:latin typeface="Times New Roman" panose="02020603050405020304" pitchFamily="18" charset="0"/>
                <a:cs typeface="Times New Roman" panose="02020603050405020304" pitchFamily="18" charset="0"/>
              </a:rPr>
              <a:t>2. Error handling in data packet</a:t>
            </a:r>
          </a:p>
          <a:p>
            <a:r>
              <a:rPr lang="en-US" sz="1100" b="1" dirty="0">
                <a:solidFill>
                  <a:srgbClr val="1E2761"/>
                </a:solidFill>
                <a:latin typeface="Times New Roman" panose="02020603050405020304" pitchFamily="18" charset="0"/>
                <a:cs typeface="Times New Roman" panose="02020603050405020304" pitchFamily="18" charset="0"/>
              </a:rPr>
              <a:t>Expected behavior:</a:t>
            </a:r>
            <a:br>
              <a:rPr lang="en-US" sz="1100" dirty="0">
                <a:solidFill>
                  <a:srgbClr val="1E2761"/>
                </a:solidFill>
                <a:latin typeface="Times New Roman" panose="02020603050405020304" pitchFamily="18" charset="0"/>
                <a:cs typeface="Times New Roman" panose="02020603050405020304" pitchFamily="18" charset="0"/>
              </a:rPr>
            </a:br>
            <a:r>
              <a:rPr lang="en-US" sz="1100" dirty="0">
                <a:solidFill>
                  <a:srgbClr val="1E2761"/>
                </a:solidFill>
                <a:latin typeface="Times New Roman" panose="02020603050405020304" pitchFamily="18" charset="0"/>
                <a:cs typeface="Times New Roman" panose="02020603050405020304" pitchFamily="18" charset="0"/>
              </a:rPr>
              <a:t>Invalid Data packet → </a:t>
            </a:r>
            <a:r>
              <a:rPr lang="en-US" sz="1100" b="1" dirty="0">
                <a:solidFill>
                  <a:srgbClr val="1E2761"/>
                </a:solidFill>
                <a:latin typeface="Times New Roman" panose="02020603050405020304" pitchFamily="18" charset="0"/>
                <a:cs typeface="Times New Roman" panose="02020603050405020304" pitchFamily="18" charset="0"/>
              </a:rPr>
              <a:t>ERROR state</a:t>
            </a:r>
            <a:r>
              <a:rPr lang="en-US" sz="1100" dirty="0">
                <a:solidFill>
                  <a:srgbClr val="1E2761"/>
                </a:solidFill>
                <a:latin typeface="Times New Roman" panose="02020603050405020304" pitchFamily="18" charset="0"/>
                <a:cs typeface="Times New Roman" panose="02020603050405020304" pitchFamily="18" charset="0"/>
              </a:rPr>
              <a:t> → Data write disabled and error packet discard and send status pkt error .</a:t>
            </a:r>
          </a:p>
          <a:p>
            <a:endParaRPr lang="en-US" sz="1100" dirty="0">
              <a:solidFill>
                <a:srgbClr val="1E2761"/>
              </a:solidFill>
              <a:latin typeface="Times New Roman" panose="02020603050405020304" pitchFamily="18" charset="0"/>
              <a:cs typeface="Times New Roman" panose="02020603050405020304" pitchFamily="18" charset="0"/>
            </a:endParaRPr>
          </a:p>
          <a:p>
            <a:r>
              <a:rPr lang="en-US" sz="1100" b="1" dirty="0">
                <a:solidFill>
                  <a:srgbClr val="1E2761"/>
                </a:solidFill>
                <a:latin typeface="Times New Roman" panose="02020603050405020304" pitchFamily="18" charset="0"/>
                <a:cs typeface="Times New Roman" panose="02020603050405020304" pitchFamily="18" charset="0"/>
              </a:rPr>
              <a:t>3. Valid Data </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Valid </a:t>
            </a:r>
            <a:r>
              <a:rPr lang="en-US" sz="1100" b="1" dirty="0">
                <a:solidFill>
                  <a:srgbClr val="1E2761"/>
                </a:solidFill>
                <a:latin typeface="Times New Roman" panose="02020603050405020304" pitchFamily="18" charset="0"/>
                <a:cs typeface="Times New Roman" panose="02020603050405020304" pitchFamily="18" charset="0"/>
              </a:rPr>
              <a:t>Data</a:t>
            </a:r>
            <a:r>
              <a:rPr lang="en-US" sz="1100" dirty="0">
                <a:solidFill>
                  <a:srgbClr val="1E2761"/>
                </a:solidFill>
                <a:latin typeface="Times New Roman" panose="02020603050405020304" pitchFamily="18" charset="0"/>
                <a:cs typeface="Times New Roman" panose="02020603050405020304" pitchFamily="18" charset="0"/>
              </a:rPr>
              <a:t> packet is accepted.</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Valid data is stored correctly.</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FSM progresses toward the operational state.</a:t>
            </a:r>
          </a:p>
          <a:p>
            <a:endParaRPr lang="en-US" sz="1100" dirty="0">
              <a:solidFill>
                <a:srgbClr val="1E2761"/>
              </a:solidFill>
              <a:latin typeface="Times New Roman" panose="02020603050405020304" pitchFamily="18" charset="0"/>
              <a:cs typeface="Times New Roman" panose="02020603050405020304" pitchFamily="18" charset="0"/>
            </a:endParaRPr>
          </a:p>
        </p:txBody>
      </p:sp>
      <p:grpSp>
        <p:nvGrpSpPr>
          <p:cNvPr id="14" name="Group 13">
            <a:extLst>
              <a:ext uri="{FF2B5EF4-FFF2-40B4-BE49-F238E27FC236}">
                <a16:creationId xmlns:a16="http://schemas.microsoft.com/office/drawing/2014/main" id="{547C8170-5FAD-CC52-1F5D-F309CAC853AF}"/>
              </a:ext>
            </a:extLst>
          </p:cNvPr>
          <p:cNvGrpSpPr/>
          <p:nvPr/>
        </p:nvGrpSpPr>
        <p:grpSpPr>
          <a:xfrm>
            <a:off x="3411413" y="696039"/>
            <a:ext cx="5554590" cy="4059155"/>
            <a:chOff x="3411413" y="696039"/>
            <a:chExt cx="5554590" cy="4059155"/>
          </a:xfrm>
        </p:grpSpPr>
        <p:pic>
          <p:nvPicPr>
            <p:cNvPr id="10" name="Picture 9">
              <a:extLst>
                <a:ext uri="{FF2B5EF4-FFF2-40B4-BE49-F238E27FC236}">
                  <a16:creationId xmlns:a16="http://schemas.microsoft.com/office/drawing/2014/main" id="{F03D8D4C-0D6F-05BD-3775-1BCFF2CCFE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11415" y="696039"/>
              <a:ext cx="5554588" cy="1875712"/>
            </a:xfrm>
            <a:prstGeom prst="rect">
              <a:avLst/>
            </a:prstGeom>
          </p:spPr>
        </p:pic>
        <p:pic>
          <p:nvPicPr>
            <p:cNvPr id="13" name="Picture 12">
              <a:extLst>
                <a:ext uri="{FF2B5EF4-FFF2-40B4-BE49-F238E27FC236}">
                  <a16:creationId xmlns:a16="http://schemas.microsoft.com/office/drawing/2014/main" id="{5D80B65C-337C-1B86-9455-3BCC3F42BD42}"/>
                </a:ext>
              </a:extLst>
            </p:cNvPr>
            <p:cNvPicPr>
              <a:picLocks noChangeAspect="1"/>
            </p:cNvPicPr>
            <p:nvPr/>
          </p:nvPicPr>
          <p:blipFill>
            <a:blip r:embed="rId3"/>
            <a:stretch>
              <a:fillRect/>
            </a:stretch>
          </p:blipFill>
          <p:spPr>
            <a:xfrm>
              <a:off x="3411413" y="2783058"/>
              <a:ext cx="5554587" cy="1972136"/>
            </a:xfrm>
            <a:prstGeom prst="rect">
              <a:avLst/>
            </a:prstGeom>
          </p:spPr>
        </p:pic>
      </p:grpSp>
    </p:spTree>
    <p:extLst>
      <p:ext uri="{BB962C8B-B14F-4D97-AF65-F5344CB8AC3E}">
        <p14:creationId xmlns:p14="http://schemas.microsoft.com/office/powerpoint/2010/main" val="17137875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8E6F6626-8E23-5A97-AAE4-0FACC7FD7E89}"/>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C9F79F8B-CD78-02AA-0997-9F51C6EC63CF}"/>
              </a:ext>
            </a:extLst>
          </p:cNvPr>
          <p:cNvSpPr txBox="1"/>
          <p:nvPr/>
        </p:nvSpPr>
        <p:spPr>
          <a:xfrm>
            <a:off x="281382" y="137159"/>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Link/Application &amp; Deactivation </a:t>
            </a:r>
            <a:endParaRPr lang="en-US" sz="2250" dirty="0"/>
          </a:p>
        </p:txBody>
      </p:sp>
      <p:sp>
        <p:nvSpPr>
          <p:cNvPr id="2" name="TextBox 1">
            <a:extLst>
              <a:ext uri="{FF2B5EF4-FFF2-40B4-BE49-F238E27FC236}">
                <a16:creationId xmlns:a16="http://schemas.microsoft.com/office/drawing/2014/main" id="{888CB677-0ACB-4C07-AF36-667D63FF149D}"/>
              </a:ext>
            </a:extLst>
          </p:cNvPr>
          <p:cNvSpPr txBox="1"/>
          <p:nvPr/>
        </p:nvSpPr>
        <p:spPr>
          <a:xfrm>
            <a:off x="361668" y="696038"/>
            <a:ext cx="3111688" cy="4154984"/>
          </a:xfrm>
          <a:prstGeom prst="rect">
            <a:avLst/>
          </a:prstGeom>
          <a:noFill/>
        </p:spPr>
        <p:txBody>
          <a:bodyPr wrap="square" rtlCol="0">
            <a:spAutoFit/>
          </a:bodyPr>
          <a:lstStyle/>
          <a:p>
            <a:r>
              <a:rPr lang="en-US" sz="1100" b="1" dirty="0">
                <a:solidFill>
                  <a:srgbClr val="1E2761"/>
                </a:solidFill>
                <a:latin typeface="Times New Roman" panose="02020603050405020304" pitchFamily="18" charset="0"/>
                <a:cs typeface="Times New Roman" panose="02020603050405020304" pitchFamily="18" charset="0"/>
              </a:rPr>
              <a:t>1.Application Handshake</a:t>
            </a:r>
          </a:p>
          <a:p>
            <a:pPr marL="17145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Link packet is processed successfully.</a:t>
            </a:r>
          </a:p>
          <a:p>
            <a:pPr marL="17145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Control Unit reaches LINK_OK.</a:t>
            </a:r>
          </a:p>
          <a:p>
            <a:pPr marL="17145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Application reads the expected CDM location.</a:t>
            </a:r>
          </a:p>
          <a:p>
            <a:pPr marL="17145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Returned data is compared with the expected value.</a:t>
            </a:r>
          </a:p>
          <a:p>
            <a:pPr marL="171450" indent="-171450">
              <a:buFont typeface="Wingdings" panose="05000000000000000000" pitchFamily="2" charset="2"/>
              <a:buChar char="§"/>
            </a:pPr>
            <a:r>
              <a:rPr lang="en-US" sz="1100" dirty="0" err="1">
                <a:solidFill>
                  <a:srgbClr val="1E2761"/>
                </a:solidFill>
                <a:latin typeface="Times New Roman" panose="02020603050405020304" pitchFamily="18" charset="0"/>
                <a:cs typeface="Times New Roman" panose="02020603050405020304" pitchFamily="18" charset="0"/>
              </a:rPr>
              <a:t>i_app_ack</a:t>
            </a:r>
            <a:r>
              <a:rPr lang="en-US" sz="1100" dirty="0">
                <a:solidFill>
                  <a:srgbClr val="1E2761"/>
                </a:solidFill>
                <a:latin typeface="Times New Roman" panose="02020603050405020304" pitchFamily="18" charset="0"/>
                <a:cs typeface="Times New Roman" panose="02020603050405020304" pitchFamily="18" charset="0"/>
              </a:rPr>
              <a:t> determines the next FSM transition.</a:t>
            </a:r>
          </a:p>
          <a:p>
            <a:pPr marL="17145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Successful ACK allows transition to the data phase.</a:t>
            </a:r>
          </a:p>
          <a:p>
            <a:pPr marL="17145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For application receiving unexpected data it return to link scan and sent invalid link pkt and receive another link packet </a:t>
            </a:r>
          </a:p>
          <a:p>
            <a:pPr lvl="0"/>
            <a:endParaRPr lang="en-US" sz="1100" dirty="0">
              <a:solidFill>
                <a:srgbClr val="1E2761"/>
              </a:solidFill>
              <a:latin typeface="Times New Roman" panose="02020603050405020304" pitchFamily="18" charset="0"/>
              <a:cs typeface="Times New Roman" panose="02020603050405020304" pitchFamily="18" charset="0"/>
            </a:endParaRPr>
          </a:p>
          <a:p>
            <a:pPr lvl="0"/>
            <a:endParaRPr lang="en-US" sz="1100" dirty="0">
              <a:solidFill>
                <a:srgbClr val="1E2761"/>
              </a:solidFill>
              <a:latin typeface="Times New Roman" panose="02020603050405020304" pitchFamily="18" charset="0"/>
              <a:cs typeface="Times New Roman" panose="02020603050405020304" pitchFamily="18" charset="0"/>
            </a:endParaRPr>
          </a:p>
          <a:p>
            <a:pPr lvl="0"/>
            <a:r>
              <a:rPr lang="en-US" sz="1100" b="1" dirty="0">
                <a:solidFill>
                  <a:srgbClr val="1E2761"/>
                </a:solidFill>
                <a:latin typeface="Times New Roman" panose="02020603050405020304" pitchFamily="18" charset="0"/>
                <a:cs typeface="Times New Roman" panose="02020603050405020304" pitchFamily="18" charset="0"/>
              </a:rPr>
              <a:t>2.Link Deactivation</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CXSACTIVEREQ is </a:t>
            </a:r>
            <a:r>
              <a:rPr lang="en-US" sz="1100" dirty="0" err="1">
                <a:solidFill>
                  <a:srgbClr val="1E2761"/>
                </a:solidFill>
                <a:latin typeface="Times New Roman" panose="02020603050405020304" pitchFamily="18" charset="0"/>
                <a:cs typeface="Times New Roman" panose="02020603050405020304" pitchFamily="18" charset="0"/>
              </a:rPr>
              <a:t>deasserted</a:t>
            </a:r>
            <a:r>
              <a:rPr lang="en-US" sz="1100" dirty="0">
                <a:solidFill>
                  <a:srgbClr val="1E2761"/>
                </a:solidFill>
                <a:latin typeface="Times New Roman" panose="02020603050405020304" pitchFamily="18" charset="0"/>
                <a:cs typeface="Times New Roman" panose="02020603050405020304" pitchFamily="18" charset="0"/>
              </a:rPr>
              <a:t>.</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RX FSM transitions:</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RUN → DEACTIVATE → STOP</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Outstanding credits are returned.</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Credit count drains to zero.</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CXSACTIVEACK is </a:t>
            </a:r>
            <a:r>
              <a:rPr lang="en-US" sz="1100" dirty="0" err="1">
                <a:solidFill>
                  <a:srgbClr val="1E2761"/>
                </a:solidFill>
                <a:latin typeface="Times New Roman" panose="02020603050405020304" pitchFamily="18" charset="0"/>
                <a:cs typeface="Times New Roman" panose="02020603050405020304" pitchFamily="18" charset="0"/>
              </a:rPr>
              <a:t>deasserted</a:t>
            </a:r>
            <a:r>
              <a:rPr lang="en-US" sz="1100" dirty="0">
                <a:solidFill>
                  <a:srgbClr val="1E2761"/>
                </a:solidFill>
                <a:latin typeface="Times New Roman" panose="02020603050405020304" pitchFamily="18" charset="0"/>
                <a:cs typeface="Times New Roman" panose="02020603050405020304" pitchFamily="18" charset="0"/>
              </a:rPr>
              <a:t>.</a:t>
            </a:r>
          </a:p>
          <a:p>
            <a:pPr marL="171450" lvl="0" indent="-171450">
              <a:buFont typeface="Wingdings" panose="05000000000000000000" pitchFamily="2" charset="2"/>
              <a:buChar char="§"/>
            </a:pPr>
            <a:r>
              <a:rPr lang="en-US" sz="1100" dirty="0">
                <a:solidFill>
                  <a:srgbClr val="1E2761"/>
                </a:solidFill>
                <a:latin typeface="Times New Roman" panose="02020603050405020304" pitchFamily="18" charset="0"/>
                <a:cs typeface="Times New Roman" panose="02020603050405020304" pitchFamily="18" charset="0"/>
              </a:rPr>
              <a:t>Control Unit returns to IDLE.</a:t>
            </a:r>
          </a:p>
          <a:p>
            <a:pPr marL="171450" lvl="0" indent="-171450">
              <a:buFont typeface="Wingdings" panose="05000000000000000000" pitchFamily="2" charset="2"/>
              <a:buChar char="§"/>
            </a:pPr>
            <a:endParaRPr lang="en-US" sz="1100" dirty="0">
              <a:solidFill>
                <a:srgbClr val="1E2761"/>
              </a:solidFill>
              <a:latin typeface="Times New Roman" panose="02020603050405020304" pitchFamily="18" charset="0"/>
              <a:cs typeface="Times New Roman" panose="02020603050405020304" pitchFamily="18" charset="0"/>
            </a:endParaRPr>
          </a:p>
          <a:p>
            <a:endParaRPr lang="en-US" sz="1100" dirty="0">
              <a:solidFill>
                <a:srgbClr val="1E276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4EFAE3B5-7778-7EF4-7F6A-5B00B46D59BD}"/>
              </a:ext>
            </a:extLst>
          </p:cNvPr>
          <p:cNvPicPr>
            <a:picLocks noChangeAspect="1"/>
          </p:cNvPicPr>
          <p:nvPr/>
        </p:nvPicPr>
        <p:blipFill>
          <a:blip r:embed="rId2"/>
          <a:srcRect/>
          <a:stretch/>
        </p:blipFill>
        <p:spPr>
          <a:xfrm>
            <a:off x="3473356" y="696038"/>
            <a:ext cx="5554587" cy="2022124"/>
          </a:xfrm>
          <a:prstGeom prst="rect">
            <a:avLst/>
          </a:prstGeom>
        </p:spPr>
      </p:pic>
      <p:pic>
        <p:nvPicPr>
          <p:cNvPr id="3" name="Picture 2">
            <a:extLst>
              <a:ext uri="{FF2B5EF4-FFF2-40B4-BE49-F238E27FC236}">
                <a16:creationId xmlns:a16="http://schemas.microsoft.com/office/drawing/2014/main" id="{D605C3A5-FC1E-4350-F6ED-AB2274321E5B}"/>
              </a:ext>
            </a:extLst>
          </p:cNvPr>
          <p:cNvPicPr>
            <a:picLocks noChangeAspect="1"/>
          </p:cNvPicPr>
          <p:nvPr/>
        </p:nvPicPr>
        <p:blipFill>
          <a:blip r:embed="rId3"/>
          <a:stretch>
            <a:fillRect/>
          </a:stretch>
        </p:blipFill>
        <p:spPr>
          <a:xfrm>
            <a:off x="3440126" y="2884266"/>
            <a:ext cx="5587817" cy="2022124"/>
          </a:xfrm>
          <a:prstGeom prst="rect">
            <a:avLst/>
          </a:prstGeom>
        </p:spPr>
      </p:pic>
    </p:spTree>
    <p:extLst>
      <p:ext uri="{BB962C8B-B14F-4D97-AF65-F5344CB8AC3E}">
        <p14:creationId xmlns:p14="http://schemas.microsoft.com/office/powerpoint/2010/main" val="19892371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7E17BCBA-4583-8BA1-C09F-39426EDEB641}"/>
            </a:ext>
          </a:extLst>
        </p:cNvPr>
        <p:cNvGrpSpPr/>
        <p:nvPr/>
      </p:nvGrpSpPr>
      <p:grpSpPr>
        <a:xfrm>
          <a:off x="0" y="0"/>
          <a:ext cx="0" cy="0"/>
          <a:chOff x="0" y="0"/>
          <a:chExt cx="0" cy="0"/>
        </a:xfrm>
      </p:grpSpPr>
      <p:sp>
        <p:nvSpPr>
          <p:cNvPr id="4" name="Text 0">
            <a:extLst>
              <a:ext uri="{FF2B5EF4-FFF2-40B4-BE49-F238E27FC236}">
                <a16:creationId xmlns:a16="http://schemas.microsoft.com/office/drawing/2014/main" id="{61E1AD2F-9718-35E2-0DC9-1BEB47D1B65E}"/>
              </a:ext>
            </a:extLst>
          </p:cNvPr>
          <p:cNvSpPr txBox="1"/>
          <p:nvPr/>
        </p:nvSpPr>
        <p:spPr>
          <a:xfrm>
            <a:off x="281382" y="263769"/>
            <a:ext cx="7886700" cy="48006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Verification Results</a:t>
            </a:r>
            <a:endParaRPr lang="en-US" sz="2250" dirty="0"/>
          </a:p>
        </p:txBody>
      </p:sp>
      <p:pic>
        <p:nvPicPr>
          <p:cNvPr id="21" name="Picture 20">
            <a:extLst>
              <a:ext uri="{FF2B5EF4-FFF2-40B4-BE49-F238E27FC236}">
                <a16:creationId xmlns:a16="http://schemas.microsoft.com/office/drawing/2014/main" id="{5439AB81-C9F6-6B8C-9623-C24C425112EF}"/>
              </a:ext>
            </a:extLst>
          </p:cNvPr>
          <p:cNvPicPr>
            <a:picLocks noChangeAspect="1"/>
          </p:cNvPicPr>
          <p:nvPr/>
        </p:nvPicPr>
        <p:blipFill>
          <a:blip r:embed="rId2"/>
          <a:stretch>
            <a:fillRect/>
          </a:stretch>
        </p:blipFill>
        <p:spPr>
          <a:xfrm>
            <a:off x="4128868" y="926611"/>
            <a:ext cx="4853353" cy="3131917"/>
          </a:xfrm>
          <a:prstGeom prst="rect">
            <a:avLst/>
          </a:prstGeom>
        </p:spPr>
      </p:pic>
      <p:sp>
        <p:nvSpPr>
          <p:cNvPr id="23" name="Shape 6">
            <a:extLst>
              <a:ext uri="{FF2B5EF4-FFF2-40B4-BE49-F238E27FC236}">
                <a16:creationId xmlns:a16="http://schemas.microsoft.com/office/drawing/2014/main" id="{6D65F290-AA7F-71C5-49D3-13930EC72533}"/>
              </a:ext>
            </a:extLst>
          </p:cNvPr>
          <p:cNvSpPr/>
          <p:nvPr/>
        </p:nvSpPr>
        <p:spPr>
          <a:xfrm>
            <a:off x="281382" y="926611"/>
            <a:ext cx="3622403" cy="3131918"/>
          </a:xfrm>
          <a:prstGeom prst="roundRect">
            <a:avLst>
              <a:gd name="adj" fmla="val 2326"/>
            </a:avLst>
          </a:prstGeom>
          <a:solidFill>
            <a:srgbClr val="1E2761"/>
          </a:solidFill>
          <a:ln/>
        </p:spPr>
        <p:txBody>
          <a:bodyPr/>
          <a:lstStyle/>
          <a:p>
            <a:r>
              <a:rPr lang="en-US" sz="1400" b="1" dirty="0">
                <a:solidFill>
                  <a:schemeClr val="bg1"/>
                </a:solidFill>
                <a:latin typeface="Times New Roman" panose="02020603050405020304" pitchFamily="18" charset="0"/>
                <a:cs typeface="Times New Roman" panose="02020603050405020304" pitchFamily="18" charset="0"/>
              </a:rPr>
              <a:t>End-to-End Verification</a:t>
            </a:r>
          </a:p>
          <a:p>
            <a:endParaRPr lang="en-US" sz="1400" b="1" dirty="0">
              <a:solidFill>
                <a:schemeClr val="bg1"/>
              </a:solidFill>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Reset and initialization </a:t>
            </a: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Link activation and credit grant </a:t>
            </a: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Configuration validation </a:t>
            </a: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Error detection and recovery </a:t>
            </a: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CDC/FIFO data transfer </a:t>
            </a: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Application ACK handshake </a:t>
            </a: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Encryption + parity </a:t>
            </a: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ATU address translation </a:t>
            </a: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CDM storage/readback </a:t>
            </a: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Link deactivation </a:t>
            </a: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Credit conservation </a:t>
            </a:r>
          </a:p>
          <a:p>
            <a:pPr marL="285750" lvl="0" indent="-285750">
              <a:buFont typeface="Wingdings" panose="05000000000000000000" pitchFamily="2" charset="2"/>
              <a:buChar char="ü"/>
            </a:pPr>
            <a:r>
              <a:rPr lang="en-US" sz="1400" dirty="0">
                <a:solidFill>
                  <a:schemeClr val="bg1"/>
                </a:solidFill>
                <a:latin typeface="Times New Roman" panose="02020603050405020304" pitchFamily="18" charset="0"/>
                <a:cs typeface="Times New Roman" panose="02020603050405020304" pitchFamily="18" charset="0"/>
              </a:rPr>
              <a:t>NACK handling </a:t>
            </a:r>
          </a:p>
        </p:txBody>
      </p:sp>
      <p:grpSp>
        <p:nvGrpSpPr>
          <p:cNvPr id="24" name="Group 23">
            <a:extLst>
              <a:ext uri="{FF2B5EF4-FFF2-40B4-BE49-F238E27FC236}">
                <a16:creationId xmlns:a16="http://schemas.microsoft.com/office/drawing/2014/main" id="{395D78C1-2D21-47B5-3EAC-5000C6D0DD3D}"/>
              </a:ext>
            </a:extLst>
          </p:cNvPr>
          <p:cNvGrpSpPr/>
          <p:nvPr/>
        </p:nvGrpSpPr>
        <p:grpSpPr>
          <a:xfrm>
            <a:off x="2437217" y="4241310"/>
            <a:ext cx="4874433" cy="400310"/>
            <a:chOff x="710352" y="3830825"/>
            <a:chExt cx="4874433" cy="400310"/>
          </a:xfrm>
        </p:grpSpPr>
        <p:sp>
          <p:nvSpPr>
            <p:cNvPr id="25" name="TextBox 22">
              <a:extLst>
                <a:ext uri="{FF2B5EF4-FFF2-40B4-BE49-F238E27FC236}">
                  <a16:creationId xmlns:a16="http://schemas.microsoft.com/office/drawing/2014/main" id="{5C9DD6D2-866E-894C-81D6-084A28527DC8}"/>
                </a:ext>
              </a:extLst>
            </p:cNvPr>
            <p:cNvSpPr txBox="1"/>
            <p:nvPr/>
          </p:nvSpPr>
          <p:spPr>
            <a:xfrm>
              <a:off x="1012785" y="3905327"/>
              <a:ext cx="4572000" cy="319831"/>
            </a:xfrm>
            <a:prstGeom prst="rect">
              <a:avLst/>
            </a:prstGeom>
            <a:noFill/>
          </p:spPr>
          <p:txBody>
            <a:bodyPr wrap="square">
              <a:sp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110000"/>
                </a:lnSpc>
                <a:buSzPct val="100000"/>
              </a:pPr>
              <a:r>
                <a:rPr lang="en-US" sz="1400" b="1" dirty="0">
                  <a:solidFill>
                    <a:srgbClr val="1E2761"/>
                  </a:solidFill>
                  <a:latin typeface="Times New Roman" panose="02020603050405020304" pitchFamily="18" charset="0"/>
                  <a:ea typeface="Open Sans" pitchFamily="34" charset="-122"/>
                  <a:cs typeface="Times New Roman" panose="02020603050405020304" pitchFamily="18" charset="0"/>
                </a:rPr>
                <a:t>PASS → The system pass all test cases  </a:t>
              </a:r>
            </a:p>
          </p:txBody>
        </p:sp>
        <p:pic>
          <p:nvPicPr>
            <p:cNvPr id="26" name="Graphic 23" descr="Checkmark with solid fill">
              <a:extLst>
                <a:ext uri="{FF2B5EF4-FFF2-40B4-BE49-F238E27FC236}">
                  <a16:creationId xmlns:a16="http://schemas.microsoft.com/office/drawing/2014/main" id="{05512B22-E8D6-C7E0-C2AD-4BDEDFCCE8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0352" y="3830825"/>
              <a:ext cx="400310" cy="400310"/>
            </a:xfrm>
            <a:prstGeom prst="rect">
              <a:avLst/>
            </a:prstGeom>
          </p:spPr>
        </p:pic>
      </p:grpSp>
    </p:spTree>
    <p:extLst>
      <p:ext uri="{BB962C8B-B14F-4D97-AF65-F5344CB8AC3E}">
        <p14:creationId xmlns:p14="http://schemas.microsoft.com/office/powerpoint/2010/main" val="23038358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1000"/>
                                        <p:tgtEl>
                                          <p:spTgt spid="23"/>
                                        </p:tgtEl>
                                      </p:cBhvr>
                                    </p:animEffect>
                                    <p:anim calcmode="lin" valueType="num">
                                      <p:cBhvr>
                                        <p:cTn id="13" dur="1000" fill="hold"/>
                                        <p:tgtEl>
                                          <p:spTgt spid="23"/>
                                        </p:tgtEl>
                                        <p:attrNameLst>
                                          <p:attrName>ppt_x</p:attrName>
                                        </p:attrNameLst>
                                      </p:cBhvr>
                                      <p:tavLst>
                                        <p:tav tm="0">
                                          <p:val>
                                            <p:strVal val="#ppt_x"/>
                                          </p:val>
                                        </p:tav>
                                        <p:tav tm="100000">
                                          <p:val>
                                            <p:strVal val="#ppt_x"/>
                                          </p:val>
                                        </p:tav>
                                      </p:tavLst>
                                    </p:anim>
                                    <p:anim calcmode="lin" valueType="num">
                                      <p:cBhvr>
                                        <p:cTn id="14"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81F5F805-4E43-DD4F-A1FE-A30D09C3C670}"/>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2C789833-BAB3-7C60-5F47-CE0C63E26384}"/>
              </a:ext>
            </a:extLst>
          </p:cNvPr>
          <p:cNvSpPr txBox="1"/>
          <p:nvPr/>
        </p:nvSpPr>
        <p:spPr>
          <a:xfrm>
            <a:off x="622609" y="129726"/>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rPr>
              <a:t>5</a:t>
            </a:r>
            <a:endParaRPr lang="en-US" sz="11000" dirty="0"/>
          </a:p>
        </p:txBody>
      </p:sp>
      <p:sp>
        <p:nvSpPr>
          <p:cNvPr id="6" name="Shape 2">
            <a:extLst>
              <a:ext uri="{FF2B5EF4-FFF2-40B4-BE49-F238E27FC236}">
                <a16:creationId xmlns:a16="http://schemas.microsoft.com/office/drawing/2014/main" id="{F6DA0093-FB52-B34D-F25C-7B8566CFFC12}"/>
              </a:ext>
            </a:extLst>
          </p:cNvPr>
          <p:cNvSpPr/>
          <p:nvPr/>
        </p:nvSpPr>
        <p:spPr>
          <a:xfrm>
            <a:off x="295879" y="1758393"/>
            <a:ext cx="1554480" cy="45720"/>
          </a:xfrm>
          <a:prstGeom prst="rect">
            <a:avLst/>
          </a:prstGeom>
          <a:solidFill>
            <a:srgbClr val="00C2A8"/>
          </a:solidFill>
          <a:ln/>
        </p:spPr>
        <p:txBody>
          <a:bodyPr/>
          <a:lstStyle/>
          <a:p>
            <a:endParaRPr lang="en-US"/>
          </a:p>
        </p:txBody>
      </p:sp>
      <p:sp>
        <p:nvSpPr>
          <p:cNvPr id="10" name="Text 3">
            <a:extLst>
              <a:ext uri="{FF2B5EF4-FFF2-40B4-BE49-F238E27FC236}">
                <a16:creationId xmlns:a16="http://schemas.microsoft.com/office/drawing/2014/main" id="{99FFEF51-91F5-5CED-36D4-87D4626E91F1}"/>
              </a:ext>
            </a:extLst>
          </p:cNvPr>
          <p:cNvSpPr txBox="1"/>
          <p:nvPr/>
        </p:nvSpPr>
        <p:spPr>
          <a:xfrm>
            <a:off x="295879" y="1812356"/>
            <a:ext cx="4100275" cy="1667682"/>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Linting &amp; Synthesis Timing Results</a:t>
            </a:r>
          </a:p>
        </p:txBody>
      </p:sp>
      <p:pic>
        <p:nvPicPr>
          <p:cNvPr id="19" name="Picture 18">
            <a:extLst>
              <a:ext uri="{FF2B5EF4-FFF2-40B4-BE49-F238E27FC236}">
                <a16:creationId xmlns:a16="http://schemas.microsoft.com/office/drawing/2014/main" id="{E7C160F5-E806-DEE2-3661-B321087C6F59}"/>
              </a:ext>
            </a:extLst>
          </p:cNvPr>
          <p:cNvPicPr>
            <a:picLocks noChangeAspect="1"/>
          </p:cNvPicPr>
          <p:nvPr/>
        </p:nvPicPr>
        <p:blipFill>
          <a:blip r:embed="rId2"/>
          <a:srcRect l="4854" r="4464"/>
          <a:stretch>
            <a:fillRect/>
          </a:stretch>
        </p:blipFill>
        <p:spPr>
          <a:xfrm>
            <a:off x="4649372" y="1414682"/>
            <a:ext cx="3948243" cy="245041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370311546"/>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B560BA5F-1E85-4DCD-7402-62344CDA789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8B0DB4A-12B5-1964-E0AE-3EE4F0774227}"/>
              </a:ext>
            </a:extLst>
          </p:cNvPr>
          <p:cNvSpPr txBox="1"/>
          <p:nvPr/>
        </p:nvSpPr>
        <p:spPr>
          <a:xfrm>
            <a:off x="411480" y="342900"/>
            <a:ext cx="7886700" cy="480060"/>
          </a:xfrm>
          <a:prstGeom prst="rect">
            <a:avLst/>
          </a:prstGeom>
          <a:noFill/>
          <a:ln/>
        </p:spPr>
        <p:txBody>
          <a:bodyPr wrap="square" lIns="0" tIns="0" rIns="0" bIns="0" rtlCol="0" anchor="ctr"/>
          <a:lstStyle/>
          <a:p>
            <a:pPr lvl="0">
              <a:defRPr/>
            </a:pPr>
            <a:r>
              <a:rPr lang="en-US" sz="2250" b="1" dirty="0">
                <a:solidFill>
                  <a:srgbClr val="1E2761"/>
                </a:solidFill>
                <a:latin typeface="Cambria" pitchFamily="34" charset="0"/>
                <a:ea typeface="Cambria" pitchFamily="34" charset="-122"/>
                <a:cs typeface="Cambria" pitchFamily="34" charset="-120"/>
              </a:rPr>
              <a:t>Linting Results</a:t>
            </a:r>
          </a:p>
        </p:txBody>
      </p:sp>
      <p:sp>
        <p:nvSpPr>
          <p:cNvPr id="4" name="Shape 2">
            <a:extLst>
              <a:ext uri="{FF2B5EF4-FFF2-40B4-BE49-F238E27FC236}">
                <a16:creationId xmlns:a16="http://schemas.microsoft.com/office/drawing/2014/main" id="{DCEEE9E5-FDA5-B2A7-9A76-1C3EB9D8D9E4}"/>
              </a:ext>
            </a:extLst>
          </p:cNvPr>
          <p:cNvSpPr/>
          <p:nvPr/>
        </p:nvSpPr>
        <p:spPr>
          <a:xfrm>
            <a:off x="377469" y="1100255"/>
            <a:ext cx="3938053" cy="3315628"/>
          </a:xfrm>
          <a:prstGeom prst="roundRect">
            <a:avLst>
              <a:gd name="adj" fmla="val 2326"/>
            </a:avLst>
          </a:prstGeom>
          <a:solidFill>
            <a:srgbClr val="FFFFFF"/>
          </a:solidFill>
          <a:ln/>
          <a:effectLst>
            <a:outerShdw blurRad="101600" dist="38100" dir="5400000" algn="bl" rotWithShape="0">
              <a:srgbClr val="9AA5C0">
                <a:alpha val="35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D04768D9-C540-F1F4-435A-D520E576DB54}"/>
              </a:ext>
            </a:extLst>
          </p:cNvPr>
          <p:cNvSpPr txBox="1"/>
          <p:nvPr/>
        </p:nvSpPr>
        <p:spPr>
          <a:xfrm>
            <a:off x="612666" y="1192437"/>
            <a:ext cx="3291840" cy="274320"/>
          </a:xfrm>
          <a:prstGeom prst="rect">
            <a:avLst/>
          </a:prstGeom>
          <a:noFill/>
          <a:ln/>
        </p:spPr>
        <p:txBody>
          <a:bodyPr wrap="square" lIns="0" tIns="0" rIns="0" bIns="0" rtlCol="0" anchor="ctr"/>
          <a:lstStyle/>
          <a:p>
            <a:pPr lvl="0">
              <a:defRPr/>
            </a:pPr>
            <a:r>
              <a:rPr lang="en-US" sz="1400" b="1" dirty="0">
                <a:solidFill>
                  <a:srgbClr val="1E2761"/>
                </a:solidFill>
                <a:latin typeface="Cambria" pitchFamily="34" charset="0"/>
                <a:ea typeface="Cambria" pitchFamily="34" charset="-122"/>
                <a:cs typeface="Cambria" pitchFamily="34" charset="-120"/>
              </a:rPr>
              <a:t>Linting</a:t>
            </a:r>
            <a:endParaRPr kumimoji="0" lang="en-US" sz="13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a:extLst>
              <a:ext uri="{FF2B5EF4-FFF2-40B4-BE49-F238E27FC236}">
                <a16:creationId xmlns:a16="http://schemas.microsoft.com/office/drawing/2014/main" id="{377493A0-0F32-98D7-0715-13E958057308}"/>
              </a:ext>
            </a:extLst>
          </p:cNvPr>
          <p:cNvSpPr txBox="1"/>
          <p:nvPr/>
        </p:nvSpPr>
        <p:spPr>
          <a:xfrm>
            <a:off x="612666" y="1558939"/>
            <a:ext cx="3291840" cy="2502100"/>
          </a:xfrm>
          <a:prstGeom prst="rect">
            <a:avLst/>
          </a:prstGeom>
          <a:noFill/>
          <a:ln/>
        </p:spPr>
        <p:txBody>
          <a:bodyPr wrap="square" lIns="0" tIns="0" rIns="0" bIns="0" rtlCol="0" anchor="ctr"/>
          <a:lstStyle/>
          <a:p>
            <a:pPr lvl="0">
              <a:lnSpc>
                <a:spcPct val="115000"/>
              </a:lnSpc>
              <a:spcAft>
                <a:spcPts val="900"/>
              </a:spcAft>
              <a:buSzPct val="100000"/>
            </a:pPr>
            <a:r>
              <a:rPr lang="en-US" sz="1200" b="1" dirty="0">
                <a:solidFill>
                  <a:srgbClr val="1E2761"/>
                </a:solidFill>
                <a:latin typeface="Times New Roman" panose="02020603050405020304" pitchFamily="18" charset="0"/>
                <a:cs typeface="Times New Roman" panose="02020603050405020304" pitchFamily="18" charset="0"/>
              </a:rPr>
              <a:t>Result: </a:t>
            </a:r>
          </a:p>
          <a:p>
            <a:pPr marL="257175" lvl="0" indent="-257175">
              <a:lnSpc>
                <a:spcPct val="115000"/>
              </a:lnSpc>
              <a:spcAft>
                <a:spcPts val="900"/>
              </a:spcAft>
              <a:buSzPct val="100000"/>
              <a:buFontTx/>
              <a:buChar char="•"/>
            </a:pPr>
            <a:r>
              <a:rPr lang="en-US" sz="1200" dirty="0">
                <a:solidFill>
                  <a:srgbClr val="1E2761"/>
                </a:solidFill>
                <a:latin typeface="Times New Roman" panose="02020603050405020304" pitchFamily="18" charset="0"/>
                <a:cs typeface="Times New Roman" panose="02020603050405020304" pitchFamily="18" charset="0"/>
              </a:rPr>
              <a:t>No Error-level violations</a:t>
            </a:r>
          </a:p>
          <a:p>
            <a:pPr marL="257175" lvl="0" indent="-257175">
              <a:lnSpc>
                <a:spcPct val="115000"/>
              </a:lnSpc>
              <a:spcAft>
                <a:spcPts val="900"/>
              </a:spcAft>
              <a:buSzPct val="100000"/>
              <a:buFontTx/>
              <a:buChar char="•"/>
            </a:pPr>
            <a:r>
              <a:rPr lang="en-US" sz="1200" dirty="0">
                <a:solidFill>
                  <a:srgbClr val="1E2761"/>
                </a:solidFill>
                <a:latin typeface="Times New Roman" panose="02020603050405020304" pitchFamily="18" charset="0"/>
                <a:cs typeface="Times New Roman" panose="02020603050405020304" pitchFamily="18" charset="0"/>
              </a:rPr>
              <a:t>No unintended latches</a:t>
            </a:r>
          </a:p>
          <a:p>
            <a:pPr marL="257175" lvl="0" indent="-257175">
              <a:lnSpc>
                <a:spcPct val="115000"/>
              </a:lnSpc>
              <a:spcAft>
                <a:spcPts val="900"/>
              </a:spcAft>
              <a:buSzPct val="100000"/>
              <a:buFontTx/>
              <a:buChar char="•"/>
            </a:pPr>
            <a:r>
              <a:rPr lang="en-US" sz="1200" dirty="0">
                <a:solidFill>
                  <a:srgbClr val="1E2761"/>
                </a:solidFill>
                <a:latin typeface="Times New Roman" panose="02020603050405020304" pitchFamily="18" charset="0"/>
                <a:cs typeface="Times New Roman" panose="02020603050405020304" pitchFamily="18" charset="0"/>
              </a:rPr>
              <a:t>No combinational loops</a:t>
            </a:r>
          </a:p>
          <a:p>
            <a:pPr marL="257175" lvl="0" indent="-257175">
              <a:lnSpc>
                <a:spcPct val="115000"/>
              </a:lnSpc>
              <a:spcAft>
                <a:spcPts val="900"/>
              </a:spcAft>
              <a:buSzPct val="100000"/>
              <a:buFontTx/>
              <a:buChar char="•"/>
            </a:pPr>
            <a:r>
              <a:rPr lang="en-US" sz="1200" dirty="0">
                <a:solidFill>
                  <a:srgbClr val="1E2761"/>
                </a:solidFill>
                <a:latin typeface="Times New Roman" panose="02020603050405020304" pitchFamily="18" charset="0"/>
                <a:cs typeface="Times New Roman" panose="02020603050405020304" pitchFamily="18" charset="0"/>
              </a:rPr>
              <a:t>No CDC violations reported by the applied lint rules</a:t>
            </a:r>
          </a:p>
          <a:p>
            <a:pPr marL="257175" lvl="0" indent="-257175">
              <a:lnSpc>
                <a:spcPct val="115000"/>
              </a:lnSpc>
              <a:spcAft>
                <a:spcPts val="900"/>
              </a:spcAft>
              <a:buSzPct val="100000"/>
              <a:buFontTx/>
              <a:buChar char="•"/>
            </a:pPr>
            <a:r>
              <a:rPr lang="en-US" sz="1200" dirty="0">
                <a:solidFill>
                  <a:srgbClr val="1E2761"/>
                </a:solidFill>
                <a:latin typeface="Times New Roman" panose="02020603050405020304" pitchFamily="18" charset="0"/>
                <a:cs typeface="Times New Roman" panose="02020603050405020304" pitchFamily="18" charset="0"/>
              </a:rPr>
              <a:t>No STARC coding violations</a:t>
            </a:r>
          </a:p>
          <a:p>
            <a:pPr lvl="0">
              <a:lnSpc>
                <a:spcPct val="100000"/>
              </a:lnSpc>
              <a:spcAft>
                <a:spcPts val="900"/>
              </a:spcAft>
              <a:buSzPct val="100000"/>
            </a:pPr>
            <a:r>
              <a:rPr lang="en-US" sz="1100" b="1" dirty="0">
                <a:solidFill>
                  <a:srgbClr val="1E2761"/>
                </a:solidFill>
                <a:latin typeface="Times New Roman" panose="02020603050405020304" pitchFamily="18" charset="0"/>
                <a:cs typeface="Times New Roman" panose="02020603050405020304" pitchFamily="18" charset="0"/>
              </a:rPr>
              <a:t>PASS — RTL is lint-clean under the applied </a:t>
            </a:r>
            <a:r>
              <a:rPr lang="en-US" sz="1100" b="1" dirty="0" err="1">
                <a:solidFill>
                  <a:srgbClr val="1E2761"/>
                </a:solidFill>
                <a:latin typeface="Times New Roman" panose="02020603050405020304" pitchFamily="18" charset="0"/>
                <a:cs typeface="Times New Roman" panose="02020603050405020304" pitchFamily="18" charset="0"/>
              </a:rPr>
              <a:t>SpyGlass</a:t>
            </a:r>
            <a:r>
              <a:rPr lang="en-US" sz="1100" b="1" dirty="0">
                <a:solidFill>
                  <a:srgbClr val="1E2761"/>
                </a:solidFill>
                <a:latin typeface="Times New Roman" panose="02020603050405020304" pitchFamily="18" charset="0"/>
                <a:cs typeface="Times New Roman" panose="02020603050405020304" pitchFamily="18" charset="0"/>
              </a:rPr>
              <a:t> rule set.</a:t>
            </a:r>
            <a:endParaRPr kumimoji="0" lang="en-US" sz="1100" b="1" i="0" u="none" strike="noStrike" kern="1200" cap="none" spc="0" normalizeH="0" baseline="0" noProof="0" dirty="0">
              <a:ln>
                <a:noFill/>
              </a:ln>
              <a:solidFill>
                <a:srgbClr val="1E2761"/>
              </a:solidFill>
              <a:effectLst/>
              <a:uLnTx/>
              <a:uFillTx/>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80F1C7D-31F8-3319-4C55-E9FB28CEEFD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100255"/>
            <a:ext cx="4364502" cy="3315628"/>
          </a:xfrm>
          <a:prstGeom prst="rect">
            <a:avLst/>
          </a:prstGeom>
        </p:spPr>
      </p:pic>
    </p:spTree>
    <p:extLst>
      <p:ext uri="{BB962C8B-B14F-4D97-AF65-F5344CB8AC3E}">
        <p14:creationId xmlns:p14="http://schemas.microsoft.com/office/powerpoint/2010/main" val="299863860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CE7E7AA5-53AD-2F1A-5641-6F13CAC66A4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B64A472-206F-0F13-3AAF-E88583530F7A}"/>
              </a:ext>
            </a:extLst>
          </p:cNvPr>
          <p:cNvSpPr txBox="1"/>
          <p:nvPr/>
        </p:nvSpPr>
        <p:spPr>
          <a:xfrm>
            <a:off x="411480" y="342900"/>
            <a:ext cx="7886700" cy="480060"/>
          </a:xfrm>
          <a:prstGeom prst="rect">
            <a:avLst/>
          </a:prstGeom>
          <a:noFill/>
          <a:ln/>
        </p:spPr>
        <p:txBody>
          <a:bodyPr wrap="square" lIns="0" tIns="0" rIns="0" bIns="0" rtlCol="0" anchor="ctr"/>
          <a:lstStyle/>
          <a:p>
            <a:pPr lvl="0">
              <a:defRPr/>
            </a:pPr>
            <a:r>
              <a:rPr lang="en-US" sz="2250" b="1" dirty="0">
                <a:solidFill>
                  <a:srgbClr val="1E2761"/>
                </a:solidFill>
                <a:latin typeface="Cambria" pitchFamily="34" charset="0"/>
                <a:ea typeface="Cambria" pitchFamily="34" charset="-122"/>
                <a:cs typeface="Cambria" pitchFamily="34" charset="-120"/>
              </a:rPr>
              <a:t>Synthesis Timing Results</a:t>
            </a:r>
          </a:p>
        </p:txBody>
      </p:sp>
      <p:sp>
        <p:nvSpPr>
          <p:cNvPr id="8" name="Shape 6">
            <a:extLst>
              <a:ext uri="{FF2B5EF4-FFF2-40B4-BE49-F238E27FC236}">
                <a16:creationId xmlns:a16="http://schemas.microsoft.com/office/drawing/2014/main" id="{901B5F5D-091B-57D2-25AA-85329D5BE2A5}"/>
              </a:ext>
            </a:extLst>
          </p:cNvPr>
          <p:cNvSpPr/>
          <p:nvPr/>
        </p:nvSpPr>
        <p:spPr>
          <a:xfrm>
            <a:off x="474529" y="1100255"/>
            <a:ext cx="3938053" cy="3809370"/>
          </a:xfrm>
          <a:prstGeom prst="roundRect">
            <a:avLst>
              <a:gd name="adj" fmla="val 2326"/>
            </a:avLst>
          </a:prstGeom>
          <a:solidFill>
            <a:srgbClr val="1E2761"/>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9">
            <a:extLst>
              <a:ext uri="{FF2B5EF4-FFF2-40B4-BE49-F238E27FC236}">
                <a16:creationId xmlns:a16="http://schemas.microsoft.com/office/drawing/2014/main" id="{B1404D0A-46F9-3C74-0394-FBC1513B38BF}"/>
              </a:ext>
            </a:extLst>
          </p:cNvPr>
          <p:cNvSpPr txBox="1"/>
          <p:nvPr/>
        </p:nvSpPr>
        <p:spPr>
          <a:xfrm>
            <a:off x="553081" y="1216855"/>
            <a:ext cx="3780947" cy="3516923"/>
          </a:xfrm>
          <a:prstGeom prst="rect">
            <a:avLst/>
          </a:prstGeom>
          <a:noFill/>
          <a:ln/>
        </p:spPr>
        <p:txBody>
          <a:bodyPr wrap="square" lIns="0" tIns="0" rIns="0" bIns="0" rtlCol="0" anchor="ctr"/>
          <a:lstStyle/>
          <a:p>
            <a:pPr lvl="0">
              <a:spcAft>
                <a:spcPts val="900"/>
              </a:spcAft>
              <a:buSzPct val="100000"/>
            </a:pPr>
            <a:r>
              <a:rPr lang="en-US" sz="1200" b="1" dirty="0">
                <a:solidFill>
                  <a:schemeClr val="bg1"/>
                </a:solidFill>
                <a:latin typeface="Times New Roman" panose="02020603050405020304" pitchFamily="18" charset="0"/>
                <a:cs typeface="Times New Roman" panose="02020603050405020304" pitchFamily="18" charset="0"/>
              </a:rPr>
              <a:t>Setup Timing Analysis</a:t>
            </a:r>
          </a:p>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Checks whether data arrives before the capture clock edge.</a:t>
            </a:r>
          </a:p>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The critical path was analyzed using the synthesized netlist.</a:t>
            </a:r>
          </a:p>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No setup violations were reported.</a:t>
            </a:r>
          </a:p>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Approximately 47% of the clock period remains as timing margin.</a:t>
            </a:r>
          </a:p>
          <a:p>
            <a:pPr lvl="0">
              <a:spcAft>
                <a:spcPts val="900"/>
              </a:spcAft>
              <a:buSzPct val="100000"/>
            </a:pPr>
            <a:r>
              <a:rPr lang="en-US" sz="1200" b="1" dirty="0">
                <a:solidFill>
                  <a:schemeClr val="bg1"/>
                </a:solidFill>
                <a:latin typeface="Times New Roman" panose="02020603050405020304" pitchFamily="18" charset="0"/>
                <a:cs typeface="Times New Roman" panose="02020603050405020304" pitchFamily="18" charset="0"/>
              </a:rPr>
              <a:t>Hold Timing Analysis</a:t>
            </a:r>
          </a:p>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Verifies the minimum-delay paths.</a:t>
            </a:r>
          </a:p>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No hold violations were reported.</a:t>
            </a:r>
          </a:p>
          <a:p>
            <a:pPr marL="257175" lvl="0" indent="-257175">
              <a:spcAft>
                <a:spcPts val="900"/>
              </a:spcAft>
              <a:buSzPct val="100000"/>
              <a:buFontTx/>
              <a:buChar char="•"/>
            </a:pPr>
            <a:r>
              <a:rPr lang="en-US" sz="1200" dirty="0">
                <a:solidFill>
                  <a:schemeClr val="bg1"/>
                </a:solidFill>
                <a:latin typeface="Times New Roman" panose="02020603050405020304" pitchFamily="18" charset="0"/>
                <a:cs typeface="Times New Roman" panose="02020603050405020304" pitchFamily="18" charset="0"/>
              </a:rPr>
              <a:t>Overall Result</a:t>
            </a:r>
          </a:p>
          <a:p>
            <a:pPr lvl="0">
              <a:spcAft>
                <a:spcPts val="900"/>
              </a:spcAft>
              <a:buSzPct val="100000"/>
            </a:pPr>
            <a:r>
              <a:rPr lang="en-US" sz="1200" b="1" dirty="0">
                <a:solidFill>
                  <a:schemeClr val="bg1"/>
                </a:solidFill>
                <a:latin typeface="Times New Roman" panose="02020603050405020304" pitchFamily="18" charset="0"/>
                <a:cs typeface="Times New Roman" panose="02020603050405020304" pitchFamily="18" charset="0"/>
              </a:rPr>
              <a:t>       Setup ✓ | Hold ✓ | Timing MET </a:t>
            </a:r>
          </a:p>
        </p:txBody>
      </p:sp>
      <p:pic>
        <p:nvPicPr>
          <p:cNvPr id="5" name="Graphic 23" descr="Checkmark with solid fill">
            <a:extLst>
              <a:ext uri="{FF2B5EF4-FFF2-40B4-BE49-F238E27FC236}">
                <a16:creationId xmlns:a16="http://schemas.microsoft.com/office/drawing/2014/main" id="{CAE0E139-9591-2E61-011F-E941042C145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957721" y="4333468"/>
            <a:ext cx="400310" cy="400310"/>
          </a:xfrm>
          <a:prstGeom prst="rect">
            <a:avLst/>
          </a:prstGeom>
        </p:spPr>
      </p:pic>
      <p:pic>
        <p:nvPicPr>
          <p:cNvPr id="9" name="Picture 8">
            <a:extLst>
              <a:ext uri="{FF2B5EF4-FFF2-40B4-BE49-F238E27FC236}">
                <a16:creationId xmlns:a16="http://schemas.microsoft.com/office/drawing/2014/main" id="{4CE7905E-8155-3CFB-9327-398A0E96E8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67422" y="1100255"/>
            <a:ext cx="3802049" cy="1776588"/>
          </a:xfrm>
          <a:prstGeom prst="rect">
            <a:avLst/>
          </a:prstGeom>
        </p:spPr>
      </p:pic>
      <p:pic>
        <p:nvPicPr>
          <p:cNvPr id="12" name="Picture 11">
            <a:extLst>
              <a:ext uri="{FF2B5EF4-FFF2-40B4-BE49-F238E27FC236}">
                <a16:creationId xmlns:a16="http://schemas.microsoft.com/office/drawing/2014/main" id="{A114873C-300B-1146-1BC6-63025BBB0DD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7422" y="2975316"/>
            <a:ext cx="3802049" cy="1887274"/>
          </a:xfrm>
          <a:prstGeom prst="rect">
            <a:avLst/>
          </a:prstGeom>
        </p:spPr>
      </p:pic>
    </p:spTree>
    <p:extLst>
      <p:ext uri="{BB962C8B-B14F-4D97-AF65-F5344CB8AC3E}">
        <p14:creationId xmlns:p14="http://schemas.microsoft.com/office/powerpoint/2010/main" val="199609762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1000"/>
                                        <p:tgtEl>
                                          <p:spTgt spid="8"/>
                                        </p:tgtEl>
                                      </p:cBhvr>
                                    </p:animEffect>
                                    <p:anim calcmode="lin" valueType="num">
                                      <p:cBhvr>
                                        <p:cTn id="13" dur="1000" fill="hold"/>
                                        <p:tgtEl>
                                          <p:spTgt spid="8"/>
                                        </p:tgtEl>
                                        <p:attrNameLst>
                                          <p:attrName>ppt_x</p:attrName>
                                        </p:attrNameLst>
                                      </p:cBhvr>
                                      <p:tavLst>
                                        <p:tav tm="0">
                                          <p:val>
                                            <p:strVal val="#ppt_x"/>
                                          </p:val>
                                        </p:tav>
                                        <p:tav tm="100000">
                                          <p:val>
                                            <p:strVal val="#ppt_x"/>
                                          </p:val>
                                        </p:tav>
                                      </p:tavLst>
                                    </p:anim>
                                    <p:anim calcmode="lin" valueType="num">
                                      <p:cBhvr>
                                        <p:cTn id="14" dur="1000" fill="hold"/>
                                        <p:tgtEl>
                                          <p:spTgt spid="8"/>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1000"/>
                                        <p:tgtEl>
                                          <p:spTgt spid="11"/>
                                        </p:tgtEl>
                                      </p:cBhvr>
                                    </p:animEffect>
                                    <p:anim calcmode="lin" valueType="num">
                                      <p:cBhvr>
                                        <p:cTn id="18" dur="1000" fill="hold"/>
                                        <p:tgtEl>
                                          <p:spTgt spid="11"/>
                                        </p:tgtEl>
                                        <p:attrNameLst>
                                          <p:attrName>ppt_x</p:attrName>
                                        </p:attrNameLst>
                                      </p:cBhvr>
                                      <p:tavLst>
                                        <p:tav tm="0">
                                          <p:val>
                                            <p:strVal val="#ppt_x"/>
                                          </p:val>
                                        </p:tav>
                                        <p:tav tm="100000">
                                          <p:val>
                                            <p:strVal val="#ppt_x"/>
                                          </p:val>
                                        </p:tav>
                                      </p:tavLst>
                                    </p:anim>
                                    <p:anim calcmode="lin" valueType="num">
                                      <p:cBhvr>
                                        <p:cTn id="1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rgbClr val="1E2761"/>
            </a:gs>
            <a:gs pos="90000">
              <a:srgbClr val="1E2761"/>
            </a:gs>
          </a:gsLst>
          <a:path path="rect">
            <a:fillToRect l="100000" t="100000"/>
          </a:path>
        </a:gradFill>
        <a:effectLst/>
      </p:bgPr>
    </p:bg>
    <p:spTree>
      <p:nvGrpSpPr>
        <p:cNvPr id="1" name="">
          <a:extLst>
            <a:ext uri="{FF2B5EF4-FFF2-40B4-BE49-F238E27FC236}">
              <a16:creationId xmlns:a16="http://schemas.microsoft.com/office/drawing/2014/main" id="{9A2A1414-E96E-7F80-EA31-E3FEA2C38F5F}"/>
            </a:ext>
          </a:extLst>
        </p:cNvPr>
        <p:cNvGrpSpPr/>
        <p:nvPr/>
      </p:nvGrpSpPr>
      <p:grpSpPr>
        <a:xfrm>
          <a:off x="0" y="0"/>
          <a:ext cx="0" cy="0"/>
          <a:chOff x="0" y="0"/>
          <a:chExt cx="0" cy="0"/>
        </a:xfrm>
      </p:grpSpPr>
      <p:sp>
        <p:nvSpPr>
          <p:cNvPr id="5" name="Text 1">
            <a:extLst>
              <a:ext uri="{FF2B5EF4-FFF2-40B4-BE49-F238E27FC236}">
                <a16:creationId xmlns:a16="http://schemas.microsoft.com/office/drawing/2014/main" id="{02701467-9CA8-E9A6-D8CB-62A103E5514E}"/>
              </a:ext>
            </a:extLst>
          </p:cNvPr>
          <p:cNvSpPr txBox="1"/>
          <p:nvPr/>
        </p:nvSpPr>
        <p:spPr>
          <a:xfrm>
            <a:off x="622609" y="129726"/>
            <a:ext cx="901019" cy="1674387"/>
          </a:xfrm>
          <a:prstGeom prst="rect">
            <a:avLst/>
          </a:prstGeom>
          <a:noFill/>
          <a:ln/>
        </p:spPr>
        <p:txBody>
          <a:bodyPr wrap="square" lIns="0" tIns="0" rIns="0" bIns="0" rtlCol="0" anchor="ctr"/>
          <a:lstStyle/>
          <a:p>
            <a:pPr marL="0" indent="0">
              <a:buNone/>
            </a:pPr>
            <a:r>
              <a:rPr lang="en-US" sz="11000" b="1" dirty="0">
                <a:solidFill>
                  <a:srgbClr val="CADCFC"/>
                </a:solidFill>
                <a:latin typeface="Cambria" pitchFamily="34" charset="0"/>
                <a:ea typeface="Cambria" pitchFamily="34" charset="-122"/>
              </a:rPr>
              <a:t>6</a:t>
            </a:r>
            <a:endParaRPr lang="en-US" sz="11000" dirty="0"/>
          </a:p>
        </p:txBody>
      </p:sp>
      <p:sp>
        <p:nvSpPr>
          <p:cNvPr id="6" name="Shape 2">
            <a:extLst>
              <a:ext uri="{FF2B5EF4-FFF2-40B4-BE49-F238E27FC236}">
                <a16:creationId xmlns:a16="http://schemas.microsoft.com/office/drawing/2014/main" id="{88E518CC-3B60-F707-B1E2-AFD14725392E}"/>
              </a:ext>
            </a:extLst>
          </p:cNvPr>
          <p:cNvSpPr/>
          <p:nvPr/>
        </p:nvSpPr>
        <p:spPr>
          <a:xfrm>
            <a:off x="295879" y="1758393"/>
            <a:ext cx="1554480" cy="45720"/>
          </a:xfrm>
          <a:prstGeom prst="rect">
            <a:avLst/>
          </a:prstGeom>
          <a:solidFill>
            <a:srgbClr val="00C2A8"/>
          </a:solidFill>
          <a:ln/>
        </p:spPr>
        <p:txBody>
          <a:bodyPr/>
          <a:lstStyle/>
          <a:p>
            <a:endParaRPr lang="en-US"/>
          </a:p>
        </p:txBody>
      </p:sp>
      <p:sp>
        <p:nvSpPr>
          <p:cNvPr id="4" name="Text 3">
            <a:extLst>
              <a:ext uri="{FF2B5EF4-FFF2-40B4-BE49-F238E27FC236}">
                <a16:creationId xmlns:a16="http://schemas.microsoft.com/office/drawing/2014/main" id="{7B149EF2-999E-484B-AB82-9ACE393804B7}"/>
              </a:ext>
            </a:extLst>
          </p:cNvPr>
          <p:cNvSpPr txBox="1"/>
          <p:nvPr/>
        </p:nvSpPr>
        <p:spPr>
          <a:xfrm>
            <a:off x="295879" y="1397359"/>
            <a:ext cx="4100275" cy="1667682"/>
          </a:xfrm>
          <a:prstGeom prst="rect">
            <a:avLst/>
          </a:prstGeom>
          <a:noFill/>
          <a:ln/>
        </p:spPr>
        <p:txBody>
          <a:bodyPr wrap="square" lIns="0" tIns="0" rIns="0" bIns="0" rtlCol="0" anchor="ctr"/>
          <a:lstStyle/>
          <a:p>
            <a:pPr marL="0" indent="0">
              <a:lnSpc>
                <a:spcPct val="100000"/>
              </a:lnSpc>
              <a:buNone/>
            </a:pPr>
            <a:r>
              <a:rPr lang="en-US" sz="4000" b="1" dirty="0">
                <a:solidFill>
                  <a:srgbClr val="FFFFFF"/>
                </a:solidFill>
                <a:latin typeface="Cambria" pitchFamily="34" charset="0"/>
                <a:ea typeface="Cambria" pitchFamily="34" charset="-122"/>
                <a:cs typeface="Cambria" pitchFamily="34" charset="-120"/>
              </a:rPr>
              <a:t>conclusion</a:t>
            </a:r>
          </a:p>
        </p:txBody>
      </p:sp>
      <p:pic>
        <p:nvPicPr>
          <p:cNvPr id="8" name="Picture 7">
            <a:extLst>
              <a:ext uri="{FF2B5EF4-FFF2-40B4-BE49-F238E27FC236}">
                <a16:creationId xmlns:a16="http://schemas.microsoft.com/office/drawing/2014/main" id="{DBA09889-6F49-0345-E0A7-5C8C2C41FD0D}"/>
              </a:ext>
            </a:extLst>
          </p:cNvPr>
          <p:cNvPicPr>
            <a:picLocks noChangeAspect="1"/>
          </p:cNvPicPr>
          <p:nvPr/>
        </p:nvPicPr>
        <p:blipFill>
          <a:blip r:embed="rId2"/>
          <a:srcRect l="50815" t="18211" r="1762" b="27733"/>
          <a:stretch>
            <a:fillRect/>
          </a:stretch>
        </p:blipFill>
        <p:spPr>
          <a:xfrm>
            <a:off x="4193246" y="1081739"/>
            <a:ext cx="4247083" cy="272454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442326097"/>
      </p:ext>
    </p:extLst>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CBCA5B7-5B60-3E5F-77E4-15FEAF02935A}"/>
              </a:ext>
            </a:extLst>
          </p:cNvPr>
          <p:cNvSpPr txBox="1"/>
          <p:nvPr/>
        </p:nvSpPr>
        <p:spPr>
          <a:xfrm>
            <a:off x="411480" y="342900"/>
            <a:ext cx="7886700" cy="480060"/>
          </a:xfrm>
          <a:prstGeom prst="rect">
            <a:avLst/>
          </a:prstGeom>
          <a:noFill/>
          <a:ln/>
        </p:spPr>
        <p:txBody>
          <a:bodyPr wrap="square" lIns="0" tIns="0" rIns="0" bIns="0" rtlCol="0" anchor="ctr"/>
          <a:lstStyle/>
          <a:p>
            <a:pPr lvl="0">
              <a:defRPr/>
            </a:pPr>
            <a:r>
              <a:rPr lang="en-US" sz="2250" b="1" dirty="0">
                <a:solidFill>
                  <a:srgbClr val="1E2761"/>
                </a:solidFill>
                <a:latin typeface="Cambria" pitchFamily="34" charset="0"/>
                <a:ea typeface="Cambria" pitchFamily="34" charset="-122"/>
                <a:cs typeface="Cambria" pitchFamily="34" charset="-120"/>
              </a:rPr>
              <a:t>Conclusion</a:t>
            </a:r>
          </a:p>
        </p:txBody>
      </p:sp>
      <p:sp>
        <p:nvSpPr>
          <p:cNvPr id="3" name="TextBox 2">
            <a:extLst>
              <a:ext uri="{FF2B5EF4-FFF2-40B4-BE49-F238E27FC236}">
                <a16:creationId xmlns:a16="http://schemas.microsoft.com/office/drawing/2014/main" id="{3D16CD61-773D-F04A-4D38-2AD3F567296E}"/>
              </a:ext>
            </a:extLst>
          </p:cNvPr>
          <p:cNvSpPr txBox="1"/>
          <p:nvPr/>
        </p:nvSpPr>
        <p:spPr>
          <a:xfrm>
            <a:off x="411480" y="913472"/>
            <a:ext cx="7538225" cy="4001095"/>
          </a:xfrm>
          <a:prstGeom prst="rect">
            <a:avLst/>
          </a:prstGeom>
          <a:noFill/>
        </p:spPr>
        <p:txBody>
          <a:bodyPr wrap="square" rtlCol="0">
            <a:spAutoFit/>
          </a:bodyPr>
          <a:lstStyle/>
          <a:p>
            <a:pPr marL="285750" lvl="0" indent="-285750">
              <a:buFont typeface="Wingdings" panose="05000000000000000000" pitchFamily="2" charset="2"/>
              <a:buChar char="Ø"/>
            </a:pPr>
            <a:r>
              <a:rPr lang="en-US" sz="1400" dirty="0">
                <a:solidFill>
                  <a:srgbClr val="1E2761"/>
                </a:solidFill>
                <a:latin typeface="Times New Roman" panose="02020603050405020304" pitchFamily="18" charset="0"/>
                <a:cs typeface="Times New Roman" panose="02020603050405020304" pitchFamily="18" charset="0"/>
              </a:rPr>
              <a:t>Successfully designed and implemented a CXS Bridge Encryption and Data Management System using modular RTL architecture.</a:t>
            </a:r>
          </a:p>
          <a:p>
            <a:pPr marL="285750" lvl="0" indent="-285750">
              <a:buFont typeface="Wingdings" panose="05000000000000000000" pitchFamily="2" charset="2"/>
              <a:buChar char="Ø"/>
            </a:pPr>
            <a:r>
              <a:rPr lang="en-US" sz="1400" dirty="0">
                <a:solidFill>
                  <a:srgbClr val="1E2761"/>
                </a:solidFill>
                <a:latin typeface="Times New Roman" panose="02020603050405020304" pitchFamily="18" charset="0"/>
                <a:cs typeface="Times New Roman" panose="02020603050405020304" pitchFamily="18" charset="0"/>
              </a:rPr>
              <a:t>The design integrates CXS RX/TX interfaces, CDC handling, Control Unit, Encryption, Parity, ATU, and CDM into a complete end-to-end data path.</a:t>
            </a:r>
          </a:p>
          <a:p>
            <a:pPr marL="285750" lvl="0" indent="-285750">
              <a:buFont typeface="Wingdings" panose="05000000000000000000" pitchFamily="2" charset="2"/>
              <a:buChar char="Ø"/>
            </a:pPr>
            <a:r>
              <a:rPr lang="en-US" sz="1400" dirty="0">
                <a:solidFill>
                  <a:srgbClr val="1E2761"/>
                </a:solidFill>
                <a:latin typeface="Times New Roman" panose="02020603050405020304" pitchFamily="18" charset="0"/>
                <a:cs typeface="Times New Roman" panose="02020603050405020304" pitchFamily="18" charset="0"/>
              </a:rPr>
              <a:t>Unit-level verification validated the major CXS interface functions, including packet handling, link control, FIFO management, and credit-based flow control.</a:t>
            </a:r>
          </a:p>
          <a:p>
            <a:pPr marL="285750" lvl="0" indent="-285750">
              <a:buFont typeface="Wingdings" panose="05000000000000000000" pitchFamily="2" charset="2"/>
              <a:buChar char="Ø"/>
            </a:pPr>
            <a:r>
              <a:rPr lang="en-US" sz="1400" dirty="0">
                <a:solidFill>
                  <a:srgbClr val="1E2761"/>
                </a:solidFill>
                <a:latin typeface="Times New Roman" panose="02020603050405020304" pitchFamily="18" charset="0"/>
                <a:cs typeface="Times New Roman" panose="02020603050405020304" pitchFamily="18" charset="0"/>
              </a:rPr>
              <a:t>End-to-end verification confirmed correct system operation from packet reception through processing, address translation, encryption/parity, memory storage, application handshake, and status transmission.</a:t>
            </a:r>
          </a:p>
          <a:p>
            <a:pPr marL="285750" lvl="0" indent="-285750">
              <a:buFont typeface="Wingdings" panose="05000000000000000000" pitchFamily="2" charset="2"/>
              <a:buChar char="Ø"/>
            </a:pPr>
            <a:r>
              <a:rPr lang="en-US" sz="1400" dirty="0" err="1">
                <a:solidFill>
                  <a:srgbClr val="1E2761"/>
                </a:solidFill>
                <a:latin typeface="Times New Roman" panose="02020603050405020304" pitchFamily="18" charset="0"/>
                <a:cs typeface="Times New Roman" panose="02020603050405020304" pitchFamily="18" charset="0"/>
              </a:rPr>
              <a:t>SpyGlass</a:t>
            </a:r>
            <a:r>
              <a:rPr lang="en-US" sz="1400" dirty="0">
                <a:solidFill>
                  <a:srgbClr val="1E2761"/>
                </a:solidFill>
                <a:latin typeface="Times New Roman" panose="02020603050405020304" pitchFamily="18" charset="0"/>
                <a:cs typeface="Times New Roman" panose="02020603050405020304" pitchFamily="18" charset="0"/>
              </a:rPr>
              <a:t> linting reported no Warning- or Error-level violations under the applied rule set.</a:t>
            </a:r>
          </a:p>
          <a:p>
            <a:pPr marL="285750" lvl="0" indent="-285750">
              <a:buFont typeface="Wingdings" panose="05000000000000000000" pitchFamily="2" charset="2"/>
              <a:buChar char="Ø"/>
            </a:pPr>
            <a:r>
              <a:rPr lang="en-US" sz="1400" dirty="0">
                <a:solidFill>
                  <a:srgbClr val="1E2761"/>
                </a:solidFill>
                <a:latin typeface="Times New Roman" panose="02020603050405020304" pitchFamily="18" charset="0"/>
                <a:cs typeface="Times New Roman" panose="02020603050405020304" pitchFamily="18" charset="0"/>
              </a:rPr>
              <a:t>Synopsys Design Compiler timing analysis achieved setup and hold timing MET, with approximately 47% of the clock period available as setup margin.</a:t>
            </a:r>
          </a:p>
          <a:p>
            <a:pPr marL="285750" lvl="0" indent="-285750">
              <a:buFont typeface="Wingdings" panose="05000000000000000000" pitchFamily="2" charset="2"/>
              <a:buChar char="Ø"/>
            </a:pPr>
            <a:r>
              <a:rPr lang="en-US" sz="1400" dirty="0">
                <a:solidFill>
                  <a:srgbClr val="1E2761"/>
                </a:solidFill>
                <a:latin typeface="Times New Roman" panose="02020603050405020304" pitchFamily="18" charset="0"/>
                <a:cs typeface="Times New Roman" panose="02020603050405020304" pitchFamily="18" charset="0"/>
              </a:rPr>
              <a:t>Overall, the implemented design was functionally verified, lint-clean, and timing-compliant for the evaluated configuration.</a:t>
            </a:r>
          </a:p>
          <a:p>
            <a:pPr lvl="0"/>
            <a:endParaRPr lang="en-US" sz="1400" dirty="0">
              <a:solidFill>
                <a:srgbClr val="1E2761"/>
              </a:solidFill>
              <a:latin typeface="Times New Roman" panose="02020603050405020304" pitchFamily="18" charset="0"/>
              <a:cs typeface="Times New Roman" panose="02020603050405020304" pitchFamily="18" charset="0"/>
            </a:endParaRPr>
          </a:p>
          <a:p>
            <a:r>
              <a:rPr lang="en-US" sz="1600" b="1" dirty="0">
                <a:solidFill>
                  <a:srgbClr val="1E2761"/>
                </a:solidFill>
                <a:latin typeface="Times New Roman" panose="02020603050405020304" pitchFamily="18" charset="0"/>
                <a:cs typeface="Times New Roman" panose="02020603050405020304" pitchFamily="18" charset="0"/>
              </a:rPr>
              <a:t>Final Outcome</a:t>
            </a:r>
          </a:p>
          <a:p>
            <a:r>
              <a:rPr lang="en-US" sz="1600" b="1" dirty="0">
                <a:solidFill>
                  <a:srgbClr val="1E2761"/>
                </a:solidFill>
                <a:latin typeface="Times New Roman" panose="02020603050405020304" pitchFamily="18" charset="0"/>
                <a:cs typeface="Times New Roman" panose="02020603050405020304" pitchFamily="18" charset="0"/>
              </a:rPr>
              <a:t>Functional Verification ✓ | CDC ✓ | Lint ✓ | Synthesis ✓ | Timing ✓</a:t>
            </a:r>
          </a:p>
          <a:p>
            <a:endParaRPr lang="en-US" sz="1200" dirty="0"/>
          </a:p>
        </p:txBody>
      </p:sp>
    </p:spTree>
    <p:extLst>
      <p:ext uri="{BB962C8B-B14F-4D97-AF65-F5344CB8AC3E}">
        <p14:creationId xmlns:p14="http://schemas.microsoft.com/office/powerpoint/2010/main" val="12937008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4F5B1EA-75DD-7D8C-B21F-194B4F4918A4}"/>
              </a:ext>
            </a:extLst>
          </p:cNvPr>
          <p:cNvPicPr>
            <a:picLocks noChangeAspect="1"/>
          </p:cNvPicPr>
          <p:nvPr/>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810780405"/>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Helena</Template>
  <TotalTime>1201</TotalTime>
  <Words>2512</Words>
  <Application>Microsoft Office PowerPoint</Application>
  <PresentationFormat>On-screen Show (16:9)</PresentationFormat>
  <Paragraphs>403</Paragraphs>
  <Slides>33</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Calibri</vt:lpstr>
      <vt:lpstr>Cambria</vt:lpstr>
      <vt:lpstr>Wingdings</vt:lpstr>
      <vt:lpstr>Aptos</vt:lpstr>
      <vt:lpstr>Raleway</vt:lpstr>
      <vt:lpstr>Roboto</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Gomaas Khalaf</dc:creator>
  <cp:lastModifiedBy>mariam gomaa</cp:lastModifiedBy>
  <cp:revision>102</cp:revision>
  <dcterms:created xsi:type="dcterms:W3CDTF">2026-08-05T13:06:05Z</dcterms:created>
  <dcterms:modified xsi:type="dcterms:W3CDTF">2026-09-08T23:30:01Z</dcterms:modified>
</cp:coreProperties>
</file>